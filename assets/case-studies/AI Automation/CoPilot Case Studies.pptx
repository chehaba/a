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sldIdLst>
    <p:sldId id="2147481413" r:id="rId6"/>
    <p:sldId id="2147481415" r:id="rId7"/>
    <p:sldId id="214748141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a Cantu" userId="S::lizacantu@affirma.com::208216f9-06dc-4d12-ac83-753ee660423b" providerId="AD" clId="Web-{50BAD3F2-8C80-26BA-DC30-92BDD88FB701}"/>
    <pc:docChg chg="addSld delSld modSld">
      <pc:chgData name="Liza Cantu" userId="S::lizacantu@affirma.com::208216f9-06dc-4d12-ac83-753ee660423b" providerId="AD" clId="Web-{50BAD3F2-8C80-26BA-DC30-92BDD88FB701}" dt="2025-12-09T22:35:25.193" v="10"/>
      <pc:docMkLst>
        <pc:docMk/>
      </pc:docMkLst>
      <pc:sldChg chg="add del">
        <pc:chgData name="Liza Cantu" userId="S::lizacantu@affirma.com::208216f9-06dc-4d12-ac83-753ee660423b" providerId="AD" clId="Web-{50BAD3F2-8C80-26BA-DC30-92BDD88FB701}" dt="2025-12-09T22:35:25.193" v="10"/>
        <pc:sldMkLst>
          <pc:docMk/>
          <pc:sldMk cId="315945619" sldId="2147481413"/>
        </pc:sldMkLst>
      </pc:sldChg>
      <pc:sldChg chg="modSp add del">
        <pc:chgData name="Liza Cantu" userId="S::lizacantu@affirma.com::208216f9-06dc-4d12-ac83-753ee660423b" providerId="AD" clId="Web-{50BAD3F2-8C80-26BA-DC30-92BDD88FB701}" dt="2025-12-09T22:35:24.427" v="9"/>
        <pc:sldMkLst>
          <pc:docMk/>
          <pc:sldMk cId="2459221219" sldId="2147481415"/>
        </pc:sldMkLst>
        <pc:spChg chg="mod">
          <ac:chgData name="Liza Cantu" userId="S::lizacantu@affirma.com::208216f9-06dc-4d12-ac83-753ee660423b" providerId="AD" clId="Web-{50BAD3F2-8C80-26BA-DC30-92BDD88FB701}" dt="2025-12-09T22:19:11.448" v="6" actId="14100"/>
          <ac:spMkLst>
            <pc:docMk/>
            <pc:sldMk cId="2459221219" sldId="2147481415"/>
            <ac:spMk id="9" creationId="{2946E3C1-DAB9-B080-BCDE-E2322FFF4DA8}"/>
          </ac:spMkLst>
        </pc:spChg>
        <pc:spChg chg="mod">
          <ac:chgData name="Liza Cantu" userId="S::lizacantu@affirma.com::208216f9-06dc-4d12-ac83-753ee660423b" providerId="AD" clId="Web-{50BAD3F2-8C80-26BA-DC30-92BDD88FB701}" dt="2025-12-09T22:19:07.385" v="5" actId="1076"/>
          <ac:spMkLst>
            <pc:docMk/>
            <pc:sldMk cId="2459221219" sldId="2147481415"/>
            <ac:spMk id="11" creationId="{10181A26-AA64-7B8A-1548-AF4A3BCF2A35}"/>
          </ac:spMkLst>
        </pc:spChg>
        <pc:spChg chg="mod">
          <ac:chgData name="Liza Cantu" userId="S::lizacantu@affirma.com::208216f9-06dc-4d12-ac83-753ee660423b" providerId="AD" clId="Web-{50BAD3F2-8C80-26BA-DC30-92BDD88FB701}" dt="2025-12-09T22:19:03.464" v="4" actId="20577"/>
          <ac:spMkLst>
            <pc:docMk/>
            <pc:sldMk cId="2459221219" sldId="2147481415"/>
            <ac:spMk id="12" creationId="{046C0226-03F4-7777-38EB-DEBB5C673A3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55FFB-1E0C-F17E-28C9-6314CF7D4E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477BFB-2F21-5E26-D05F-EA89FC2AA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929450-1816-4D4D-649C-16F1D84EFCEC}"/>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5" name="Footer Placeholder 4">
            <a:extLst>
              <a:ext uri="{FF2B5EF4-FFF2-40B4-BE49-F238E27FC236}">
                <a16:creationId xmlns:a16="http://schemas.microsoft.com/office/drawing/2014/main" id="{C6E38556-F210-AB48-EEDF-6B3E0A935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3D7271-851A-99A6-EBA9-AE451847D974}"/>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2275060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D0182-C1D4-EF32-E99A-87FE9A993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046F31-D27B-A02F-672F-605A0CBDB6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420143-2126-99C8-E896-FCA1CB32C0C4}"/>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5" name="Footer Placeholder 4">
            <a:extLst>
              <a:ext uri="{FF2B5EF4-FFF2-40B4-BE49-F238E27FC236}">
                <a16:creationId xmlns:a16="http://schemas.microsoft.com/office/drawing/2014/main" id="{2DA937F5-FCA3-C52F-A2C0-B93C8C46E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FE89FE-4099-7FA5-95DE-999707F5EC26}"/>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2978149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3E46D-6986-84B2-52FF-3380DB0CB9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67A34A-09A3-D56C-1D71-CEC5B22653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C03B03-9A11-7628-E041-C93F428DC6D6}"/>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5" name="Footer Placeholder 4">
            <a:extLst>
              <a:ext uri="{FF2B5EF4-FFF2-40B4-BE49-F238E27FC236}">
                <a16:creationId xmlns:a16="http://schemas.microsoft.com/office/drawing/2014/main" id="{C4D5841A-B1B7-820D-883B-66C1503D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3BDE2-E5D3-0385-496B-7F8EE5265861}"/>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58629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29655-AB79-EA14-CBC6-74BEC96384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16B560-D0BF-A693-DC2C-449010B60F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9E5B1B-248D-BBB1-E8D9-2E8DB8C979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D436CA-25EE-BC5A-4AF0-C237647976B4}"/>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6" name="Footer Placeholder 5">
            <a:extLst>
              <a:ext uri="{FF2B5EF4-FFF2-40B4-BE49-F238E27FC236}">
                <a16:creationId xmlns:a16="http://schemas.microsoft.com/office/drawing/2014/main" id="{79C817DF-0029-8A20-632F-7B46772D2D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30B587-09FC-8486-94D8-956E982F9BBD}"/>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1087483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AA0A-53F3-64D5-4012-C04054B0BE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26DCE0-0D1A-72ED-BC21-0571834CD0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FA9815-E1C7-50ED-66C5-BC400341EC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3AF1C6-9EF8-4E24-DF43-413933B92D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6BCBB9-7B31-57B6-CD0C-707201AF2B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56089C-B9C9-53B9-BD49-7FF99451D501}"/>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8" name="Footer Placeholder 7">
            <a:extLst>
              <a:ext uri="{FF2B5EF4-FFF2-40B4-BE49-F238E27FC236}">
                <a16:creationId xmlns:a16="http://schemas.microsoft.com/office/drawing/2014/main" id="{832C6BE6-F3D5-3DF1-48AC-E4772D95DD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A758FD-9E17-DBF0-3323-30B50FDD8A00}"/>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1385828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D5BC-9747-788A-D531-491254AE56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6373B7-5A50-04FE-C625-D82AEB0F0912}"/>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4" name="Footer Placeholder 3">
            <a:extLst>
              <a:ext uri="{FF2B5EF4-FFF2-40B4-BE49-F238E27FC236}">
                <a16:creationId xmlns:a16="http://schemas.microsoft.com/office/drawing/2014/main" id="{5DEA37E8-B67B-C00A-D040-3197782A74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39161A-68BF-249B-741A-1548C61D0B70}"/>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931206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DDBD36-24E4-7609-925D-190655071F7D}"/>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3" name="Footer Placeholder 2">
            <a:extLst>
              <a:ext uri="{FF2B5EF4-FFF2-40B4-BE49-F238E27FC236}">
                <a16:creationId xmlns:a16="http://schemas.microsoft.com/office/drawing/2014/main" id="{B9B521C7-FE18-AC56-1C79-011F7F32C4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FFD42E-59A3-CDCC-611B-C262EA2958CE}"/>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220066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C05E0-9489-D941-3FFD-7DB39CD0C4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BE9EF7-AA54-BF1C-A6A3-305C98F903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500949-DFD0-B0DB-0334-38D9FD5CC4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15F360-C384-3F40-149C-8A86A2861CE9}"/>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6" name="Footer Placeholder 5">
            <a:extLst>
              <a:ext uri="{FF2B5EF4-FFF2-40B4-BE49-F238E27FC236}">
                <a16:creationId xmlns:a16="http://schemas.microsoft.com/office/drawing/2014/main" id="{DE0EA3B0-B87F-9184-0C79-9B2146DF6A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BE9C6B-3C44-7C17-3F2A-8D3C493BEE2E}"/>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3853344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D42E-5FD2-3808-D862-60B6E4125D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1E33EA-5D24-E22B-2061-D326E54AAF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DD17CD-B978-79FC-55AB-1E820A9D4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E07FAC-A840-BC0F-39EA-EBA03A79A829}"/>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6" name="Footer Placeholder 5">
            <a:extLst>
              <a:ext uri="{FF2B5EF4-FFF2-40B4-BE49-F238E27FC236}">
                <a16:creationId xmlns:a16="http://schemas.microsoft.com/office/drawing/2014/main" id="{CE13F76B-1E7C-D4AF-46F3-6EA37592D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38219F-F8A5-AE62-9619-EFC9143C737C}"/>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3918138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2FCBD-06D1-ED2F-0CAC-74AEF9FD44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6258D6-B940-B7BF-A2BC-A46D5CB93D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60AA84-BFB9-35E5-D0EB-DDB66BA4BE6D}"/>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5" name="Footer Placeholder 4">
            <a:extLst>
              <a:ext uri="{FF2B5EF4-FFF2-40B4-BE49-F238E27FC236}">
                <a16:creationId xmlns:a16="http://schemas.microsoft.com/office/drawing/2014/main" id="{EB566610-E2A5-A321-AA3E-D8AF0CAD6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F77F7F-C775-4E42-DC11-30082A979313}"/>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2028500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A1F792-ACA3-AEA0-D4AF-962B979B6A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6A9D28-2E43-EAEE-DFCB-1E4157E682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0A2574-7FF2-2F8C-391D-BD0B5E85883A}"/>
              </a:ext>
            </a:extLst>
          </p:cNvPr>
          <p:cNvSpPr>
            <a:spLocks noGrp="1"/>
          </p:cNvSpPr>
          <p:nvPr>
            <p:ph type="dt" sz="half" idx="10"/>
          </p:nvPr>
        </p:nvSpPr>
        <p:spPr/>
        <p:txBody>
          <a:bodyPr/>
          <a:lstStyle/>
          <a:p>
            <a:fld id="{3CE9AA4E-BA19-4ABE-91D2-EC349DC3FB56}" type="datetimeFigureOut">
              <a:rPr lang="en-US" smtClean="0"/>
              <a:t>12/22/2025</a:t>
            </a:fld>
            <a:endParaRPr lang="en-US"/>
          </a:p>
        </p:txBody>
      </p:sp>
      <p:sp>
        <p:nvSpPr>
          <p:cNvPr id="5" name="Footer Placeholder 4">
            <a:extLst>
              <a:ext uri="{FF2B5EF4-FFF2-40B4-BE49-F238E27FC236}">
                <a16:creationId xmlns:a16="http://schemas.microsoft.com/office/drawing/2014/main" id="{DB87C16B-22E2-590D-C47D-23839C80CE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1A5457-50C9-4ECE-B979-0362B7855D74}"/>
              </a:ext>
            </a:extLst>
          </p:cNvPr>
          <p:cNvSpPr>
            <a:spLocks noGrp="1"/>
          </p:cNvSpPr>
          <p:nvPr>
            <p:ph type="sldNum" sz="quarter" idx="12"/>
          </p:nvPr>
        </p:nvSpPr>
        <p:spPr/>
        <p:txBody>
          <a:bodyPr/>
          <a:lstStyle/>
          <a:p>
            <a:fld id="{EB54B840-71C6-4282-862F-D3751D03EEC7}" type="slidenum">
              <a:rPr lang="en-US" smtClean="0"/>
              <a:t>‹#›</a:t>
            </a:fld>
            <a:endParaRPr lang="en-US"/>
          </a:p>
        </p:txBody>
      </p:sp>
    </p:spTree>
    <p:extLst>
      <p:ext uri="{BB962C8B-B14F-4D97-AF65-F5344CB8AC3E}">
        <p14:creationId xmlns:p14="http://schemas.microsoft.com/office/powerpoint/2010/main" val="4102880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353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361B6A-675B-1F62-352F-0F40CDE3E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53659F-283B-DA14-1A2E-261C15915C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7E0450-BC88-092F-C569-1A28760F12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E9AA4E-BA19-4ABE-91D2-EC349DC3FB56}" type="datetimeFigureOut">
              <a:rPr lang="en-US" smtClean="0"/>
              <a:t>12/22/2025</a:t>
            </a:fld>
            <a:endParaRPr lang="en-US"/>
          </a:p>
        </p:txBody>
      </p:sp>
      <p:sp>
        <p:nvSpPr>
          <p:cNvPr id="5" name="Footer Placeholder 4">
            <a:extLst>
              <a:ext uri="{FF2B5EF4-FFF2-40B4-BE49-F238E27FC236}">
                <a16:creationId xmlns:a16="http://schemas.microsoft.com/office/drawing/2014/main" id="{C40242EA-8C1F-C543-A57E-9C55D9E86B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9B9633-8B54-E49C-ADBF-E64AA2E6D9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54B840-71C6-4282-862F-D3751D03EEC7}" type="slidenum">
              <a:rPr lang="en-US" smtClean="0"/>
              <a:t>‹#›</a:t>
            </a:fld>
            <a:endParaRPr lang="en-US"/>
          </a:p>
        </p:txBody>
      </p:sp>
    </p:spTree>
    <p:extLst>
      <p:ext uri="{BB962C8B-B14F-4D97-AF65-F5344CB8AC3E}">
        <p14:creationId xmlns:p14="http://schemas.microsoft.com/office/powerpoint/2010/main" val="1964788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0C4CA-986E-F708-F0B7-BFE72641E7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92A8B3-8A0F-B696-CBF1-61CC5CB7C230}"/>
              </a:ext>
            </a:extLst>
          </p:cNvPr>
          <p:cNvSpPr>
            <a:spLocks noGrp="1"/>
          </p:cNvSpPr>
          <p:nvPr>
            <p:ph type="ctrTitle"/>
          </p:nvPr>
        </p:nvSpPr>
        <p:spPr>
          <a:xfrm>
            <a:off x="634252" y="301170"/>
            <a:ext cx="11448890" cy="764390"/>
          </a:xfrm>
        </p:spPr>
        <p:txBody>
          <a:bodyPr>
            <a:noAutofit/>
          </a:bodyPr>
          <a:lstStyle/>
          <a:p>
            <a:pPr defTabSz="896533"/>
            <a:r>
              <a:rPr lang="en-US">
                <a:solidFill>
                  <a:srgbClr val="002060"/>
                </a:solidFill>
                <a:latin typeface="Poppins SemiBold"/>
                <a:cs typeface="Poppins SemiBold"/>
              </a:rPr>
              <a:t>HR Agent Built with Copilot Studio</a:t>
            </a:r>
          </a:p>
        </p:txBody>
      </p:sp>
      <p:sp>
        <p:nvSpPr>
          <p:cNvPr id="2" name="Rectangle 1">
            <a:extLst>
              <a:ext uri="{FF2B5EF4-FFF2-40B4-BE49-F238E27FC236}">
                <a16:creationId xmlns:a16="http://schemas.microsoft.com/office/drawing/2014/main" id="{EC4338DC-5477-95A1-98CC-67DE377006CB}"/>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7F62F516-C9ED-459C-CFC8-78D747033942}"/>
              </a:ext>
            </a:extLst>
          </p:cNvPr>
          <p:cNvSpPr txBox="1"/>
          <p:nvPr/>
        </p:nvSpPr>
        <p:spPr>
          <a:xfrm>
            <a:off x="169218" y="1221043"/>
            <a:ext cx="4972843"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Business Need </a:t>
            </a:r>
          </a:p>
        </p:txBody>
      </p:sp>
      <p:sp>
        <p:nvSpPr>
          <p:cNvPr id="7" name="TextBox 6">
            <a:extLst>
              <a:ext uri="{FF2B5EF4-FFF2-40B4-BE49-F238E27FC236}">
                <a16:creationId xmlns:a16="http://schemas.microsoft.com/office/drawing/2014/main" id="{36E4325F-9F7D-469E-3D74-DF6EDF8164D9}"/>
              </a:ext>
            </a:extLst>
          </p:cNvPr>
          <p:cNvSpPr txBox="1"/>
          <p:nvPr/>
        </p:nvSpPr>
        <p:spPr>
          <a:xfrm>
            <a:off x="181858" y="2680107"/>
            <a:ext cx="498548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What We Did </a:t>
            </a:r>
          </a:p>
        </p:txBody>
      </p:sp>
      <p:sp>
        <p:nvSpPr>
          <p:cNvPr id="8" name="TextBox 7">
            <a:extLst>
              <a:ext uri="{FF2B5EF4-FFF2-40B4-BE49-F238E27FC236}">
                <a16:creationId xmlns:a16="http://schemas.microsoft.com/office/drawing/2014/main" id="{32EED5B7-6D9D-6E92-A3DA-3967FEB9EA57}"/>
              </a:ext>
            </a:extLst>
          </p:cNvPr>
          <p:cNvSpPr txBox="1"/>
          <p:nvPr/>
        </p:nvSpPr>
        <p:spPr>
          <a:xfrm>
            <a:off x="181858" y="4648802"/>
            <a:ext cx="497284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Results</a:t>
            </a:r>
          </a:p>
        </p:txBody>
      </p:sp>
      <p:sp>
        <p:nvSpPr>
          <p:cNvPr id="9" name="TextBox 8">
            <a:extLst>
              <a:ext uri="{FF2B5EF4-FFF2-40B4-BE49-F238E27FC236}">
                <a16:creationId xmlns:a16="http://schemas.microsoft.com/office/drawing/2014/main" id="{2634FB6D-BF0C-E4D0-1D96-9687198E2390}"/>
              </a:ext>
            </a:extLst>
          </p:cNvPr>
          <p:cNvSpPr txBox="1"/>
          <p:nvPr/>
        </p:nvSpPr>
        <p:spPr>
          <a:xfrm>
            <a:off x="164811" y="1446641"/>
            <a:ext cx="8391287" cy="1169551"/>
          </a:xfrm>
          <a:prstGeom prst="rect">
            <a:avLst/>
          </a:prstGeom>
          <a:noFill/>
        </p:spPr>
        <p:txBody>
          <a:bodyPr wrap="square">
            <a:spAutoFit/>
          </a:bodyPr>
          <a:lstStyle/>
          <a:p>
            <a:pPr algn="just">
              <a:buNone/>
            </a:pPr>
            <a:r>
              <a:rPr lang="en-US" sz="1400"/>
              <a:t>Organizations often receive a high volume of repetitive HR questions related to benefits, PTO, onboarding, and internal policies. Employees struggle to find accurate information across scattered documents and systems, while HR teams spend significant time responding to inquiries that could be handled through self-service. A streamlined, intelligent support channel was needed to provide consistent answers and reduce manual workload.</a:t>
            </a:r>
          </a:p>
        </p:txBody>
      </p:sp>
      <p:sp>
        <p:nvSpPr>
          <p:cNvPr id="11" name="TextBox 10">
            <a:extLst>
              <a:ext uri="{FF2B5EF4-FFF2-40B4-BE49-F238E27FC236}">
                <a16:creationId xmlns:a16="http://schemas.microsoft.com/office/drawing/2014/main" id="{0AC384CF-9FCD-66AB-9ECD-7250F16D598D}"/>
              </a:ext>
            </a:extLst>
          </p:cNvPr>
          <p:cNvSpPr txBox="1"/>
          <p:nvPr/>
        </p:nvSpPr>
        <p:spPr>
          <a:xfrm>
            <a:off x="164810" y="2997269"/>
            <a:ext cx="8353901" cy="1600438"/>
          </a:xfrm>
          <a:prstGeom prst="rect">
            <a:avLst/>
          </a:prstGeom>
          <a:noFill/>
        </p:spPr>
        <p:txBody>
          <a:bodyPr wrap="square">
            <a:spAutoFit/>
          </a:bodyPr>
          <a:lstStyle/>
          <a:p>
            <a:pPr marL="285750" indent="-285750">
              <a:buFont typeface="Arial" panose="020B0604020202020204" pitchFamily="34" charset="0"/>
              <a:buChar char="•"/>
            </a:pPr>
            <a:r>
              <a:rPr lang="en-US" sz="1400"/>
              <a:t>Created a custom HR Agent using Microsoft Copilot Studio tailored to common HR inquiry categories</a:t>
            </a:r>
          </a:p>
          <a:p>
            <a:pPr marL="285750" indent="-285750">
              <a:buFont typeface="Arial" panose="020B0604020202020204" pitchFamily="34" charset="0"/>
              <a:buChar char="•"/>
            </a:pPr>
            <a:r>
              <a:rPr lang="en-US" sz="1400"/>
              <a:t>Structured and grounded HR content to ensure accurate and consistent responses</a:t>
            </a:r>
          </a:p>
          <a:p>
            <a:pPr marL="285750" indent="-285750">
              <a:buFont typeface="Arial" panose="020B0604020202020204" pitchFamily="34" charset="0"/>
              <a:buChar char="•"/>
            </a:pPr>
            <a:r>
              <a:rPr lang="en-US" sz="1400"/>
              <a:t>Built conversational topics and guided flows to automate routine HR processes</a:t>
            </a:r>
          </a:p>
          <a:p>
            <a:pPr marL="285750" indent="-285750">
              <a:buFont typeface="Arial" panose="020B0604020202020204" pitchFamily="34" charset="0"/>
              <a:buChar char="•"/>
            </a:pPr>
            <a:r>
              <a:rPr lang="en-US" sz="1400"/>
              <a:t>Integrated the agent with Microsoft 365 tools and connected systems for document retrieval and task automation</a:t>
            </a:r>
          </a:p>
          <a:p>
            <a:pPr marL="285750" indent="-285750">
              <a:buFont typeface="Arial" panose="020B0604020202020204" pitchFamily="34" charset="0"/>
              <a:buChar char="•"/>
            </a:pPr>
            <a:r>
              <a:rPr lang="en-US" sz="1400"/>
              <a:t>Conducted iterative refinement cycles incorporating user feedback to improve accuracy and experience</a:t>
            </a:r>
          </a:p>
        </p:txBody>
      </p:sp>
      <p:sp>
        <p:nvSpPr>
          <p:cNvPr id="12" name="TextBox 11">
            <a:extLst>
              <a:ext uri="{FF2B5EF4-FFF2-40B4-BE49-F238E27FC236}">
                <a16:creationId xmlns:a16="http://schemas.microsoft.com/office/drawing/2014/main" id="{E2C808DF-7823-8B1E-B8DC-3A82E62B227E}"/>
              </a:ext>
            </a:extLst>
          </p:cNvPr>
          <p:cNvSpPr txBox="1"/>
          <p:nvPr/>
        </p:nvSpPr>
        <p:spPr>
          <a:xfrm>
            <a:off x="169217" y="4964876"/>
            <a:ext cx="8385883" cy="1169551"/>
          </a:xfrm>
          <a:prstGeom prst="rect">
            <a:avLst/>
          </a:prstGeom>
          <a:noFill/>
        </p:spPr>
        <p:txBody>
          <a:bodyPr wrap="square">
            <a:spAutoFit/>
          </a:bodyPr>
          <a:lstStyle/>
          <a:p>
            <a:pPr marL="116895" indent="-116895">
              <a:buFont typeface="Arial" panose="020B0604020202020204" pitchFamily="34" charset="0"/>
              <a:buChar char="•"/>
            </a:pPr>
            <a:r>
              <a:rPr lang="en-US" sz="1400">
                <a:solidFill>
                  <a:prstClr val="black"/>
                </a:solidFill>
              </a:rPr>
              <a:t>Reduced manual HR inquiry volume by enabling instant, self-service answers</a:t>
            </a:r>
          </a:p>
          <a:p>
            <a:pPr marL="116895" indent="-116895">
              <a:buFont typeface="Arial" panose="020B0604020202020204" pitchFamily="34" charset="0"/>
              <a:buChar char="•"/>
            </a:pPr>
            <a:r>
              <a:rPr lang="en-US" sz="1400">
                <a:solidFill>
                  <a:prstClr val="black"/>
                </a:solidFill>
              </a:rPr>
              <a:t>Improved employee access to timely and accurate HR information</a:t>
            </a:r>
          </a:p>
          <a:p>
            <a:pPr marL="116895" indent="-116895">
              <a:buFont typeface="Arial" panose="020B0604020202020204" pitchFamily="34" charset="0"/>
              <a:buChar char="•"/>
            </a:pPr>
            <a:r>
              <a:rPr lang="en-US" sz="1400">
                <a:solidFill>
                  <a:prstClr val="black"/>
                </a:solidFill>
              </a:rPr>
              <a:t>Increased consistency in how HR policies and processes are communicated</a:t>
            </a:r>
          </a:p>
          <a:p>
            <a:pPr marL="116895" indent="-116895">
              <a:buFont typeface="Arial" panose="020B0604020202020204" pitchFamily="34" charset="0"/>
              <a:buChar char="•"/>
            </a:pPr>
            <a:r>
              <a:rPr lang="en-US" sz="1400">
                <a:solidFill>
                  <a:prstClr val="black"/>
                </a:solidFill>
              </a:rPr>
              <a:t>Freed HR staff to focus on higher-value initiatives instead of routine questions</a:t>
            </a:r>
          </a:p>
          <a:p>
            <a:pPr marL="116895" indent="-116895">
              <a:buFont typeface="Arial" panose="020B0604020202020204" pitchFamily="34" charset="0"/>
              <a:buChar char="•"/>
            </a:pPr>
            <a:r>
              <a:rPr lang="en-US" sz="1400">
                <a:solidFill>
                  <a:prstClr val="black"/>
                </a:solidFill>
              </a:rPr>
              <a:t>Established a scalable foundation for expanding AI-driven support across other teams and departments</a:t>
            </a:r>
          </a:p>
        </p:txBody>
      </p:sp>
      <p:pic>
        <p:nvPicPr>
          <p:cNvPr id="2052" name="Picture 4" descr="Microsoft Copilot Studio Expands Region Availability For Generative AI |  Microsoft Copilot Blog">
            <a:extLst>
              <a:ext uri="{FF2B5EF4-FFF2-40B4-BE49-F238E27FC236}">
                <a16:creationId xmlns:a16="http://schemas.microsoft.com/office/drawing/2014/main" id="{71CB9AF5-A415-F280-8623-6AD8E3DDE9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8711" y="2798670"/>
            <a:ext cx="3449219" cy="1939287"/>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a:extLst>
              <a:ext uri="{FF2B5EF4-FFF2-40B4-BE49-F238E27FC236}">
                <a16:creationId xmlns:a16="http://schemas.microsoft.com/office/drawing/2014/main" id="{05ED934C-0896-EC77-C09E-5EE24B1CE2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7739" y="194359"/>
            <a:ext cx="2971595" cy="2272396"/>
          </a:xfrm>
          <a:prstGeom prst="rect">
            <a:avLst/>
          </a:prstGeom>
        </p:spPr>
      </p:pic>
      <p:sp>
        <p:nvSpPr>
          <p:cNvPr id="16" name="TextBox 15">
            <a:extLst>
              <a:ext uri="{FF2B5EF4-FFF2-40B4-BE49-F238E27FC236}">
                <a16:creationId xmlns:a16="http://schemas.microsoft.com/office/drawing/2014/main" id="{6307BAC0-2898-5000-0601-BCE7F6235D83}"/>
              </a:ext>
            </a:extLst>
          </p:cNvPr>
          <p:cNvSpPr txBox="1"/>
          <p:nvPr/>
        </p:nvSpPr>
        <p:spPr>
          <a:xfrm>
            <a:off x="9680714" y="2429338"/>
            <a:ext cx="2511286" cy="369332"/>
          </a:xfrm>
          <a:prstGeom prst="rect">
            <a:avLst/>
          </a:prstGeom>
          <a:noFill/>
        </p:spPr>
        <p:txBody>
          <a:bodyPr wrap="square" lIns="91440" tIns="45720" rIns="91440" bIns="45720" anchor="t">
            <a:spAutoFit/>
          </a:bodyPr>
          <a:lstStyle/>
          <a:p>
            <a:r>
              <a:rPr kumimoji="0" lang="en-US" sz="1800" b="1" i="1" u="none" strike="noStrike" kern="1200" cap="none" spc="0" normalizeH="0" baseline="0" noProof="0">
                <a:ln>
                  <a:noFill/>
                </a:ln>
                <a:solidFill>
                  <a:srgbClr val="0070C0"/>
                </a:solidFill>
                <a:effectLst/>
                <a:uLnTx/>
                <a:uFillTx/>
                <a:latin typeface="Poppins"/>
                <a:cs typeface="Poppins"/>
              </a:rPr>
              <a:t>Copilot Studio</a:t>
            </a:r>
            <a:endParaRPr lang="en-US" i="1"/>
          </a:p>
        </p:txBody>
      </p:sp>
    </p:spTree>
    <p:extLst>
      <p:ext uri="{BB962C8B-B14F-4D97-AF65-F5344CB8AC3E}">
        <p14:creationId xmlns:p14="http://schemas.microsoft.com/office/powerpoint/2010/main" val="315945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3AC9-EBB7-A7BF-C97E-8FEFBD5458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ABCF85-FDF2-142E-614F-933D66566150}"/>
              </a:ext>
            </a:extLst>
          </p:cNvPr>
          <p:cNvSpPr>
            <a:spLocks noGrp="1"/>
          </p:cNvSpPr>
          <p:nvPr>
            <p:ph type="ctrTitle"/>
          </p:nvPr>
        </p:nvSpPr>
        <p:spPr>
          <a:xfrm>
            <a:off x="593910" y="255022"/>
            <a:ext cx="11448890" cy="764390"/>
          </a:xfrm>
        </p:spPr>
        <p:txBody>
          <a:bodyPr>
            <a:noAutofit/>
          </a:bodyPr>
          <a:lstStyle/>
          <a:p>
            <a:pPr defTabSz="896533"/>
            <a:r>
              <a:rPr lang="en-US" sz="2800">
                <a:solidFill>
                  <a:srgbClr val="002060"/>
                </a:solidFill>
                <a:latin typeface="Poppins SemiBold"/>
                <a:cs typeface="Poppins SemiBold"/>
              </a:rPr>
              <a:t>Customer Service Agent Built with Microsoft Copilot Studio</a:t>
            </a:r>
          </a:p>
        </p:txBody>
      </p:sp>
      <p:sp>
        <p:nvSpPr>
          <p:cNvPr id="2" name="Rectangle 1">
            <a:extLst>
              <a:ext uri="{FF2B5EF4-FFF2-40B4-BE49-F238E27FC236}">
                <a16:creationId xmlns:a16="http://schemas.microsoft.com/office/drawing/2014/main" id="{D87A1106-5440-792B-72C5-EBA91AD7704E}"/>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63CFB5E0-82F3-CF02-D599-4717418B4FC7}"/>
              </a:ext>
            </a:extLst>
          </p:cNvPr>
          <p:cNvSpPr txBox="1"/>
          <p:nvPr/>
        </p:nvSpPr>
        <p:spPr>
          <a:xfrm>
            <a:off x="169218" y="1221043"/>
            <a:ext cx="4972843"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Business Need </a:t>
            </a:r>
          </a:p>
        </p:txBody>
      </p:sp>
      <p:sp>
        <p:nvSpPr>
          <p:cNvPr id="7" name="TextBox 6">
            <a:extLst>
              <a:ext uri="{FF2B5EF4-FFF2-40B4-BE49-F238E27FC236}">
                <a16:creationId xmlns:a16="http://schemas.microsoft.com/office/drawing/2014/main" id="{1C28CDB5-75E9-FD11-5019-C7223DB7E1D6}"/>
              </a:ext>
            </a:extLst>
          </p:cNvPr>
          <p:cNvSpPr txBox="1"/>
          <p:nvPr/>
        </p:nvSpPr>
        <p:spPr>
          <a:xfrm>
            <a:off x="181858" y="2680107"/>
            <a:ext cx="498548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What We Did </a:t>
            </a:r>
          </a:p>
        </p:txBody>
      </p:sp>
      <p:sp>
        <p:nvSpPr>
          <p:cNvPr id="8" name="TextBox 7">
            <a:extLst>
              <a:ext uri="{FF2B5EF4-FFF2-40B4-BE49-F238E27FC236}">
                <a16:creationId xmlns:a16="http://schemas.microsoft.com/office/drawing/2014/main" id="{880A198C-55E3-D420-6ECC-2916455CA8D4}"/>
              </a:ext>
            </a:extLst>
          </p:cNvPr>
          <p:cNvSpPr txBox="1"/>
          <p:nvPr/>
        </p:nvSpPr>
        <p:spPr>
          <a:xfrm>
            <a:off x="181858" y="5146348"/>
            <a:ext cx="497284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Results</a:t>
            </a:r>
          </a:p>
        </p:txBody>
      </p:sp>
      <p:sp>
        <p:nvSpPr>
          <p:cNvPr id="9" name="TextBox 8">
            <a:extLst>
              <a:ext uri="{FF2B5EF4-FFF2-40B4-BE49-F238E27FC236}">
                <a16:creationId xmlns:a16="http://schemas.microsoft.com/office/drawing/2014/main" id="{2946E3C1-DAB9-B080-BCDE-E2322FFF4DA8}"/>
              </a:ext>
            </a:extLst>
          </p:cNvPr>
          <p:cNvSpPr txBox="1"/>
          <p:nvPr/>
        </p:nvSpPr>
        <p:spPr>
          <a:xfrm>
            <a:off x="164811" y="1446641"/>
            <a:ext cx="9008603" cy="1169551"/>
          </a:xfrm>
          <a:prstGeom prst="rect">
            <a:avLst/>
          </a:prstGeom>
          <a:noFill/>
        </p:spPr>
        <p:txBody>
          <a:bodyPr wrap="square">
            <a:spAutoFit/>
          </a:bodyPr>
          <a:lstStyle/>
          <a:p>
            <a:pPr algn="just">
              <a:buNone/>
            </a:pPr>
            <a:r>
              <a:rPr lang="en-US" sz="1400"/>
              <a:t>Customer service teams often manage large volumes of repetitive inquiries that slow resolution times and create inconsistent service experiences. Knowledge articles, troubleshooting steps, and policies are spread across multiple systems, making it difficult for agents and customers to quickly find accurate information. Organizations needed a scalable way to improve responsiveness, reduce support backlog, and deliver a more consistent customer experience across channels.</a:t>
            </a:r>
          </a:p>
        </p:txBody>
      </p:sp>
      <p:sp>
        <p:nvSpPr>
          <p:cNvPr id="11" name="TextBox 10">
            <a:extLst>
              <a:ext uri="{FF2B5EF4-FFF2-40B4-BE49-F238E27FC236}">
                <a16:creationId xmlns:a16="http://schemas.microsoft.com/office/drawing/2014/main" id="{10181A26-AA64-7B8A-1548-AF4A3BCF2A35}"/>
              </a:ext>
            </a:extLst>
          </p:cNvPr>
          <p:cNvSpPr txBox="1"/>
          <p:nvPr/>
        </p:nvSpPr>
        <p:spPr>
          <a:xfrm>
            <a:off x="205725" y="2910027"/>
            <a:ext cx="8353901" cy="2246769"/>
          </a:xfrm>
          <a:prstGeom prst="rect">
            <a:avLst/>
          </a:prstGeom>
          <a:noFill/>
        </p:spPr>
        <p:txBody>
          <a:bodyPr wrap="square">
            <a:spAutoFit/>
          </a:bodyPr>
          <a:lstStyle/>
          <a:p>
            <a:pPr marL="285750" indent="-285750">
              <a:buFont typeface="Arial" panose="020B0604020202020204" pitchFamily="34" charset="0"/>
              <a:buChar char="•"/>
            </a:pPr>
            <a:r>
              <a:rPr lang="en-US" sz="1400"/>
              <a:t>Built a Customer Service Agent using Microsoft Copilot Studio capable of understanding and responding to common support questions</a:t>
            </a:r>
          </a:p>
          <a:p>
            <a:pPr marL="285750" indent="-285750">
              <a:buFont typeface="Arial" panose="020B0604020202020204" pitchFamily="34" charset="0"/>
              <a:buChar char="•"/>
            </a:pPr>
            <a:r>
              <a:rPr lang="en-US" sz="1400"/>
              <a:t>Grounded the agent in validated knowledge articles, troubleshooting guides, and customer policies to ensure accurate and consistent answers</a:t>
            </a:r>
          </a:p>
          <a:p>
            <a:pPr marL="285750" indent="-285750">
              <a:buFont typeface="Arial" panose="020B0604020202020204" pitchFamily="34" charset="0"/>
              <a:buChar char="•"/>
            </a:pPr>
            <a:r>
              <a:rPr lang="en-US" sz="1400"/>
              <a:t>Created conversational flows for self-service steps such as order status checks, returns, troubleshooting, and account updates</a:t>
            </a:r>
          </a:p>
          <a:p>
            <a:pPr marL="285750" indent="-285750">
              <a:buFont typeface="Arial" panose="020B0604020202020204" pitchFamily="34" charset="0"/>
              <a:buChar char="•"/>
            </a:pPr>
            <a:r>
              <a:rPr lang="en-US" sz="1400"/>
              <a:t>Integrated the agent with CRM and ticketing systems to retrieve customer details, create cases, and escalate when needed</a:t>
            </a:r>
          </a:p>
          <a:p>
            <a:pPr marL="285750" indent="-285750">
              <a:buFont typeface="Arial" panose="020B0604020202020204" pitchFamily="34" charset="0"/>
              <a:buChar char="•"/>
            </a:pPr>
            <a:r>
              <a:rPr lang="en-US" sz="1400"/>
              <a:t>Refined the agent’s logic and responses through iterative testing with support teams and real customer inquiries</a:t>
            </a:r>
          </a:p>
        </p:txBody>
      </p:sp>
      <p:sp>
        <p:nvSpPr>
          <p:cNvPr id="12" name="TextBox 11">
            <a:extLst>
              <a:ext uri="{FF2B5EF4-FFF2-40B4-BE49-F238E27FC236}">
                <a16:creationId xmlns:a16="http://schemas.microsoft.com/office/drawing/2014/main" id="{046C0226-03F4-7777-38EB-DEBB5C673A39}"/>
              </a:ext>
            </a:extLst>
          </p:cNvPr>
          <p:cNvSpPr txBox="1"/>
          <p:nvPr/>
        </p:nvSpPr>
        <p:spPr>
          <a:xfrm>
            <a:off x="169217" y="5462422"/>
            <a:ext cx="8385883" cy="1384995"/>
          </a:xfrm>
          <a:prstGeom prst="rect">
            <a:avLst/>
          </a:prstGeom>
          <a:noFill/>
        </p:spPr>
        <p:txBody>
          <a:bodyPr wrap="square" lIns="91440" tIns="45720" rIns="91440" bIns="45720" anchor="t">
            <a:spAutoFit/>
          </a:bodyPr>
          <a:lstStyle/>
          <a:p>
            <a:pPr>
              <a:buFont typeface="Arial" panose="020B0604020202020204" pitchFamily="34" charset="0"/>
              <a:buChar char="•"/>
            </a:pPr>
            <a:r>
              <a:rPr lang="en-US" sz="1400">
                <a:solidFill>
                  <a:prstClr val="black"/>
                </a:solidFill>
                <a:ea typeface="+mn-lt"/>
                <a:cs typeface="+mn-lt"/>
              </a:rPr>
              <a:t>Reduced inbound tickets through automated self-service for common issues</a:t>
            </a:r>
            <a:endParaRPr lang="en-US" sz="1400">
              <a:solidFill>
                <a:prstClr val="black"/>
              </a:solidFill>
            </a:endParaRPr>
          </a:p>
          <a:p>
            <a:pPr>
              <a:buFont typeface="Arial" panose="020B0604020202020204" pitchFamily="34" charset="0"/>
              <a:buChar char="•"/>
            </a:pPr>
            <a:r>
              <a:rPr lang="en-US" sz="1400">
                <a:solidFill>
                  <a:prstClr val="black"/>
                </a:solidFill>
                <a:ea typeface="+mn-lt"/>
                <a:cs typeface="+mn-lt"/>
              </a:rPr>
              <a:t>Increased first-contact resolution with better access to troubleshooting and policy info</a:t>
            </a:r>
            <a:endParaRPr lang="en-US"/>
          </a:p>
          <a:p>
            <a:pPr>
              <a:buFont typeface="Arial" panose="020B0604020202020204" pitchFamily="34" charset="0"/>
              <a:buChar char="•"/>
            </a:pPr>
            <a:r>
              <a:rPr lang="en-US" sz="1400">
                <a:solidFill>
                  <a:prstClr val="black"/>
                </a:solidFill>
                <a:ea typeface="+mn-lt"/>
                <a:cs typeface="+mn-lt"/>
              </a:rPr>
              <a:t>Improved customer satisfaction via faster, consistent multi-channel responses</a:t>
            </a:r>
            <a:endParaRPr lang="en-US">
              <a:solidFill>
                <a:prstClr val="black"/>
              </a:solidFill>
            </a:endParaRPr>
          </a:p>
          <a:p>
            <a:pPr>
              <a:buFont typeface="Arial" panose="020B0604020202020204" pitchFamily="34" charset="0"/>
              <a:buChar char="•"/>
            </a:pPr>
            <a:r>
              <a:rPr lang="en-US" sz="1400">
                <a:solidFill>
                  <a:prstClr val="black"/>
                </a:solidFill>
                <a:ea typeface="+mn-lt"/>
                <a:cs typeface="+mn-lt"/>
              </a:rPr>
              <a:t>Enabled agents to focus on complex, high-value cases</a:t>
            </a:r>
            <a:endParaRPr lang="en-US">
              <a:solidFill>
                <a:prstClr val="black"/>
              </a:solidFill>
            </a:endParaRPr>
          </a:p>
          <a:p>
            <a:pPr>
              <a:buFont typeface="Arial" panose="020B0604020202020204" pitchFamily="34" charset="0"/>
              <a:buChar char="•"/>
            </a:pPr>
            <a:r>
              <a:rPr lang="en-US" sz="1400">
                <a:solidFill>
                  <a:prstClr val="black"/>
                </a:solidFill>
                <a:ea typeface="+mn-lt"/>
                <a:cs typeface="+mn-lt"/>
              </a:rPr>
              <a:t>Built a scalable foundation for expanded automated support across products and channels</a:t>
            </a:r>
            <a:endParaRPr lang="en-US">
              <a:solidFill>
                <a:prstClr val="black"/>
              </a:solidFill>
            </a:endParaRPr>
          </a:p>
          <a:p>
            <a:pPr marL="116840" indent="-116840">
              <a:buFont typeface="Arial" panose="020B0604020202020204" pitchFamily="34" charset="0"/>
              <a:buChar char="•"/>
            </a:pPr>
            <a:endParaRPr lang="en-US" sz="1400">
              <a:solidFill>
                <a:prstClr val="black"/>
              </a:solidFill>
            </a:endParaRPr>
          </a:p>
        </p:txBody>
      </p:sp>
      <p:pic>
        <p:nvPicPr>
          <p:cNvPr id="10" name="Graphic 9">
            <a:extLst>
              <a:ext uri="{FF2B5EF4-FFF2-40B4-BE49-F238E27FC236}">
                <a16:creationId xmlns:a16="http://schemas.microsoft.com/office/drawing/2014/main" id="{B3DA0B21-856A-BB47-2686-F392A7C0D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98485" y="1019412"/>
            <a:ext cx="2971595" cy="2272396"/>
          </a:xfrm>
          <a:prstGeom prst="rect">
            <a:avLst/>
          </a:prstGeom>
        </p:spPr>
      </p:pic>
      <p:sp>
        <p:nvSpPr>
          <p:cNvPr id="16" name="TextBox 15">
            <a:extLst>
              <a:ext uri="{FF2B5EF4-FFF2-40B4-BE49-F238E27FC236}">
                <a16:creationId xmlns:a16="http://schemas.microsoft.com/office/drawing/2014/main" id="{70468829-8DB5-F5FA-9781-1AB4B2EAA10F}"/>
              </a:ext>
            </a:extLst>
          </p:cNvPr>
          <p:cNvSpPr txBox="1"/>
          <p:nvPr/>
        </p:nvSpPr>
        <p:spPr>
          <a:xfrm>
            <a:off x="9315359" y="3133619"/>
            <a:ext cx="2511286" cy="369332"/>
          </a:xfrm>
          <a:prstGeom prst="rect">
            <a:avLst/>
          </a:prstGeom>
          <a:noFill/>
        </p:spPr>
        <p:txBody>
          <a:bodyPr wrap="square" lIns="91440" tIns="45720" rIns="91440" bIns="45720" anchor="t">
            <a:spAutoFit/>
          </a:bodyPr>
          <a:lstStyle/>
          <a:p>
            <a:r>
              <a:rPr kumimoji="0" lang="en-US" sz="1800" b="1" i="1" u="none" strike="noStrike" kern="1200" cap="none" spc="0" normalizeH="0" baseline="0" noProof="0">
                <a:ln>
                  <a:noFill/>
                </a:ln>
                <a:solidFill>
                  <a:srgbClr val="0070C0"/>
                </a:solidFill>
                <a:effectLst/>
                <a:uLnTx/>
                <a:uFillTx/>
                <a:latin typeface="Poppins"/>
                <a:cs typeface="Poppins"/>
              </a:rPr>
              <a:t>Copilot Studio</a:t>
            </a:r>
            <a:endParaRPr lang="en-US" i="1"/>
          </a:p>
        </p:txBody>
      </p:sp>
      <p:pic>
        <p:nvPicPr>
          <p:cNvPr id="3074" name="Picture 2" descr="Personal Budget Spreadsheet - How To Create and Use">
            <a:extLst>
              <a:ext uri="{FF2B5EF4-FFF2-40B4-BE49-F238E27FC236}">
                <a16:creationId xmlns:a16="http://schemas.microsoft.com/office/drawing/2014/main" id="{089D9B3E-82BE-33E4-F1A5-972367BBAB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8485" y="4162356"/>
            <a:ext cx="2843982" cy="1972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22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D2BFF-4FCC-C94F-E010-9FC8FF6089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D4D513-39EA-4108-A16A-D3996EB15A6C}"/>
              </a:ext>
            </a:extLst>
          </p:cNvPr>
          <p:cNvSpPr>
            <a:spLocks noGrp="1"/>
          </p:cNvSpPr>
          <p:nvPr>
            <p:ph type="ctrTitle"/>
          </p:nvPr>
        </p:nvSpPr>
        <p:spPr>
          <a:xfrm>
            <a:off x="593910" y="255022"/>
            <a:ext cx="11448890" cy="764390"/>
          </a:xfrm>
        </p:spPr>
        <p:txBody>
          <a:bodyPr>
            <a:noAutofit/>
          </a:bodyPr>
          <a:lstStyle/>
          <a:p>
            <a:pPr defTabSz="896533"/>
            <a:r>
              <a:rPr lang="en-US" sz="2800">
                <a:solidFill>
                  <a:srgbClr val="002060"/>
                </a:solidFill>
                <a:latin typeface="Poppins SemiBold"/>
                <a:cs typeface="Poppins SemiBold"/>
              </a:rPr>
              <a:t>Financial Analysis Agent Built with Microsoft Copilot Studio</a:t>
            </a:r>
          </a:p>
        </p:txBody>
      </p:sp>
      <p:sp>
        <p:nvSpPr>
          <p:cNvPr id="2" name="Rectangle 1">
            <a:extLst>
              <a:ext uri="{FF2B5EF4-FFF2-40B4-BE49-F238E27FC236}">
                <a16:creationId xmlns:a16="http://schemas.microsoft.com/office/drawing/2014/main" id="{C46A32C1-05A6-9FBD-87EE-4DFA473E2609}"/>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5B579576-53E0-0B31-ACBD-9D831230B9DD}"/>
              </a:ext>
            </a:extLst>
          </p:cNvPr>
          <p:cNvSpPr txBox="1"/>
          <p:nvPr/>
        </p:nvSpPr>
        <p:spPr>
          <a:xfrm>
            <a:off x="169218" y="1221043"/>
            <a:ext cx="4972843"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Business Need </a:t>
            </a:r>
          </a:p>
        </p:txBody>
      </p:sp>
      <p:sp>
        <p:nvSpPr>
          <p:cNvPr id="7" name="TextBox 6">
            <a:extLst>
              <a:ext uri="{FF2B5EF4-FFF2-40B4-BE49-F238E27FC236}">
                <a16:creationId xmlns:a16="http://schemas.microsoft.com/office/drawing/2014/main" id="{E25BB3FB-759B-A414-657C-7C654B0416EF}"/>
              </a:ext>
            </a:extLst>
          </p:cNvPr>
          <p:cNvSpPr txBox="1"/>
          <p:nvPr/>
        </p:nvSpPr>
        <p:spPr>
          <a:xfrm>
            <a:off x="181858" y="2741559"/>
            <a:ext cx="498548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What We Did </a:t>
            </a:r>
          </a:p>
        </p:txBody>
      </p:sp>
      <p:sp>
        <p:nvSpPr>
          <p:cNvPr id="8" name="TextBox 7">
            <a:extLst>
              <a:ext uri="{FF2B5EF4-FFF2-40B4-BE49-F238E27FC236}">
                <a16:creationId xmlns:a16="http://schemas.microsoft.com/office/drawing/2014/main" id="{AC1D3F39-2A84-257D-99FF-F54E3829E4FE}"/>
              </a:ext>
            </a:extLst>
          </p:cNvPr>
          <p:cNvSpPr txBox="1"/>
          <p:nvPr/>
        </p:nvSpPr>
        <p:spPr>
          <a:xfrm>
            <a:off x="181858" y="4756380"/>
            <a:ext cx="497284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Results</a:t>
            </a:r>
          </a:p>
        </p:txBody>
      </p:sp>
      <p:sp>
        <p:nvSpPr>
          <p:cNvPr id="9" name="TextBox 8">
            <a:extLst>
              <a:ext uri="{FF2B5EF4-FFF2-40B4-BE49-F238E27FC236}">
                <a16:creationId xmlns:a16="http://schemas.microsoft.com/office/drawing/2014/main" id="{63ABA5DF-2F30-C1EF-6797-D04754355C53}"/>
              </a:ext>
            </a:extLst>
          </p:cNvPr>
          <p:cNvSpPr txBox="1"/>
          <p:nvPr/>
        </p:nvSpPr>
        <p:spPr>
          <a:xfrm>
            <a:off x="164811" y="1446641"/>
            <a:ext cx="8391287" cy="954107"/>
          </a:xfrm>
          <a:prstGeom prst="rect">
            <a:avLst/>
          </a:prstGeom>
          <a:noFill/>
        </p:spPr>
        <p:txBody>
          <a:bodyPr wrap="square">
            <a:spAutoFit/>
          </a:bodyPr>
          <a:lstStyle/>
          <a:p>
            <a:pPr algn="just">
              <a:buNone/>
            </a:pPr>
            <a:r>
              <a:rPr lang="en-US" sz="1400"/>
              <a:t>Customer service teams handle large volumes of repetitive inquiries, slowing response times and creating inconsistent experiences. Knowledge is often spread across multiple systems, making it hard for agents and customers to access accurate information quickly. A scalable, intelligent support channel was needed to improve responsiveness and reduce the manual workload.</a:t>
            </a:r>
          </a:p>
        </p:txBody>
      </p:sp>
      <p:sp>
        <p:nvSpPr>
          <p:cNvPr id="11" name="TextBox 10">
            <a:extLst>
              <a:ext uri="{FF2B5EF4-FFF2-40B4-BE49-F238E27FC236}">
                <a16:creationId xmlns:a16="http://schemas.microsoft.com/office/drawing/2014/main" id="{40E7E137-CDF9-6A44-BD68-7569BD944063}"/>
              </a:ext>
            </a:extLst>
          </p:cNvPr>
          <p:cNvSpPr txBox="1"/>
          <p:nvPr/>
        </p:nvSpPr>
        <p:spPr>
          <a:xfrm>
            <a:off x="234662" y="3056472"/>
            <a:ext cx="8353901" cy="1384995"/>
          </a:xfrm>
          <a:prstGeom prst="rect">
            <a:avLst/>
          </a:prstGeom>
          <a:noFill/>
        </p:spPr>
        <p:txBody>
          <a:bodyPr wrap="square">
            <a:spAutoFit/>
          </a:bodyPr>
          <a:lstStyle/>
          <a:p>
            <a:pPr marL="285750" indent="-285750">
              <a:buFont typeface="Arial" panose="020B0604020202020204" pitchFamily="34" charset="0"/>
              <a:buChar char="•"/>
            </a:pPr>
            <a:r>
              <a:rPr lang="en-US" sz="1400"/>
              <a:t>Built a Customer Service Agent in Microsoft Copilot Studio to answer common support questions</a:t>
            </a:r>
          </a:p>
          <a:p>
            <a:pPr marL="285750" indent="-285750">
              <a:buFont typeface="Arial" panose="020B0604020202020204" pitchFamily="34" charset="0"/>
              <a:buChar char="•"/>
            </a:pPr>
            <a:r>
              <a:rPr lang="en-US" sz="1400"/>
              <a:t>Grounded the agent in approved knowledge articles, troubleshooting steps, and customer policies</a:t>
            </a:r>
          </a:p>
          <a:p>
            <a:pPr marL="285750" indent="-285750">
              <a:buFont typeface="Arial" panose="020B0604020202020204" pitchFamily="34" charset="0"/>
              <a:buChar char="•"/>
            </a:pPr>
            <a:r>
              <a:rPr lang="en-US" sz="1400"/>
              <a:t>Designed conversational flows for tasks like order status, returns, troubleshooting, and account updates</a:t>
            </a:r>
          </a:p>
          <a:p>
            <a:pPr marL="285750" indent="-285750">
              <a:buFont typeface="Arial" panose="020B0604020202020204" pitchFamily="34" charset="0"/>
              <a:buChar char="•"/>
            </a:pPr>
            <a:r>
              <a:rPr lang="en-US" sz="1400"/>
              <a:t>Integrated with CRM and ticketing systems to retrieve information and create or escalate cases</a:t>
            </a:r>
          </a:p>
          <a:p>
            <a:pPr marL="285750" indent="-285750">
              <a:buFont typeface="Arial" panose="020B0604020202020204" pitchFamily="34" charset="0"/>
              <a:buChar char="•"/>
            </a:pPr>
            <a:r>
              <a:rPr lang="en-US" sz="1400"/>
              <a:t>Conducted iterative testing with support teams to refine accuracy and usability</a:t>
            </a:r>
          </a:p>
        </p:txBody>
      </p:sp>
      <p:sp>
        <p:nvSpPr>
          <p:cNvPr id="12" name="TextBox 11">
            <a:extLst>
              <a:ext uri="{FF2B5EF4-FFF2-40B4-BE49-F238E27FC236}">
                <a16:creationId xmlns:a16="http://schemas.microsoft.com/office/drawing/2014/main" id="{32AAAE9B-645B-C908-A3A3-B9CF3EF5F92C}"/>
              </a:ext>
            </a:extLst>
          </p:cNvPr>
          <p:cNvSpPr txBox="1"/>
          <p:nvPr/>
        </p:nvSpPr>
        <p:spPr>
          <a:xfrm>
            <a:off x="169217" y="5072454"/>
            <a:ext cx="8385883" cy="1169551"/>
          </a:xfrm>
          <a:prstGeom prst="rect">
            <a:avLst/>
          </a:prstGeom>
          <a:noFill/>
        </p:spPr>
        <p:txBody>
          <a:bodyPr wrap="square">
            <a:spAutoFit/>
          </a:bodyPr>
          <a:lstStyle/>
          <a:p>
            <a:pPr marL="116895" indent="-116895">
              <a:buFont typeface="Arial" panose="020B0604020202020204" pitchFamily="34" charset="0"/>
              <a:buChar char="•"/>
            </a:pPr>
            <a:r>
              <a:rPr lang="en-US" sz="1400">
                <a:solidFill>
                  <a:prstClr val="black"/>
                </a:solidFill>
              </a:rPr>
              <a:t>Lowered ticket volume by enabling automated self-service for common issues</a:t>
            </a:r>
          </a:p>
          <a:p>
            <a:pPr marL="116895" indent="-116895">
              <a:buFont typeface="Arial" panose="020B0604020202020204" pitchFamily="34" charset="0"/>
              <a:buChar char="•"/>
            </a:pPr>
            <a:r>
              <a:rPr lang="en-US" sz="1400">
                <a:solidFill>
                  <a:prstClr val="black"/>
                </a:solidFill>
              </a:rPr>
              <a:t>Improved first-contact resolution through consistent, accurate guidance</a:t>
            </a:r>
          </a:p>
          <a:p>
            <a:pPr marL="116895" indent="-116895">
              <a:buFont typeface="Arial" panose="020B0604020202020204" pitchFamily="34" charset="0"/>
              <a:buChar char="•"/>
            </a:pPr>
            <a:r>
              <a:rPr lang="en-US" sz="1400">
                <a:solidFill>
                  <a:prstClr val="black"/>
                </a:solidFill>
              </a:rPr>
              <a:t>Increased customer satisfaction with faster, clearer responses</a:t>
            </a:r>
          </a:p>
          <a:p>
            <a:pPr marL="116895" indent="-116895">
              <a:buFont typeface="Arial" panose="020B0604020202020204" pitchFamily="34" charset="0"/>
              <a:buChar char="•"/>
            </a:pPr>
            <a:r>
              <a:rPr lang="en-US" sz="1400">
                <a:solidFill>
                  <a:prstClr val="black"/>
                </a:solidFill>
              </a:rPr>
              <a:t>Freed support teams to focus on complex, high-value cases</a:t>
            </a:r>
          </a:p>
          <a:p>
            <a:pPr marL="116895" indent="-116895">
              <a:buFont typeface="Arial" panose="020B0604020202020204" pitchFamily="34" charset="0"/>
              <a:buChar char="•"/>
            </a:pPr>
            <a:r>
              <a:rPr lang="en-US" sz="1400">
                <a:solidFill>
                  <a:prstClr val="black"/>
                </a:solidFill>
              </a:rPr>
              <a:t>Created a foundation to expand automated support into additional products and channels</a:t>
            </a:r>
          </a:p>
        </p:txBody>
      </p:sp>
      <p:pic>
        <p:nvPicPr>
          <p:cNvPr id="10" name="Graphic 9">
            <a:extLst>
              <a:ext uri="{FF2B5EF4-FFF2-40B4-BE49-F238E27FC236}">
                <a16:creationId xmlns:a16="http://schemas.microsoft.com/office/drawing/2014/main" id="{5C4AB153-03AC-0067-02DE-D156F39102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98485" y="1019412"/>
            <a:ext cx="2971595" cy="2272396"/>
          </a:xfrm>
          <a:prstGeom prst="rect">
            <a:avLst/>
          </a:prstGeom>
        </p:spPr>
      </p:pic>
      <p:sp>
        <p:nvSpPr>
          <p:cNvPr id="16" name="TextBox 15">
            <a:extLst>
              <a:ext uri="{FF2B5EF4-FFF2-40B4-BE49-F238E27FC236}">
                <a16:creationId xmlns:a16="http://schemas.microsoft.com/office/drawing/2014/main" id="{84D60C85-B4DF-DBE7-82AB-12A9E134F2C2}"/>
              </a:ext>
            </a:extLst>
          </p:cNvPr>
          <p:cNvSpPr txBox="1"/>
          <p:nvPr/>
        </p:nvSpPr>
        <p:spPr>
          <a:xfrm>
            <a:off x="9315359" y="3133619"/>
            <a:ext cx="2511286" cy="369332"/>
          </a:xfrm>
          <a:prstGeom prst="rect">
            <a:avLst/>
          </a:prstGeom>
          <a:noFill/>
        </p:spPr>
        <p:txBody>
          <a:bodyPr wrap="square" lIns="91440" tIns="45720" rIns="91440" bIns="45720" anchor="t">
            <a:spAutoFit/>
          </a:bodyPr>
          <a:lstStyle/>
          <a:p>
            <a:r>
              <a:rPr kumimoji="0" lang="en-US" sz="1800" b="1" i="1" u="none" strike="noStrike" kern="1200" cap="none" spc="0" normalizeH="0" baseline="0" noProof="0">
                <a:ln>
                  <a:noFill/>
                </a:ln>
                <a:solidFill>
                  <a:srgbClr val="0070C0"/>
                </a:solidFill>
                <a:effectLst/>
                <a:uLnTx/>
                <a:uFillTx/>
                <a:latin typeface="Poppins"/>
                <a:cs typeface="Poppins"/>
              </a:rPr>
              <a:t>Copilot Studio</a:t>
            </a:r>
            <a:endParaRPr lang="en-US" i="1"/>
          </a:p>
        </p:txBody>
      </p:sp>
      <p:pic>
        <p:nvPicPr>
          <p:cNvPr id="3078" name="Picture 6" descr="What is a Support Ticketing System? How does it work? | Cflow">
            <a:extLst>
              <a:ext uri="{FF2B5EF4-FFF2-40B4-BE49-F238E27FC236}">
                <a16:creationId xmlns:a16="http://schemas.microsoft.com/office/drawing/2014/main" id="{6BCB10D9-45AB-6B64-7817-6A6F96D9BF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5917" y="3947532"/>
            <a:ext cx="3804163" cy="2139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9870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xsi:nil="true"/>
    <ApprovedByClient xmlns="f0ee8362-fa7e-4bc9-ab88-7dcfb17cb19b">false</ApprovedByClient>
    <PlatTech xmlns="f0ee8362-fa7e-4bc9-ab88-7dcfb17cb19b" xsi:nil="true"/>
    <ProjectCompletionDate xmlns="f0ee8362-fa7e-4bc9-ab88-7dcfb17cb19b" xsi:nil="true"/>
    <BusinessUnit xmlns="f0ee8362-fa7e-4bc9-ab88-7dcfb17cb19b">
      <Value>Custom Development</Value>
      <Value>Modern Workplace</Value>
    </BusinessUnit>
    <Solutions xmlns="f0ee8362-fa7e-4bc9-ab88-7dcfb17cb19b">
      <Value>AI</Value>
    </Solutions>
  </documentManagement>
</p:properties>
</file>

<file path=customXml/itemProps1.xml><?xml version="1.0" encoding="utf-8"?>
<ds:datastoreItem xmlns:ds="http://schemas.openxmlformats.org/officeDocument/2006/customXml" ds:itemID="{630628EB-4BA4-4AA4-A346-9A847A3CDD17}">
  <ds:schemaRefs>
    <ds:schemaRef ds:uri="http://schemas.microsoft.com/office/2006/metadata/customXsn"/>
  </ds:schemaRefs>
</ds:datastoreItem>
</file>

<file path=customXml/itemProps2.xml><?xml version="1.0" encoding="utf-8"?>
<ds:datastoreItem xmlns:ds="http://schemas.openxmlformats.org/officeDocument/2006/customXml" ds:itemID="{792C15EB-04C0-4FAD-8C55-A450ECF57FC0}">
  <ds:schemaRefs>
    <ds:schemaRef ds:uri="f0ee8362-fa7e-4bc9-ab88-7dcfb17cb1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839909A-6F7A-4649-82D3-C3DF05967430}">
  <ds:schemaRefs>
    <ds:schemaRef ds:uri="http://schemas.microsoft.com/sharepoint/v3/contenttype/forms"/>
  </ds:schemaRefs>
</ds:datastoreItem>
</file>

<file path=customXml/itemProps4.xml><?xml version="1.0" encoding="utf-8"?>
<ds:datastoreItem xmlns:ds="http://schemas.openxmlformats.org/officeDocument/2006/customXml" ds:itemID="{9C5810BB-CF29-4C29-96E2-CC8C3A335A61}">
  <ds:schemaRefs>
    <ds:schemaRef ds:uri="f0ee8362-fa7e-4bc9-ab88-7dcfb17cb19b"/>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0</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HR Agent Built with Copilot Studio</vt:lpstr>
      <vt:lpstr>Customer Service Agent Built with Microsoft Copilot Studio</vt:lpstr>
      <vt:lpstr>Financial Analysis Agent Built with Microsoft Copilot Studio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Brendan Murphy</dc:creator>
  <cp:revision>2</cp:revision>
  <dcterms:created xsi:type="dcterms:W3CDTF">2025-12-08T18:59:34Z</dcterms:created>
  <dcterms:modified xsi:type="dcterms:W3CDTF">2025-12-22T18:10:28Z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