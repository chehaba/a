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s/modernComment_7FFFF6F9_2B9ECCB6.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147481337" r:id="rId6"/>
    <p:sldId id="2147481336" r:id="rId7"/>
    <p:sldId id="214748133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F37C78-E519-D2E2-0F28-74B6986BB055}" name="Lauren Short" initials="LS" userId="S::lshort@affirma.com::6eb0672d-8c2e-4352-8fe6-36faf60f84f8" providerId="AD"/>
  <p188:author id="{1C8A12B9-CE25-1BF3-41CB-1C0C33F266DC}" name="Brendan Murphy" initials="" userId="S::bmurphy@affirma.com::e9f923b6-6d89-4d4e-a3b7-d9304b9d44b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35" d="100"/>
          <a:sy n="135" d="100"/>
        </p:scale>
        <p:origin x="156" y="6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e9f923b6-6d89-4d4e-a3b7-d9304b9d44ba" providerId="ADAL" clId="{0A53A762-B531-4BAF-AEEB-EDB07CAAC5ED}"/>
    <pc:docChg chg="addSld modSld sldOrd">
      <pc:chgData name="Brendan Murphy" userId="e9f923b6-6d89-4d4e-a3b7-d9304b9d44ba" providerId="ADAL" clId="{0A53A762-B531-4BAF-AEEB-EDB07CAAC5ED}" dt="2026-01-14T01:20:10.411" v="3" actId="729"/>
      <pc:docMkLst>
        <pc:docMk/>
      </pc:docMkLst>
      <pc:sldChg chg="mod modShow">
        <pc:chgData name="Brendan Murphy" userId="e9f923b6-6d89-4d4e-a3b7-d9304b9d44ba" providerId="ADAL" clId="{0A53A762-B531-4BAF-AEEB-EDB07CAAC5ED}" dt="2026-01-14T01:20:10.411" v="3" actId="729"/>
        <pc:sldMkLst>
          <pc:docMk/>
          <pc:sldMk cId="3335460861" sldId="2147481335"/>
        </pc:sldMkLst>
      </pc:sldChg>
      <pc:sldChg chg="mod modShow">
        <pc:chgData name="Brendan Murphy" userId="e9f923b6-6d89-4d4e-a3b7-d9304b9d44ba" providerId="ADAL" clId="{0A53A762-B531-4BAF-AEEB-EDB07CAAC5ED}" dt="2026-01-14T01:20:10.411" v="3" actId="729"/>
        <pc:sldMkLst>
          <pc:docMk/>
          <pc:sldMk cId="3983265604" sldId="2147481336"/>
        </pc:sldMkLst>
      </pc:sldChg>
      <pc:sldChg chg="add ord">
        <pc:chgData name="Brendan Murphy" userId="e9f923b6-6d89-4d4e-a3b7-d9304b9d44ba" providerId="ADAL" clId="{0A53A762-B531-4BAF-AEEB-EDB07CAAC5ED}" dt="2026-01-14T01:20:03.392" v="2"/>
        <pc:sldMkLst>
          <pc:docMk/>
          <pc:sldMk cId="731827382" sldId="2147481337"/>
        </pc:sldMkLst>
      </pc:sldChg>
    </pc:docChg>
  </pc:docChgLst>
</pc:chgInfo>
</file>

<file path=ppt/comments/modernComment_7FFFF6F9_2B9ECCB6.xml><?xml version="1.0" encoding="utf-8"?>
<p188:cmLst xmlns:a="http://schemas.openxmlformats.org/drawingml/2006/main" xmlns:r="http://schemas.openxmlformats.org/officeDocument/2006/relationships" xmlns:p188="http://schemas.microsoft.com/office/powerpoint/2018/8/main">
  <p188:cm id="{B4BDE88E-3459-4483-B3A3-0CD66FDC93AA}" authorId="{FBF37C78-E519-D2E2-0F28-74B6986BB055}" created="2026-01-13T23:46:38.863">
    <pc:sldMkLst xmlns:pc="http://schemas.microsoft.com/office/powerpoint/2013/main/command">
      <pc:docMk/>
      <pc:sldMk cId="3335460861" sldId="2147481335"/>
    </pc:sldMkLst>
    <p188:replyLst>
      <p188:reply id="{683A8647-DDA4-4EC2-8085-FD668C20199F}" authorId="{1C8A12B9-CE25-1BF3-41CB-1C0C33F266DC}" created="2026-01-14T01:13:34.514">
        <p188:txBody>
          <a:bodyPr/>
          <a:lstStyle/>
          <a:p>
            <a:r>
              <a:rPr lang="en-US"/>
              <a:t>We actually used the training version from Snappy 😃 I’ll replace with the development one</a:t>
            </a:r>
          </a:p>
        </p188:txBody>
      </p188:reply>
    </p188:replyLst>
    <p188:txBody>
      <a:bodyPr/>
      <a:lstStyle/>
      <a:p>
        <a:r>
          <a:rPr lang="en-US"/>
          <a:t>[@Brendan Murphy] if there are any changes you can make to this case study to include time-savings metrics and mention “template-based output” that would be amazing.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1426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7FFFF6F9_2B9ECCB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B4ADE-B7E7-396B-282C-34ED7EA7D4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50796C-8968-E58E-1832-7ECA313CE2BE}"/>
              </a:ext>
            </a:extLst>
          </p:cNvPr>
          <p:cNvSpPr>
            <a:spLocks noGrp="1"/>
          </p:cNvSpPr>
          <p:nvPr>
            <p:ph type="ctrTitle"/>
          </p:nvPr>
        </p:nvSpPr>
        <p:spPr>
          <a:xfrm>
            <a:off x="634252" y="347743"/>
            <a:ext cx="11448890" cy="764390"/>
          </a:xfrm>
        </p:spPr>
        <p:txBody>
          <a:bodyPr>
            <a:noAutofit/>
          </a:bodyPr>
          <a:lstStyle/>
          <a:p>
            <a:pPr defTabSz="896497"/>
            <a:r>
              <a:rPr lang="en-US" sz="3333" dirty="0">
                <a:solidFill>
                  <a:srgbClr val="002060"/>
                </a:solidFill>
                <a:latin typeface="Poppins SemiBold"/>
                <a:cs typeface="Poppins SemiBold"/>
              </a:rPr>
              <a:t>Pitchbook Data – Voice of the Customer AI Agent</a:t>
            </a:r>
          </a:p>
        </p:txBody>
      </p:sp>
      <p:sp>
        <p:nvSpPr>
          <p:cNvPr id="2" name="Rectangle 1">
            <a:extLst>
              <a:ext uri="{FF2B5EF4-FFF2-40B4-BE49-F238E27FC236}">
                <a16:creationId xmlns:a16="http://schemas.microsoft.com/office/drawing/2014/main" id="{AEEE5E36-0391-9EE7-9A61-89D452B20D9D}"/>
              </a:ext>
            </a:extLst>
          </p:cNvPr>
          <p:cNvSpPr/>
          <p:nvPr/>
        </p:nvSpPr>
        <p:spPr>
          <a:xfrm>
            <a:off x="10749645"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767">
              <a:defRPr/>
            </a:pPr>
            <a:endParaRPr lang="en-US" sz="1500">
              <a:solidFill>
                <a:prstClr val="white"/>
              </a:solidFill>
              <a:latin typeface="Poppins" panose="00000500000000000000" pitchFamily="2" charset="0"/>
              <a:cs typeface="Poppins" panose="00000500000000000000" pitchFamily="2" charset="0"/>
            </a:endParaRPr>
          </a:p>
        </p:txBody>
      </p:sp>
      <p:pic>
        <p:nvPicPr>
          <p:cNvPr id="1026" name="Picture 2" descr="Azure AI Foundry Blog">
            <a:extLst>
              <a:ext uri="{FF2B5EF4-FFF2-40B4-BE49-F238E27FC236}">
                <a16:creationId xmlns:a16="http://schemas.microsoft.com/office/drawing/2014/main" id="{FD71C73A-0F0B-CD7D-40E5-C5C096AE8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4874" y="1410369"/>
            <a:ext cx="2129588" cy="21295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D91C846-F2E1-A0D4-9650-A675AC56A352}"/>
              </a:ext>
            </a:extLst>
          </p:cNvPr>
          <p:cNvPicPr>
            <a:picLocks noChangeAspect="1"/>
          </p:cNvPicPr>
          <p:nvPr/>
        </p:nvPicPr>
        <p:blipFill>
          <a:blip r:embed="rId4"/>
          <a:stretch>
            <a:fillRect/>
          </a:stretch>
        </p:blipFill>
        <p:spPr>
          <a:xfrm>
            <a:off x="7276541" y="4190275"/>
            <a:ext cx="4657919" cy="2301343"/>
          </a:xfrm>
          <a:prstGeom prst="rect">
            <a:avLst/>
          </a:prstGeom>
        </p:spPr>
      </p:pic>
      <p:sp>
        <p:nvSpPr>
          <p:cNvPr id="10" name="TextBox 9">
            <a:extLst>
              <a:ext uri="{FF2B5EF4-FFF2-40B4-BE49-F238E27FC236}">
                <a16:creationId xmlns:a16="http://schemas.microsoft.com/office/drawing/2014/main" id="{F4D748F9-F00D-5670-A127-0826CB9597D4}"/>
              </a:ext>
            </a:extLst>
          </p:cNvPr>
          <p:cNvSpPr txBox="1"/>
          <p:nvPr/>
        </p:nvSpPr>
        <p:spPr>
          <a:xfrm>
            <a:off x="8498734" y="3593430"/>
            <a:ext cx="2511286" cy="369332"/>
          </a:xfrm>
          <a:prstGeom prst="rect">
            <a:avLst/>
          </a:prstGeom>
          <a:noFill/>
        </p:spPr>
        <p:txBody>
          <a:bodyPr wrap="square">
            <a:spAutoFit/>
          </a:bodyPr>
          <a:lstStyle/>
          <a:p>
            <a:pPr defTabSz="914363"/>
            <a:r>
              <a:rPr lang="en-US" b="1" dirty="0">
                <a:solidFill>
                  <a:srgbClr val="0070C0"/>
                </a:solidFill>
                <a:latin typeface="Poppins" panose="00000500000000000000" pitchFamily="2" charset="0"/>
                <a:cs typeface="Poppins" panose="00000500000000000000" pitchFamily="2" charset="0"/>
              </a:rPr>
              <a:t>Azure AI Foundry</a:t>
            </a:r>
            <a:endParaRPr lang="en-US" dirty="0">
              <a:solidFill>
                <a:prstClr val="black"/>
              </a:solidFill>
              <a:latin typeface="Aptos" panose="020B0004020202020204"/>
            </a:endParaRPr>
          </a:p>
        </p:txBody>
      </p:sp>
      <p:sp>
        <p:nvSpPr>
          <p:cNvPr id="6" name="TextBox 5">
            <a:extLst>
              <a:ext uri="{FF2B5EF4-FFF2-40B4-BE49-F238E27FC236}">
                <a16:creationId xmlns:a16="http://schemas.microsoft.com/office/drawing/2014/main" id="{CE5FBDB2-403C-C0DB-3691-271594D13D52}"/>
              </a:ext>
            </a:extLst>
          </p:cNvPr>
          <p:cNvSpPr txBox="1"/>
          <p:nvPr/>
        </p:nvSpPr>
        <p:spPr>
          <a:xfrm>
            <a:off x="468092" y="1432797"/>
            <a:ext cx="4381658" cy="283294"/>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500" b="1">
                <a:solidFill>
                  <a:srgbClr val="008AD9"/>
                </a:solidFill>
                <a:latin typeface="Poppins" panose="00000500000000000000" pitchFamily="2" charset="0"/>
                <a:cs typeface="Poppins" panose="00000500000000000000" pitchFamily="2" charset="0"/>
              </a:rPr>
              <a:t>Business Need </a:t>
            </a:r>
          </a:p>
        </p:txBody>
      </p:sp>
      <p:sp>
        <p:nvSpPr>
          <p:cNvPr id="7" name="TextBox 6">
            <a:extLst>
              <a:ext uri="{FF2B5EF4-FFF2-40B4-BE49-F238E27FC236}">
                <a16:creationId xmlns:a16="http://schemas.microsoft.com/office/drawing/2014/main" id="{C21B3D42-48F2-A8B7-5612-C6FBC0E80A63}"/>
              </a:ext>
            </a:extLst>
          </p:cNvPr>
          <p:cNvSpPr txBox="1"/>
          <p:nvPr/>
        </p:nvSpPr>
        <p:spPr>
          <a:xfrm>
            <a:off x="448077" y="2723890"/>
            <a:ext cx="4392796" cy="283294"/>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500" b="1">
                <a:solidFill>
                  <a:srgbClr val="008AD9"/>
                </a:solidFill>
                <a:latin typeface="Poppins" panose="00000500000000000000" pitchFamily="2" charset="0"/>
                <a:cs typeface="Poppins" panose="00000500000000000000" pitchFamily="2" charset="0"/>
              </a:rPr>
              <a:t>What We Did </a:t>
            </a:r>
          </a:p>
        </p:txBody>
      </p:sp>
      <p:sp>
        <p:nvSpPr>
          <p:cNvPr id="9" name="TextBox 8">
            <a:extLst>
              <a:ext uri="{FF2B5EF4-FFF2-40B4-BE49-F238E27FC236}">
                <a16:creationId xmlns:a16="http://schemas.microsoft.com/office/drawing/2014/main" id="{E73AE91B-FC7F-C7C0-22CB-5B35005E3B0D}"/>
              </a:ext>
            </a:extLst>
          </p:cNvPr>
          <p:cNvSpPr txBox="1"/>
          <p:nvPr/>
        </p:nvSpPr>
        <p:spPr>
          <a:xfrm>
            <a:off x="468092" y="4962276"/>
            <a:ext cx="4381659" cy="283294"/>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500" b="1">
                <a:solidFill>
                  <a:srgbClr val="008AD9"/>
                </a:solidFill>
                <a:latin typeface="Poppins" panose="00000500000000000000" pitchFamily="2" charset="0"/>
                <a:cs typeface="Poppins" panose="00000500000000000000" pitchFamily="2" charset="0"/>
              </a:rPr>
              <a:t>Results</a:t>
            </a:r>
          </a:p>
        </p:txBody>
      </p:sp>
      <p:sp>
        <p:nvSpPr>
          <p:cNvPr id="11" name="TextBox 10">
            <a:extLst>
              <a:ext uri="{FF2B5EF4-FFF2-40B4-BE49-F238E27FC236}">
                <a16:creationId xmlns:a16="http://schemas.microsoft.com/office/drawing/2014/main" id="{0BD8F06B-9B4F-02CA-2D46-1D1FFB474162}"/>
              </a:ext>
            </a:extLst>
          </p:cNvPr>
          <p:cNvSpPr txBox="1"/>
          <p:nvPr/>
        </p:nvSpPr>
        <p:spPr>
          <a:xfrm>
            <a:off x="448077" y="1706980"/>
            <a:ext cx="6511067" cy="990336"/>
          </a:xfrm>
          <a:prstGeom prst="rect">
            <a:avLst/>
          </a:prstGeom>
          <a:noFill/>
        </p:spPr>
        <p:txBody>
          <a:bodyPr wrap="square">
            <a:spAutoFit/>
          </a:bodyPr>
          <a:lstStyle/>
          <a:p>
            <a:r>
              <a:rPr lang="en-US" sz="1167" dirty="0" err="1">
                <a:solidFill>
                  <a:prstClr val="black"/>
                </a:solidFill>
                <a:latin typeface="Poppins" panose="00000500000000000000" pitchFamily="2" charset="0"/>
                <a:cs typeface="Poppins" panose="00000500000000000000" pitchFamily="2" charset="0"/>
              </a:rPr>
              <a:t>PitchBook’s</a:t>
            </a:r>
            <a:r>
              <a:rPr lang="en-US" sz="1167" dirty="0">
                <a:solidFill>
                  <a:prstClr val="black"/>
                </a:solidFill>
                <a:latin typeface="Poppins" panose="00000500000000000000" pitchFamily="2" charset="0"/>
                <a:cs typeface="Poppins" panose="00000500000000000000" pitchFamily="2" charset="0"/>
              </a:rPr>
              <a:t> Marketing team relied on manual, time-intensive processes to collect, synthesize, and present customer feedback across multiple platforms. Insights were fragmented across survey tools, analytics platforms, review sites, and conversation transcripts, making it difficult to quickly identify themes, prepare executive-ready summaries, and translate customer sentiment into actionable marketing narratives.</a:t>
            </a:r>
          </a:p>
        </p:txBody>
      </p:sp>
      <p:sp>
        <p:nvSpPr>
          <p:cNvPr id="12" name="TextBox 11">
            <a:extLst>
              <a:ext uri="{FF2B5EF4-FFF2-40B4-BE49-F238E27FC236}">
                <a16:creationId xmlns:a16="http://schemas.microsoft.com/office/drawing/2014/main" id="{E3A9B9CA-5863-4E44-2AB0-B875728A25C7}"/>
              </a:ext>
            </a:extLst>
          </p:cNvPr>
          <p:cNvSpPr txBox="1"/>
          <p:nvPr/>
        </p:nvSpPr>
        <p:spPr>
          <a:xfrm>
            <a:off x="468092" y="3062901"/>
            <a:ext cx="6594899" cy="1888337"/>
          </a:xfrm>
          <a:prstGeom prst="rect">
            <a:avLst/>
          </a:prstGeom>
          <a:noFill/>
        </p:spPr>
        <p:txBody>
          <a:bodyPr wrap="square">
            <a:spAutoFit/>
          </a:bodyPr>
          <a:lstStyle/>
          <a:p>
            <a:pPr marL="142869" indent="-142869">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Designed and implemented a Voice of the Customer Agent tailored for the Marketing organization</a:t>
            </a:r>
          </a:p>
          <a:p>
            <a:pPr marL="142869" indent="-142869">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Unified customer feedback from surveys, analytics dashboards, review platforms, and conversation transcripts into a single analysis pipeline</a:t>
            </a:r>
          </a:p>
          <a:p>
            <a:pPr marL="142869" indent="-142869">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Applied AI-powered sentiment analysis and thematic clustering to surface key trends, risks, and opportunities</a:t>
            </a:r>
          </a:p>
          <a:p>
            <a:pPr marL="142869" indent="-142869">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Delivered templated, self-service outputs optimized for marketing presentations, executive readouts, and campaign planning</a:t>
            </a:r>
          </a:p>
          <a:p>
            <a:pPr marL="142869" indent="-142869">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Enabled on-demand querying of customer insights to support faster messaging, positioning, and storytelling</a:t>
            </a:r>
          </a:p>
        </p:txBody>
      </p:sp>
      <p:sp>
        <p:nvSpPr>
          <p:cNvPr id="13" name="TextBox 12">
            <a:extLst>
              <a:ext uri="{FF2B5EF4-FFF2-40B4-BE49-F238E27FC236}">
                <a16:creationId xmlns:a16="http://schemas.microsoft.com/office/drawing/2014/main" id="{4C22A113-6CEF-DFFA-7CCA-F82FD1EBC7B8}"/>
              </a:ext>
            </a:extLst>
          </p:cNvPr>
          <p:cNvSpPr txBox="1"/>
          <p:nvPr/>
        </p:nvSpPr>
        <p:spPr>
          <a:xfrm>
            <a:off x="448077" y="5245569"/>
            <a:ext cx="6511067" cy="1169936"/>
          </a:xfrm>
          <a:prstGeom prst="rect">
            <a:avLst/>
          </a:prstGeom>
          <a:noFill/>
        </p:spPr>
        <p:txBody>
          <a:bodyPr wrap="square">
            <a:spAutoFit/>
          </a:bodyPr>
          <a:lstStyle/>
          <a:p>
            <a:pPr marL="116890" indent="-116890">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Reduced time spent compiling and analyzing customer feedback by approximately 60% and 40+ hours a month, accelerating insight-to-presentation workflows</a:t>
            </a:r>
          </a:p>
          <a:p>
            <a:pPr marL="116890" indent="-116890">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Enabled Marketing teams to generate consistent, executive-ready slides and summaries without manual data stitching</a:t>
            </a:r>
          </a:p>
          <a:p>
            <a:pPr marL="116890" indent="-116890">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Improved visibility into customer sentiment and recurring themes across channels</a:t>
            </a:r>
          </a:p>
          <a:p>
            <a:pPr marL="116890" indent="-116890">
              <a:buFont typeface="Arial" panose="020B0604020202020204" pitchFamily="34" charset="0"/>
              <a:buChar char="•"/>
            </a:pPr>
            <a:r>
              <a:rPr lang="en-US" sz="1167" dirty="0">
                <a:solidFill>
                  <a:prstClr val="black"/>
                </a:solidFill>
                <a:latin typeface="Poppins" panose="00000500000000000000" pitchFamily="2" charset="0"/>
                <a:cs typeface="Poppins" panose="00000500000000000000" pitchFamily="2" charset="0"/>
              </a:rPr>
              <a:t>Established a scalable foundation for ongoing Voice of the Customer analysis</a:t>
            </a:r>
          </a:p>
        </p:txBody>
      </p:sp>
    </p:spTree>
    <p:extLst>
      <p:ext uri="{BB962C8B-B14F-4D97-AF65-F5344CB8AC3E}">
        <p14:creationId xmlns:p14="http://schemas.microsoft.com/office/powerpoint/2010/main" val="73182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24AB71-1066-152D-E0F1-3C4AE82B6E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CC2EF6-2C77-D0D6-6DEB-50D383153074}"/>
              </a:ext>
            </a:extLst>
          </p:cNvPr>
          <p:cNvSpPr>
            <a:spLocks noGrp="1"/>
          </p:cNvSpPr>
          <p:nvPr>
            <p:ph type="ctrTitle"/>
          </p:nvPr>
        </p:nvSpPr>
        <p:spPr>
          <a:xfrm>
            <a:off x="634252" y="301170"/>
            <a:ext cx="11448890" cy="764390"/>
          </a:xfrm>
        </p:spPr>
        <p:txBody>
          <a:bodyPr>
            <a:noAutofit/>
          </a:bodyPr>
          <a:lstStyle/>
          <a:p>
            <a:pPr defTabSz="896533"/>
            <a:r>
              <a:rPr lang="en-US" sz="3200" dirty="0">
                <a:solidFill>
                  <a:srgbClr val="002060"/>
                </a:solidFill>
                <a:latin typeface="Poppins SemiBold"/>
                <a:cs typeface="Poppins SemiBold"/>
              </a:rPr>
              <a:t>SaaS Software Company– AI Voice of Customer Agent</a:t>
            </a:r>
          </a:p>
        </p:txBody>
      </p:sp>
      <p:sp>
        <p:nvSpPr>
          <p:cNvPr id="2" name="Rectangle 1">
            <a:extLst>
              <a:ext uri="{FF2B5EF4-FFF2-40B4-BE49-F238E27FC236}">
                <a16:creationId xmlns:a16="http://schemas.microsoft.com/office/drawing/2014/main" id="{5F5A98CE-6682-81E6-01ED-D8BBB0F33113}"/>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BF096475-7CA1-5F0D-3565-3E49684F4EFE}"/>
              </a:ext>
            </a:extLst>
          </p:cNvPr>
          <p:cNvSpPr txBox="1">
            <a:spLocks/>
          </p:cNvSpPr>
          <p:nvPr/>
        </p:nvSpPr>
        <p:spPr>
          <a:xfrm>
            <a:off x="634252" y="1423851"/>
            <a:ext cx="5798290" cy="1430462"/>
          </a:xfrm>
          <a:prstGeom prst="rect">
            <a:avLst/>
          </a:prstGeom>
        </p:spPr>
        <p:txBody>
          <a:bodyPr lIns="91440" tIns="45720" rIns="91440" bIns="45720" anchor="t">
            <a:noAutofit/>
          </a:bodyPr>
          <a:lstStyle>
            <a:lvl1pPr marL="268971" indent="-268971" algn="l" defTabSz="1075883" rtl="0" eaLnBrk="1" latinLnBrk="0" hangingPunct="1">
              <a:lnSpc>
                <a:spcPct val="90000"/>
              </a:lnSpc>
              <a:spcBef>
                <a:spcPts val="1177"/>
              </a:spcBef>
              <a:buFont typeface="Arial" panose="020B0604020202020204" pitchFamily="34" charset="0"/>
              <a:buChar char="•"/>
              <a:defRPr sz="2353" kern="1200">
                <a:solidFill>
                  <a:schemeClr val="tx1"/>
                </a:solidFill>
                <a:latin typeface="Segoe UI" panose="020B0502040204020203" pitchFamily="34" charset="0"/>
                <a:ea typeface="+mn-ea"/>
                <a:cs typeface="+mn-cs"/>
              </a:defRPr>
            </a:lvl1pPr>
            <a:lvl2pPr marL="806912"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Segoe UI" panose="020B0502040204020203" pitchFamily="34" charset="0"/>
                <a:ea typeface="+mn-ea"/>
                <a:cs typeface="+mn-cs"/>
              </a:defRPr>
            </a:lvl2pPr>
            <a:lvl3pPr marL="1344854" indent="-268971" algn="l" defTabSz="1075883" rtl="0" eaLnBrk="1" latinLnBrk="0" hangingPunct="1">
              <a:lnSpc>
                <a:spcPct val="90000"/>
              </a:lnSpc>
              <a:spcBef>
                <a:spcPts val="588"/>
              </a:spcBef>
              <a:buFont typeface="Arial" panose="020B0604020202020204" pitchFamily="34" charset="0"/>
              <a:buChar char="•"/>
              <a:defRPr sz="1883" kern="1200">
                <a:solidFill>
                  <a:schemeClr val="tx1"/>
                </a:solidFill>
                <a:latin typeface="Segoe UI" panose="020B0502040204020203" pitchFamily="34" charset="0"/>
                <a:ea typeface="+mn-ea"/>
                <a:cs typeface="+mn-cs"/>
              </a:defRPr>
            </a:lvl3pPr>
            <a:lvl4pPr marL="1882795"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4pPr>
            <a:lvl5pPr marL="2420737"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5pPr>
            <a:lvl6pPr marL="2958678"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6pPr>
            <a:lvl7pPr marL="3496620"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7pPr>
            <a:lvl8pPr marL="4034561"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8pPr>
            <a:lvl9pPr marL="4572503"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9pPr>
          </a:lstStyle>
          <a:p>
            <a:pPr marL="0" marR="0" lvl="0" indent="0" algn="l" defTabSz="97680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333" b="1"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rPr>
              <a:t>Overview</a:t>
            </a:r>
            <a:endParaRPr kumimoji="0" lang="en-US" sz="1167" b="0"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endParaRPr>
          </a:p>
          <a:p>
            <a:pPr marL="0" marR="0" lvl="2" indent="0" algn="l" defTabSz="976767" rtl="0" eaLnBrk="1" fontAlgn="auto" latinLnBrk="0" hangingPunct="1">
              <a:lnSpc>
                <a:spcPct val="114000"/>
              </a:lnSpc>
              <a:spcBef>
                <a:spcPts val="50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err="1">
                <a:ln>
                  <a:noFill/>
                </a:ln>
                <a:solidFill>
                  <a:prstClr val="black"/>
                </a:solidFill>
                <a:effectLst/>
                <a:uLnTx/>
                <a:uFillTx/>
                <a:latin typeface="Poppins"/>
                <a:cs typeface="Poppins"/>
              </a:rPr>
              <a:t>Affirma’s</a:t>
            </a:r>
            <a:r>
              <a:rPr kumimoji="0" lang="en-US" sz="1400" b="0" i="0" u="none" strike="noStrike" kern="1200" cap="none" spc="0" normalizeH="0" baseline="0" noProof="0" dirty="0">
                <a:ln>
                  <a:noFill/>
                </a:ln>
                <a:solidFill>
                  <a:prstClr val="black"/>
                </a:solidFill>
                <a:effectLst/>
                <a:uLnTx/>
                <a:uFillTx/>
                <a:latin typeface="Poppins"/>
                <a:cs typeface="Poppins"/>
              </a:rPr>
              <a:t> client manually collected customer insights and satisfaction metrics across various feedback platforms.  Affirma was engaged to architect an Azure AI agent to automate and improve this process.</a:t>
            </a:r>
            <a:endParaRPr lang="en-US" sz="1400" b="0" i="0" u="none" strike="noStrike" kern="1200" cap="none" spc="0" normalizeH="0" baseline="0" noProof="0" dirty="0">
              <a:ln>
                <a:noFill/>
              </a:ln>
              <a:solidFill>
                <a:prstClr val="black"/>
              </a:solidFill>
              <a:effectLst/>
              <a:uLnTx/>
              <a:uFillTx/>
              <a:latin typeface="Poppins"/>
              <a:cs typeface="Poppins"/>
            </a:endParaRPr>
          </a:p>
        </p:txBody>
      </p:sp>
      <p:sp>
        <p:nvSpPr>
          <p:cNvPr id="5" name="Content Placeholder 2">
            <a:extLst>
              <a:ext uri="{FF2B5EF4-FFF2-40B4-BE49-F238E27FC236}">
                <a16:creationId xmlns:a16="http://schemas.microsoft.com/office/drawing/2014/main" id="{A7BC13B3-C1CB-E4BE-4347-254278F2CD0B}"/>
              </a:ext>
            </a:extLst>
          </p:cNvPr>
          <p:cNvSpPr txBox="1">
            <a:spLocks/>
          </p:cNvSpPr>
          <p:nvPr/>
        </p:nvSpPr>
        <p:spPr>
          <a:xfrm>
            <a:off x="634252" y="3023614"/>
            <a:ext cx="5953160" cy="3412391"/>
          </a:xfrm>
          <a:prstGeom prst="rect">
            <a:avLst/>
          </a:prstGeom>
        </p:spPr>
        <p:txBody>
          <a:bodyPr>
            <a:noAutofit/>
          </a:bodyPr>
          <a:lstStyle>
            <a:lvl1pPr marL="268971" indent="-268971" algn="l" defTabSz="1075883" rtl="0" eaLnBrk="1" latinLnBrk="0" hangingPunct="1">
              <a:lnSpc>
                <a:spcPct val="90000"/>
              </a:lnSpc>
              <a:spcBef>
                <a:spcPts val="1177"/>
              </a:spcBef>
              <a:buFont typeface="Arial" panose="020B0604020202020204" pitchFamily="34" charset="0"/>
              <a:buChar char="•"/>
              <a:defRPr sz="2353" kern="1200">
                <a:solidFill>
                  <a:schemeClr val="tx1"/>
                </a:solidFill>
                <a:latin typeface="Segoe UI" panose="020B0502040204020203" pitchFamily="34" charset="0"/>
                <a:ea typeface="+mn-ea"/>
                <a:cs typeface="+mn-cs"/>
              </a:defRPr>
            </a:lvl1pPr>
            <a:lvl2pPr marL="806912"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Segoe UI" panose="020B0502040204020203" pitchFamily="34" charset="0"/>
                <a:ea typeface="+mn-ea"/>
                <a:cs typeface="+mn-cs"/>
              </a:defRPr>
            </a:lvl2pPr>
            <a:lvl3pPr marL="1344854" indent="-268971" algn="l" defTabSz="1075883" rtl="0" eaLnBrk="1" latinLnBrk="0" hangingPunct="1">
              <a:lnSpc>
                <a:spcPct val="90000"/>
              </a:lnSpc>
              <a:spcBef>
                <a:spcPts val="588"/>
              </a:spcBef>
              <a:buFont typeface="Arial" panose="020B0604020202020204" pitchFamily="34" charset="0"/>
              <a:buChar char="•"/>
              <a:defRPr sz="1883" kern="1200">
                <a:solidFill>
                  <a:schemeClr val="tx1"/>
                </a:solidFill>
                <a:latin typeface="Segoe UI" panose="020B0502040204020203" pitchFamily="34" charset="0"/>
                <a:ea typeface="+mn-ea"/>
                <a:cs typeface="+mn-cs"/>
              </a:defRPr>
            </a:lvl3pPr>
            <a:lvl4pPr marL="1882795"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4pPr>
            <a:lvl5pPr marL="2420737"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5pPr>
            <a:lvl6pPr marL="2958678"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6pPr>
            <a:lvl7pPr marL="3496620"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7pPr>
            <a:lvl8pPr marL="4034561"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8pPr>
            <a:lvl9pPr marL="4572503"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9pPr>
          </a:lstStyle>
          <a:p>
            <a:pPr marL="0" marR="0" lvl="0" indent="0" algn="l" defTabSz="97680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333" b="1"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rPr>
              <a:t>Partnership Scope</a:t>
            </a:r>
            <a:endParaRPr kumimoji="0" lang="en-US" sz="1333" b="0"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endParaRPr>
          </a:p>
          <a:p>
            <a:pPr marL="238115" lvl="2" indent="-238115" defTabSz="976767">
              <a:lnSpc>
                <a:spcPct val="114000"/>
              </a:lnSpc>
              <a:spcBef>
                <a:spcPts val="500"/>
              </a:spcBef>
              <a:spcAft>
                <a:spcPts val="500"/>
              </a:spcAft>
              <a:buSzPct val="100000"/>
              <a:defRPr/>
            </a:pPr>
            <a:r>
              <a:rPr lang="en-US" sz="1400" dirty="0">
                <a:latin typeface="Poppins" pitchFamily="2" charset="77"/>
                <a:cs typeface="Poppins" pitchFamily="2" charset="77"/>
              </a:rPr>
              <a:t>Conducted a comprehensive assessment of existing Voice of the Customer processes, tools, and data sources</a:t>
            </a:r>
          </a:p>
          <a:p>
            <a:pPr marL="238115" lvl="2" indent="-238115" defTabSz="976767">
              <a:lnSpc>
                <a:spcPct val="114000"/>
              </a:lnSpc>
              <a:spcBef>
                <a:spcPts val="500"/>
              </a:spcBef>
              <a:spcAft>
                <a:spcPts val="500"/>
              </a:spcAft>
              <a:buSzPct val="100000"/>
              <a:defRPr/>
            </a:pPr>
            <a:r>
              <a:rPr lang="en-US" sz="1400" dirty="0">
                <a:latin typeface="Poppins" pitchFamily="2" charset="77"/>
                <a:cs typeface="Poppins" pitchFamily="2" charset="77"/>
              </a:rPr>
              <a:t>Designed a scalable architecture to unify feedback from Tableau, </a:t>
            </a:r>
            <a:r>
              <a:rPr lang="en-US" sz="1400" dirty="0" err="1">
                <a:latin typeface="Poppins" pitchFamily="2" charset="77"/>
                <a:cs typeface="Poppins" pitchFamily="2" charset="77"/>
              </a:rPr>
              <a:t>AskNicely</a:t>
            </a:r>
            <a:r>
              <a:rPr lang="en-US" sz="1400" dirty="0">
                <a:latin typeface="Poppins" pitchFamily="2" charset="77"/>
                <a:cs typeface="Poppins" pitchFamily="2" charset="77"/>
              </a:rPr>
              <a:t>, </a:t>
            </a:r>
            <a:r>
              <a:rPr lang="en-US" sz="1400" dirty="0" err="1">
                <a:latin typeface="Poppins" pitchFamily="2" charset="77"/>
                <a:cs typeface="Poppins" pitchFamily="2" charset="77"/>
              </a:rPr>
              <a:t>TrustRadius</a:t>
            </a:r>
            <a:r>
              <a:rPr lang="en-US" sz="1400" dirty="0">
                <a:latin typeface="Poppins" pitchFamily="2" charset="77"/>
                <a:cs typeface="Poppins" pitchFamily="2" charset="77"/>
              </a:rPr>
              <a:t>, and Gong transcripts into a single analysis pipeline</a:t>
            </a:r>
          </a:p>
          <a:p>
            <a:pPr marL="238115" lvl="2" indent="-238115" defTabSz="976767">
              <a:lnSpc>
                <a:spcPct val="114000"/>
              </a:lnSpc>
              <a:spcBef>
                <a:spcPts val="500"/>
              </a:spcBef>
              <a:spcAft>
                <a:spcPts val="500"/>
              </a:spcAft>
              <a:buSzPct val="100000"/>
              <a:defRPr/>
            </a:pPr>
            <a:r>
              <a:rPr lang="en-US" sz="1400" dirty="0">
                <a:solidFill>
                  <a:prstClr val="black"/>
                </a:solidFill>
                <a:latin typeface="Poppins" pitchFamily="2" charset="77"/>
                <a:cs typeface="Poppins" pitchFamily="2" charset="77"/>
              </a:rPr>
              <a:t>Created a self-service feedback intelligence platform, empowering teams with quicker, on-demand access to insights leveraging Azure AI </a:t>
            </a:r>
          </a:p>
          <a:p>
            <a:pPr marL="238115" lvl="2" indent="-238115" defTabSz="976767">
              <a:lnSpc>
                <a:spcPct val="114000"/>
              </a:lnSpc>
              <a:spcBef>
                <a:spcPts val="500"/>
              </a:spcBef>
              <a:spcAft>
                <a:spcPts val="500"/>
              </a:spcAft>
              <a:buSzPct val="100000"/>
              <a:defRPr/>
            </a:pPr>
            <a:endParaRPr lang="en-US" sz="1400" dirty="0">
              <a:latin typeface="Poppins" pitchFamily="2" charset="77"/>
              <a:cs typeface="Poppins" pitchFamily="2" charset="77"/>
            </a:endParaRPr>
          </a:p>
          <a:p>
            <a:pPr marL="238115" lvl="2" indent="-238115" defTabSz="976767">
              <a:lnSpc>
                <a:spcPct val="114000"/>
              </a:lnSpc>
              <a:spcBef>
                <a:spcPts val="500"/>
              </a:spcBef>
              <a:spcAft>
                <a:spcPts val="500"/>
              </a:spcAft>
              <a:buSzPct val="100000"/>
              <a:defRPr/>
            </a:pPr>
            <a:endParaRPr lang="en-US" sz="1400" dirty="0">
              <a:latin typeface="Poppins" pitchFamily="2" charset="77"/>
              <a:cs typeface="Poppins" pitchFamily="2" charset="77"/>
            </a:endParaRPr>
          </a:p>
          <a:p>
            <a:pPr marL="238115" marR="0" lvl="2" indent="-238115" algn="l" defTabSz="976767" rtl="0" eaLnBrk="1" fontAlgn="auto" latinLnBrk="0" hangingPunct="1">
              <a:lnSpc>
                <a:spcPct val="114000"/>
              </a:lnSpc>
              <a:spcBef>
                <a:spcPts val="500"/>
              </a:spcBef>
              <a:spcAft>
                <a:spcPts val="500"/>
              </a:spcAft>
              <a:buClrTx/>
              <a:buSzPct val="100000"/>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8ED49EC0-D581-230F-E00A-07B23D6CB4AE}"/>
              </a:ext>
            </a:extLst>
          </p:cNvPr>
          <p:cNvSpPr txBox="1"/>
          <p:nvPr/>
        </p:nvSpPr>
        <p:spPr>
          <a:xfrm>
            <a:off x="8284838" y="3633104"/>
            <a:ext cx="2511286" cy="369332"/>
          </a:xfrm>
          <a:prstGeom prst="rect">
            <a:avLst/>
          </a:prstGeom>
          <a:noFill/>
        </p:spPr>
        <p:txBody>
          <a:bodyPr wrap="square" lIns="91440" tIns="45720" rIns="91440" bIns="45720" anchor="t">
            <a:spAutoFit/>
          </a:bodyPr>
          <a:lstStyle/>
          <a:p>
            <a:r>
              <a:rPr kumimoji="0" lang="en-US" sz="1800" b="1" i="0" u="none" strike="noStrike" kern="1200" cap="none" spc="0" normalizeH="0" baseline="0" noProof="0" dirty="0">
                <a:ln>
                  <a:noFill/>
                </a:ln>
                <a:solidFill>
                  <a:srgbClr val="0070C0"/>
                </a:solidFill>
                <a:effectLst/>
                <a:uLnTx/>
                <a:uFillTx/>
                <a:latin typeface="Poppins"/>
                <a:cs typeface="Poppins"/>
              </a:rPr>
              <a:t>Azure</a:t>
            </a:r>
            <a:r>
              <a:rPr lang="en-US" b="1" dirty="0">
                <a:solidFill>
                  <a:srgbClr val="0070C0"/>
                </a:solidFill>
                <a:latin typeface="Poppins"/>
                <a:cs typeface="Poppins"/>
              </a:rPr>
              <a:t> Open AI</a:t>
            </a:r>
            <a:endParaRPr lang="en-US" dirty="0"/>
          </a:p>
        </p:txBody>
      </p:sp>
      <p:pic>
        <p:nvPicPr>
          <p:cNvPr id="6" name="Picture 5" descr="A screenshot of a computer&#10;&#10;AI-generated content may be incorrect.">
            <a:extLst>
              <a:ext uri="{FF2B5EF4-FFF2-40B4-BE49-F238E27FC236}">
                <a16:creationId xmlns:a16="http://schemas.microsoft.com/office/drawing/2014/main" id="{887662B4-CCA8-5815-230A-16A313993530}"/>
              </a:ext>
            </a:extLst>
          </p:cNvPr>
          <p:cNvPicPr>
            <a:picLocks noChangeAspect="1"/>
          </p:cNvPicPr>
          <p:nvPr/>
        </p:nvPicPr>
        <p:blipFill>
          <a:blip r:embed="rId2"/>
          <a:stretch>
            <a:fillRect/>
          </a:stretch>
        </p:blipFill>
        <p:spPr>
          <a:xfrm>
            <a:off x="6725053" y="4065076"/>
            <a:ext cx="5167232" cy="2557221"/>
          </a:xfrm>
          <a:prstGeom prst="rect">
            <a:avLst/>
          </a:prstGeom>
        </p:spPr>
      </p:pic>
      <p:pic>
        <p:nvPicPr>
          <p:cNvPr id="7" name="Picture 6" descr="Azure OpenAI Service - Pricing | Microsoft Azure">
            <a:extLst>
              <a:ext uri="{FF2B5EF4-FFF2-40B4-BE49-F238E27FC236}">
                <a16:creationId xmlns:a16="http://schemas.microsoft.com/office/drawing/2014/main" id="{231C7A9E-4434-0A7D-CDCB-233C08570891}"/>
              </a:ext>
            </a:extLst>
          </p:cNvPr>
          <p:cNvPicPr>
            <a:picLocks noChangeAspect="1"/>
          </p:cNvPicPr>
          <p:nvPr/>
        </p:nvPicPr>
        <p:blipFill>
          <a:blip r:embed="rId3"/>
          <a:stretch>
            <a:fillRect/>
          </a:stretch>
        </p:blipFill>
        <p:spPr>
          <a:xfrm>
            <a:off x="7940298" y="1714435"/>
            <a:ext cx="2743200" cy="1440180"/>
          </a:xfrm>
          <a:prstGeom prst="rect">
            <a:avLst/>
          </a:prstGeom>
        </p:spPr>
      </p:pic>
    </p:spTree>
    <p:extLst>
      <p:ext uri="{BB962C8B-B14F-4D97-AF65-F5344CB8AC3E}">
        <p14:creationId xmlns:p14="http://schemas.microsoft.com/office/powerpoint/2010/main" val="398326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2B4ADE-B7E7-396B-282C-34ED7EA7D4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50796C-8968-E58E-1832-7ECA313CE2BE}"/>
              </a:ext>
            </a:extLst>
          </p:cNvPr>
          <p:cNvSpPr>
            <a:spLocks noGrp="1"/>
          </p:cNvSpPr>
          <p:nvPr>
            <p:ph type="ctrTitle"/>
          </p:nvPr>
        </p:nvSpPr>
        <p:spPr>
          <a:xfrm>
            <a:off x="634252" y="301170"/>
            <a:ext cx="11448890" cy="764390"/>
          </a:xfrm>
        </p:spPr>
        <p:txBody>
          <a:bodyPr>
            <a:noAutofit/>
          </a:bodyPr>
          <a:lstStyle/>
          <a:p>
            <a:pPr defTabSz="896533"/>
            <a:r>
              <a:rPr lang="en-US" sz="3200" dirty="0">
                <a:solidFill>
                  <a:srgbClr val="002060"/>
                </a:solidFill>
                <a:latin typeface="Poppins SemiBold"/>
                <a:cs typeface="Poppins SemiBold"/>
              </a:rPr>
              <a:t>Pitchbook Data– Azure AI Voice of Customer Agent</a:t>
            </a:r>
          </a:p>
        </p:txBody>
      </p:sp>
      <p:sp>
        <p:nvSpPr>
          <p:cNvPr id="2" name="Rectangle 1">
            <a:extLst>
              <a:ext uri="{FF2B5EF4-FFF2-40B4-BE49-F238E27FC236}">
                <a16:creationId xmlns:a16="http://schemas.microsoft.com/office/drawing/2014/main" id="{AEEE5E36-0391-9EE7-9A61-89D452B20D9D}"/>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383A41E5-BE1F-BFC6-F9D4-E0700EBE30D8}"/>
              </a:ext>
            </a:extLst>
          </p:cNvPr>
          <p:cNvSpPr txBox="1">
            <a:spLocks/>
          </p:cNvSpPr>
          <p:nvPr/>
        </p:nvSpPr>
        <p:spPr>
          <a:xfrm>
            <a:off x="634252" y="1423851"/>
            <a:ext cx="5798290" cy="1430462"/>
          </a:xfrm>
          <a:prstGeom prst="rect">
            <a:avLst/>
          </a:prstGeom>
        </p:spPr>
        <p:txBody>
          <a:bodyPr lIns="91440" tIns="45720" rIns="91440" bIns="45720" anchor="t">
            <a:noAutofit/>
          </a:bodyPr>
          <a:lstStyle>
            <a:lvl1pPr marL="268971" indent="-268971" algn="l" defTabSz="1075883" rtl="0" eaLnBrk="1" latinLnBrk="0" hangingPunct="1">
              <a:lnSpc>
                <a:spcPct val="90000"/>
              </a:lnSpc>
              <a:spcBef>
                <a:spcPts val="1177"/>
              </a:spcBef>
              <a:buFont typeface="Arial" panose="020B0604020202020204" pitchFamily="34" charset="0"/>
              <a:buChar char="•"/>
              <a:defRPr sz="2353" kern="1200">
                <a:solidFill>
                  <a:schemeClr val="tx1"/>
                </a:solidFill>
                <a:latin typeface="Segoe UI" panose="020B0502040204020203" pitchFamily="34" charset="0"/>
                <a:ea typeface="+mn-ea"/>
                <a:cs typeface="+mn-cs"/>
              </a:defRPr>
            </a:lvl1pPr>
            <a:lvl2pPr marL="806912"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Segoe UI" panose="020B0502040204020203" pitchFamily="34" charset="0"/>
                <a:ea typeface="+mn-ea"/>
                <a:cs typeface="+mn-cs"/>
              </a:defRPr>
            </a:lvl2pPr>
            <a:lvl3pPr marL="1344854" indent="-268971" algn="l" defTabSz="1075883" rtl="0" eaLnBrk="1" latinLnBrk="0" hangingPunct="1">
              <a:lnSpc>
                <a:spcPct val="90000"/>
              </a:lnSpc>
              <a:spcBef>
                <a:spcPts val="588"/>
              </a:spcBef>
              <a:buFont typeface="Arial" panose="020B0604020202020204" pitchFamily="34" charset="0"/>
              <a:buChar char="•"/>
              <a:defRPr sz="1883" kern="1200">
                <a:solidFill>
                  <a:schemeClr val="tx1"/>
                </a:solidFill>
                <a:latin typeface="Segoe UI" panose="020B0502040204020203" pitchFamily="34" charset="0"/>
                <a:ea typeface="+mn-ea"/>
                <a:cs typeface="+mn-cs"/>
              </a:defRPr>
            </a:lvl3pPr>
            <a:lvl4pPr marL="1882795"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4pPr>
            <a:lvl5pPr marL="2420737"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5pPr>
            <a:lvl6pPr marL="2958678"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6pPr>
            <a:lvl7pPr marL="3496620"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7pPr>
            <a:lvl8pPr marL="4034561"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8pPr>
            <a:lvl9pPr marL="4572503"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9pPr>
          </a:lstStyle>
          <a:p>
            <a:pPr marL="0" marR="0" lvl="0" indent="0" algn="l" defTabSz="97680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333" b="1"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rPr>
              <a:t>Overview</a:t>
            </a:r>
            <a:endParaRPr kumimoji="0" lang="en-US" sz="1167" b="0"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endParaRPr>
          </a:p>
          <a:p>
            <a:pPr marL="0" marR="0" lvl="2" indent="0" algn="l" defTabSz="976767" rtl="0" eaLnBrk="1" fontAlgn="auto" latinLnBrk="0" hangingPunct="1">
              <a:lnSpc>
                <a:spcPct val="114000"/>
              </a:lnSpc>
              <a:spcBef>
                <a:spcPts val="50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err="1">
                <a:ln>
                  <a:noFill/>
                </a:ln>
                <a:solidFill>
                  <a:prstClr val="black"/>
                </a:solidFill>
                <a:effectLst/>
                <a:uLnTx/>
                <a:uFillTx/>
                <a:latin typeface="Poppins"/>
                <a:cs typeface="Poppins"/>
              </a:rPr>
              <a:t>Affirma’s</a:t>
            </a:r>
            <a:r>
              <a:rPr kumimoji="0" lang="en-US" sz="1400" b="0" i="0" u="none" strike="noStrike" kern="1200" cap="none" spc="0" normalizeH="0" baseline="0" noProof="0" dirty="0">
                <a:ln>
                  <a:noFill/>
                </a:ln>
                <a:solidFill>
                  <a:prstClr val="black"/>
                </a:solidFill>
                <a:effectLst/>
                <a:uLnTx/>
                <a:uFillTx/>
                <a:latin typeface="Poppins"/>
                <a:cs typeface="Poppins"/>
              </a:rPr>
              <a:t> client manually collected customer insights and satisfaction metrics across various feedback platforms.  Affirma was engaged to architect an Azure AI agent to automate and improve this process.</a:t>
            </a:r>
            <a:endParaRPr lang="en-US" sz="1400" b="0" i="0" u="none" strike="noStrike" kern="1200" cap="none" spc="0" normalizeH="0" baseline="0" noProof="0" dirty="0">
              <a:ln>
                <a:noFill/>
              </a:ln>
              <a:solidFill>
                <a:prstClr val="black"/>
              </a:solidFill>
              <a:effectLst/>
              <a:uLnTx/>
              <a:uFillTx/>
              <a:latin typeface="Poppins"/>
              <a:cs typeface="Poppins"/>
            </a:endParaRPr>
          </a:p>
        </p:txBody>
      </p:sp>
      <p:sp>
        <p:nvSpPr>
          <p:cNvPr id="5" name="Content Placeholder 2">
            <a:extLst>
              <a:ext uri="{FF2B5EF4-FFF2-40B4-BE49-F238E27FC236}">
                <a16:creationId xmlns:a16="http://schemas.microsoft.com/office/drawing/2014/main" id="{08819A26-51C8-F381-4759-3B0B783244DF}"/>
              </a:ext>
            </a:extLst>
          </p:cNvPr>
          <p:cNvSpPr txBox="1">
            <a:spLocks/>
          </p:cNvSpPr>
          <p:nvPr/>
        </p:nvSpPr>
        <p:spPr>
          <a:xfrm>
            <a:off x="634252" y="3023614"/>
            <a:ext cx="5953160" cy="3412391"/>
          </a:xfrm>
          <a:prstGeom prst="rect">
            <a:avLst/>
          </a:prstGeom>
        </p:spPr>
        <p:txBody>
          <a:bodyPr>
            <a:noAutofit/>
          </a:bodyPr>
          <a:lstStyle>
            <a:lvl1pPr marL="268971" indent="-268971" algn="l" defTabSz="1075883" rtl="0" eaLnBrk="1" latinLnBrk="0" hangingPunct="1">
              <a:lnSpc>
                <a:spcPct val="90000"/>
              </a:lnSpc>
              <a:spcBef>
                <a:spcPts val="1177"/>
              </a:spcBef>
              <a:buFont typeface="Arial" panose="020B0604020202020204" pitchFamily="34" charset="0"/>
              <a:buChar char="•"/>
              <a:defRPr sz="2353" kern="1200">
                <a:solidFill>
                  <a:schemeClr val="tx1"/>
                </a:solidFill>
                <a:latin typeface="Segoe UI" panose="020B0502040204020203" pitchFamily="34" charset="0"/>
                <a:ea typeface="+mn-ea"/>
                <a:cs typeface="+mn-cs"/>
              </a:defRPr>
            </a:lvl1pPr>
            <a:lvl2pPr marL="806912"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Segoe UI" panose="020B0502040204020203" pitchFamily="34" charset="0"/>
                <a:ea typeface="+mn-ea"/>
                <a:cs typeface="+mn-cs"/>
              </a:defRPr>
            </a:lvl2pPr>
            <a:lvl3pPr marL="1344854" indent="-268971" algn="l" defTabSz="1075883" rtl="0" eaLnBrk="1" latinLnBrk="0" hangingPunct="1">
              <a:lnSpc>
                <a:spcPct val="90000"/>
              </a:lnSpc>
              <a:spcBef>
                <a:spcPts val="588"/>
              </a:spcBef>
              <a:buFont typeface="Arial" panose="020B0604020202020204" pitchFamily="34" charset="0"/>
              <a:buChar char="•"/>
              <a:defRPr sz="1883" kern="1200">
                <a:solidFill>
                  <a:schemeClr val="tx1"/>
                </a:solidFill>
                <a:latin typeface="Segoe UI" panose="020B0502040204020203" pitchFamily="34" charset="0"/>
                <a:ea typeface="+mn-ea"/>
                <a:cs typeface="+mn-cs"/>
              </a:defRPr>
            </a:lvl3pPr>
            <a:lvl4pPr marL="1882795"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4pPr>
            <a:lvl5pPr marL="2420737"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5pPr>
            <a:lvl6pPr marL="2958678"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6pPr>
            <a:lvl7pPr marL="3496620"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7pPr>
            <a:lvl8pPr marL="4034561"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8pPr>
            <a:lvl9pPr marL="4572503"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9pPr>
          </a:lstStyle>
          <a:p>
            <a:pPr marL="0" marR="0" lvl="0" indent="0" algn="l" defTabSz="97680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333" b="1"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rPr>
              <a:t>Partnership Scope</a:t>
            </a:r>
            <a:endParaRPr kumimoji="0" lang="en-US" sz="1333" b="0"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endParaRPr>
          </a:p>
          <a:p>
            <a:pPr marL="238115" lvl="2" indent="-238115" defTabSz="976767">
              <a:lnSpc>
                <a:spcPct val="114000"/>
              </a:lnSpc>
              <a:spcBef>
                <a:spcPts val="500"/>
              </a:spcBef>
              <a:spcAft>
                <a:spcPts val="500"/>
              </a:spcAft>
              <a:buSzPct val="100000"/>
              <a:defRPr/>
            </a:pPr>
            <a:r>
              <a:rPr lang="en-US" sz="1400" dirty="0">
                <a:latin typeface="Poppins" pitchFamily="2" charset="77"/>
                <a:cs typeface="Poppins" pitchFamily="2" charset="77"/>
              </a:rPr>
              <a:t>Conducted a comprehensive assessment of existing Voice of the Customer processes, tools, and data sources</a:t>
            </a:r>
          </a:p>
          <a:p>
            <a:pPr marL="238115" lvl="2" indent="-238115" defTabSz="976767">
              <a:lnSpc>
                <a:spcPct val="114000"/>
              </a:lnSpc>
              <a:spcBef>
                <a:spcPts val="500"/>
              </a:spcBef>
              <a:spcAft>
                <a:spcPts val="500"/>
              </a:spcAft>
              <a:buSzPct val="100000"/>
              <a:defRPr/>
            </a:pPr>
            <a:r>
              <a:rPr lang="en-US" sz="1400" dirty="0">
                <a:latin typeface="Poppins" pitchFamily="2" charset="77"/>
                <a:cs typeface="Poppins" pitchFamily="2" charset="77"/>
              </a:rPr>
              <a:t>Designed a scalable architecture to unify feedback from Tableau, </a:t>
            </a:r>
            <a:r>
              <a:rPr lang="en-US" sz="1400" dirty="0" err="1">
                <a:latin typeface="Poppins" pitchFamily="2" charset="77"/>
                <a:cs typeface="Poppins" pitchFamily="2" charset="77"/>
              </a:rPr>
              <a:t>AskNicely</a:t>
            </a:r>
            <a:r>
              <a:rPr lang="en-US" sz="1400" dirty="0">
                <a:latin typeface="Poppins" pitchFamily="2" charset="77"/>
                <a:cs typeface="Poppins" pitchFamily="2" charset="77"/>
              </a:rPr>
              <a:t>, </a:t>
            </a:r>
            <a:r>
              <a:rPr lang="en-US" sz="1400" dirty="0" err="1">
                <a:latin typeface="Poppins" pitchFamily="2" charset="77"/>
                <a:cs typeface="Poppins" pitchFamily="2" charset="77"/>
              </a:rPr>
              <a:t>TrustRadius</a:t>
            </a:r>
            <a:r>
              <a:rPr lang="en-US" sz="1400" dirty="0">
                <a:latin typeface="Poppins" pitchFamily="2" charset="77"/>
                <a:cs typeface="Poppins" pitchFamily="2" charset="77"/>
              </a:rPr>
              <a:t>, and Gong transcripts into a single analysis pipeline</a:t>
            </a:r>
          </a:p>
          <a:p>
            <a:pPr marL="238115" lvl="2" indent="-238115" defTabSz="976767">
              <a:lnSpc>
                <a:spcPct val="114000"/>
              </a:lnSpc>
              <a:spcBef>
                <a:spcPts val="500"/>
              </a:spcBef>
              <a:spcAft>
                <a:spcPts val="500"/>
              </a:spcAft>
              <a:buSzPct val="100000"/>
              <a:defRPr/>
            </a:pPr>
            <a:r>
              <a:rPr lang="en-US" sz="1400" dirty="0">
                <a:solidFill>
                  <a:prstClr val="black"/>
                </a:solidFill>
                <a:latin typeface="Poppins" pitchFamily="2" charset="77"/>
                <a:cs typeface="Poppins" pitchFamily="2" charset="77"/>
              </a:rPr>
              <a:t>Created a self-service feedback intelligence platform, empowering teams with quicker, on-demand access to insights leveraging Azure AI </a:t>
            </a:r>
          </a:p>
          <a:p>
            <a:pPr marL="238115" lvl="2" indent="-238115" defTabSz="976767">
              <a:lnSpc>
                <a:spcPct val="114000"/>
              </a:lnSpc>
              <a:spcBef>
                <a:spcPts val="500"/>
              </a:spcBef>
              <a:spcAft>
                <a:spcPts val="500"/>
              </a:spcAft>
              <a:buSzPct val="100000"/>
              <a:defRPr/>
            </a:pPr>
            <a:endParaRPr lang="en-US" sz="1400" dirty="0">
              <a:latin typeface="Poppins" pitchFamily="2" charset="77"/>
              <a:cs typeface="Poppins" pitchFamily="2" charset="77"/>
            </a:endParaRPr>
          </a:p>
          <a:p>
            <a:pPr marL="238115" lvl="2" indent="-238115" defTabSz="976767">
              <a:lnSpc>
                <a:spcPct val="114000"/>
              </a:lnSpc>
              <a:spcBef>
                <a:spcPts val="500"/>
              </a:spcBef>
              <a:spcAft>
                <a:spcPts val="500"/>
              </a:spcAft>
              <a:buSzPct val="100000"/>
              <a:defRPr/>
            </a:pPr>
            <a:endParaRPr lang="en-US" sz="1400" dirty="0">
              <a:latin typeface="Poppins" pitchFamily="2" charset="77"/>
              <a:cs typeface="Poppins" pitchFamily="2" charset="77"/>
            </a:endParaRPr>
          </a:p>
          <a:p>
            <a:pPr marL="238115" marR="0" lvl="2" indent="-238115" algn="l" defTabSz="976767" rtl="0" eaLnBrk="1" fontAlgn="auto" latinLnBrk="0" hangingPunct="1">
              <a:lnSpc>
                <a:spcPct val="114000"/>
              </a:lnSpc>
              <a:spcBef>
                <a:spcPts val="500"/>
              </a:spcBef>
              <a:spcAft>
                <a:spcPts val="500"/>
              </a:spcAft>
              <a:buClrTx/>
              <a:buSzPct val="100000"/>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Poppins" panose="00000500000000000000" pitchFamily="2" charset="0"/>
              <a:cs typeface="Poppins" panose="00000500000000000000" pitchFamily="2" charset="0"/>
            </a:endParaRPr>
          </a:p>
        </p:txBody>
      </p:sp>
      <p:pic>
        <p:nvPicPr>
          <p:cNvPr id="1026" name="Picture 2" descr="Azure AI Foundry Blog">
            <a:extLst>
              <a:ext uri="{FF2B5EF4-FFF2-40B4-BE49-F238E27FC236}">
                <a16:creationId xmlns:a16="http://schemas.microsoft.com/office/drawing/2014/main" id="{FD71C73A-0F0B-CD7D-40E5-C5C096AE80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4874" y="1158707"/>
            <a:ext cx="238125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D91C846-F2E1-A0D4-9650-A675AC56A352}"/>
              </a:ext>
            </a:extLst>
          </p:cNvPr>
          <p:cNvPicPr>
            <a:picLocks noChangeAspect="1"/>
          </p:cNvPicPr>
          <p:nvPr/>
        </p:nvPicPr>
        <p:blipFill>
          <a:blip r:embed="rId3"/>
          <a:stretch>
            <a:fillRect/>
          </a:stretch>
        </p:blipFill>
        <p:spPr>
          <a:xfrm>
            <a:off x="7276540" y="4190275"/>
            <a:ext cx="4657919" cy="2301343"/>
          </a:xfrm>
          <a:prstGeom prst="rect">
            <a:avLst/>
          </a:prstGeom>
        </p:spPr>
      </p:pic>
      <p:sp>
        <p:nvSpPr>
          <p:cNvPr id="10" name="TextBox 9">
            <a:extLst>
              <a:ext uri="{FF2B5EF4-FFF2-40B4-BE49-F238E27FC236}">
                <a16:creationId xmlns:a16="http://schemas.microsoft.com/office/drawing/2014/main" id="{F4D748F9-F00D-5670-A127-0826CB9597D4}"/>
              </a:ext>
            </a:extLst>
          </p:cNvPr>
          <p:cNvSpPr txBox="1"/>
          <p:nvPr/>
        </p:nvSpPr>
        <p:spPr>
          <a:xfrm>
            <a:off x="8284838" y="3633104"/>
            <a:ext cx="2511286"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0070C0"/>
                </a:solidFill>
                <a:effectLst/>
                <a:uLnTx/>
                <a:uFillTx/>
                <a:latin typeface="Poppins" panose="00000500000000000000" pitchFamily="2" charset="0"/>
                <a:cs typeface="Poppins" panose="00000500000000000000" pitchFamily="2" charset="0"/>
              </a:rPr>
              <a:t>Azure AI Foundry</a:t>
            </a:r>
            <a:endParaRPr lang="en-US" dirty="0"/>
          </a:p>
        </p:txBody>
      </p:sp>
    </p:spTree>
    <p:extLst>
      <p:ext uri="{BB962C8B-B14F-4D97-AF65-F5344CB8AC3E}">
        <p14:creationId xmlns:p14="http://schemas.microsoft.com/office/powerpoint/2010/main" val="333546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Technology</Value>
    </Industries>
    <PlatTech xmlns="f0ee8362-fa7e-4bc9-ab88-7dcfb17cb19b" xsi:nil="true"/>
    <BusinessUnit xmlns="f0ee8362-fa7e-4bc9-ab88-7dcfb17cb19b">
      <Value>Custom Development</Value>
    </BusinessUnit>
    <Solutions xmlns="f0ee8362-fa7e-4bc9-ab88-7dcfb17cb19b">
      <Value>AI</Value>
    </Solutions>
    <ProjectCompletionDate xmlns="f0ee8362-fa7e-4bc9-ab88-7dcfb17cb19b" xsi:nil="true"/>
    <ApprovedByClient xmlns="f0ee8362-fa7e-4bc9-ab88-7dcfb17cb19b">false</ApprovedByClien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C9A3CDB-9D03-4444-A009-FAB052BBCDC4}">
  <ds:schemaRefs>
    <ds:schemaRef ds:uri="http://purl.org/dc/terms/"/>
    <ds:schemaRef ds:uri="f0ee8362-fa7e-4bc9-ab88-7dcfb17cb19b"/>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8E7E7BF9-A72E-4D50-9938-8C7DED9B65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E25210-3ACB-4C75-89F0-AB7CDA119182}">
  <ds:schemaRefs>
    <ds:schemaRef ds:uri="http://schemas.microsoft.com/sharepoint/v3/contenttype/forms"/>
  </ds:schemaRefs>
</ds:datastoreItem>
</file>

<file path=customXml/itemProps4.xml><?xml version="1.0" encoding="utf-8"?>
<ds:datastoreItem xmlns:ds="http://schemas.openxmlformats.org/officeDocument/2006/customXml" ds:itemID="{8FD7127C-5972-4DE8-AEB3-388C5C1E6264}">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423</Words>
  <Application>Microsoft Office PowerPoint</Application>
  <PresentationFormat>Widescreen</PresentationFormat>
  <Paragraphs>33</Paragraphs>
  <Slides>3</Slides>
  <Notes>0</Notes>
  <HiddenSlides>2</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Pitchbook Data – Voice of the Customer AI Agent</vt:lpstr>
      <vt:lpstr>SaaS Software Company– AI Voice of Customer Agent</vt:lpstr>
      <vt:lpstr>Pitchbook Data– Azure AI Voice of Customer Agent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Brendan Murphy</cp:lastModifiedBy>
  <cp:revision>28</cp:revision>
  <dcterms:created xsi:type="dcterms:W3CDTF">2025-07-22T05:39:46Z</dcterms:created>
  <dcterms:modified xsi:type="dcterms:W3CDTF">2026-01-27T21:43:11Z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