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14748135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47" d="100"/>
          <a:sy n="147" d="100"/>
        </p:scale>
        <p:origin x="444"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BF716280-B3DF-3BC5-5D32-53F013D1AF4A}"/>
    <pc:docChg chg="addSld delSld">
      <pc:chgData name="Brendan Murphy" userId="S::bmurphy@affirma.com::e9f923b6-6d89-4d4e-a3b7-d9304b9d44ba" providerId="AD" clId="Web-{BF716280-B3DF-3BC5-5D32-53F013D1AF4A}" dt="2026-01-15T01:03:23.002" v="1"/>
      <pc:docMkLst>
        <pc:docMk/>
      </pc:docMkLst>
      <pc:sldChg chg="add">
        <pc:chgData name="Brendan Murphy" userId="S::bmurphy@affirma.com::e9f923b6-6d89-4d4e-a3b7-d9304b9d44ba" providerId="AD" clId="Web-{BF716280-B3DF-3BC5-5D32-53F013D1AF4A}" dt="2026-01-15T01:03:19.674" v="0"/>
        <pc:sldMkLst>
          <pc:docMk/>
          <pc:sldMk cId="2250800677" sldId="2147481352"/>
        </pc:sldMkLst>
      </pc:sldChg>
    </pc:docChg>
  </pc:docChgLst>
  <pc:docChgLst>
    <pc:chgData name="Brendan Murphy" userId="S::bmurphy@affirma.com::e9f923b6-6d89-4d4e-a3b7-d9304b9d44ba" providerId="AD" clId="Web-{40469DA3-59FB-1B2D-2EDD-955222DA8EB4}"/>
    <pc:docChg chg="delSld">
      <pc:chgData name="Brendan Murphy" userId="S::bmurphy@affirma.com::e9f923b6-6d89-4d4e-a3b7-d9304b9d44ba" providerId="AD" clId="Web-{40469DA3-59FB-1B2D-2EDD-955222DA8EB4}" dt="2026-01-07T00:26:06.027"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2621EC-D038-42D0-9A5B-C6D5262367DF}" type="datetimeFigureOut">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B9BC37-1B19-4110-8602-5A285A074AA9}" type="slidenum">
              <a:t>‹#›</a:t>
            </a:fld>
            <a:endParaRPr lang="en-US"/>
          </a:p>
        </p:txBody>
      </p:sp>
    </p:spTree>
    <p:extLst>
      <p:ext uri="{BB962C8B-B14F-4D97-AF65-F5344CB8AC3E}">
        <p14:creationId xmlns:p14="http://schemas.microsoft.com/office/powerpoint/2010/main" val="1784740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5805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B4ADE-B7E7-396B-282C-34ED7EA7D4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50796C-8968-E58E-1832-7ECA313CE2BE}"/>
              </a:ext>
            </a:extLst>
          </p:cNvPr>
          <p:cNvSpPr>
            <a:spLocks noGrp="1"/>
          </p:cNvSpPr>
          <p:nvPr>
            <p:ph type="ctrTitle"/>
          </p:nvPr>
        </p:nvSpPr>
        <p:spPr>
          <a:xfrm>
            <a:off x="634252" y="301170"/>
            <a:ext cx="11448890" cy="764390"/>
          </a:xfrm>
        </p:spPr>
        <p:txBody>
          <a:bodyPr>
            <a:noAutofit/>
          </a:bodyPr>
          <a:lstStyle/>
          <a:p>
            <a:pPr defTabSz="896533"/>
            <a:r>
              <a:rPr lang="en-US" sz="3200" dirty="0">
                <a:solidFill>
                  <a:srgbClr val="002060"/>
                </a:solidFill>
                <a:latin typeface="Poppins SemiBold"/>
                <a:cs typeface="Poppins SemiBold"/>
              </a:rPr>
              <a:t>Microsoft – Pharmaceutical AI Agent Demo</a:t>
            </a:r>
          </a:p>
        </p:txBody>
      </p:sp>
      <p:sp>
        <p:nvSpPr>
          <p:cNvPr id="2" name="Rectangle 1">
            <a:extLst>
              <a:ext uri="{FF2B5EF4-FFF2-40B4-BE49-F238E27FC236}">
                <a16:creationId xmlns:a16="http://schemas.microsoft.com/office/drawing/2014/main" id="{AEEE5E36-0391-9EE7-9A61-89D452B20D9D}"/>
              </a:ext>
            </a:extLst>
          </p:cNvPr>
          <p:cNvSpPr/>
          <p:nvPr/>
        </p:nvSpPr>
        <p:spPr>
          <a:xfrm>
            <a:off x="10749644" y="6356805"/>
            <a:ext cx="798286" cy="269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76806" rtl="0" eaLnBrk="1" fontAlgn="auto" latinLnBrk="0" hangingPunct="1">
              <a:lnSpc>
                <a:spcPct val="100000"/>
              </a:lnSpc>
              <a:spcBef>
                <a:spcPts val="0"/>
              </a:spcBef>
              <a:spcAft>
                <a:spcPts val="0"/>
              </a:spcAft>
              <a:buClrTx/>
              <a:buSzTx/>
              <a:buFontTx/>
              <a:buNone/>
              <a:tabLst/>
              <a:defRPr/>
            </a:pPr>
            <a:endParaRPr kumimoji="0" lang="en-US" sz="1923" b="0" i="0" u="none" strike="noStrike" kern="1200" cap="none" spc="0" normalizeH="0" baseline="0" noProof="0">
              <a:ln>
                <a:noFill/>
              </a:ln>
              <a:solidFill>
                <a:prstClr val="white"/>
              </a:solidFill>
              <a:effectLst/>
              <a:uLnTx/>
              <a:uFillTx/>
              <a:latin typeface="Poppins" panose="00000500000000000000" pitchFamily="2" charset="0"/>
              <a:cs typeface="Poppins" panose="00000500000000000000" pitchFamily="2" charset="0"/>
            </a:endParaRPr>
          </a:p>
        </p:txBody>
      </p:sp>
      <p:sp>
        <p:nvSpPr>
          <p:cNvPr id="3" name="TextBox 2">
            <a:extLst>
              <a:ext uri="{FF2B5EF4-FFF2-40B4-BE49-F238E27FC236}">
                <a16:creationId xmlns:a16="http://schemas.microsoft.com/office/drawing/2014/main" id="{4A3DEDAA-789F-5877-76AC-458FC1058C58}"/>
              </a:ext>
            </a:extLst>
          </p:cNvPr>
          <p:cNvSpPr txBox="1"/>
          <p:nvPr/>
        </p:nvSpPr>
        <p:spPr>
          <a:xfrm>
            <a:off x="268697" y="1292448"/>
            <a:ext cx="487336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Business Need </a:t>
            </a:r>
          </a:p>
        </p:txBody>
      </p:sp>
      <p:sp>
        <p:nvSpPr>
          <p:cNvPr id="5" name="TextBox 4">
            <a:extLst>
              <a:ext uri="{FF2B5EF4-FFF2-40B4-BE49-F238E27FC236}">
                <a16:creationId xmlns:a16="http://schemas.microsoft.com/office/drawing/2014/main" id="{21420F64-6E85-3C92-A77B-809B16F36709}"/>
              </a:ext>
            </a:extLst>
          </p:cNvPr>
          <p:cNvSpPr txBox="1"/>
          <p:nvPr/>
        </p:nvSpPr>
        <p:spPr>
          <a:xfrm>
            <a:off x="268950" y="2565285"/>
            <a:ext cx="4885752"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dirty="0">
                <a:solidFill>
                  <a:srgbClr val="063A79"/>
                </a:solidFill>
                <a:latin typeface="Segoe UI" panose="020B0502040204020203" pitchFamily="34" charset="0"/>
                <a:cs typeface="Segoe UI" panose="020B0502040204020203" pitchFamily="34" charset="0"/>
              </a:rPr>
              <a:t>What We Did </a:t>
            </a:r>
          </a:p>
        </p:txBody>
      </p:sp>
      <p:sp>
        <p:nvSpPr>
          <p:cNvPr id="10" name="TextBox 9">
            <a:extLst>
              <a:ext uri="{FF2B5EF4-FFF2-40B4-BE49-F238E27FC236}">
                <a16:creationId xmlns:a16="http://schemas.microsoft.com/office/drawing/2014/main" id="{944C875A-24CB-158D-AA65-DE8580674475}"/>
              </a:ext>
            </a:extLst>
          </p:cNvPr>
          <p:cNvSpPr txBox="1"/>
          <p:nvPr/>
        </p:nvSpPr>
        <p:spPr>
          <a:xfrm>
            <a:off x="281338" y="4418730"/>
            <a:ext cx="4873364" cy="237127"/>
          </a:xfrm>
          <a:prstGeom prst="rect">
            <a:avLst/>
          </a:prstGeom>
          <a:noFill/>
        </p:spPr>
        <p:txBody>
          <a:bodyPr rot="0" spcFirstLastPara="0" vertOverflow="overflow" horzOverflow="overflow" vert="horz" wrap="square" lIns="51955" tIns="25977" rIns="51955" bIns="25977" numCol="1" spcCol="0" rtlCol="0" fromWordArt="0" anchor="t" anchorCtr="0" forceAA="0" compatLnSpc="1">
            <a:prstTxWarp prst="textNoShape">
              <a:avLst/>
            </a:prstTxWarp>
            <a:spAutoFit/>
          </a:bodyPr>
          <a:lstStyle/>
          <a:p>
            <a:pPr fontAlgn="base">
              <a:defRPr/>
            </a:pPr>
            <a:r>
              <a:rPr lang="en-US" sz="1200" b="1">
                <a:solidFill>
                  <a:srgbClr val="063A79"/>
                </a:solidFill>
                <a:latin typeface="Segoe UI" panose="020B0502040204020203" pitchFamily="34" charset="0"/>
                <a:cs typeface="Segoe UI" panose="020B0502040204020203" pitchFamily="34" charset="0"/>
              </a:rPr>
              <a:t>Results</a:t>
            </a:r>
          </a:p>
        </p:txBody>
      </p:sp>
      <p:sp>
        <p:nvSpPr>
          <p:cNvPr id="16" name="TextBox 15">
            <a:extLst>
              <a:ext uri="{FF2B5EF4-FFF2-40B4-BE49-F238E27FC236}">
                <a16:creationId xmlns:a16="http://schemas.microsoft.com/office/drawing/2014/main" id="{62C40E03-D0D9-4B9B-A592-45917CDF27C8}"/>
              </a:ext>
            </a:extLst>
          </p:cNvPr>
          <p:cNvSpPr txBox="1"/>
          <p:nvPr/>
        </p:nvSpPr>
        <p:spPr>
          <a:xfrm>
            <a:off x="245901" y="1539598"/>
            <a:ext cx="6533034" cy="1015663"/>
          </a:xfrm>
          <a:prstGeom prst="rect">
            <a:avLst/>
          </a:prstGeom>
          <a:noFill/>
        </p:spPr>
        <p:txBody>
          <a:bodyPr wrap="square" lIns="91440" tIns="45720" rIns="91440" bIns="45720" anchor="t">
            <a:spAutoFit/>
          </a:bodyPr>
          <a:lstStyle/>
          <a:p>
            <a:r>
              <a:rPr lang="en-US" sz="1000" dirty="0"/>
              <a:t>Microsoft sought to create a proof of concept to help its sellers demonstrate how AI can be applied to complex, regulated pharmaceutical research scenarios. The goal was to showcase how Azure OpenAI could interpret scientific language, automate research and compliance workflows, and reduce time-to-insight across R&amp;D and regulatory operations. By providing a concrete, working example, Microsoft aimed to equip sellers with a compelling narrative and visual demonstration to accelerate customer conversations and drive adoption of AI solutions.</a:t>
            </a:r>
          </a:p>
        </p:txBody>
      </p:sp>
      <p:sp>
        <p:nvSpPr>
          <p:cNvPr id="17" name="TextBox 16">
            <a:extLst>
              <a:ext uri="{FF2B5EF4-FFF2-40B4-BE49-F238E27FC236}">
                <a16:creationId xmlns:a16="http://schemas.microsoft.com/office/drawing/2014/main" id="{5B842A61-CE9D-6912-627F-1586181139D1}"/>
              </a:ext>
            </a:extLst>
          </p:cNvPr>
          <p:cNvSpPr txBox="1"/>
          <p:nvPr/>
        </p:nvSpPr>
        <p:spPr>
          <a:xfrm>
            <a:off x="275008" y="2784714"/>
            <a:ext cx="6503927" cy="1631216"/>
          </a:xfrm>
          <a:prstGeom prst="rect">
            <a:avLst/>
          </a:prstGeom>
          <a:noFill/>
        </p:spPr>
        <p:txBody>
          <a:bodyPr wrap="square">
            <a:spAutoFit/>
          </a:bodyPr>
          <a:lstStyle/>
          <a:p>
            <a:pPr marL="171450" indent="-171450" algn="l">
              <a:buFont typeface="Arial" panose="020B0604020202020204" pitchFamily="34" charset="0"/>
              <a:buChar char="•"/>
            </a:pPr>
            <a:r>
              <a:rPr lang="en-US" sz="1000" dirty="0"/>
              <a:t>Partnered with Microsoft to design and build a proof-of-concept AI research assistant demonstrating advanced pharmaceutical research workflows using Azure OpenAI</a:t>
            </a:r>
          </a:p>
          <a:p>
            <a:pPr marL="171450" indent="-171450" algn="l">
              <a:buFont typeface="Arial" panose="020B0604020202020204" pitchFamily="34" charset="0"/>
              <a:buChar char="•"/>
            </a:pPr>
            <a:r>
              <a:rPr lang="en-US" sz="1000" dirty="0"/>
              <a:t>Implemented a conversational AI interface capable of understanding scientific terminology and enabling natural-language queries across molecular, clinical, and research datasets</a:t>
            </a:r>
          </a:p>
          <a:p>
            <a:pPr marL="171450" indent="-171450" algn="l">
              <a:buFont typeface="Arial" panose="020B0604020202020204" pitchFamily="34" charset="0"/>
              <a:buChar char="•"/>
            </a:pPr>
            <a:r>
              <a:rPr lang="en-US" sz="1000" dirty="0"/>
              <a:t>Orchestrated automated AI agents to perform deeper analysis, generate research summaries, and simulate downstream regulatory and documentation workflows</a:t>
            </a:r>
          </a:p>
          <a:p>
            <a:pPr marL="171450" indent="-171450" algn="l">
              <a:buFont typeface="Arial" panose="020B0604020202020204" pitchFamily="34" charset="0"/>
              <a:buChar char="•"/>
            </a:pPr>
            <a:r>
              <a:rPr lang="en-US" sz="1000" dirty="0"/>
              <a:t>Demonstrated end-to-end research automation, from hypothesis exploration and data analysis to draft regulatory and scientific documentation</a:t>
            </a:r>
          </a:p>
          <a:p>
            <a:pPr marL="171450" indent="-171450" algn="l">
              <a:buFont typeface="Arial" panose="020B0604020202020204" pitchFamily="34" charset="0"/>
              <a:buChar char="•"/>
            </a:pPr>
            <a:r>
              <a:rPr lang="en-US" sz="1000" dirty="0"/>
              <a:t>Showcased how AI can reduce tool fragmentation by centralizing complex research workflows into a single, AI-driven experience</a:t>
            </a:r>
          </a:p>
        </p:txBody>
      </p:sp>
      <p:sp>
        <p:nvSpPr>
          <p:cNvPr id="18" name="TextBox 17">
            <a:extLst>
              <a:ext uri="{FF2B5EF4-FFF2-40B4-BE49-F238E27FC236}">
                <a16:creationId xmlns:a16="http://schemas.microsoft.com/office/drawing/2014/main" id="{638A316C-AF84-5210-5AAF-225F10A99376}"/>
              </a:ext>
            </a:extLst>
          </p:cNvPr>
          <p:cNvSpPr txBox="1"/>
          <p:nvPr/>
        </p:nvSpPr>
        <p:spPr>
          <a:xfrm>
            <a:off x="308701" y="4734804"/>
            <a:ext cx="6520272" cy="1384995"/>
          </a:xfrm>
          <a:prstGeom prst="rect">
            <a:avLst/>
          </a:prstGeom>
          <a:noFill/>
        </p:spPr>
        <p:txBody>
          <a:bodyPr wrap="square">
            <a:spAutoFit/>
          </a:bodyPr>
          <a:lstStyle/>
          <a:p>
            <a:pPr marL="116895" indent="-116895">
              <a:buFont typeface="Arial" panose="020B0604020202020204" pitchFamily="34" charset="0"/>
              <a:buChar char="•"/>
            </a:pPr>
            <a:r>
              <a:rPr lang="en-US" sz="1050" dirty="0">
                <a:solidFill>
                  <a:prstClr val="black"/>
                </a:solidFill>
              </a:rPr>
              <a:t>Demonstrated the potential to reduce FDA submission preparation time by up to 60% through AI-assisted analysis and document generation</a:t>
            </a:r>
          </a:p>
          <a:p>
            <a:pPr marL="116895" indent="-116895">
              <a:buFont typeface="Arial" panose="020B0604020202020204" pitchFamily="34" charset="0"/>
              <a:buChar char="•"/>
            </a:pPr>
            <a:r>
              <a:rPr lang="en-US" sz="1050" dirty="0">
                <a:solidFill>
                  <a:prstClr val="black"/>
                </a:solidFill>
              </a:rPr>
              <a:t>Illustrated how AI-driven workflows could accelerate drug discovery cycles by up to 2x, enabled by real-time, conversational access to scientific and clinical data</a:t>
            </a:r>
          </a:p>
          <a:p>
            <a:pPr marL="116895" indent="-116895">
              <a:buFont typeface="Arial" panose="020B0604020202020204" pitchFamily="34" charset="0"/>
              <a:buChar char="•"/>
            </a:pPr>
            <a:r>
              <a:rPr lang="en-US" sz="1050" dirty="0">
                <a:solidFill>
                  <a:prstClr val="black"/>
                </a:solidFill>
              </a:rPr>
              <a:t>Showed a projected 30–40% increase in researcher productivity by minimizing manual interpretation, repetitive tasks, and tool switching</a:t>
            </a:r>
          </a:p>
          <a:p>
            <a:pPr marL="116895" indent="-116895">
              <a:buFont typeface="Arial" panose="020B0604020202020204" pitchFamily="34" charset="0"/>
              <a:buChar char="•"/>
            </a:pPr>
            <a:r>
              <a:rPr lang="en-US" sz="1050" dirty="0">
                <a:solidFill>
                  <a:prstClr val="black"/>
                </a:solidFill>
              </a:rPr>
              <a:t>Provided Microsoft with a tangible, working example to communicate the art-of-the-possible for Azure OpenAI in regulated, science-driven environments.</a:t>
            </a:r>
          </a:p>
        </p:txBody>
      </p:sp>
      <p:pic>
        <p:nvPicPr>
          <p:cNvPr id="19" name="Picture 18" descr="A screenshot of a computer&#10;&#10;AI-generated content may be incorrect.">
            <a:extLst>
              <a:ext uri="{FF2B5EF4-FFF2-40B4-BE49-F238E27FC236}">
                <a16:creationId xmlns:a16="http://schemas.microsoft.com/office/drawing/2014/main" id="{DB290DCE-9BCC-5543-4074-563A316035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1550" y="1065559"/>
            <a:ext cx="5118443" cy="2628199"/>
          </a:xfrm>
          <a:prstGeom prst="rect">
            <a:avLst/>
          </a:prstGeom>
        </p:spPr>
      </p:pic>
      <p:pic>
        <p:nvPicPr>
          <p:cNvPr id="20" name="Picture 4" descr="A screenshot of a computer&#10;&#10;AI-generated content may be incorrect.">
            <a:extLst>
              <a:ext uri="{FF2B5EF4-FFF2-40B4-BE49-F238E27FC236}">
                <a16:creationId xmlns:a16="http://schemas.microsoft.com/office/drawing/2014/main" id="{63769EA5-3ADE-BD9E-8900-30D476C775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6262" y="3783552"/>
            <a:ext cx="5051720" cy="2789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800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Microsoft</Named_x0020_Account>
    <Industries xmlns="f0ee8362-fa7e-4bc9-ab88-7dcfb17cb19b">
      <Value>Technology</Value>
    </Industries>
    <PlatTech xmlns="f0ee8362-fa7e-4bc9-ab88-7dcfb17cb19b" xsi:nil="true"/>
    <BusinessUnit xmlns="f0ee8362-fa7e-4bc9-ab88-7dcfb17cb19b">
      <Value>Custom Development</Value>
    </BusinessUnit>
    <Solutions xmlns="f0ee8362-fa7e-4bc9-ab88-7dcfb17cb19b">
      <Value>AI</Value>
    </Solutions>
    <ProjectCompletionDate xmlns="f0ee8362-fa7e-4bc9-ab88-7dcfb17cb19b" xsi:nil="true"/>
    <ApprovedByClient xmlns="f0ee8362-fa7e-4bc9-ab88-7dcfb17cb19b">false</ApprovedByClient>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11F489-2FC8-4A74-9E8D-C1CFB42B0EC4}">
  <ds:schemaRefs>
    <ds:schemaRef ds:uri="http://schemas.microsoft.com/office/2006/metadata/customXsn"/>
  </ds:schemaRefs>
</ds:datastoreItem>
</file>

<file path=customXml/itemProps2.xml><?xml version="1.0" encoding="utf-8"?>
<ds:datastoreItem xmlns:ds="http://schemas.openxmlformats.org/officeDocument/2006/customXml" ds:itemID="{8A69EF01-56AC-4AAE-863F-8545D20D41E3}">
  <ds:schemaRefs>
    <ds:schemaRef ds:uri="f0ee8362-fa7e-4bc9-ab88-7dcfb17cb19b"/>
    <ds:schemaRef ds:uri="http://schemas.microsoft.com/office/2006/metadata/properties"/>
    <ds:schemaRef ds:uri="http://schemas.microsoft.com/office/2006/documentManagement/types"/>
    <ds:schemaRef ds:uri="http://www.w3.org/XML/1998/namespace"/>
    <ds:schemaRef ds:uri="http://purl.org/dc/terms/"/>
    <ds:schemaRef ds:uri="http://purl.org/dc/dcmitype/"/>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C8385B69-6E5F-46A5-BF15-F1D7BED1D2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ee8362-fa7e-4bc9-ab88-7dcfb17cb1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AF67359F-4FF9-4784-B8A6-14E5FFF134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TotalTime>
  <Words>512</Words>
  <Application>Microsoft Office PowerPoint</Application>
  <PresentationFormat>Widescreen</PresentationFormat>
  <Paragraphs>40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 Pharmaceutical AI Agent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Brendan Murphy</cp:lastModifiedBy>
  <cp:revision>14</cp:revision>
  <dcterms:created xsi:type="dcterms:W3CDTF">2025-05-07T20:27:11Z</dcterms:created>
  <dcterms:modified xsi:type="dcterms:W3CDTF">2026-01-27T01:03:05Z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