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3.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129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234796-3697-412C-85E6-2141EDE40144}"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80C7E7-4855-48AC-8494-A0A08A22FD45}" type="slidenum">
              <a:rPr lang="en-US" smtClean="0"/>
              <a:t>‹#›</a:t>
            </a:fld>
            <a:endParaRPr lang="en-US"/>
          </a:p>
        </p:txBody>
      </p:sp>
    </p:spTree>
    <p:extLst>
      <p:ext uri="{BB962C8B-B14F-4D97-AF65-F5344CB8AC3E}">
        <p14:creationId xmlns:p14="http://schemas.microsoft.com/office/powerpoint/2010/main" val="22761835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54050" y="1162050"/>
            <a:ext cx="5573713" cy="31369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927553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B5FE165-096F-487F-8435-22B7C977BBA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8554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BA5D076-475A-402B-BFB3-BCB1DB0975A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66688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7A68257-B1D1-45B7-A765-50CDBCA3FD86}"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326007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EFB58377-F27B-4099-8D07-8CC83E9FF8E3}"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405686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6C74676-92AB-4545-938B-1B69D80DB24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94076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7A0B79CA-C4D9-4908-8B03-07B20BD050DE}"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867003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2390669" y="-1"/>
            <a:ext cx="14582669" cy="6858000"/>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2E6861D-08F0-455C-ABA0-53DFF2F796CF}"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036690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A828875-DE2A-4007-BCB0-00064EAA777B}"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764312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4F79BA1C-FAB8-4D2A-946A-62324E933EF1}"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57922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8FB3B390-3D70-4147-B0BB-53F5951107F8}"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878890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6ABAB9D-96B1-4270-A3E0-6D838C6F3255}"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3174301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CAA8423-91F7-4752-B324-734304431281}"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71653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D39BA845-8FAA-4FA8-BB03-FCE823510A90}"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253940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06F59A-4A5A-4738-AC03-C9914EA55E29}"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82097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77C5F32E-87BC-41F1-B9F5-46E5C7195E2E}" type="datetime1">
              <a:rPr lang="en-US" smtClean="0"/>
              <a:t>3/12/2024</a:t>
            </a:fld>
            <a:endParaRPr lang="en-US"/>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794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89D8D96-9103-4B38-8327-0EA0FFD24152}"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580592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D093AED9-3F5E-41D4-9FAD-F29D941B4B0A}" type="datetime1">
              <a:rPr lang="en-US" smtClean="0"/>
              <a:t>3/12/2024</a:t>
            </a:fld>
            <a:endParaRPr lang="en-US"/>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558276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50B76160-1DEB-464C-9113-9118CF4A908A}"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9505350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1C78B21-3C28-439F-BCD3-284714CB9E0C}" type="datetime1">
              <a:rPr lang="en-US" smtClean="0"/>
              <a:t>3/12/2024</a:t>
            </a:fld>
            <a:endParaRPr lang="en-US"/>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28614109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7541201-DC49-46F2-AC4F-0D60C1F63406}"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50742667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6198244D-535E-48C4-8BC9-904AE7DD5AF1}"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37584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F858EA56-0E20-4ACC-A046-BE609E544847}" type="datetime1">
              <a:rPr lang="en-US" smtClean="0"/>
              <a:t>3/12/2024</a:t>
            </a:fld>
            <a:endParaRPr lang="en-US"/>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940663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4F0CBE8F-8AA2-4859-BE6D-C213C1FEDA0E}" type="datetime1">
              <a:rPr lang="en-US" smtClean="0"/>
              <a:t>3/12/2024</a:t>
            </a:fld>
            <a:endParaRPr lang="en-US"/>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42431278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a:p>
        </p:txBody>
      </p:sp>
    </p:spTree>
    <p:extLst>
      <p:ext uri="{BB962C8B-B14F-4D97-AF65-F5344CB8AC3E}">
        <p14:creationId xmlns:p14="http://schemas.microsoft.com/office/powerpoint/2010/main" val="1076081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Section Title Slide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997830-EF50-B643-B994-D997482F2707}"/>
              </a:ext>
            </a:extLst>
          </p:cNvPr>
          <p:cNvSpPr/>
          <p:nvPr userDrawn="1"/>
        </p:nvSpPr>
        <p:spPr>
          <a:xfrm>
            <a:off x="6085837" y="0"/>
            <a:ext cx="6106163" cy="6857999"/>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855A5-7553-0742-89D9-7FDDEAC12245}"/>
              </a:ext>
            </a:extLst>
          </p:cNvPr>
          <p:cNvSpPr>
            <a:spLocks noGrp="1"/>
          </p:cNvSpPr>
          <p:nvPr>
            <p:ph type="ctrTitle" hasCustomPrompt="1"/>
          </p:nvPr>
        </p:nvSpPr>
        <p:spPr>
          <a:xfrm>
            <a:off x="6922804" y="3046804"/>
            <a:ext cx="4415756" cy="1911276"/>
          </a:xfrm>
        </p:spPr>
        <p:txBody>
          <a:bodyPr anchor="t">
            <a:normAutofit/>
          </a:bodyPr>
          <a:lstStyle>
            <a:lvl1pPr algn="l">
              <a:defRPr sz="4000" b="0" i="0">
                <a:solidFill>
                  <a:schemeClr val="bg1"/>
                </a:solidFill>
                <a:latin typeface="Arial" panose="020B0604020202020204" pitchFamily="34" charset="0"/>
                <a:cs typeface="Arial" panose="020B0604020202020204" pitchFamily="34" charset="0"/>
              </a:defRPr>
            </a:lvl1pPr>
          </a:lstStyle>
          <a:p>
            <a:r>
              <a:rPr lang="en-US"/>
              <a:t>Title Placeholder</a:t>
            </a:r>
          </a:p>
        </p:txBody>
      </p:sp>
      <p:pic>
        <p:nvPicPr>
          <p:cNvPr id="13" name="Picture 12">
            <a:extLst>
              <a:ext uri="{FF2B5EF4-FFF2-40B4-BE49-F238E27FC236}">
                <a16:creationId xmlns:a16="http://schemas.microsoft.com/office/drawing/2014/main" id="{EA06EB43-50DE-5C43-AAC6-9C2DB54E885C}"/>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7949" t="2727" r="40534" b="23812"/>
          <a:stretch/>
        </p:blipFill>
        <p:spPr>
          <a:xfrm rot="5400000">
            <a:off x="7580032" y="2995634"/>
            <a:ext cx="3127936" cy="6096000"/>
          </a:xfrm>
          <a:prstGeom prst="rect">
            <a:avLst/>
          </a:prstGeom>
        </p:spPr>
      </p:pic>
      <p:sp>
        <p:nvSpPr>
          <p:cNvPr id="5" name="Text Placeholder 4">
            <a:extLst>
              <a:ext uri="{FF2B5EF4-FFF2-40B4-BE49-F238E27FC236}">
                <a16:creationId xmlns:a16="http://schemas.microsoft.com/office/drawing/2014/main" id="{A7342920-A5B1-934D-ADB8-26E82483F9D4}"/>
              </a:ext>
            </a:extLst>
          </p:cNvPr>
          <p:cNvSpPr>
            <a:spLocks noGrp="1"/>
          </p:cNvSpPr>
          <p:nvPr>
            <p:ph type="body" sz="quarter" idx="10" hasCustomPrompt="1"/>
          </p:nvPr>
        </p:nvSpPr>
        <p:spPr>
          <a:xfrm>
            <a:off x="6941818" y="1945416"/>
            <a:ext cx="4396742" cy="769915"/>
          </a:xfrm>
        </p:spPr>
        <p:txBody>
          <a:bodyPr/>
          <a:lstStyle>
            <a:lvl1pPr marL="0" indent="0">
              <a:buNone/>
              <a:defRPr sz="5600" b="0" i="0" spc="600">
                <a:solidFill>
                  <a:srgbClr val="FFD8A5"/>
                </a:solidFill>
                <a:latin typeface="Arial Narrow" panose="020B0604020202020204" pitchFamily="34" charset="0"/>
                <a:cs typeface="Arial Narrow" panose="020B0604020202020204" pitchFamily="34" charset="0"/>
              </a:defRPr>
            </a:lvl1pPr>
          </a:lstStyle>
          <a:p>
            <a:pPr lvl="0"/>
            <a:r>
              <a:rPr lang="en-US"/>
              <a:t>01</a:t>
            </a:r>
          </a:p>
        </p:txBody>
      </p:sp>
    </p:spTree>
    <p:extLst>
      <p:ext uri="{BB962C8B-B14F-4D97-AF65-F5344CB8AC3E}">
        <p14:creationId xmlns:p14="http://schemas.microsoft.com/office/powerpoint/2010/main" val="836491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6C1EC331-590E-4679-816A-DCB458BBD7AB}" type="datetime1">
              <a:rPr lang="en-US" smtClean="0"/>
              <a:t>3/12/2024</a:t>
            </a:fld>
            <a:endParaRPr lang="en-US"/>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a:p>
        </p:txBody>
      </p:sp>
    </p:spTree>
    <p:extLst>
      <p:ext uri="{BB962C8B-B14F-4D97-AF65-F5344CB8AC3E}">
        <p14:creationId xmlns:p14="http://schemas.microsoft.com/office/powerpoint/2010/main" val="1397076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hf sldNum="0"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88F94-B25D-4165-A05B-C919FE124538}"/>
              </a:ext>
            </a:extLst>
          </p:cNvPr>
          <p:cNvSpPr>
            <a:spLocks noGrp="1"/>
          </p:cNvSpPr>
          <p:nvPr>
            <p:ph type="title"/>
          </p:nvPr>
        </p:nvSpPr>
        <p:spPr/>
        <p:txBody>
          <a:bodyPr/>
          <a:lstStyle/>
          <a:p>
            <a:r>
              <a:rPr lang="en-US"/>
              <a:t>REI – Salesforce Development </a:t>
            </a:r>
          </a:p>
        </p:txBody>
      </p:sp>
      <p:sp>
        <p:nvSpPr>
          <p:cNvPr id="9" name="TextBox 8">
            <a:extLst>
              <a:ext uri="{FF2B5EF4-FFF2-40B4-BE49-F238E27FC236}">
                <a16:creationId xmlns:a16="http://schemas.microsoft.com/office/drawing/2014/main" id="{977E7440-243D-4314-97FF-1FC3D4DEC54E}"/>
              </a:ext>
            </a:extLst>
          </p:cNvPr>
          <p:cNvSpPr txBox="1"/>
          <p:nvPr/>
        </p:nvSpPr>
        <p:spPr>
          <a:xfrm>
            <a:off x="492103" y="1564136"/>
            <a:ext cx="5603898" cy="2321276"/>
          </a:xfrm>
          <a:prstGeom prst="rect">
            <a:avLst/>
          </a:prstGeom>
          <a:noFill/>
        </p:spPr>
        <p:txBody>
          <a:bodyPr wrap="square" rtlCol="0">
            <a:spAutoFit/>
          </a:bodyPr>
          <a:lstStyle/>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srgbClr val="0096A9"/>
                </a:solidFill>
                <a:effectLst/>
                <a:uLnTx/>
                <a:uFillTx/>
                <a:latin typeface="Segoe UI" panose="020B0502040204020203" pitchFamily="34" charset="0"/>
                <a:ea typeface="Calibri" panose="020F0502020204030204" pitchFamily="34" charset="0"/>
                <a:cs typeface="Segoe UI" panose="020B0502040204020203" pitchFamily="34" charset="0"/>
              </a:rPr>
              <a:t>Business Need</a:t>
            </a:r>
            <a:endParaRPr kumimoji="0" lang="en-US" sz="2667"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76845" rtl="0" eaLnBrk="1" fontAlgn="auto" latinLnBrk="0" hangingPunct="1">
              <a:lnSpc>
                <a:spcPct val="120000"/>
              </a:lnSpc>
              <a:spcBef>
                <a:spcPts val="0"/>
              </a:spcBef>
              <a:spcAft>
                <a:spcPts val="0"/>
              </a:spcAft>
              <a:buClrTx/>
              <a:buSzTx/>
              <a:buFontTx/>
              <a:buNone/>
              <a:tabLst/>
              <a:defRPr/>
            </a:pPr>
            <a:r>
              <a:rPr kumimoji="0" lang="en-US" sz="1667" b="0" i="0" u="none" strike="noStrike" kern="1200" cap="none" spc="0" normalizeH="0" baseline="0" noProof="0">
                <a:ln>
                  <a:noFill/>
                </a:ln>
                <a:solidFill>
                  <a:srgbClr val="2B2B2B"/>
                </a:solidFill>
                <a:effectLst/>
                <a:uLnTx/>
                <a:uFillTx/>
                <a:latin typeface="Segoe UI" panose="020B0502040204020203" pitchFamily="34" charset="0"/>
                <a:ea typeface="MS Mincho" panose="02020609040205080304" pitchFamily="49" charset="-128"/>
                <a:cs typeface="Segoe UI" panose="020B0502040204020203" pitchFamily="34" charset="0"/>
              </a:rPr>
              <a:t>REI came to Affirma looking for additional development support on their in-store Salesforce applications. These applications help manage the entire customer support lifecycle for their ski and bike shops. These applications had been deployed and the REI team had developed a significant backlog of enhancements and bugs to address.</a:t>
            </a:r>
          </a:p>
        </p:txBody>
      </p:sp>
      <p:sp>
        <p:nvSpPr>
          <p:cNvPr id="13" name="TextBox 12">
            <a:extLst>
              <a:ext uri="{FF2B5EF4-FFF2-40B4-BE49-F238E27FC236}">
                <a16:creationId xmlns:a16="http://schemas.microsoft.com/office/drawing/2014/main" id="{5CC9D2C9-1394-4E6F-906A-05A8C185F0A2}"/>
              </a:ext>
            </a:extLst>
          </p:cNvPr>
          <p:cNvSpPr txBox="1"/>
          <p:nvPr/>
        </p:nvSpPr>
        <p:spPr>
          <a:xfrm>
            <a:off x="492103" y="4192088"/>
            <a:ext cx="10789001" cy="2011833"/>
          </a:xfrm>
          <a:prstGeom prst="rect">
            <a:avLst/>
          </a:prstGeom>
          <a:noFill/>
        </p:spPr>
        <p:txBody>
          <a:bodyPr wrap="square" rtlCol="0">
            <a:spAutoFit/>
          </a:bodyPr>
          <a:lstStyle/>
          <a:p>
            <a:pPr marL="0" marR="0" lvl="0" indent="0" algn="l" defTabSz="976845" rtl="0" eaLnBrk="1" fontAlgn="auto" latinLnBrk="0" hangingPunct="1">
              <a:lnSpc>
                <a:spcPct val="100000"/>
              </a:lnSpc>
              <a:spcBef>
                <a:spcPts val="0"/>
              </a:spcBef>
              <a:spcAft>
                <a:spcPts val="0"/>
              </a:spcAft>
              <a:buClrTx/>
              <a:buSzTx/>
              <a:buFontTx/>
              <a:buNone/>
              <a:tabLst/>
              <a:defRPr/>
            </a:pPr>
            <a:r>
              <a:rPr kumimoji="0" lang="en-US" sz="2667" b="1" i="0" u="none" strike="noStrike" kern="1200" cap="none" spc="0" normalizeH="0" baseline="0" noProof="0">
                <a:ln>
                  <a:noFill/>
                </a:ln>
                <a:solidFill>
                  <a:srgbClr val="0096A9"/>
                </a:solidFill>
                <a:effectLst/>
                <a:uLnTx/>
                <a:uFillTx/>
                <a:latin typeface="Segoe UI" panose="020B0502040204020203" pitchFamily="34" charset="0"/>
                <a:ea typeface="+mn-ea"/>
                <a:cs typeface="Segoe UI" panose="020B0502040204020203" pitchFamily="34" charset="0"/>
              </a:rPr>
              <a:t>Scope of Partnership</a:t>
            </a:r>
            <a:endParaRPr kumimoji="0" lang="en-US" sz="2667"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p>
            <a:pPr marL="0" marR="0" lvl="0" indent="0" algn="l" defTabSz="976845" rtl="0" eaLnBrk="1" fontAlgn="auto" latinLnBrk="0" hangingPunct="1">
              <a:lnSpc>
                <a:spcPct val="114000"/>
              </a:lnSpc>
              <a:spcBef>
                <a:spcPts val="0"/>
              </a:spcBef>
              <a:spcAft>
                <a:spcPts val="0"/>
              </a:spcAft>
              <a:buClrTx/>
              <a:buSzTx/>
              <a:buFontTx/>
              <a:buNone/>
              <a:tabLst/>
              <a:defRPr/>
            </a:pPr>
            <a:r>
              <a:rPr kumimoji="0" lang="en-US" sz="17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Affirma provided Salesforce resources to develop enhancements, perform bug fixes, and provide ongoing support to store employees. Our resources worked within an existing REI development team, and integrated seamlessly with their Product and Project Management groups. With the additional resourcing, REI was able to accomplish major enhancements to the solution and triage bugs more efficiently. Affirma continues to support various development initiatives within REI. </a:t>
            </a:r>
          </a:p>
        </p:txBody>
      </p:sp>
      <p:pic>
        <p:nvPicPr>
          <p:cNvPr id="1028" name="Picture 4" descr="Image result for rei ski shop">
            <a:extLst>
              <a:ext uri="{FF2B5EF4-FFF2-40B4-BE49-F238E27FC236}">
                <a16:creationId xmlns:a16="http://schemas.microsoft.com/office/drawing/2014/main" id="{4DD899B4-409A-445A-96CC-20C50CD408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9618" y="1698523"/>
            <a:ext cx="4987129" cy="249356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rei logo">
            <a:extLst>
              <a:ext uri="{FF2B5EF4-FFF2-40B4-BE49-F238E27FC236}">
                <a16:creationId xmlns:a16="http://schemas.microsoft.com/office/drawing/2014/main" id="{F23730BA-FD0B-4D53-8761-ED88C53D6CF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1880" y="1771883"/>
            <a:ext cx="1272189" cy="818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613898"/>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Retail</Value>
    </Industries>
    <Notes0 xmlns="f0ee8362-fa7e-4bc9-ab88-7dcfb17cb19b" xsi:nil="true"/>
    <Named_x0020_Account xmlns="f0ee8362-fa7e-4bc9-ab88-7dcfb17cb19b" xsi:nil="true"/>
    <PlatTech xmlns="f0ee8362-fa7e-4bc9-ab88-7dcfb17cb19b">
      <Value>Salesforce</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5E6D7AB4-FA71-421A-ACC0-40FAE435DEC1}"/>
</file>

<file path=customXml/itemProps2.xml><?xml version="1.0" encoding="utf-8"?>
<ds:datastoreItem xmlns:ds="http://schemas.openxmlformats.org/officeDocument/2006/customXml" ds:itemID="{9AD35A2A-C178-4162-A01E-57A9135CA210}"/>
</file>

<file path=customXml/itemProps3.xml><?xml version="1.0" encoding="utf-8"?>
<ds:datastoreItem xmlns:ds="http://schemas.openxmlformats.org/officeDocument/2006/customXml" ds:itemID="{D1DD8922-A105-4D5A-8E26-0BBA0630C0C3}"/>
</file>

<file path=customXml/itemProps4.xml><?xml version="1.0" encoding="utf-8"?>
<ds:datastoreItem xmlns:ds="http://schemas.openxmlformats.org/officeDocument/2006/customXml" ds:itemID="{C6788957-68B6-452F-9B2A-20DFE662AC26}"/>
</file>

<file path=docProps/app.xml><?xml version="1.0" encoding="utf-8"?>
<Properties xmlns="http://schemas.openxmlformats.org/officeDocument/2006/extended-properties" xmlns:vt="http://schemas.openxmlformats.org/officeDocument/2006/docPropsVTypes">
  <TotalTime>0</TotalTime>
  <Words>134</Words>
  <Application>Microsoft Office PowerPoint</Application>
  <PresentationFormat>Widescreen</PresentationFormat>
  <Paragraphs>6</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Calibri</vt:lpstr>
      <vt:lpstr>Segoe UI</vt:lpstr>
      <vt:lpstr>Segoe UI Light</vt:lpstr>
      <vt:lpstr>Segoe UI Semilight</vt:lpstr>
      <vt:lpstr>Custom Design</vt:lpstr>
      <vt:lpstr>REI – Salesforce Development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 – Salesforce Development </dc:title>
  <dc:creator>Brendan Murphy</dc:creator>
  <cp:lastModifiedBy>Brendan Murphy</cp:lastModifiedBy>
  <cp:revision>1</cp:revision>
  <dcterms:created xsi:type="dcterms:W3CDTF">2024-03-12T20:47:22Z</dcterms:created>
  <dcterms:modified xsi:type="dcterms:W3CDTF">2024-03-12T20:47:38Z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