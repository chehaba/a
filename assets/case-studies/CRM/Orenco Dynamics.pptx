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6963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3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EB39-86A3-DB60-8423-4A6412645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E8585B-5583-9BC0-A301-4F6C764C2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01E27-4AAA-43DC-0529-22F8148E0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9E20-EFB5-9F98-06D4-6EA6FD72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0A77A-9E53-9B15-DB6C-FE305BC4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8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959E0-6DE7-455D-2CA5-795385B6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11AF2-9D07-BD70-3353-BAB1B0B90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427F5-7CE4-D06D-05B4-773A61FA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21562-BAF9-8A01-138C-11788530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CAA2-BD39-C808-0358-C4A2E06A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27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175-481F-4570-193C-557654163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C9591-0D7F-D967-E537-F617C19DC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C38EC-D2D2-FE3E-8990-D595957D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97453-5EFB-6065-FC4B-A37417FC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D314B-09F7-5509-DAE7-58AC1454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41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C237-4E1F-2DF0-3EF2-497514498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48439-8C9D-F91D-BA34-BFB7FF8870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51D52-6F35-F59C-52C5-0526E2F3F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02561-6342-03C8-970C-DC3677764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4C4CD-CD01-167F-6526-0FF708CC8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6DD5D-1863-920D-8492-9DE11E4A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8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9468-F1A4-4F73-2961-624641F42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DC0E8-C361-D67D-0413-3FB4F6F9C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64D6C-3BEC-1550-5FEE-569B468AE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7781DD-CD7B-1C68-D271-AABDC4614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9CFDE-8734-B2DA-196B-F48F8CED8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E1270C-F60A-B369-65F6-0F92AE1F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161B7-4240-D7A4-550F-F3E77E89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E57F9-A275-AB1B-1BFB-E6EE60B7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1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CB96-F1C7-910F-6C9D-99F3DDD24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C8B17-A1C5-A100-DB96-96E56D2DD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9F7C2C-3806-A839-F09E-E8CAF27B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65769-505D-1118-66DA-1FE5B354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7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95D7FA-F20F-8E5C-B050-769E7D2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26C04-C51C-498A-D628-0DA849194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611C-B15A-4425-B213-1DE71BE3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46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D41-6151-EC38-4EF7-9AFBB47A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A2B40-54D7-1239-D13C-07A50AA9B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F5883A-1DC0-9727-8130-B2DC5409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049A2-2781-6107-F17F-A98CECDB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43D78-F08D-9ACE-1684-53486C64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A908B-8CE2-6AA3-9647-97969676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6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26A16-B8A1-31F8-F22A-07C50AA9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917720-8845-B0A7-A14D-31C6CC3A3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BAD27-B932-A3D8-613E-B767972D5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9D1E5-06DF-F6D1-7EBE-4292BC36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E44AA-EA6B-AACF-A98C-E1C902F4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CF142-87F1-C7FD-9E5F-2AA290F5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54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5E093-EFF1-9031-B6C4-882F89BA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AC6D0-07C0-AE3B-7F0C-6FD24706F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AA904-4DBB-B45B-5431-7FD1575CF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F1C3A-B7F8-1DB7-A7A7-22DEA039A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6CF8F-F56B-673C-C699-B0B56F0D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5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4882E-D724-55A8-9D08-9E1DC8D1CB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80B8B-91F4-E0AA-1B77-119592C9D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F0D92-DFB7-4551-6877-A7DB8F3D6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6C8C7-B8EB-4205-59D1-C70A57218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44445-328C-4831-3AF9-41C7FCE5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0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9" descr="A screenshot of a computer&#10;&#10;Description automatically generated">
            <a:extLst>
              <a:ext uri="{FF2B5EF4-FFF2-40B4-BE49-F238E27FC236}">
                <a16:creationId xmlns:a16="http://schemas.microsoft.com/office/drawing/2014/main" id="{713CCA6E-A4FF-BB4D-9382-484CF796B4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8461" y="0"/>
            <a:ext cx="8014997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EC69B2A-80AB-7640-B2CB-3F0739ECB87D}"/>
              </a:ext>
            </a:extLst>
          </p:cNvPr>
          <p:cNvSpPr/>
          <p:nvPr userDrawn="1"/>
        </p:nvSpPr>
        <p:spPr>
          <a:xfrm>
            <a:off x="1" y="0"/>
            <a:ext cx="12173457" cy="6858000"/>
          </a:xfrm>
          <a:prstGeom prst="rect">
            <a:avLst/>
          </a:prstGeom>
          <a:gradFill>
            <a:gsLst>
              <a:gs pos="3500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7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4DE72E9-6C8E-A44F-9DE7-4B8BB0DBC5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0011" y="929429"/>
            <a:ext cx="1798438" cy="619462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0D31A1-A834-5C4B-B55E-CEAB8C148AD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27381" y="1895451"/>
            <a:ext cx="6707368" cy="2131940"/>
          </a:xfrm>
        </p:spPr>
        <p:txBody>
          <a:bodyPr anchor="b">
            <a:normAutofit/>
          </a:bodyPr>
          <a:lstStyle>
            <a:lvl1pPr marL="0" indent="0">
              <a:buNone/>
              <a:defRPr sz="55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7D911B-CA08-4B4A-A838-469953E0430A}"/>
              </a:ext>
            </a:extLst>
          </p:cNvPr>
          <p:cNvSpPr/>
          <p:nvPr userDrawn="1"/>
        </p:nvSpPr>
        <p:spPr>
          <a:xfrm flipV="1">
            <a:off x="1175863" y="1705834"/>
            <a:ext cx="1055190" cy="4663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DB2ADC2-1599-0540-B36A-AF96A2A284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7380" y="4167283"/>
            <a:ext cx="6707368" cy="910191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90CE7FE1-9095-1846-8771-15ACA6D28D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7379" y="5533639"/>
            <a:ext cx="1639651" cy="1136102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Contact One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EAF4B394-7D89-864F-94E9-32E98EC3D17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16619" y="5533639"/>
            <a:ext cx="1639651" cy="1136102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Contact Two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90AE3E7-1937-9040-8120-416B63C69E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5859" y="5533638"/>
            <a:ext cx="1639651" cy="1136102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Contact Three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945EF15C-ED50-4342-B759-1D3FBD9327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5098" y="5533638"/>
            <a:ext cx="1639651" cy="1136102"/>
          </a:xfr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Contact Four</a:t>
            </a:r>
          </a:p>
        </p:txBody>
      </p:sp>
    </p:spTree>
    <p:extLst>
      <p:ext uri="{BB962C8B-B14F-4D97-AF65-F5344CB8AC3E}">
        <p14:creationId xmlns:p14="http://schemas.microsoft.com/office/powerpoint/2010/main" val="1169038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5F51225-8F0B-4245-8086-BC5A537700FB}"/>
              </a:ext>
            </a:extLst>
          </p:cNvPr>
          <p:cNvSpPr/>
          <p:nvPr userDrawn="1"/>
        </p:nvSpPr>
        <p:spPr>
          <a:xfrm>
            <a:off x="0" y="0"/>
            <a:ext cx="12192000" cy="6860138"/>
          </a:xfrm>
          <a:prstGeom prst="rect">
            <a:avLst/>
          </a:prstGeom>
          <a:solidFill>
            <a:srgbClr val="021C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55A5-7553-0742-89D9-7FDDEAC122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62930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29B927-B6FC-8D4F-A53C-304A6A8C41E0}"/>
              </a:ext>
            </a:extLst>
          </p:cNvPr>
          <p:cNvCxnSpPr>
            <a:cxnSpLocks/>
          </p:cNvCxnSpPr>
          <p:nvPr userDrawn="1"/>
        </p:nvCxnSpPr>
        <p:spPr>
          <a:xfrm>
            <a:off x="553090" y="2164099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9459060E-9FC6-1241-86AD-AA333670AE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5" y="7036368"/>
            <a:ext cx="615899" cy="210019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6F95C518-E370-6248-AEE6-FD9099B0B01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71D07F-570D-5747-BF47-A0163B43B665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12490" y="1655805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FB7ECFA3-6A93-2349-B238-F09B0AB95F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237565" y="1655805"/>
            <a:ext cx="3959104" cy="4300150"/>
          </a:xfrm>
          <a:prstGeom prst="rect">
            <a:avLst/>
          </a:prstGeom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F448927-7781-2B45-BA45-39E8497D7C83}"/>
              </a:ext>
            </a:extLst>
          </p:cNvPr>
          <p:cNvCxnSpPr>
            <a:cxnSpLocks/>
          </p:cNvCxnSpPr>
          <p:nvPr userDrawn="1"/>
        </p:nvCxnSpPr>
        <p:spPr>
          <a:xfrm>
            <a:off x="553090" y="2797988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F0613E2E-3C6A-3E44-BEE8-FB391905D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2490" y="2289694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2E14B29-154B-CB45-A683-72B0AAA423B6}"/>
              </a:ext>
            </a:extLst>
          </p:cNvPr>
          <p:cNvCxnSpPr>
            <a:cxnSpLocks/>
          </p:cNvCxnSpPr>
          <p:nvPr userDrawn="1"/>
        </p:nvCxnSpPr>
        <p:spPr>
          <a:xfrm>
            <a:off x="553090" y="3431877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3" name="Text Placeholder 3">
            <a:extLst>
              <a:ext uri="{FF2B5EF4-FFF2-40B4-BE49-F238E27FC236}">
                <a16:creationId xmlns:a16="http://schemas.microsoft.com/office/drawing/2014/main" id="{594EACC3-0305-8044-BCFE-63722EA527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2490" y="2923584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D5369A1-BD2D-4247-80CD-0E02871989CD}"/>
              </a:ext>
            </a:extLst>
          </p:cNvPr>
          <p:cNvCxnSpPr>
            <a:cxnSpLocks/>
          </p:cNvCxnSpPr>
          <p:nvPr userDrawn="1"/>
        </p:nvCxnSpPr>
        <p:spPr>
          <a:xfrm>
            <a:off x="553090" y="4065766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5" name="Text Placeholder 3">
            <a:extLst>
              <a:ext uri="{FF2B5EF4-FFF2-40B4-BE49-F238E27FC236}">
                <a16:creationId xmlns:a16="http://schemas.microsoft.com/office/drawing/2014/main" id="{FB63ED6A-7E23-AB44-8A96-63CD8247E72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2490" y="3557473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953B43E-6990-B04B-80D1-41DB0DF20E58}"/>
              </a:ext>
            </a:extLst>
          </p:cNvPr>
          <p:cNvCxnSpPr>
            <a:cxnSpLocks/>
          </p:cNvCxnSpPr>
          <p:nvPr userDrawn="1"/>
        </p:nvCxnSpPr>
        <p:spPr>
          <a:xfrm>
            <a:off x="553090" y="4699655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 Placeholder 3">
            <a:extLst>
              <a:ext uri="{FF2B5EF4-FFF2-40B4-BE49-F238E27FC236}">
                <a16:creationId xmlns:a16="http://schemas.microsoft.com/office/drawing/2014/main" id="{2F583019-9ED7-5F4E-9215-3A34B0483E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2490" y="4191362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F73A6E7-C6A4-164E-A09E-699C0FC25EC3}"/>
              </a:ext>
            </a:extLst>
          </p:cNvPr>
          <p:cNvCxnSpPr>
            <a:cxnSpLocks/>
          </p:cNvCxnSpPr>
          <p:nvPr userDrawn="1"/>
        </p:nvCxnSpPr>
        <p:spPr>
          <a:xfrm>
            <a:off x="553090" y="5333544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C7A09DBC-4811-BA4C-AA56-7C7D2B699F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2490" y="4825250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A12BF71-8B36-044C-ADAD-C565FC69931F}"/>
              </a:ext>
            </a:extLst>
          </p:cNvPr>
          <p:cNvCxnSpPr>
            <a:cxnSpLocks/>
          </p:cNvCxnSpPr>
          <p:nvPr userDrawn="1"/>
        </p:nvCxnSpPr>
        <p:spPr>
          <a:xfrm>
            <a:off x="553090" y="5967433"/>
            <a:ext cx="7260444" cy="0"/>
          </a:xfrm>
          <a:prstGeom prst="line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36E8175E-5ED2-8242-BA2E-102050109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2490" y="5459139"/>
            <a:ext cx="5883893" cy="493713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Category Placeholder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550E8A97-1337-F84B-94F2-BACC34ED68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3284" y="6454780"/>
            <a:ext cx="767123" cy="280908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7D1000D-272E-3646-A367-5EE87CF6901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37538" y="1655763"/>
            <a:ext cx="3954462" cy="4297362"/>
          </a:xfrm>
        </p:spPr>
        <p:txBody>
          <a:bodyPr/>
          <a:lstStyle>
            <a:lvl1pPr marL="0" indent="0">
              <a:buNone/>
              <a:defRPr>
                <a:solidFill>
                  <a:srgbClr val="008AD9"/>
                </a:solidFill>
              </a:defRPr>
            </a:lvl1pPr>
          </a:lstStyle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A3CACC-A178-224D-911A-2DA8BDCDE2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t="55109" r="54590"/>
          <a:stretch/>
        </p:blipFill>
        <p:spPr>
          <a:xfrm rot="5400000">
            <a:off x="9294988" y="3960986"/>
            <a:ext cx="2068940" cy="37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7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A0B0534-9C62-FC49-BFF9-4F75BE4BCBA5}"/>
              </a:ext>
            </a:extLst>
          </p:cNvPr>
          <p:cNvSpPr/>
          <p:nvPr userDrawn="1"/>
        </p:nvSpPr>
        <p:spPr>
          <a:xfrm>
            <a:off x="-1" y="0"/>
            <a:ext cx="9777743" cy="6858000"/>
          </a:xfrm>
          <a:prstGeom prst="rect">
            <a:avLst/>
          </a:prstGeom>
          <a:solidFill>
            <a:srgbClr val="021C3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111A56A-6863-1149-9560-8EB170FEC1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r="54590"/>
          <a:stretch/>
        </p:blipFill>
        <p:spPr>
          <a:xfrm rot="5400000">
            <a:off x="3358552" y="1674438"/>
            <a:ext cx="2068940" cy="82981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CE219A-9F0E-5F44-846B-1298FFF481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t="60187" r="54590"/>
          <a:stretch/>
        </p:blipFill>
        <p:spPr>
          <a:xfrm rot="5400000">
            <a:off x="9505631" y="4171632"/>
            <a:ext cx="2068940" cy="3303797"/>
          </a:xfrm>
          <a:prstGeom prst="rect">
            <a:avLst/>
          </a:prstGeom>
        </p:spPr>
      </p:pic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0DA68E2-510B-A34A-8ABA-0859C09CC89B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76642" y="1714501"/>
            <a:ext cx="7965470" cy="2377574"/>
          </a:xfrm>
        </p:spPr>
        <p:txBody>
          <a:bodyPr anchor="b">
            <a:normAutofit/>
          </a:bodyPr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6B71A2C-FADE-F746-8E84-2EBFA74304F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76641" y="4164310"/>
            <a:ext cx="7965472" cy="810014"/>
          </a:xfrm>
        </p:spPr>
        <p:txBody>
          <a:bodyPr anchor="b"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35B026-3D59-F34E-98E2-3BC8114E9E8B}"/>
              </a:ext>
            </a:extLst>
          </p:cNvPr>
          <p:cNvSpPr/>
          <p:nvPr userDrawn="1"/>
        </p:nvSpPr>
        <p:spPr>
          <a:xfrm>
            <a:off x="12123801" y="0"/>
            <a:ext cx="64008" cy="1719072"/>
          </a:xfrm>
          <a:prstGeom prst="rect">
            <a:avLst/>
          </a:prstGeom>
          <a:solidFill>
            <a:srgbClr val="063A7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E37E73-26E9-7246-BD19-67A9F675B5A3}"/>
              </a:ext>
            </a:extLst>
          </p:cNvPr>
          <p:cNvSpPr/>
          <p:nvPr userDrawn="1"/>
        </p:nvSpPr>
        <p:spPr>
          <a:xfrm>
            <a:off x="12125326" y="1714500"/>
            <a:ext cx="66674" cy="1714500"/>
          </a:xfrm>
          <a:prstGeom prst="rect">
            <a:avLst/>
          </a:prstGeom>
          <a:solidFill>
            <a:srgbClr val="008AD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D99D16-67B5-D742-B420-B7858ED12BAB}"/>
              </a:ext>
            </a:extLst>
          </p:cNvPr>
          <p:cNvSpPr/>
          <p:nvPr userDrawn="1"/>
        </p:nvSpPr>
        <p:spPr>
          <a:xfrm>
            <a:off x="12125326" y="3429000"/>
            <a:ext cx="66674" cy="1714500"/>
          </a:xfrm>
          <a:prstGeom prst="rect">
            <a:avLst/>
          </a:prstGeom>
          <a:solidFill>
            <a:srgbClr val="2BADE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858C97-DBFC-AD41-9363-7F95DE7FEA95}"/>
              </a:ext>
            </a:extLst>
          </p:cNvPr>
          <p:cNvSpPr/>
          <p:nvPr userDrawn="1"/>
        </p:nvSpPr>
        <p:spPr>
          <a:xfrm>
            <a:off x="12125326" y="5143500"/>
            <a:ext cx="66674" cy="1714500"/>
          </a:xfrm>
          <a:prstGeom prst="rect">
            <a:avLst/>
          </a:prstGeom>
          <a:solidFill>
            <a:srgbClr val="CBEC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B7CC74-E6C9-9F41-A80A-4DF89867B8AA}"/>
              </a:ext>
            </a:extLst>
          </p:cNvPr>
          <p:cNvSpPr/>
          <p:nvPr userDrawn="1"/>
        </p:nvSpPr>
        <p:spPr>
          <a:xfrm>
            <a:off x="352036" y="1520575"/>
            <a:ext cx="8434009" cy="3531339"/>
          </a:xfrm>
          <a:prstGeom prst="rect">
            <a:avLst/>
          </a:prstGeom>
          <a:noFill/>
          <a:ln w="28575">
            <a:gradFill>
              <a:gsLst>
                <a:gs pos="0">
                  <a:srgbClr val="063A79"/>
                </a:gs>
                <a:gs pos="100000">
                  <a:srgbClr val="2BADE3"/>
                </a:gs>
              </a:gsLst>
              <a:lin ang="2700000" scaled="0"/>
            </a:gradFill>
          </a:ln>
          <a:effectLst>
            <a:outerShdw blurRad="1524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0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704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3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F1481B15-7EC7-6F4A-B2A5-B009A42588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09620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C282AC2-BECF-2543-8629-470F64719A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63527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116AEF1-4F06-D84D-B613-54F8E79DF4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5713" y="1873250"/>
            <a:ext cx="2757487" cy="1735138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4AFCDF-11EB-F047-9AD0-F5FACA0249C6}"/>
              </a:ext>
            </a:extLst>
          </p:cNvPr>
          <p:cNvSpPr/>
          <p:nvPr userDrawn="1"/>
        </p:nvSpPr>
        <p:spPr>
          <a:xfrm>
            <a:off x="-5311" y="6730048"/>
            <a:ext cx="12200696" cy="127952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1C16221-F2AB-8947-9C9C-F9FAFCC55B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53503" y="3865614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A77A14F6-C2A2-A040-A584-9CC7A617B0A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53503" y="4259153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8FF4944D-DFC8-9D49-9D8E-01BB990BFF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12889" y="3865614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B6B715E-4D8E-7F4E-9CCB-1F1C1A710B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12889" y="4259153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9D420648-26E5-F541-A606-C26A851D57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3527" y="3868176"/>
            <a:ext cx="2766222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Jane Doe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A0F8829-CED3-BF41-AE62-5ECCE0D883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63527" y="4261715"/>
            <a:ext cx="2766222" cy="2062070"/>
          </a:xfrm>
        </p:spPr>
        <p:txBody>
          <a:bodyPr anchor="t">
            <a:noAutofit/>
          </a:bodyPr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Positions Placeholder, Company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B3CEE7-0A9D-F549-B296-70ACC86C06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29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50/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4927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02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68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340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9E9507-3CE7-4248-BD33-4B6D499CF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0AB0713A-C93D-9944-89CB-D82B57B92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2024" y="2487685"/>
            <a:ext cx="9627954" cy="1370666"/>
          </a:xfrm>
        </p:spPr>
        <p:txBody>
          <a:bodyPr>
            <a:normAutofit/>
          </a:bodyPr>
          <a:lstStyle>
            <a:lvl1pPr marL="0" indent="0" algn="ctr">
              <a:buNone/>
              <a:defRPr sz="5500" b="1" i="0">
                <a:solidFill>
                  <a:srgbClr val="FF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C633160-1107-D143-9F7F-29899547B1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96780" y="4130140"/>
            <a:ext cx="1798438" cy="61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2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716C3-C612-A673-8E06-A2E6F0F2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8E859-5F37-A582-8D41-F26788F4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C78EE-23B5-6754-8059-B9286D4A7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68D6F-22B2-460C-9933-C0A10DF3AEB0}" type="datetimeFigureOut">
              <a:rPr lang="en-US" smtClean="0"/>
              <a:t>5/28/2024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ADDC8-1FE8-D68A-EC15-157118B1B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EDCB8-5017-F43E-FE6C-3C8C48FF5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C699D-828D-493F-B922-19DEE16C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51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3" y="388389"/>
            <a:ext cx="11474185" cy="764390"/>
          </a:xfrm>
        </p:spPr>
        <p:txBody>
          <a:bodyPr>
            <a:normAutofit/>
          </a:bodyPr>
          <a:lstStyle/>
          <a:p>
            <a:r>
              <a:rPr lang="en-US">
                <a:latin typeface="Arial"/>
                <a:cs typeface="Arial"/>
              </a:rPr>
              <a:t>Alaska National Insurance TFS to ADO Migration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49" y="1444574"/>
            <a:ext cx="6816855" cy="19206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solidFill>
                  <a:srgbClr val="008AD9"/>
                </a:solidFill>
                <a:latin typeface="+mj-lt"/>
                <a:cs typeface="Segoe UI"/>
              </a:rPr>
              <a:t>Business Need</a:t>
            </a:r>
            <a:endParaRPr lang="en-US"/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B2B2B"/>
                </a:solidFill>
                <a:latin typeface="Segoe UI"/>
                <a:cs typeface="Segoe UI"/>
              </a:rPr>
              <a:t>Alaska National Insurance Company (ANIC) was using an outdated on-premise Team Foundation Service (TFS) instance for source control and project management of over 50 projects.</a:t>
            </a:r>
          </a:p>
          <a:p>
            <a:pPr marL="285115" indent="-285115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B2B2B"/>
                </a:solidFill>
                <a:latin typeface="Segoe UI"/>
                <a:cs typeface="Segoe UI"/>
              </a:rPr>
              <a:t>ANIC required assistance with migrating TFS to Azure DevOps and implementing best practice process for deployment process and task management.</a:t>
            </a:r>
          </a:p>
          <a:p>
            <a:endParaRPr lang="en-US" sz="1300">
              <a:solidFill>
                <a:srgbClr val="404040"/>
              </a:solidFill>
              <a:latin typeface="+mj-lt"/>
              <a:cs typeface="Calibri Light" panose="020F0302020204030204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33ED728-DA66-448C-B5D4-248F6FE9109B}"/>
              </a:ext>
            </a:extLst>
          </p:cNvPr>
          <p:cNvSpPr txBox="1">
            <a:spLocks/>
          </p:cNvSpPr>
          <p:nvPr/>
        </p:nvSpPr>
        <p:spPr>
          <a:xfrm>
            <a:off x="603249" y="3521677"/>
            <a:ext cx="7037454" cy="29192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8AD9"/>
                </a:solidFill>
                <a:effectLst/>
                <a:uLnTx/>
                <a:uFillTx/>
                <a:latin typeface="Calibri Light" panose="020F0302020204030204"/>
                <a:ea typeface="+mn-ea"/>
                <a:cs typeface="Segoe UI"/>
              </a:rPr>
              <a:t>What We Did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8AD9"/>
              </a:solidFill>
              <a:effectLst/>
              <a:uLnTx/>
              <a:uFillTx/>
              <a:latin typeface="Calibri Light" panose="020F0302020204030204"/>
              <a:ea typeface="+mn-ea"/>
              <a:cs typeface="Segoe UI"/>
            </a:endParaRPr>
          </a:p>
          <a:p>
            <a:pPr marL="237490" marR="0" lvl="0" indent="-2374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Setup Azure DevOps and decommissioned on-premise TFS service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  <a:p>
            <a:pPr marL="237490" marR="0" lvl="0" indent="-2374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Migrated existing code repositories and project tasks from TFS to Azure DevOps</a:t>
            </a:r>
          </a:p>
          <a:p>
            <a:pPr marL="237490" marR="0" lvl="0" indent="-2374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Setup new build and release pipelines for existing code bases</a:t>
            </a:r>
          </a:p>
          <a:p>
            <a:pPr marL="237490" marR="0" lvl="0" indent="-2374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Documented and trained best practices for DevOps to ANIC software developers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</a:b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8" descr="quintiles_imac.png">
            <a:extLst>
              <a:ext uri="{FF2B5EF4-FFF2-40B4-BE49-F238E27FC236}">
                <a16:creationId xmlns:a16="http://schemas.microsoft.com/office/drawing/2014/main" id="{9E3A3FE9-6E95-B426-DB3B-F1F4096013C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62" r="16115"/>
          <a:stretch/>
        </p:blipFill>
        <p:spPr>
          <a:xfrm>
            <a:off x="7668136" y="2105923"/>
            <a:ext cx="4409332" cy="3966793"/>
          </a:xfrm>
          <a:prstGeom prst="rect">
            <a:avLst/>
          </a:prstGeom>
        </p:spPr>
      </p:pic>
      <p:sp>
        <p:nvSpPr>
          <p:cNvPr id="2" name="AutoShape 2" descr="Alaska National Insurance – A CopperPoint Company">
            <a:extLst>
              <a:ext uri="{FF2B5EF4-FFF2-40B4-BE49-F238E27FC236}">
                <a16:creationId xmlns:a16="http://schemas.microsoft.com/office/drawing/2014/main" id="{47DB7B11-5B73-F4A2-A1FE-0CAC3015C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13A5685-A30F-9D03-6F26-10C95C3CBA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54621" y="1152779"/>
            <a:ext cx="2079015" cy="1004270"/>
          </a:xfrm>
          <a:prstGeom prst="rect">
            <a:avLst/>
          </a:prstGeom>
        </p:spPr>
      </p:pic>
      <p:pic>
        <p:nvPicPr>
          <p:cNvPr id="1028" name="Picture 4" descr="Understand dashboards, charts, reports &amp; widgets - Azure DevOps | Microsoft  Learn">
            <a:extLst>
              <a:ext uri="{FF2B5EF4-FFF2-40B4-BE49-F238E27FC236}">
                <a16:creationId xmlns:a16="http://schemas.microsoft.com/office/drawing/2014/main" id="{AE6C64A4-AF24-9F48-35F4-5AB85E86E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886" y="2471351"/>
            <a:ext cx="3891887" cy="244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screenshot of a document&#10;&#10;Description automatically generated">
            <a:extLst>
              <a:ext uri="{FF2B5EF4-FFF2-40B4-BE49-F238E27FC236}">
                <a16:creationId xmlns:a16="http://schemas.microsoft.com/office/drawing/2014/main" id="{B64BE7FB-133C-1556-3BED-2ACBA2521E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77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Manufacturing</Value>
    </Industries>
    <Notes0 xmlns="f0ee8362-fa7e-4bc9-ab88-7dcfb17cb19b" xsi:nil="true"/>
    <Named_x0020_Account xmlns="f0ee8362-fa7e-4bc9-ab88-7dcfb17cb19b" xsi:nil="true"/>
    <PlatTech xmlns="f0ee8362-fa7e-4bc9-ab88-7dcfb17cb19b">
      <Value>Dynamics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03378710-BDA2-4D06-AAF6-FD59208E6FD0}"/>
</file>

<file path=customXml/itemProps2.xml><?xml version="1.0" encoding="utf-8"?>
<ds:datastoreItem xmlns:ds="http://schemas.openxmlformats.org/officeDocument/2006/customXml" ds:itemID="{6C90EBC0-C46A-41F8-84E3-BF671D83421D}"/>
</file>

<file path=customXml/itemProps3.xml><?xml version="1.0" encoding="utf-8"?>
<ds:datastoreItem xmlns:ds="http://schemas.openxmlformats.org/officeDocument/2006/customXml" ds:itemID="{F7E4DA64-2AFC-413D-BAD5-4F7271014EDE}"/>
</file>

<file path=customXml/itemProps4.xml><?xml version="1.0" encoding="utf-8"?>
<ds:datastoreItem xmlns:ds="http://schemas.openxmlformats.org/officeDocument/2006/customXml" ds:itemID="{53357FDE-F817-4DAF-BE62-0224AA810E0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Arial,Sans-Serif</vt:lpstr>
      <vt:lpstr>Calibri</vt:lpstr>
      <vt:lpstr>Calibri Light</vt:lpstr>
      <vt:lpstr>Segoe UI</vt:lpstr>
      <vt:lpstr>1_Office Theme</vt:lpstr>
      <vt:lpstr>Alaska National Insurance TFS to ADO Migration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Alaska National Insurance TFS to ADO Migration</dc:title>
  <dc:creator>Brendan Murphy</dc:creator>
  <cp:lastModifiedBy>Brendan Murphy</cp:lastModifiedBy>
  <cp:revision>1</cp:revision>
  <dcterms:created xsi:type="dcterms:W3CDTF">2024-05-28T15:56:47Z</dcterms:created>
  <dcterms:modified xsi:type="dcterms:W3CDTF">2024-05-28T15:57:24Z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