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6965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B8D5C-BDB1-2DEA-5D2E-69D4C833D7ED}" v="2" dt="2025-02-12T20:02:41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959B8D5C-BDB1-2DEA-5D2E-69D4C833D7ED}"/>
    <pc:docChg chg="addSld delSld">
      <pc:chgData name="Brendan Murphy" userId="S::bmurphy@affirma.com::e9f923b6-6d89-4d4e-a3b7-d9304b9d44ba" providerId="AD" clId="Web-{959B8D5C-BDB1-2DEA-5D2E-69D4C833D7ED}" dt="2025-02-12T20:02:41.878" v="1"/>
      <pc:docMkLst>
        <pc:docMk/>
      </pc:docMkLst>
      <pc:sldChg chg="del">
        <pc:chgData name="Brendan Murphy" userId="S::bmurphy@affirma.com::e9f923b6-6d89-4d4e-a3b7-d9304b9d44ba" providerId="AD" clId="Web-{959B8D5C-BDB1-2DEA-5D2E-69D4C833D7ED}" dt="2025-02-12T20:02:41.878" v="1"/>
        <pc:sldMkLst>
          <pc:docMk/>
          <pc:sldMk cId="109857222" sldId="256"/>
        </pc:sldMkLst>
      </pc:sldChg>
      <pc:sldChg chg="add">
        <pc:chgData name="Brendan Murphy" userId="S::bmurphy@affirma.com::e9f923b6-6d89-4d4e-a3b7-d9304b9d44ba" providerId="AD" clId="Web-{959B8D5C-BDB1-2DEA-5D2E-69D4C833D7ED}" dt="2025-02-12T20:02:39.643" v="0"/>
        <pc:sldMkLst>
          <pc:docMk/>
          <pc:sldMk cId="845998695" sldId="2147469650"/>
        </pc:sldMkLst>
      </pc:sldChg>
      <pc:sldMasterChg chg="addSldLayout">
        <pc:chgData name="Brendan Murphy" userId="S::bmurphy@affirma.com::e9f923b6-6d89-4d4e-a3b7-d9304b9d44ba" providerId="AD" clId="Web-{959B8D5C-BDB1-2DEA-5D2E-69D4C833D7ED}" dt="2025-02-12T20:02:39.643" v="0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959B8D5C-BDB1-2DEA-5D2E-69D4C833D7ED}" dt="2025-02-12T20:02:39.643" v="0"/>
          <pc:sldLayoutMkLst>
            <pc:docMk/>
            <pc:sldMasterMk cId="2460954070" sldId="2147483660"/>
            <pc:sldLayoutMk cId="1258972629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72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5FEA-65D3-C3FB-9FC7-249C3672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circle&#10;&#10;Description automatically generated">
            <a:extLst>
              <a:ext uri="{FF2B5EF4-FFF2-40B4-BE49-F238E27FC236}">
                <a16:creationId xmlns:a16="http://schemas.microsoft.com/office/drawing/2014/main" id="{83D8DB26-1A1D-DF0D-8815-F86384E5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9" y="1499368"/>
            <a:ext cx="4929314" cy="4929314"/>
          </a:xfrm>
          <a:prstGeom prst="rect">
            <a:avLst/>
          </a:prstGeom>
        </p:spPr>
      </p:pic>
      <p:sp>
        <p:nvSpPr>
          <p:cNvPr id="5" name="Title 8">
            <a:extLst>
              <a:ext uri="{FF2B5EF4-FFF2-40B4-BE49-F238E27FC236}">
                <a16:creationId xmlns:a16="http://schemas.microsoft.com/office/drawing/2014/main" id="{AFE86B43-6928-8D83-2CC5-BC4DE56E8952}"/>
              </a:ext>
            </a:extLst>
          </p:cNvPr>
          <p:cNvSpPr txBox="1">
            <a:spLocks/>
          </p:cNvSpPr>
          <p:nvPr/>
        </p:nvSpPr>
        <p:spPr>
          <a:xfrm>
            <a:off x="603284" y="388389"/>
            <a:ext cx="10985432" cy="764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63A7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63A79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Affirma CRM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7FA905-111B-8BCA-74B4-19306B286A45}"/>
              </a:ext>
            </a:extLst>
          </p:cNvPr>
          <p:cNvSpPr/>
          <p:nvPr/>
        </p:nvSpPr>
        <p:spPr>
          <a:xfrm>
            <a:off x="3519655" y="1226324"/>
            <a:ext cx="4993843" cy="45719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8E9AD25-E140-17A2-7B9E-5454265029A7}"/>
              </a:ext>
            </a:extLst>
          </p:cNvPr>
          <p:cNvSpPr txBox="1">
            <a:spLocks/>
          </p:cNvSpPr>
          <p:nvPr/>
        </p:nvSpPr>
        <p:spPr>
          <a:xfrm>
            <a:off x="6388005" y="1645557"/>
            <a:ext cx="5355761" cy="1406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3A79"/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Sales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63A79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Lead,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Opportunity,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Contact, and Account management.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Activity Tracking and Customer Insights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Sales 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Pipeline Management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260F1AB-F4D7-C7D3-C82D-C23350EEF89D}"/>
              </a:ext>
            </a:extLst>
          </p:cNvPr>
          <p:cNvSpPr txBox="1">
            <a:spLocks/>
          </p:cNvSpPr>
          <p:nvPr/>
        </p:nvSpPr>
        <p:spPr>
          <a:xfrm>
            <a:off x="6388004" y="5236041"/>
            <a:ext cx="5379063" cy="14062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8AD9"/>
                </a:solidFill>
                <a:effectLst/>
                <a:uLnTx/>
                <a:uFillTx/>
                <a:latin typeface="Poppins"/>
                <a:ea typeface="Calibri"/>
                <a:cs typeface="Poppins"/>
              </a:rPr>
              <a:t>Finance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cs typeface="Poppins"/>
              </a:rPr>
              <a:t>Invoicing and Billing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Revenue Forecast</a:t>
            </a: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Financial Reporting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Budgeting and Planning</a:t>
            </a:r>
            <a:endParaRPr lang="en-US" sz="1200" dirty="0">
              <a:solidFill>
                <a:prstClr val="black"/>
              </a:solidFill>
              <a:latin typeface="Poppins"/>
              <a:cs typeface="Poppin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0FE0B7-DCD2-4ED4-49D8-46AF1BDB760C}"/>
              </a:ext>
            </a:extLst>
          </p:cNvPr>
          <p:cNvSpPr txBox="1">
            <a:spLocks/>
          </p:cNvSpPr>
          <p:nvPr/>
        </p:nvSpPr>
        <p:spPr>
          <a:xfrm>
            <a:off x="6411401" y="2841441"/>
            <a:ext cx="5355761" cy="1406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4FA6"/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Service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84F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Ticket, Issue, and Case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Knowledge Base and Document Repository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Multi Channel Support, Chat, Phone, Social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6FEE73F-660F-6DF5-BDC2-B379BA2DF119}"/>
              </a:ext>
            </a:extLst>
          </p:cNvPr>
          <p:cNvSpPr txBox="1">
            <a:spLocks/>
          </p:cNvSpPr>
          <p:nvPr/>
        </p:nvSpPr>
        <p:spPr>
          <a:xfrm>
            <a:off x="6410219" y="3964025"/>
            <a:ext cx="5310055" cy="14062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>
                <a:solidFill>
                  <a:srgbClr val="F99401"/>
                </a:solidFill>
                <a:latin typeface="Poppins"/>
                <a:ea typeface="Calibri"/>
                <a:cs typeface="Poppins"/>
              </a:rPr>
              <a:t>Automation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99401"/>
              </a:solidFill>
              <a:effectLst/>
              <a:uLnTx/>
              <a:uFillTx/>
              <a:latin typeface="Poppins"/>
              <a:ea typeface="Calibri"/>
              <a:cs typeface="Poppin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Workflow Automation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cs typeface="Poppins"/>
              </a:rPr>
              <a:t>Email Marketing Automation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Poppins"/>
                <a:cs typeface="Poppins"/>
              </a:rPr>
              <a:t>Contract and Document Management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33327-60A1-B439-C271-BEAEC31AAE25}"/>
              </a:ext>
            </a:extLst>
          </p:cNvPr>
          <p:cNvCxnSpPr>
            <a:cxnSpLocks/>
          </p:cNvCxnSpPr>
          <p:nvPr/>
        </p:nvCxnSpPr>
        <p:spPr>
          <a:xfrm>
            <a:off x="6193105" y="1730396"/>
            <a:ext cx="0" cy="951086"/>
          </a:xfrm>
          <a:prstGeom prst="line">
            <a:avLst/>
          </a:prstGeom>
          <a:ln w="5715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5B7148-C94B-B249-34DD-1731767AEC1F}"/>
              </a:ext>
            </a:extLst>
          </p:cNvPr>
          <p:cNvCxnSpPr/>
          <p:nvPr/>
        </p:nvCxnSpPr>
        <p:spPr>
          <a:xfrm>
            <a:off x="6193105" y="2897151"/>
            <a:ext cx="0" cy="951086"/>
          </a:xfrm>
          <a:prstGeom prst="line">
            <a:avLst/>
          </a:prstGeom>
          <a:ln w="57150">
            <a:solidFill>
              <a:srgbClr val="084F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07AC64-4555-DDB5-5844-7C558B57D9E4}"/>
              </a:ext>
            </a:extLst>
          </p:cNvPr>
          <p:cNvCxnSpPr/>
          <p:nvPr/>
        </p:nvCxnSpPr>
        <p:spPr>
          <a:xfrm>
            <a:off x="6193105" y="5210300"/>
            <a:ext cx="0" cy="951086"/>
          </a:xfrm>
          <a:prstGeom prst="line">
            <a:avLst/>
          </a:prstGeom>
          <a:ln w="57150">
            <a:solidFill>
              <a:srgbClr val="008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BEE6F1-2E87-CA7E-70EB-1808676F2FEF}"/>
              </a:ext>
            </a:extLst>
          </p:cNvPr>
          <p:cNvCxnSpPr/>
          <p:nvPr/>
        </p:nvCxnSpPr>
        <p:spPr>
          <a:xfrm>
            <a:off x="6193105" y="4079590"/>
            <a:ext cx="0" cy="951086"/>
          </a:xfrm>
          <a:prstGeom prst="line">
            <a:avLst/>
          </a:prstGeom>
          <a:ln w="57150">
            <a:solidFill>
              <a:srgbClr val="F994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CCD1DF0-5155-2B5B-E02A-648DAF1FB076}"/>
              </a:ext>
            </a:extLst>
          </p:cNvPr>
          <p:cNvSpPr txBox="1">
            <a:spLocks/>
          </p:cNvSpPr>
          <p:nvPr/>
        </p:nvSpPr>
        <p:spPr>
          <a:xfrm>
            <a:off x="998179" y="2725894"/>
            <a:ext cx="1767441" cy="658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Sales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B4225-D7F0-D364-EABA-6CF49C65226D}"/>
              </a:ext>
            </a:extLst>
          </p:cNvPr>
          <p:cNvSpPr txBox="1">
            <a:spLocks/>
          </p:cNvSpPr>
          <p:nvPr/>
        </p:nvSpPr>
        <p:spPr>
          <a:xfrm>
            <a:off x="3215566" y="2725894"/>
            <a:ext cx="1767441" cy="658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7F858FE-B71E-27A4-5C78-6982850B10CE}"/>
              </a:ext>
            </a:extLst>
          </p:cNvPr>
          <p:cNvSpPr txBox="1">
            <a:spLocks/>
          </p:cNvSpPr>
          <p:nvPr/>
        </p:nvSpPr>
        <p:spPr>
          <a:xfrm>
            <a:off x="998179" y="4881159"/>
            <a:ext cx="1767441" cy="658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Automation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F24D7D-D65D-9E44-0330-8BD13B8B0098}"/>
              </a:ext>
            </a:extLst>
          </p:cNvPr>
          <p:cNvSpPr txBox="1">
            <a:spLocks/>
          </p:cNvSpPr>
          <p:nvPr/>
        </p:nvSpPr>
        <p:spPr>
          <a:xfrm>
            <a:off x="3215566" y="4881159"/>
            <a:ext cx="1767441" cy="658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Finance</a:t>
            </a:r>
          </a:p>
        </p:txBody>
      </p:sp>
    </p:spTree>
    <p:extLst>
      <p:ext uri="{BB962C8B-B14F-4D97-AF65-F5344CB8AC3E}">
        <p14:creationId xmlns:p14="http://schemas.microsoft.com/office/powerpoint/2010/main" val="84599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 xsi:nil="true"/>
    <PlatTech xmlns="f0ee8362-fa7e-4bc9-ab88-7dcfb17cb19b" xsi:nil="true"/>
    <BusinessUnit xmlns="f0ee8362-fa7e-4bc9-ab88-7dcfb17cb19b">
      <Value>Customer Relationship Management</Value>
    </BusinessUnit>
    <Solutions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C505596-3C2B-44CE-802A-891BC4C2E938}"/>
</file>

<file path=customXml/itemProps2.xml><?xml version="1.0" encoding="utf-8"?>
<ds:datastoreItem xmlns:ds="http://schemas.openxmlformats.org/officeDocument/2006/customXml" ds:itemID="{DBC1F6B4-1798-4628-AE3B-CAB6F387E7F0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C59564B8-104A-4153-A2B7-E0645E190A9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59353B5-1765-4D1C-AFFE-128921AE77FB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2025-02-12T20:02:35Z</dcterms:created>
  <dcterms:modified xsi:type="dcterms:W3CDTF">2025-02-12T20:02:44Z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