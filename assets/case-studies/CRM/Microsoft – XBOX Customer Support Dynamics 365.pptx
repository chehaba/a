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14746968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10493D-99F7-2020-ABF9-8ECF02C08C99}" v="10" dt="2025-01-16T04:45:33.642"/>
    <p1510:client id="{E51699B9-07F3-4D7F-ADB8-AE028E727206}" v="1" dt="2025-01-16T04:45:42.2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9" autoAdjust="0"/>
    <p:restoredTop sz="94660"/>
  </p:normalViewPr>
  <p:slideViewPr>
    <p:cSldViewPr snapToGrid="0">
      <p:cViewPr varScale="1">
        <p:scale>
          <a:sx n="150" d="100"/>
          <a:sy n="150" d="100"/>
        </p:scale>
        <p:origin x="31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e9f923b6-6d89-4d4e-a3b7-d9304b9d44ba" providerId="ADAL" clId="{E51699B9-07F3-4D7F-ADB8-AE028E727206}"/>
    <pc:docChg chg="addSld delSld modSld">
      <pc:chgData name="Brendan Murphy" userId="e9f923b6-6d89-4d4e-a3b7-d9304b9d44ba" providerId="ADAL" clId="{E51699B9-07F3-4D7F-ADB8-AE028E727206}" dt="2025-01-16T04:45:43.925" v="1" actId="47"/>
      <pc:docMkLst>
        <pc:docMk/>
      </pc:docMkLst>
      <pc:sldChg chg="del">
        <pc:chgData name="Brendan Murphy" userId="e9f923b6-6d89-4d4e-a3b7-d9304b9d44ba" providerId="ADAL" clId="{E51699B9-07F3-4D7F-ADB8-AE028E727206}" dt="2025-01-16T04:45:43.925" v="1" actId="47"/>
        <pc:sldMkLst>
          <pc:docMk/>
          <pc:sldMk cId="2101934384" sldId="1829"/>
        </pc:sldMkLst>
      </pc:sldChg>
      <pc:sldChg chg="add">
        <pc:chgData name="Brendan Murphy" userId="e9f923b6-6d89-4d4e-a3b7-d9304b9d44ba" providerId="ADAL" clId="{E51699B9-07F3-4D7F-ADB8-AE028E727206}" dt="2025-01-16T04:45:42.255" v="0"/>
        <pc:sldMkLst>
          <pc:docMk/>
          <pc:sldMk cId="130639594" sldId="2147469684"/>
        </pc:sldMkLst>
      </pc:sldChg>
    </pc:docChg>
  </pc:docChgLst>
  <pc:docChgLst>
    <pc:chgData name="Brendan Murphy" userId="S::bmurphy@affirma.com::e9f923b6-6d89-4d4e-a3b7-d9304b9d44ba" providerId="AD" clId="Web-{CC10493D-99F7-2020-ABF9-8ECF02C08C99}"/>
    <pc:docChg chg="addSld delSld modSld">
      <pc:chgData name="Brendan Murphy" userId="S::bmurphy@affirma.com::e9f923b6-6d89-4d4e-a3b7-d9304b9d44ba" providerId="AD" clId="Web-{CC10493D-99F7-2020-ABF9-8ECF02C08C99}" dt="2025-01-16T04:45:33.642" v="7"/>
      <pc:docMkLst>
        <pc:docMk/>
      </pc:docMkLst>
      <pc:sldChg chg="addSp delSp modSp">
        <pc:chgData name="Brendan Murphy" userId="S::bmurphy@affirma.com::e9f923b6-6d89-4d4e-a3b7-d9304b9d44ba" providerId="AD" clId="Web-{CC10493D-99F7-2020-ABF9-8ECF02C08C99}" dt="2025-01-16T04:45:17.735" v="2"/>
        <pc:sldMkLst>
          <pc:docMk/>
          <pc:sldMk cId="2101934384" sldId="1829"/>
        </pc:sldMkLst>
        <pc:picChg chg="add del mod">
          <ac:chgData name="Brendan Murphy" userId="S::bmurphy@affirma.com::e9f923b6-6d89-4d4e-a3b7-d9304b9d44ba" providerId="AD" clId="Web-{CC10493D-99F7-2020-ABF9-8ECF02C08C99}" dt="2025-01-16T04:45:17.735" v="2"/>
          <ac:picMkLst>
            <pc:docMk/>
            <pc:sldMk cId="2101934384" sldId="1829"/>
            <ac:picMk id="3" creationId="{3B2D988C-D62F-F6CB-0292-D8DA55775EAD}"/>
          </ac:picMkLst>
        </pc:picChg>
      </pc:sldChg>
      <pc:sldChg chg="addSp modSp new del">
        <pc:chgData name="Brendan Murphy" userId="S::bmurphy@affirma.com::e9f923b6-6d89-4d4e-a3b7-d9304b9d44ba" providerId="AD" clId="Web-{CC10493D-99F7-2020-ABF9-8ECF02C08C99}" dt="2025-01-16T04:45:33.642" v="7"/>
        <pc:sldMkLst>
          <pc:docMk/>
          <pc:sldMk cId="659882405" sldId="1830"/>
        </pc:sldMkLst>
        <pc:picChg chg="add mod">
          <ac:chgData name="Brendan Murphy" userId="S::bmurphy@affirma.com::e9f923b6-6d89-4d4e-a3b7-d9304b9d44ba" providerId="AD" clId="Web-{CC10493D-99F7-2020-ABF9-8ECF02C08C99}" dt="2025-01-16T04:45:32.502" v="6" actId="1076"/>
          <ac:picMkLst>
            <pc:docMk/>
            <pc:sldMk cId="659882405" sldId="1830"/>
            <ac:picMk id="3" creationId="{13319EFA-151A-E695-7FFF-9EACC498EC5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240513-CE7B-47C6-89B0-C698625F44DF}"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7A44A1-DAC1-4B6E-A7A1-4A0C62AA6507}" type="slidenum">
              <a:rPr lang="en-US" smtClean="0"/>
              <a:t>‹#›</a:t>
            </a:fld>
            <a:endParaRPr lang="en-US"/>
          </a:p>
        </p:txBody>
      </p:sp>
    </p:spTree>
    <p:extLst>
      <p:ext uri="{BB962C8B-B14F-4D97-AF65-F5344CB8AC3E}">
        <p14:creationId xmlns:p14="http://schemas.microsoft.com/office/powerpoint/2010/main" val="3730096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B65BA17-9895-0B49-9409-AE0D8EB9B6F8}"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859677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0662A92-3158-C845-8425-A9496F7E68CA}"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91122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7DDBBAA-4130-424E-A216-A11607B08BB1}"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2157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B8000DC-751D-1640-9E22-CC8438C270B8}"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96419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E15DAAA-734D-6046-9B7B-1E7BFE426AAB}"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70617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64AFDA0-2A41-604E-8117-ED1D44E737CD}"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05051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32AE507-B51A-0A4A-91E4-EDD95F17CEA8}"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152821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3EA7600-672A-5749-AAB4-305978018A97}"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07171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F06E050C-5A2B-C34A-BDC9-C9CE1E09CC9B}" type="datetime1">
              <a:rPr lang="en-US" smtClean="0"/>
              <a:t>1/15/2025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70175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5DC8CB02-9CAF-2840-AFDE-3280EC64342A}" type="datetime1">
              <a:rPr lang="en-US" smtClean="0"/>
              <a:t>1/15/2025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786064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2B85CB9-CA47-3043-97D8-9F6D79A5C410}"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6773120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A94639D-0CFA-2D4F-AED4-B21604B5EBC4}"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60943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B17E830-0B92-724D-B63D-AB13A15B4F06}"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722400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29CB498-A152-0E46-AC05-74B506BF4C99}"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80607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ECB8B563-3EFC-804F-B647-D5A4BD71924D}" type="datetime1">
              <a:rPr lang="en-US" smtClean="0"/>
              <a:t>1/15/2025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3081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8A791F29-2AFC-914F-9E28-28E4A4FB3427}" type="datetime1">
              <a:rPr lang="en-US" smtClean="0"/>
              <a:t>1/15/2025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37884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C8D3AA0E-C5E4-624A-ADD2-D47F8E3B6530}" type="datetime1">
              <a:rPr lang="en-US" smtClean="0"/>
              <a:t>1/15/2025</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856076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EE4D178-0184-3445-AE21-265E89A2F044}"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61114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659B49B-8CB2-1840-BFA5-C88B3A2AEE97}"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8360655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5F1D005-E872-694B-BE96-7AA740867576}"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9802796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09BC5A8B-2F32-C544-B377-8DF2ACD3D51C}"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191903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2882AC5F-E35D-3845-871D-370C1E5BD610}"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5823495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B3768119-B665-3142-A757-F3AC1ED33665}" type="datetime1">
              <a:rPr lang="en-US" smtClean="0"/>
              <a:t>1/15/2025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27083936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3028357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5"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221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57234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1"/>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Tree>
    <p:extLst>
      <p:ext uri="{BB962C8B-B14F-4D97-AF65-F5344CB8AC3E}">
        <p14:creationId xmlns:p14="http://schemas.microsoft.com/office/powerpoint/2010/main" val="3518970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ontent: 8 grid ">
    <p:spTree>
      <p:nvGrpSpPr>
        <p:cNvPr id="1" name=""/>
        <p:cNvGrpSpPr/>
        <p:nvPr/>
      </p:nvGrpSpPr>
      <p:grpSpPr>
        <a:xfrm>
          <a:off x="0" y="0"/>
          <a:ext cx="0" cy="0"/>
          <a:chOff x="0" y="0"/>
          <a:chExt cx="0" cy="0"/>
        </a:xfrm>
      </p:grpSpPr>
      <p:sp>
        <p:nvSpPr>
          <p:cNvPr id="27" name="Text Placeholder 4">
            <a:extLst>
              <a:ext uri="{FF2B5EF4-FFF2-40B4-BE49-F238E27FC236}">
                <a16:creationId xmlns:a16="http://schemas.microsoft.com/office/drawing/2014/main" id="{6EA12840-236E-2A46-905C-291BEDC73E4D}"/>
              </a:ext>
            </a:extLst>
          </p:cNvPr>
          <p:cNvSpPr>
            <a:spLocks noGrp="1"/>
          </p:cNvSpPr>
          <p:nvPr>
            <p:ph type="body" sz="quarter" idx="23" hasCustomPrompt="1"/>
          </p:nvPr>
        </p:nvSpPr>
        <p:spPr>
          <a:xfrm>
            <a:off x="758593" y="1816851"/>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28" name="Text Placeholder 4">
            <a:extLst>
              <a:ext uri="{FF2B5EF4-FFF2-40B4-BE49-F238E27FC236}">
                <a16:creationId xmlns:a16="http://schemas.microsoft.com/office/drawing/2014/main" id="{DCDDE330-0916-C845-97A2-AB2191EA29DD}"/>
              </a:ext>
            </a:extLst>
          </p:cNvPr>
          <p:cNvSpPr>
            <a:spLocks noGrp="1"/>
          </p:cNvSpPr>
          <p:nvPr>
            <p:ph type="body" sz="quarter" idx="24" hasCustomPrompt="1"/>
          </p:nvPr>
        </p:nvSpPr>
        <p:spPr>
          <a:xfrm>
            <a:off x="758593" y="2210388"/>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37" name="Text Placeholder 4">
            <a:extLst>
              <a:ext uri="{FF2B5EF4-FFF2-40B4-BE49-F238E27FC236}">
                <a16:creationId xmlns:a16="http://schemas.microsoft.com/office/drawing/2014/main" id="{7BDD9E4A-FBB0-F34A-A4AD-43002C80DB02}"/>
              </a:ext>
            </a:extLst>
          </p:cNvPr>
          <p:cNvSpPr>
            <a:spLocks noGrp="1"/>
          </p:cNvSpPr>
          <p:nvPr>
            <p:ph type="body" sz="quarter" idx="25" hasCustomPrompt="1"/>
          </p:nvPr>
        </p:nvSpPr>
        <p:spPr>
          <a:xfrm>
            <a:off x="3509324" y="1811219"/>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38" name="Text Placeholder 4">
            <a:extLst>
              <a:ext uri="{FF2B5EF4-FFF2-40B4-BE49-F238E27FC236}">
                <a16:creationId xmlns:a16="http://schemas.microsoft.com/office/drawing/2014/main" id="{BF5A558D-9D15-9C47-BE61-669C7571DD00}"/>
              </a:ext>
            </a:extLst>
          </p:cNvPr>
          <p:cNvSpPr>
            <a:spLocks noGrp="1"/>
          </p:cNvSpPr>
          <p:nvPr>
            <p:ph type="body" sz="quarter" idx="26" hasCustomPrompt="1"/>
          </p:nvPr>
        </p:nvSpPr>
        <p:spPr>
          <a:xfrm>
            <a:off x="3509324" y="2204756"/>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40" name="Text Placeholder 4">
            <a:extLst>
              <a:ext uri="{FF2B5EF4-FFF2-40B4-BE49-F238E27FC236}">
                <a16:creationId xmlns:a16="http://schemas.microsoft.com/office/drawing/2014/main" id="{A1FBBADE-FE8C-3A42-80AE-C2F040801900}"/>
              </a:ext>
            </a:extLst>
          </p:cNvPr>
          <p:cNvSpPr>
            <a:spLocks noGrp="1"/>
          </p:cNvSpPr>
          <p:nvPr>
            <p:ph type="body" sz="quarter" idx="27" hasCustomPrompt="1"/>
          </p:nvPr>
        </p:nvSpPr>
        <p:spPr>
          <a:xfrm>
            <a:off x="758587" y="4348078"/>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42" name="Text Placeholder 4">
            <a:extLst>
              <a:ext uri="{FF2B5EF4-FFF2-40B4-BE49-F238E27FC236}">
                <a16:creationId xmlns:a16="http://schemas.microsoft.com/office/drawing/2014/main" id="{EFB5DFFC-B95F-D74D-8343-03DDBC6C6085}"/>
              </a:ext>
            </a:extLst>
          </p:cNvPr>
          <p:cNvSpPr>
            <a:spLocks noGrp="1"/>
          </p:cNvSpPr>
          <p:nvPr>
            <p:ph type="body" sz="quarter" idx="28" hasCustomPrompt="1"/>
          </p:nvPr>
        </p:nvSpPr>
        <p:spPr>
          <a:xfrm>
            <a:off x="758587" y="4741615"/>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44" name="Text Placeholder 4">
            <a:extLst>
              <a:ext uri="{FF2B5EF4-FFF2-40B4-BE49-F238E27FC236}">
                <a16:creationId xmlns:a16="http://schemas.microsoft.com/office/drawing/2014/main" id="{56F74489-41DA-984A-961A-3BFC7DD97583}"/>
              </a:ext>
            </a:extLst>
          </p:cNvPr>
          <p:cNvSpPr>
            <a:spLocks noGrp="1"/>
          </p:cNvSpPr>
          <p:nvPr>
            <p:ph type="body" sz="quarter" idx="29" hasCustomPrompt="1"/>
          </p:nvPr>
        </p:nvSpPr>
        <p:spPr>
          <a:xfrm>
            <a:off x="3509318" y="4342446"/>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46" name="Text Placeholder 4">
            <a:extLst>
              <a:ext uri="{FF2B5EF4-FFF2-40B4-BE49-F238E27FC236}">
                <a16:creationId xmlns:a16="http://schemas.microsoft.com/office/drawing/2014/main" id="{3D872FA8-7452-4B42-9E82-0BF661418ABB}"/>
              </a:ext>
            </a:extLst>
          </p:cNvPr>
          <p:cNvSpPr>
            <a:spLocks noGrp="1"/>
          </p:cNvSpPr>
          <p:nvPr>
            <p:ph type="body" sz="quarter" idx="30" hasCustomPrompt="1"/>
          </p:nvPr>
        </p:nvSpPr>
        <p:spPr>
          <a:xfrm>
            <a:off x="3509318" y="4735983"/>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48" name="Text Placeholder 4">
            <a:extLst>
              <a:ext uri="{FF2B5EF4-FFF2-40B4-BE49-F238E27FC236}">
                <a16:creationId xmlns:a16="http://schemas.microsoft.com/office/drawing/2014/main" id="{044088E7-1012-4C48-88F6-ADBFAB2ADF45}"/>
              </a:ext>
            </a:extLst>
          </p:cNvPr>
          <p:cNvSpPr>
            <a:spLocks noGrp="1"/>
          </p:cNvSpPr>
          <p:nvPr>
            <p:ph type="body" sz="quarter" idx="31" hasCustomPrompt="1"/>
          </p:nvPr>
        </p:nvSpPr>
        <p:spPr>
          <a:xfrm>
            <a:off x="6275678" y="1811219"/>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49" name="Text Placeholder 4">
            <a:extLst>
              <a:ext uri="{FF2B5EF4-FFF2-40B4-BE49-F238E27FC236}">
                <a16:creationId xmlns:a16="http://schemas.microsoft.com/office/drawing/2014/main" id="{295F5CA5-D58F-5C40-8ADA-6539BEA88D36}"/>
              </a:ext>
            </a:extLst>
          </p:cNvPr>
          <p:cNvSpPr>
            <a:spLocks noGrp="1"/>
          </p:cNvSpPr>
          <p:nvPr>
            <p:ph type="body" sz="quarter" idx="32" hasCustomPrompt="1"/>
          </p:nvPr>
        </p:nvSpPr>
        <p:spPr>
          <a:xfrm>
            <a:off x="6275678" y="2204756"/>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58" name="Text Placeholder 4">
            <a:extLst>
              <a:ext uri="{FF2B5EF4-FFF2-40B4-BE49-F238E27FC236}">
                <a16:creationId xmlns:a16="http://schemas.microsoft.com/office/drawing/2014/main" id="{B72F790F-F360-0F40-89D1-D65FBF62278B}"/>
              </a:ext>
            </a:extLst>
          </p:cNvPr>
          <p:cNvSpPr>
            <a:spLocks noGrp="1"/>
          </p:cNvSpPr>
          <p:nvPr>
            <p:ph type="body" sz="quarter" idx="33" hasCustomPrompt="1"/>
          </p:nvPr>
        </p:nvSpPr>
        <p:spPr>
          <a:xfrm>
            <a:off x="9026409" y="1805587"/>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59" name="Text Placeholder 4">
            <a:extLst>
              <a:ext uri="{FF2B5EF4-FFF2-40B4-BE49-F238E27FC236}">
                <a16:creationId xmlns:a16="http://schemas.microsoft.com/office/drawing/2014/main" id="{7C2FD664-5810-E246-9253-EDF031BDA126}"/>
              </a:ext>
            </a:extLst>
          </p:cNvPr>
          <p:cNvSpPr>
            <a:spLocks noGrp="1"/>
          </p:cNvSpPr>
          <p:nvPr>
            <p:ph type="body" sz="quarter" idx="34" hasCustomPrompt="1"/>
          </p:nvPr>
        </p:nvSpPr>
        <p:spPr>
          <a:xfrm>
            <a:off x="9026409" y="2199124"/>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60" name="Text Placeholder 4">
            <a:extLst>
              <a:ext uri="{FF2B5EF4-FFF2-40B4-BE49-F238E27FC236}">
                <a16:creationId xmlns:a16="http://schemas.microsoft.com/office/drawing/2014/main" id="{8CB335D9-CB53-FD47-8622-151263D4DF84}"/>
              </a:ext>
            </a:extLst>
          </p:cNvPr>
          <p:cNvSpPr>
            <a:spLocks noGrp="1"/>
          </p:cNvSpPr>
          <p:nvPr>
            <p:ph type="body" sz="quarter" idx="35" hasCustomPrompt="1"/>
          </p:nvPr>
        </p:nvSpPr>
        <p:spPr>
          <a:xfrm>
            <a:off x="6275672" y="4342446"/>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61" name="Text Placeholder 4">
            <a:extLst>
              <a:ext uri="{FF2B5EF4-FFF2-40B4-BE49-F238E27FC236}">
                <a16:creationId xmlns:a16="http://schemas.microsoft.com/office/drawing/2014/main" id="{C9AD0CE0-6870-F343-8A66-506DC93E1B27}"/>
              </a:ext>
            </a:extLst>
          </p:cNvPr>
          <p:cNvSpPr>
            <a:spLocks noGrp="1"/>
          </p:cNvSpPr>
          <p:nvPr>
            <p:ph type="body" sz="quarter" idx="36" hasCustomPrompt="1"/>
          </p:nvPr>
        </p:nvSpPr>
        <p:spPr>
          <a:xfrm>
            <a:off x="6275672" y="4735983"/>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62" name="Text Placeholder 4">
            <a:extLst>
              <a:ext uri="{FF2B5EF4-FFF2-40B4-BE49-F238E27FC236}">
                <a16:creationId xmlns:a16="http://schemas.microsoft.com/office/drawing/2014/main" id="{596F69C4-2AEA-FD41-BC4D-E1893F044232}"/>
              </a:ext>
            </a:extLst>
          </p:cNvPr>
          <p:cNvSpPr>
            <a:spLocks noGrp="1"/>
          </p:cNvSpPr>
          <p:nvPr>
            <p:ph type="body" sz="quarter" idx="37" hasCustomPrompt="1"/>
          </p:nvPr>
        </p:nvSpPr>
        <p:spPr>
          <a:xfrm>
            <a:off x="9026403" y="4336814"/>
            <a:ext cx="2423833" cy="368461"/>
          </a:xfrm>
        </p:spPr>
        <p:txBody>
          <a:bodyPr anchor="ctr">
            <a:noAutofit/>
          </a:bodyPr>
          <a:lstStyle>
            <a:lvl1pPr marL="0" indent="0" algn="ctr">
              <a:buNone/>
              <a:defRPr sz="1400" b="1" i="0">
                <a:solidFill>
                  <a:srgbClr val="008AD9"/>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Lorem Ipsum</a:t>
            </a:r>
          </a:p>
        </p:txBody>
      </p:sp>
      <p:sp>
        <p:nvSpPr>
          <p:cNvPr id="63" name="Text Placeholder 4">
            <a:extLst>
              <a:ext uri="{FF2B5EF4-FFF2-40B4-BE49-F238E27FC236}">
                <a16:creationId xmlns:a16="http://schemas.microsoft.com/office/drawing/2014/main" id="{8449D13F-0852-6D44-A899-74D116F6C4B7}"/>
              </a:ext>
            </a:extLst>
          </p:cNvPr>
          <p:cNvSpPr>
            <a:spLocks noGrp="1"/>
          </p:cNvSpPr>
          <p:nvPr>
            <p:ph type="body" sz="quarter" idx="38" hasCustomPrompt="1"/>
          </p:nvPr>
        </p:nvSpPr>
        <p:spPr>
          <a:xfrm>
            <a:off x="9026403" y="4730351"/>
            <a:ext cx="2423839" cy="1333890"/>
          </a:xfrm>
        </p:spPr>
        <p:txBody>
          <a:bodyPr anchor="t">
            <a:noAutofit/>
          </a:bodyPr>
          <a:lstStyle>
            <a:lvl1pPr marL="0" indent="0" algn="ctr">
              <a:lnSpc>
                <a:spcPct val="150000"/>
              </a:lnSpc>
              <a:buNone/>
              <a:defRPr sz="1200" b="0" i="0">
                <a:solidFill>
                  <a:schemeClr val="tx1">
                    <a:lumMod val="75000"/>
                    <a:lumOff val="25000"/>
                  </a:schemeClr>
                </a:solidFill>
                <a:latin typeface="Arial" panose="020B0604020202020204" pitchFamily="34" charset="0"/>
                <a:cs typeface="Arial" panose="020B0604020202020204" pitchFamily="34" charset="0"/>
              </a:defRPr>
            </a:lvl1pPr>
            <a:lvl2pPr marL="457182" indent="0" algn="ctr">
              <a:buNone/>
              <a:defRPr sz="1800"/>
            </a:lvl2pPr>
            <a:lvl3pPr marL="914363" indent="0" algn="ctr">
              <a:buNone/>
              <a:defRPr sz="1800"/>
            </a:lvl3pPr>
            <a:lvl4pPr marL="1371545" indent="0" algn="ctr">
              <a:buNone/>
              <a:defRPr sz="1800"/>
            </a:lvl4pPr>
            <a:lvl5pPr marL="1828727" indent="0" algn="ctr">
              <a:buNone/>
              <a:defRPr sz="1800"/>
            </a:lvl5pPr>
          </a:lstStyle>
          <a:p>
            <a:pPr lvl="0"/>
            <a:r>
              <a:rPr lang="en-US"/>
              <a:t>Nam </a:t>
            </a:r>
            <a:r>
              <a:rPr lang="en-US" err="1"/>
              <a:t>ut</a:t>
            </a:r>
            <a:r>
              <a:rPr lang="en-US"/>
              <a:t> pharetra ex. </a:t>
            </a:r>
            <a:r>
              <a:rPr lang="en-US" err="1"/>
              <a:t>Praesent</a:t>
            </a:r>
            <a:r>
              <a:rPr lang="en-US"/>
              <a:t> fermentum, </a:t>
            </a:r>
            <a:r>
              <a:rPr lang="en-US" err="1"/>
              <a:t>turpis</a:t>
            </a:r>
            <a:r>
              <a:rPr lang="en-US"/>
              <a:t> </a:t>
            </a:r>
            <a:r>
              <a:rPr lang="en-US" err="1"/>
              <a:t>nec</a:t>
            </a:r>
            <a:r>
              <a:rPr lang="en-US"/>
              <a:t>.</a:t>
            </a:r>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1"/>
            <a:ext cx="2743200" cy="154809"/>
          </a:xfrm>
        </p:spPr>
        <p:txBody>
          <a:bodyPr/>
          <a:lstStyle>
            <a:lvl1pPr>
              <a:defRPr sz="700">
                <a:solidFill>
                  <a:schemeClr val="tx1">
                    <a:lumMod val="85000"/>
                    <a:lumOff val="15000"/>
                  </a:schemeClr>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10985432" cy="764390"/>
          </a:xfrm>
        </p:spPr>
        <p:txBody>
          <a:bodyPr anchor="b">
            <a:normAutofit/>
          </a:bodyPr>
          <a:lstStyle>
            <a:lvl1pPr algn="l">
              <a:defRPr sz="4000" b="0" i="0">
                <a:solidFill>
                  <a:srgbClr val="063A79"/>
                </a:solidFill>
                <a:latin typeface="Arial" panose="020B0604020202020204" pitchFamily="34" charset="0"/>
                <a:cs typeface="Arial" panose="020B0604020202020204" pitchFamily="34" charset="0"/>
              </a:defRPr>
            </a:lvl1pPr>
          </a:lstStyle>
          <a:p>
            <a:r>
              <a:rPr lang="en-US"/>
              <a:t>Placeholder for Title</a:t>
            </a:r>
          </a:p>
        </p:txBody>
      </p:sp>
      <p:grpSp>
        <p:nvGrpSpPr>
          <p:cNvPr id="11" name="Group 10">
            <a:extLst>
              <a:ext uri="{FF2B5EF4-FFF2-40B4-BE49-F238E27FC236}">
                <a16:creationId xmlns:a16="http://schemas.microsoft.com/office/drawing/2014/main" id="{8854810B-47D0-5246-90EB-05FA984D86FF}"/>
              </a:ext>
            </a:extLst>
          </p:cNvPr>
          <p:cNvGrpSpPr/>
          <p:nvPr userDrawn="1"/>
        </p:nvGrpSpPr>
        <p:grpSpPr>
          <a:xfrm>
            <a:off x="596874" y="1433091"/>
            <a:ext cx="11009005" cy="4798008"/>
            <a:chOff x="596874" y="1429514"/>
            <a:chExt cx="11009005" cy="4798008"/>
          </a:xfrm>
        </p:grpSpPr>
        <p:cxnSp>
          <p:nvCxnSpPr>
            <p:cNvPr id="30" name="Straight Connector 29">
              <a:extLst>
                <a:ext uri="{FF2B5EF4-FFF2-40B4-BE49-F238E27FC236}">
                  <a16:creationId xmlns:a16="http://schemas.microsoft.com/office/drawing/2014/main" id="{7803C822-73C3-0C46-ACB9-6D6A06621920}"/>
                </a:ext>
              </a:extLst>
            </p:cNvPr>
            <p:cNvCxnSpPr>
              <a:cxnSpLocks/>
            </p:cNvCxnSpPr>
            <p:nvPr userDrawn="1"/>
          </p:nvCxnSpPr>
          <p:spPr>
            <a:xfrm>
              <a:off x="3349642" y="1429514"/>
              <a:ext cx="0" cy="4798008"/>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1BB804C-92D6-2A4C-8F6F-57F4DDCE454E}"/>
                </a:ext>
              </a:extLst>
            </p:cNvPr>
            <p:cNvCxnSpPr>
              <a:cxnSpLocks/>
            </p:cNvCxnSpPr>
            <p:nvPr userDrawn="1"/>
          </p:nvCxnSpPr>
          <p:spPr>
            <a:xfrm>
              <a:off x="6104416" y="1429514"/>
              <a:ext cx="0" cy="4798008"/>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20E6D13-E1B8-464B-A3CB-B4A769155C7E}"/>
                </a:ext>
              </a:extLst>
            </p:cNvPr>
            <p:cNvCxnSpPr>
              <a:cxnSpLocks/>
            </p:cNvCxnSpPr>
            <p:nvPr userDrawn="1"/>
          </p:nvCxnSpPr>
          <p:spPr>
            <a:xfrm>
              <a:off x="8862678" y="1429514"/>
              <a:ext cx="0" cy="4798008"/>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1A4C113-6F2A-E047-A4AF-E5DA5BF8548F}"/>
                </a:ext>
              </a:extLst>
            </p:cNvPr>
            <p:cNvCxnSpPr>
              <a:cxnSpLocks/>
            </p:cNvCxnSpPr>
            <p:nvPr userDrawn="1"/>
          </p:nvCxnSpPr>
          <p:spPr>
            <a:xfrm flipH="1">
              <a:off x="596874" y="3824979"/>
              <a:ext cx="11009005" cy="0"/>
            </a:xfrm>
            <a:prstGeom prst="line">
              <a:avLst/>
            </a:prstGeom>
            <a:ln>
              <a:solidFill>
                <a:srgbClr val="AAAAAA"/>
              </a:solidFill>
            </a:ln>
          </p:spPr>
          <p:style>
            <a:lnRef idx="1">
              <a:schemeClr val="accent1"/>
            </a:lnRef>
            <a:fillRef idx="0">
              <a:schemeClr val="accent1"/>
            </a:fillRef>
            <a:effectRef idx="0">
              <a:schemeClr val="accent1"/>
            </a:effectRef>
            <a:fontRef idx="minor">
              <a:schemeClr val="tx1"/>
            </a:fontRef>
          </p:style>
        </p:cxnSp>
      </p:grpSp>
      <p:sp>
        <p:nvSpPr>
          <p:cNvPr id="26" name="Rectangle 25">
            <a:extLst>
              <a:ext uri="{FF2B5EF4-FFF2-40B4-BE49-F238E27FC236}">
                <a16:creationId xmlns:a16="http://schemas.microsoft.com/office/drawing/2014/main" id="{EEEE3EBE-0A2A-3C4B-BE4E-8F881671DBC0}"/>
              </a:ext>
            </a:extLst>
          </p:cNvPr>
          <p:cNvSpPr/>
          <p:nvPr userDrawn="1"/>
        </p:nvSpPr>
        <p:spPr>
          <a:xfrm>
            <a:off x="-5311" y="6730048"/>
            <a:ext cx="12200696" cy="127952"/>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08"/>
          </a:p>
        </p:txBody>
      </p:sp>
      <p:pic>
        <p:nvPicPr>
          <p:cNvPr id="29" name="Picture 28">
            <a:extLst>
              <a:ext uri="{FF2B5EF4-FFF2-40B4-BE49-F238E27FC236}">
                <a16:creationId xmlns:a16="http://schemas.microsoft.com/office/drawing/2014/main" id="{FDCC37A0-8967-3647-BA4A-2371275A98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9"/>
            <a:ext cx="767123" cy="264231"/>
          </a:xfrm>
          <a:prstGeom prst="rect">
            <a:avLst/>
          </a:prstGeom>
        </p:spPr>
      </p:pic>
    </p:spTree>
    <p:extLst>
      <p:ext uri="{BB962C8B-B14F-4D97-AF65-F5344CB8AC3E}">
        <p14:creationId xmlns:p14="http://schemas.microsoft.com/office/powerpoint/2010/main" val="853483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8E4FC9A8-8E21-424F-85FA-A24278DCAA7E}" type="datetime1">
              <a:rPr lang="en-US" smtClean="0"/>
              <a:t>1/15/2025</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958874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9A839-2D5F-FF70-9FC0-9C014013E1E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6B333D0-C68B-3D66-C616-EA872326619C}"/>
              </a:ext>
            </a:extLst>
          </p:cNvPr>
          <p:cNvSpPr/>
          <p:nvPr/>
        </p:nvSpPr>
        <p:spPr>
          <a:xfrm>
            <a:off x="1411941" y="2924736"/>
            <a:ext cx="4795068" cy="323165"/>
          </a:xfrm>
          <a:prstGeom prst="rect">
            <a:avLst/>
          </a:prstGeom>
        </p:spPr>
        <p:txBody>
          <a:bodyPr wrap="square">
            <a:spAutoFit/>
          </a:bodyPr>
          <a:lstStyle/>
          <a:p>
            <a:r>
              <a:rPr lang="en-US" sz="1500"/>
              <a:t> </a:t>
            </a:r>
          </a:p>
        </p:txBody>
      </p:sp>
      <p:sp>
        <p:nvSpPr>
          <p:cNvPr id="11" name="Rectangle 10">
            <a:extLst>
              <a:ext uri="{FF2B5EF4-FFF2-40B4-BE49-F238E27FC236}">
                <a16:creationId xmlns:a16="http://schemas.microsoft.com/office/drawing/2014/main" id="{EFB6D3FB-FD82-A732-A2DB-DEC0A0FB4F5F}"/>
              </a:ext>
            </a:extLst>
          </p:cNvPr>
          <p:cNvSpPr/>
          <p:nvPr/>
        </p:nvSpPr>
        <p:spPr>
          <a:xfrm>
            <a:off x="530087" y="1500640"/>
            <a:ext cx="8448813" cy="4858894"/>
          </a:xfrm>
          <a:prstGeom prst="rect">
            <a:avLst/>
          </a:prstGeom>
        </p:spPr>
        <p:txBody>
          <a:bodyPr wrap="square" lIns="91440" tIns="45720" rIns="91440" bIns="45720" anchor="t">
            <a:spAutoFit/>
          </a:bodyPr>
          <a:lstStyle/>
          <a:p>
            <a:pPr fontAlgn="base"/>
            <a:r>
              <a:rPr lang="en-US" sz="2667" b="1" dirty="0">
                <a:solidFill>
                  <a:srgbClr val="008AD9"/>
                </a:solidFill>
                <a:latin typeface="Poppins"/>
                <a:cs typeface="Poppins"/>
              </a:rPr>
              <a:t>Business</a:t>
            </a:r>
            <a:r>
              <a:rPr lang="en-US" sz="2650" b="1" dirty="0">
                <a:solidFill>
                  <a:srgbClr val="008AD9"/>
                </a:solidFill>
                <a:latin typeface="Poppins"/>
                <a:cs typeface="Poppins"/>
              </a:rPr>
              <a:t> Need</a:t>
            </a:r>
          </a:p>
          <a:p>
            <a:pPr fontAlgn="base">
              <a:spcBef>
                <a:spcPts val="1000"/>
              </a:spcBef>
              <a:spcAft>
                <a:spcPts val="1000"/>
              </a:spcAft>
            </a:pPr>
            <a:r>
              <a:rPr lang="en-US" sz="1400" dirty="0">
                <a:solidFill>
                  <a:schemeClr val="tx1">
                    <a:lumMod val="75000"/>
                    <a:lumOff val="25000"/>
                  </a:schemeClr>
                </a:solidFill>
                <a:latin typeface="Poppins"/>
                <a:cs typeface="Poppins"/>
              </a:rPr>
              <a:t>Microsoft’s Xbox Customer Support team came to Affirma for help improving their customer service and case escalation processes. They had many siloed systems in place for triaging and escalating support cases placed by end users of Xbox. This resulted in fragmented communications, and almost no process automation or reporting. </a:t>
            </a:r>
          </a:p>
          <a:p>
            <a:pPr fontAlgn="base">
              <a:spcBef>
                <a:spcPts val="1000"/>
              </a:spcBef>
              <a:spcAft>
                <a:spcPts val="1000"/>
              </a:spcAft>
            </a:pPr>
            <a:r>
              <a:rPr lang="en-US" sz="2667" b="1" dirty="0">
                <a:solidFill>
                  <a:srgbClr val="008AD9"/>
                </a:solidFill>
                <a:latin typeface="Poppins"/>
                <a:cs typeface="Poppins"/>
              </a:rPr>
              <a:t>What We Did</a:t>
            </a:r>
          </a:p>
          <a:p>
            <a:pPr marL="285728" indent="-285728" defTabSz="976806">
              <a:lnSpc>
                <a:spcPct val="120000"/>
              </a:lnSpc>
              <a:buFont typeface="Arial" panose="020B0604020202020204" pitchFamily="34" charset="0"/>
              <a:buChar char="•"/>
            </a:pPr>
            <a:r>
              <a:rPr lang="en-US" sz="1400" dirty="0">
                <a:solidFill>
                  <a:srgbClr val="404040"/>
                </a:solidFill>
                <a:latin typeface="Poppins" panose="00000500000000000000" pitchFamily="2" charset="0"/>
                <a:ea typeface="MS Mincho" panose="02020609040205080304" pitchFamily="49" charset="-128"/>
                <a:cs typeface="Poppins" panose="00000500000000000000" pitchFamily="2" charset="0"/>
              </a:rPr>
              <a:t>Affirma gathered requirements and recommended significant process improvements. </a:t>
            </a:r>
          </a:p>
          <a:p>
            <a:pPr marL="285728" indent="-285728" defTabSz="976806">
              <a:lnSpc>
                <a:spcPct val="120000"/>
              </a:lnSpc>
              <a:buFont typeface="Arial" panose="020B0604020202020204" pitchFamily="34" charset="0"/>
              <a:buChar char="•"/>
            </a:pPr>
            <a:r>
              <a:rPr lang="en-US" sz="1400" dirty="0">
                <a:solidFill>
                  <a:srgbClr val="404040"/>
                </a:solidFill>
                <a:latin typeface="Poppins" panose="00000500000000000000" pitchFamily="2" charset="0"/>
                <a:ea typeface="MS Mincho" panose="02020609040205080304" pitchFamily="49" charset="-128"/>
                <a:cs typeface="Poppins" panose="00000500000000000000" pitchFamily="2" charset="0"/>
              </a:rPr>
              <a:t>Our team then designed a solution on Dynamics 365 to support the entire lifecycle of support cases. This included intake, triage, communication, resolution and reporting. </a:t>
            </a:r>
          </a:p>
          <a:p>
            <a:pPr marL="285728" indent="-285728" defTabSz="976806">
              <a:lnSpc>
                <a:spcPct val="120000"/>
              </a:lnSpc>
              <a:buFont typeface="Arial" panose="020B0604020202020204" pitchFamily="34" charset="0"/>
              <a:buChar char="•"/>
            </a:pPr>
            <a:r>
              <a:rPr lang="en-US" sz="1400" dirty="0">
                <a:solidFill>
                  <a:srgbClr val="404040"/>
                </a:solidFill>
                <a:latin typeface="Poppins" panose="00000500000000000000" pitchFamily="2" charset="0"/>
                <a:ea typeface="MS Mincho" panose="02020609040205080304" pitchFamily="49" charset="-128"/>
                <a:cs typeface="Poppins" panose="00000500000000000000" pitchFamily="2" charset="0"/>
              </a:rPr>
              <a:t>Dynamics 365 was integrated with another Customer Support platform at Microsoft which is built on Azure Dev Ops (ADO).</a:t>
            </a:r>
          </a:p>
          <a:p>
            <a:pPr marL="285728" indent="-285728" defTabSz="976806">
              <a:lnSpc>
                <a:spcPct val="120000"/>
              </a:lnSpc>
              <a:buFont typeface="Arial" panose="020B0604020202020204" pitchFamily="34" charset="0"/>
              <a:buChar char="•"/>
            </a:pPr>
            <a:r>
              <a:rPr lang="en-US" sz="1400" dirty="0">
                <a:solidFill>
                  <a:srgbClr val="404040"/>
                </a:solidFill>
                <a:latin typeface="Poppins" panose="00000500000000000000" pitchFamily="2" charset="0"/>
                <a:ea typeface="MS Mincho" panose="02020609040205080304" pitchFamily="49" charset="-128"/>
                <a:cs typeface="Poppins" panose="00000500000000000000" pitchFamily="2" charset="0"/>
              </a:rPr>
              <a:t>Affirma performed extensive quality assurance on the Dynamics 365 solution across functionality and user roles. This included test planning, full QA, bug fixing, UAT, production testing, and ongoing support post-deployment for minor iterations. </a:t>
            </a:r>
            <a:endParaRPr lang="en-US" sz="1400" dirty="0">
              <a:solidFill>
                <a:srgbClr val="404040"/>
              </a:solidFill>
              <a:latin typeface="Poppins" panose="00000500000000000000" pitchFamily="2" charset="0"/>
              <a:cs typeface="Poppins" panose="00000500000000000000" pitchFamily="2" charset="0"/>
            </a:endParaRPr>
          </a:p>
          <a:p>
            <a:pPr marL="285728" indent="-285728" defTabSz="976806">
              <a:lnSpc>
                <a:spcPct val="120000"/>
              </a:lnSpc>
              <a:buFont typeface="Arial" panose="020B0604020202020204" pitchFamily="34" charset="0"/>
              <a:buChar char="•"/>
            </a:pPr>
            <a:r>
              <a:rPr lang="en-US" sz="1400" dirty="0">
                <a:solidFill>
                  <a:srgbClr val="404040"/>
                </a:solidFill>
                <a:latin typeface="Poppins" panose="00000500000000000000" pitchFamily="2" charset="0"/>
                <a:ea typeface="MS Mincho" panose="02020609040205080304" pitchFamily="49" charset="-128"/>
                <a:cs typeface="Poppins" panose="00000500000000000000" pitchFamily="2" charset="0"/>
              </a:rPr>
              <a:t>Affirma continues to engage with the XBOX to enhance functionality and reporting as needed. </a:t>
            </a:r>
          </a:p>
        </p:txBody>
      </p:sp>
      <p:sp>
        <p:nvSpPr>
          <p:cNvPr id="4" name="Rectangle 3">
            <a:extLst>
              <a:ext uri="{FF2B5EF4-FFF2-40B4-BE49-F238E27FC236}">
                <a16:creationId xmlns:a16="http://schemas.microsoft.com/office/drawing/2014/main" id="{A97877D2-0095-446B-63F5-45BAA34D77A3}"/>
              </a:ext>
            </a:extLst>
          </p:cNvPr>
          <p:cNvSpPr/>
          <p:nvPr/>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r>
              <a:rPr lang="en-US" sz="2308">
                <a:solidFill>
                  <a:prstClr val="white"/>
                </a:solidFill>
                <a:latin typeface="Arial" panose="020B0604020202020204"/>
              </a:rPr>
              <a:t>  </a:t>
            </a:r>
          </a:p>
        </p:txBody>
      </p:sp>
      <p:sp>
        <p:nvSpPr>
          <p:cNvPr id="7" name="TextBox 6">
            <a:extLst>
              <a:ext uri="{FF2B5EF4-FFF2-40B4-BE49-F238E27FC236}">
                <a16:creationId xmlns:a16="http://schemas.microsoft.com/office/drawing/2014/main" id="{23718E03-6B06-C141-682A-BBFAF01EA311}"/>
              </a:ext>
            </a:extLst>
          </p:cNvPr>
          <p:cNvSpPr txBox="1"/>
          <p:nvPr/>
        </p:nvSpPr>
        <p:spPr>
          <a:xfrm>
            <a:off x="440911" y="436886"/>
            <a:ext cx="10819272" cy="707886"/>
          </a:xfrm>
          <a:prstGeom prst="rect">
            <a:avLst/>
          </a:prstGeom>
          <a:noFill/>
        </p:spPr>
        <p:txBody>
          <a:bodyPr wrap="square" lIns="91440" tIns="45720" rIns="91440" bIns="45720" anchor="t">
            <a:spAutoFit/>
          </a:bodyPr>
          <a:lstStyle/>
          <a:p>
            <a:r>
              <a:rPr lang="en-US" sz="4000" dirty="0">
                <a:solidFill>
                  <a:srgbClr val="063A79"/>
                </a:solidFill>
                <a:latin typeface="Poppins"/>
                <a:ea typeface="+mj-ea"/>
                <a:cs typeface="Poppins"/>
              </a:rPr>
              <a:t>Xbox – Dynamics Customer Support</a:t>
            </a:r>
            <a:endParaRPr lang="en-US" sz="2400" dirty="0">
              <a:solidFill>
                <a:srgbClr val="063A79"/>
              </a:solidFill>
              <a:latin typeface="Poppins" panose="00000500000000000000" pitchFamily="2" charset="0"/>
              <a:ea typeface="+mj-ea"/>
              <a:cs typeface="Poppins" panose="00000500000000000000" pitchFamily="2" charset="0"/>
            </a:endParaRPr>
          </a:p>
        </p:txBody>
      </p:sp>
      <p:pic>
        <p:nvPicPr>
          <p:cNvPr id="5" name="Picture 4">
            <a:extLst>
              <a:ext uri="{FF2B5EF4-FFF2-40B4-BE49-F238E27FC236}">
                <a16:creationId xmlns:a16="http://schemas.microsoft.com/office/drawing/2014/main" id="{1EB1266B-8475-67F3-3B4C-FAEA56066D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5091" y="3062640"/>
            <a:ext cx="1454994" cy="438038"/>
          </a:xfrm>
          <a:prstGeom prst="rect">
            <a:avLst/>
          </a:prstGeom>
        </p:spPr>
      </p:pic>
      <p:pic>
        <p:nvPicPr>
          <p:cNvPr id="2" name="Picture 4" descr="Image result for microsoft">
            <a:extLst>
              <a:ext uri="{FF2B5EF4-FFF2-40B4-BE49-F238E27FC236}">
                <a16:creationId xmlns:a16="http://schemas.microsoft.com/office/drawing/2014/main" id="{F96DD35B-029A-6A38-7E78-44FE6FD9F9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062" t="10487" r="6836" b="24717"/>
          <a:stretch/>
        </p:blipFill>
        <p:spPr bwMode="auto">
          <a:xfrm>
            <a:off x="9043353" y="2040929"/>
            <a:ext cx="2862897" cy="221140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C4AC0B2-B62A-811A-1A6E-3A411585E63E}"/>
              </a:ext>
            </a:extLst>
          </p:cNvPr>
          <p:cNvPicPr>
            <a:picLocks noChangeAspect="1"/>
          </p:cNvPicPr>
          <p:nvPr/>
        </p:nvPicPr>
        <p:blipFill>
          <a:blip r:embed="rId4"/>
          <a:stretch>
            <a:fillRect/>
          </a:stretch>
        </p:blipFill>
        <p:spPr>
          <a:xfrm>
            <a:off x="9205815" y="4477338"/>
            <a:ext cx="2544574" cy="779865"/>
          </a:xfrm>
          <a:prstGeom prst="rect">
            <a:avLst/>
          </a:prstGeom>
        </p:spPr>
      </p:pic>
    </p:spTree>
    <p:extLst>
      <p:ext uri="{BB962C8B-B14F-4D97-AF65-F5344CB8AC3E}">
        <p14:creationId xmlns:p14="http://schemas.microsoft.com/office/powerpoint/2010/main" val="130639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Dynamics</Value>
    </PlatTech>
    <ProjectCompletionDate xmlns="f0ee8362-fa7e-4bc9-ab88-7dcfb17cb19b" xsi:nil="true"/>
    <ApprovedByClient xmlns="f0ee8362-fa7e-4bc9-ab88-7dcfb17cb19b">false</ApprovedByClien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customXsn xmlns="http://schemas.microsoft.com/office/2006/metadata/customXsn">
  <xsnLocation/>
  <cached>True</cached>
  <openByDefault>False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DB82B7-35A5-4C12-B275-EFE5CC7A77B5}">
  <ds:schemaRefs>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f0ee8362-fa7e-4bc9-ab88-7dcfb17cb19b"/>
    <ds:schemaRef ds:uri="http://www.w3.org/XML/1998/namespace"/>
    <ds:schemaRef ds:uri="http://purl.org/dc/elements/1.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A4CD8707-C6D2-4263-B9AD-32020F363422}"/>
</file>

<file path=customXml/itemProps3.xml><?xml version="1.0" encoding="utf-8"?>
<ds:datastoreItem xmlns:ds="http://schemas.openxmlformats.org/officeDocument/2006/customXml" ds:itemID="{75B0DC0B-F3D7-41B9-93D8-F1CFE0B5C35B}">
  <ds:schemaRefs>
    <ds:schemaRef ds:uri="http://schemas.microsoft.com/office/2006/metadata/customXsn"/>
  </ds:schemaRefs>
</ds:datastoreItem>
</file>

<file path=customXml/itemProps4.xml><?xml version="1.0" encoding="utf-8"?>
<ds:datastoreItem xmlns:ds="http://schemas.openxmlformats.org/officeDocument/2006/customXml" ds:itemID="{D008D24B-4976-4750-89D0-25A3DDE05E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180</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Poppins</vt:lpstr>
      <vt:lpstr>Segoe UI</vt:lpstr>
      <vt:lpstr>Segoe UI Light</vt:lpstr>
      <vt:lpstr>Segoe UI Semilight</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 XBOX Customer Support Dynamics 365</dc:title>
  <dc:creator>Brendan Murphy</dc:creator>
  <cp:lastModifiedBy>Brendan Murphy</cp:lastModifiedBy>
  <cp:revision>7</cp:revision>
  <dcterms:created xsi:type="dcterms:W3CDTF">2024-05-28T15:52:45Z</dcterms:created>
  <dcterms:modified xsi:type="dcterms:W3CDTF">2025-01-16T04:45:45Z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