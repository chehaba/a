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8"/>
  </p:notesMasterIdLst>
  <p:sldIdLst>
    <p:sldId id="1085" r:id="rId6"/>
    <p:sldId id="21474697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4375F-6592-47B9-969F-54DF740BD535}" v="36" dt="2025-09-17T20:31:57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C3E4375F-6592-47B9-969F-54DF740BD535}"/>
    <pc:docChg chg="addSld delSld modSld">
      <pc:chgData name="Brendan Murphy" userId="S::bmurphy@affirma.com::e9f923b6-6d89-4d4e-a3b7-d9304b9d44ba" providerId="AD" clId="Web-{C3E4375F-6592-47B9-969F-54DF740BD535}" dt="2025-09-17T20:31:57.489" v="26" actId="14100"/>
      <pc:docMkLst>
        <pc:docMk/>
      </pc:docMkLst>
      <pc:sldChg chg="addSp delSp modSp add del">
        <pc:chgData name="Brendan Murphy" userId="S::bmurphy@affirma.com::e9f923b6-6d89-4d4e-a3b7-d9304b9d44ba" providerId="AD" clId="Web-{C3E4375F-6592-47B9-969F-54DF740BD535}" dt="2025-09-17T20:31:57.489" v="26" actId="14100"/>
        <pc:sldMkLst>
          <pc:docMk/>
          <pc:sldMk cId="103557896" sldId="2147469773"/>
        </pc:sldMkLst>
        <pc:spChg chg="mod">
          <ac:chgData name="Brendan Murphy" userId="S::bmurphy@affirma.com::e9f923b6-6d89-4d4e-a3b7-d9304b9d44ba" providerId="AD" clId="Web-{C3E4375F-6592-47B9-969F-54DF740BD535}" dt="2025-09-17T20:31:19.489" v="9" actId="20577"/>
          <ac:spMkLst>
            <pc:docMk/>
            <pc:sldMk cId="103557896" sldId="2147469773"/>
            <ac:spMk id="2" creationId="{470E2360-EAFB-00C9-1B72-80484047F7CC}"/>
          </ac:spMkLst>
        </pc:spChg>
        <pc:spChg chg="mod">
          <ac:chgData name="Brendan Murphy" userId="S::bmurphy@affirma.com::e9f923b6-6d89-4d4e-a3b7-d9304b9d44ba" providerId="AD" clId="Web-{C3E4375F-6592-47B9-969F-54DF740BD535}" dt="2025-09-17T20:31:57.489" v="26" actId="14100"/>
          <ac:spMkLst>
            <pc:docMk/>
            <pc:sldMk cId="103557896" sldId="2147469773"/>
            <ac:spMk id="4" creationId="{A7EF08E8-F289-1D48-5D80-3E2D61383F72}"/>
          </ac:spMkLst>
        </pc:spChg>
        <pc:grpChg chg="del">
          <ac:chgData name="Brendan Murphy" userId="S::bmurphy@affirma.com::e9f923b6-6d89-4d4e-a3b7-d9304b9d44ba" providerId="AD" clId="Web-{C3E4375F-6592-47B9-969F-54DF740BD535}" dt="2025-09-17T20:31:21.582" v="11"/>
          <ac:grpSpMkLst>
            <pc:docMk/>
            <pc:sldMk cId="103557896" sldId="2147469773"/>
            <ac:grpSpMk id="6" creationId="{DAAC21AF-2A6E-67A1-C313-42098BC0F393}"/>
          </ac:grpSpMkLst>
        </pc:grpChg>
        <pc:picChg chg="del">
          <ac:chgData name="Brendan Murphy" userId="S::bmurphy@affirma.com::e9f923b6-6d89-4d4e-a3b7-d9304b9d44ba" providerId="AD" clId="Web-{C3E4375F-6592-47B9-969F-54DF740BD535}" dt="2025-09-17T20:31:20.911" v="10"/>
          <ac:picMkLst>
            <pc:docMk/>
            <pc:sldMk cId="103557896" sldId="2147469773"/>
            <ac:picMk id="9" creationId="{64E218F6-6AB3-1B58-02F4-6FA8BB0ECCF0}"/>
          </ac:picMkLst>
        </pc:picChg>
        <pc:picChg chg="add">
          <ac:chgData name="Brendan Murphy" userId="S::bmurphy@affirma.com::e9f923b6-6d89-4d4e-a3b7-d9304b9d44ba" providerId="AD" clId="Web-{C3E4375F-6592-47B9-969F-54DF740BD535}" dt="2025-09-17T20:31:30.754" v="12"/>
          <ac:picMkLst>
            <pc:docMk/>
            <pc:sldMk cId="103557896" sldId="2147469773"/>
            <ac:picMk id="10" creationId="{57154F0F-06EA-AA04-0214-EB26B47F4121}"/>
          </ac:picMkLst>
        </pc:picChg>
      </pc:sldChg>
      <pc:sldMasterChg chg="addSldLayout delSldLayout">
        <pc:chgData name="Brendan Murphy" userId="S::bmurphy@affirma.com::e9f923b6-6d89-4d4e-a3b7-d9304b9d44ba" providerId="AD" clId="Web-{C3E4375F-6592-47B9-969F-54DF740BD535}" dt="2025-09-17T20:31:08.082" v="6"/>
        <pc:sldMasterMkLst>
          <pc:docMk/>
          <pc:sldMasterMk cId="3502533066" sldId="2147483660"/>
        </pc:sldMasterMkLst>
        <pc:sldLayoutChg chg="add del">
          <pc:chgData name="Brendan Murphy" userId="S::bmurphy@affirma.com::e9f923b6-6d89-4d4e-a3b7-d9304b9d44ba" providerId="AD" clId="Web-{C3E4375F-6592-47B9-969F-54DF740BD535}" dt="2025-09-17T20:31:08.082" v="6"/>
          <pc:sldLayoutMkLst>
            <pc:docMk/>
            <pc:sldMasterMk cId="3502533066" sldId="2147483660"/>
            <pc:sldLayoutMk cId="133114722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C0E67-0AFA-4117-8041-33589C0F56E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CE8F0-44B8-467F-A59D-7E765EA77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62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EE3F6CF-073A-4B4F-A2B7-08B9C7DBCB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1722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1868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B5FE165-096F-487F-8435-22B7C977BBAC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BA5D076-475A-402B-BFB3-BCB1DB0975A0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55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7A68257-B1D1-45B7-A765-50CDBCA3FD86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6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FB58377-F27B-4099-8D07-8CC83E9FF8E3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082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6C74676-92AB-4545-938B-1B69D80DB240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94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A0B79CA-C4D9-4908-8B03-07B20BD050DE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2E6861D-08F0-455C-ABA0-53DFF2F796CF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18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828875-DE2A-4007-BCB0-00064EAA777B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79BA1C-FAB8-4D2A-946A-62324E933EF1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02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8FB3B390-3D70-4147-B0BB-53F5951107F8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32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6ABAB9D-96B1-4270-A3E0-6D838C6F3255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66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1CAA8423-91F7-4752-B324-734304431281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21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39BA845-8FAA-4FA8-BB03-FCE823510A90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20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406F59A-4A5A-4738-AC03-C9914EA55E29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123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7C5F32E-87BC-41F1-B9F5-46E5C7195E2E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7177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89D8D96-9103-4B38-8327-0EA0FFD24152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8647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93AED9-3F5E-41D4-9FAD-F29D941B4B0A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9205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0B76160-1DEB-464C-9113-9118CF4A908A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571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C78B21-3C28-439F-BCD3-284714CB9E0C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 dirty="0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193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541201-DC49-46F2-AC4F-0D60C1F63406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99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198244D-535E-48C4-8BC9-904AE7DD5AF1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3665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858EA56-0E20-4ACC-A046-BE609E544847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803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F0CBE8F-8AA2-4859-BE6D-C213C1FEDA0E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417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710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1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9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47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6C1EC331-590E-4679-816A-DCB458BBD7AB}" type="datetime1">
              <a:rPr lang="en-US" smtClean="0"/>
              <a:t>9/17/2025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53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88F94-B25D-4165-A05B-C919FE12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SYKES – Salesforce Redesign &amp; Managed Service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E7440-243D-4314-97FF-1FC3D4DEC54E}"/>
              </a:ext>
            </a:extLst>
          </p:cNvPr>
          <p:cNvSpPr txBox="1"/>
          <p:nvPr/>
        </p:nvSpPr>
        <p:spPr>
          <a:xfrm>
            <a:off x="538370" y="1342694"/>
            <a:ext cx="6363805" cy="241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/>
            <a:r>
              <a:rPr lang="en-US" sz="2667" b="1" dirty="0">
                <a:solidFill>
                  <a:srgbClr val="0096A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Business Need</a:t>
            </a:r>
            <a:endParaRPr lang="en-US" sz="2667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defTabSz="976845">
              <a:lnSpc>
                <a:spcPct val="120000"/>
              </a:lnSpc>
            </a:pPr>
            <a:r>
              <a:rPr lang="en-US" sz="1750" dirty="0">
                <a:solidFill>
                  <a:srgbClr val="2B2B2B"/>
                </a:solidFill>
                <a:latin typeface="Segoe UI" panose="020B0502040204020203" pitchFamily="34" charset="0"/>
                <a:ea typeface="MS Mincho" panose="02020609040205080304" pitchFamily="49" charset="-128"/>
                <a:cs typeface="Segoe UI" panose="020B0502040204020203" pitchFamily="34" charset="0"/>
              </a:rPr>
              <a:t>A $1.5B leader in enterprise Business Process Outsourcing, SYKES came to Affirma for support in completely redesigning their Salesforce environment and business process across a global user base. Their Salesforce environment had been implemented and maintained with poor architecture, weak data integrity, and a fragmented user experience. </a:t>
            </a:r>
            <a:endParaRPr lang="en-US" sz="1750" dirty="0">
              <a:solidFill>
                <a:prstClr val="black"/>
              </a:solidFill>
              <a:latin typeface="Segoe U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C9D2C9-1394-4E6F-906A-05A8C185F0A2}"/>
              </a:ext>
            </a:extLst>
          </p:cNvPr>
          <p:cNvSpPr txBox="1"/>
          <p:nvPr/>
        </p:nvSpPr>
        <p:spPr>
          <a:xfrm>
            <a:off x="538370" y="3861332"/>
            <a:ext cx="11115261" cy="2625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76845"/>
            <a:r>
              <a:rPr lang="en-US" sz="2667" b="1" dirty="0">
                <a:solidFill>
                  <a:srgbClr val="0096A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Scope of Partnership</a:t>
            </a:r>
            <a:endParaRPr lang="en-US" sz="2667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38115" indent="-238115" defTabSz="97684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Capturing and defining business/functional requirements </a:t>
            </a:r>
          </a:p>
          <a:p>
            <a:pPr defTabSz="976845">
              <a:lnSpc>
                <a:spcPct val="114000"/>
              </a:lnSpc>
            </a:pP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from 40 immediate stakeholders to support hundreds of end users. </a:t>
            </a:r>
          </a:p>
          <a:p>
            <a:pPr marL="238115" indent="-238115" defTabSz="97684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Technical Approach &amp; Architecture Design: Full redesign of </a:t>
            </a:r>
            <a:r>
              <a:rPr lang="en-US" sz="175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Cloud</a:t>
            </a: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 defTabSz="976845">
              <a:lnSpc>
                <a:spcPct val="114000"/>
              </a:lnSpc>
            </a:pP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  migration from existing org to new org along with </a:t>
            </a:r>
            <a:r>
              <a:rPr lang="en-US" sz="175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conversion from Classic to Lighting Experience</a:t>
            </a: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</a:t>
            </a:r>
          </a:p>
          <a:p>
            <a:pPr marL="238115" indent="-238115" defTabSz="97684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Salesforce redesign, development, integration, deployment, and end user change management. </a:t>
            </a:r>
          </a:p>
          <a:p>
            <a:pPr marL="238115" indent="-238115" defTabSz="97684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Ongoing Quality Assurance &amp; UAT Support; Training for business leads, developers, and end users</a:t>
            </a:r>
          </a:p>
          <a:p>
            <a:pPr marL="238115" indent="-238115" defTabSz="976845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175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Ongoing managed service support with Business Analyst, Technical Lead, and Development teams.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30A322-A8E4-4DD9-84A0-FBC62BD8F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570" y="1128750"/>
            <a:ext cx="4540525" cy="3875388"/>
          </a:xfrm>
          <a:prstGeom prst="rect">
            <a:avLst/>
          </a:prstGeom>
        </p:spPr>
      </p:pic>
      <p:pic>
        <p:nvPicPr>
          <p:cNvPr id="21" name="Picture 4" descr="Image result for sykes logo">
            <a:extLst>
              <a:ext uri="{FF2B5EF4-FFF2-40B4-BE49-F238E27FC236}">
                <a16:creationId xmlns:a16="http://schemas.microsoft.com/office/drawing/2014/main" id="{51DB0FE7-BAC9-4D03-AAB7-EE94594172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53"/>
          <a:stretch/>
        </p:blipFill>
        <p:spPr bwMode="auto">
          <a:xfrm>
            <a:off x="10471796" y="267236"/>
            <a:ext cx="1339204" cy="494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79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7DD8-C6F3-7E04-D0CD-ADE4EF13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2360-EAFB-00C9-1B72-80484047F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386" y="346762"/>
            <a:ext cx="10985432" cy="76439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dirty="0">
                <a:solidFill>
                  <a:srgbClr val="000000"/>
                </a:solidFill>
                <a:latin typeface="Poppins SemiBold"/>
                <a:cs typeface="Poppins SemiBold"/>
              </a:rPr>
              <a:t>SYKES – Salesforce Redesign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F08E8-F289-1D48-5D80-3E2D61383F72}"/>
              </a:ext>
            </a:extLst>
          </p:cNvPr>
          <p:cNvSpPr txBox="1"/>
          <p:nvPr/>
        </p:nvSpPr>
        <p:spPr>
          <a:xfrm>
            <a:off x="623601" y="1409251"/>
            <a:ext cx="6118207" cy="58752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76806"/>
            <a:r>
              <a:rPr lang="en-US" sz="2000" b="1" dirty="0">
                <a:solidFill>
                  <a:srgbClr val="0070C0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Goal</a:t>
            </a:r>
            <a:r>
              <a:rPr lang="en-US" sz="2333" b="1" dirty="0">
                <a:solidFill>
                  <a:srgbClr val="0070C0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 </a:t>
            </a:r>
          </a:p>
          <a:p>
            <a:pPr defTabSz="976806">
              <a:defRPr/>
            </a:pPr>
            <a:r>
              <a:rPr lang="en-US" sz="1300" dirty="0">
                <a:solidFill>
                  <a:srgbClr val="000000"/>
                </a:solidFill>
                <a:latin typeface="Segoe UI"/>
                <a:cs typeface="Segoe UI"/>
              </a:rPr>
              <a:t>A $1.5B leader in enterprise Business Process Outsourcing, SYKES came to </a:t>
            </a:r>
            <a:r>
              <a:rPr lang="en-US" sz="1300" dirty="0" err="1">
                <a:solidFill>
                  <a:srgbClr val="000000"/>
                </a:solidFill>
                <a:latin typeface="Segoe UI"/>
                <a:cs typeface="Segoe UI"/>
              </a:rPr>
              <a:t>Affirma</a:t>
            </a:r>
            <a:r>
              <a:rPr lang="en-US" sz="1300" dirty="0">
                <a:solidFill>
                  <a:srgbClr val="000000"/>
                </a:solidFill>
                <a:latin typeface="Segoe UI"/>
                <a:cs typeface="Segoe UI"/>
              </a:rPr>
              <a:t> for support in completely redesigning their Salesforce environment and business process across a global user base. Their Salesforce environment had been implemented and maintained with poor architecture, weak data integrity, and a fragmented user experience. </a:t>
            </a:r>
          </a:p>
          <a:p>
            <a:pPr defTabSz="976806">
              <a:defRPr/>
            </a:pPr>
            <a:endParaRPr lang="en-US" sz="1300" dirty="0">
              <a:solidFill>
                <a:prstClr val="black"/>
              </a:solidFill>
              <a:latin typeface="Segoe UI"/>
              <a:cs typeface="Segoe UI"/>
            </a:endParaRP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endParaRPr lang="en-US" sz="1333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70815" indent="-170815" defTabSz="976806"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  <a:p>
            <a:pPr defTabSz="976806"/>
            <a:r>
              <a:rPr lang="en-US" sz="2000" b="1" dirty="0">
                <a:solidFill>
                  <a:srgbClr val="0070C0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Deliverables</a:t>
            </a:r>
            <a:r>
              <a:rPr lang="en-US" sz="2333" dirty="0">
                <a:solidFill>
                  <a:srgbClr val="0070C0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 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"/>
                <a:cs typeface="Segoe UI"/>
              </a:rPr>
              <a:t>Capturing and defining business/functional requirements 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"/>
                <a:cs typeface="Segoe UI"/>
              </a:rPr>
              <a:t>from 40 immediate stakeholders to support hundreds of end users. 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"/>
                <a:cs typeface="Segoe UI"/>
              </a:rPr>
              <a:t>Technical Approach &amp; Architecture Design: Full redesign of Sales Cloud,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"/>
                <a:cs typeface="Segoe UI"/>
              </a:rPr>
              <a:t>migration from existing org to new org along with conversion from Classic to Lighting Experience. 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"/>
                <a:cs typeface="Segoe UI"/>
              </a:rPr>
              <a:t>Salesforce redesign, development, integration, deployment, and end user change management. 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"/>
                <a:cs typeface="Segoe UI"/>
              </a:rPr>
              <a:t>Ongoing Quality Assurance &amp; UAT Support; Training for business leads, developers, and end users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r>
              <a:rPr lang="en-US" sz="1300" dirty="0">
                <a:solidFill>
                  <a:prstClr val="black"/>
                </a:solidFill>
                <a:latin typeface="Segoe UI"/>
                <a:cs typeface="Segoe UI"/>
              </a:rPr>
              <a:t>Ongoing managed service support with Business Analyst, Technical Lead, and Development teams.</a:t>
            </a:r>
          </a:p>
          <a:p>
            <a:pPr marL="285115" indent="-285115" defTabSz="976806">
              <a:buFont typeface="Arial" panose="020B0604020202020204" pitchFamily="34" charset="0"/>
              <a:buChar char="•"/>
              <a:defRPr/>
            </a:pPr>
            <a:endParaRPr lang="en-US" sz="13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37490" indent="-237490" defTabSz="976806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  <a:p>
            <a:pPr marL="237490" indent="-237490" defTabSz="976806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  <a:p>
            <a:pPr defTabSz="976806">
              <a:lnSpc>
                <a:spcPct val="120000"/>
              </a:lnSpc>
            </a:pP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  <a:p>
            <a:pPr defTabSz="976806">
              <a:lnSpc>
                <a:spcPct val="120000"/>
              </a:lnSpc>
            </a:pPr>
            <a:endParaRPr lang="en-US" sz="1200" dirty="0">
              <a:solidFill>
                <a:prstClr val="black"/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FF4E2B-317D-F59C-3A2D-B4CF6B990994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363">
              <a:defRPr/>
            </a:pPr>
            <a:r>
              <a:rPr lang="en-US" sz="2308">
                <a:solidFill>
                  <a:prstClr val="white"/>
                </a:solidFill>
                <a:latin typeface="Arial" panose="020B0604020202020204"/>
              </a:rPr>
              <a:t>  </a:t>
            </a:r>
          </a:p>
        </p:txBody>
      </p:sp>
      <p:pic>
        <p:nvPicPr>
          <p:cNvPr id="10" name="Picture 9" descr="A computer screen with a graph on it&#10;&#10;AI-generated content may be incorrect.">
            <a:extLst>
              <a:ext uri="{FF2B5EF4-FFF2-40B4-BE49-F238E27FC236}">
                <a16:creationId xmlns:a16="http://schemas.microsoft.com/office/drawing/2014/main" id="{57154F0F-06EA-AA04-0214-EB26B47F4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570" y="1128750"/>
            <a:ext cx="4540525" cy="387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7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Customer Relationship Management</Value>
    </BusinessUnit>
    <Solutions xmlns="f0ee8362-fa7e-4bc9-ab88-7dcfb17cb19b" xsi:nil="true"/>
    <Industries xmlns="f0ee8362-fa7e-4bc9-ab88-7dcfb17cb19b">
      <Value>Services</Value>
      <Value>BPO</Value>
    </Industries>
    <Notes0 xmlns="f0ee8362-fa7e-4bc9-ab88-7dcfb17cb19b" xsi:nil="true"/>
    <Named_x0020_Account xmlns="f0ee8362-fa7e-4bc9-ab88-7dcfb17cb19b" xsi:nil="true"/>
    <PlatTech xmlns="f0ee8362-fa7e-4bc9-ab88-7dcfb17cb19b">
      <Value>Salesforce</Value>
    </PlatTech>
    <ApprovedByClient xmlns="f0ee8362-fa7e-4bc9-ab88-7dcfb17cb19b">false</ApprovedByClient>
    <ProjectCompletionDate xmlns="f0ee8362-fa7e-4bc9-ab88-7dcfb17cb19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40c5edf46ad0243c172d3e6a5f6fa751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f48774ae5cf6ccd45b30992fa6c2b457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3C5F1D-ED72-439A-B8F3-3E60CF583BD0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25735DF1-6CFB-45D0-B67E-035BCAEAFAA9}">
  <ds:schemaRefs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a343fe23-5f90-48a0-aaec-5e8a931ff273"/>
    <ds:schemaRef ds:uri="8e63a164-624a-427c-9dec-42519b8a70df"/>
    <ds:schemaRef ds:uri="http://purl.org/dc/dcmitype/"/>
    <ds:schemaRef ds:uri="f0ee8362-fa7e-4bc9-ab88-7dcfb17cb19b"/>
  </ds:schemaRefs>
</ds:datastoreItem>
</file>

<file path=customXml/itemProps3.xml><?xml version="1.0" encoding="utf-8"?>
<ds:datastoreItem xmlns:ds="http://schemas.openxmlformats.org/officeDocument/2006/customXml" ds:itemID="{7C090101-CD45-456A-9B08-F2AD0329321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8475B9DF-0526-4647-8F27-4AE56E045CA4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Widescreen</PresentationFormat>
  <Paragraphs>12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Custom Design</vt:lpstr>
      <vt:lpstr>SYKES – Salesforce Redesign &amp; Managed Service</vt:lpstr>
      <vt:lpstr>SYKES – Salesforce Redesign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SYKES – Salesforce Redesign &amp; Managed Service</dc:title>
  <dc:creator>Scot Reynolds</dc:creator>
  <cp:lastModifiedBy>Scot Reynolds</cp:lastModifiedBy>
  <cp:revision>12</cp:revision>
  <dcterms:created xsi:type="dcterms:W3CDTF">2019-08-19T18:25:57Z</dcterms:created>
  <dcterms:modified xsi:type="dcterms:W3CDTF">2025-09-17T20:32:00Z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Business Unit">
    <vt:lpwstr/>
  </property>
  <property fmtid="{D5CDD505-2E9C-101B-9397-08002B2CF9AE}" pid="10" name="Industry">
    <vt:lpwstr>49;#Technology|9fd4705e-a3c7-4085-9147-cb1125b68f2c</vt:lpwstr>
  </property>
  <property fmtid="{D5CDD505-2E9C-101B-9397-08002B2CF9AE}" pid="11" name="Service_x0020_Offering">
    <vt:lpwstr/>
  </property>
  <property fmtid="{D5CDD505-2E9C-101B-9397-08002B2CF9AE}" pid="12" name="Business_x0020_Unit">
    <vt:lpwstr/>
  </property>
  <property fmtid="{D5CDD505-2E9C-101B-9397-08002B2CF9AE}" pid="13" name="_ExtendedDescription">
    <vt:lpwstr/>
  </property>
  <property fmtid="{D5CDD505-2E9C-101B-9397-08002B2CF9AE}" pid="14" name="Service Offering">
    <vt:lpwstr/>
  </property>
  <property fmtid="{D5CDD505-2E9C-101B-9397-08002B2CF9AE}" pid="15" name="Category">
    <vt:lpwstr>6;#Case Study|8faa0ad1-25f0-4f56-8e38-f60e20c455d6</vt:lpwstr>
  </property>
  <property fmtid="{D5CDD505-2E9C-101B-9397-08002B2CF9AE}" pid="16" name="Order">
    <vt:r8>69200</vt:r8>
  </property>
  <property fmtid="{D5CDD505-2E9C-101B-9397-08002B2CF9AE}" pid="17" name="SO">
    <vt:lpwstr>33;#</vt:lpwstr>
  </property>
  <property fmtid="{D5CDD505-2E9C-101B-9397-08002B2CF9AE}" pid="18" name="SharedWithUsers">
    <vt:lpwstr>2199;#Jason Malamut</vt:lpwstr>
  </property>
  <property fmtid="{D5CDD505-2E9C-101B-9397-08002B2CF9AE}" pid="19" name="TriggerFlowInfo">
    <vt:lpwstr/>
  </property>
</Properties>
</file>