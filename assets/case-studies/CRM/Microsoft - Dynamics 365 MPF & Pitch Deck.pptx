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207613884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customXml" Target="../customXml/item4.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50C542-CFA2-4AD2-A658-28E0608F5094}"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77FB1A-86F0-43A4-A551-3E07B686E26E}" type="slidenum">
              <a:rPr lang="en-US" smtClean="0"/>
              <a:t>‹#›</a:t>
            </a:fld>
            <a:endParaRPr lang="en-US"/>
          </a:p>
        </p:txBody>
      </p:sp>
    </p:spTree>
    <p:extLst>
      <p:ext uri="{BB962C8B-B14F-4D97-AF65-F5344CB8AC3E}">
        <p14:creationId xmlns:p14="http://schemas.microsoft.com/office/powerpoint/2010/main" val="3422388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D2A0CD-526E-4BDB-8351-4C4F909F586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9826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FE55-225C-E077-DEA3-7755FA61D8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8242B7-91E7-A379-61A4-7EC2D075DD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8C152A-7F82-BEBE-F517-6C4F3418A09A}"/>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5" name="Footer Placeholder 4">
            <a:extLst>
              <a:ext uri="{FF2B5EF4-FFF2-40B4-BE49-F238E27FC236}">
                <a16:creationId xmlns:a16="http://schemas.microsoft.com/office/drawing/2014/main" id="{A72F0AFC-6588-BC29-7CEA-7BA8208D87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5F479-3711-5D92-7306-313158E1AB31}"/>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580571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27855-9546-4124-8278-E0BF450255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076BA5-EACD-B880-E96B-C1414C7A21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1F9041-6127-A9BB-27DA-66D51EBBE052}"/>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5" name="Footer Placeholder 4">
            <a:extLst>
              <a:ext uri="{FF2B5EF4-FFF2-40B4-BE49-F238E27FC236}">
                <a16:creationId xmlns:a16="http://schemas.microsoft.com/office/drawing/2014/main" id="{0ADE4573-E809-C6A9-2613-B1BE2A7929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A73198-706B-7B85-DDB1-31ECA201614D}"/>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2485521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4807-ED73-0CE8-C7E8-7BE7BBB470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BAF97D-51AE-AB31-2E1D-38D17DDA78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328522-921B-2F66-6AFA-F9099D72A9A8}"/>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5" name="Footer Placeholder 4">
            <a:extLst>
              <a:ext uri="{FF2B5EF4-FFF2-40B4-BE49-F238E27FC236}">
                <a16:creationId xmlns:a16="http://schemas.microsoft.com/office/drawing/2014/main" id="{094F71A1-5421-E2B4-2FA5-54F45BD396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728B21-B7C2-517C-D858-5253215CBD47}"/>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2442734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5DD9-9850-9ED0-42E1-FA6FBD6190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771860-AE22-27B4-0F32-77BD035D00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8C1786-B11F-3600-AC2B-A1105543C2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1CCF1A-63C2-962D-BA22-2D66F40FD3EC}"/>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6" name="Footer Placeholder 5">
            <a:extLst>
              <a:ext uri="{FF2B5EF4-FFF2-40B4-BE49-F238E27FC236}">
                <a16:creationId xmlns:a16="http://schemas.microsoft.com/office/drawing/2014/main" id="{14A5E109-B2CE-544A-3E84-0724A6573C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940AC6-1A5D-B578-716B-97C4A96BC078}"/>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2818945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B791E-4FF4-ED97-1925-B4C67F3317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648DED-9871-EBFA-75C0-84606CD6B6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51CBF5-EB6A-9430-8968-FDB3C76116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DFDF66-9FE4-D4F7-C3CE-F8DFEE63F0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BA9103-9B16-7A98-3634-02C3F7019C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EC1071-D89C-051D-E6EA-6E39B920C2F1}"/>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8" name="Footer Placeholder 7">
            <a:extLst>
              <a:ext uri="{FF2B5EF4-FFF2-40B4-BE49-F238E27FC236}">
                <a16:creationId xmlns:a16="http://schemas.microsoft.com/office/drawing/2014/main" id="{01FF2E58-E386-66E5-A014-C3322D1960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71EE8F-E7DC-55A5-108B-287C2CB10BCB}"/>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2523660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5AA2C-0CA0-C6E4-EB58-DAF7C19842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27C4C9-6D3B-6756-A876-3B4A6B651164}"/>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4" name="Footer Placeholder 3">
            <a:extLst>
              <a:ext uri="{FF2B5EF4-FFF2-40B4-BE49-F238E27FC236}">
                <a16:creationId xmlns:a16="http://schemas.microsoft.com/office/drawing/2014/main" id="{0A8C106A-24D6-5C89-3E26-AF2B8F2344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99E771-8E43-0694-C574-670DEDAC2F24}"/>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1246860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230D6B-7710-88ED-173F-EA31435C06CA}"/>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3" name="Footer Placeholder 2">
            <a:extLst>
              <a:ext uri="{FF2B5EF4-FFF2-40B4-BE49-F238E27FC236}">
                <a16:creationId xmlns:a16="http://schemas.microsoft.com/office/drawing/2014/main" id="{A786774A-8E53-7E1B-0ADD-24001746F5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90A4A1-994D-200B-180B-3CB9E8884480}"/>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148441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78A88-0FCF-6742-3C20-F50B002448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5C82EE-7DD0-FAA7-0EB3-C903644A41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DAC59B-7914-3E1A-8C95-DB95EE8B5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278A56-4234-8D31-3DCC-4CEAD7278C3C}"/>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6" name="Footer Placeholder 5">
            <a:extLst>
              <a:ext uri="{FF2B5EF4-FFF2-40B4-BE49-F238E27FC236}">
                <a16:creationId xmlns:a16="http://schemas.microsoft.com/office/drawing/2014/main" id="{5DD9B7D7-F9A9-4DFB-73B0-8E360DA35D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FE3D16-B110-62D9-10A6-316895729958}"/>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4240429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9487-AFBF-DFA7-FCCD-F4954E3C69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F73B7F-058B-B632-AF6B-272721CC34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760D42-7B2B-B3F7-6B7A-E9820DF39C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E98186-FB49-8A15-E0E6-AB6098C50AF0}"/>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6" name="Footer Placeholder 5">
            <a:extLst>
              <a:ext uri="{FF2B5EF4-FFF2-40B4-BE49-F238E27FC236}">
                <a16:creationId xmlns:a16="http://schemas.microsoft.com/office/drawing/2014/main" id="{87B6C976-7B06-12C8-0680-6BA467253A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1505A4-D2FB-54E8-1F76-DDB20EF63FFD}"/>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502443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6D845-A395-02A6-3D2D-178661130A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736C09-659D-6D91-5B93-BDD9615E4C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AB4B87-03F4-A494-2B58-FAD78231BE08}"/>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5" name="Footer Placeholder 4">
            <a:extLst>
              <a:ext uri="{FF2B5EF4-FFF2-40B4-BE49-F238E27FC236}">
                <a16:creationId xmlns:a16="http://schemas.microsoft.com/office/drawing/2014/main" id="{BB58230A-C63A-527D-7DB9-CF395882E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5874CB-BBD0-DC06-5FD7-43A7F1A20842}"/>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4201773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3DDE7B-81D1-9BC0-BC31-B68E4DFCE6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44FAA0-D4CF-1046-904E-F3E0C56D72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EB11D2-14FD-14C5-4DBC-D5E03D00C6BB}"/>
              </a:ext>
            </a:extLst>
          </p:cNvPr>
          <p:cNvSpPr>
            <a:spLocks noGrp="1"/>
          </p:cNvSpPr>
          <p:nvPr>
            <p:ph type="dt" sz="half" idx="10"/>
          </p:nvPr>
        </p:nvSpPr>
        <p:spPr/>
        <p:txBody>
          <a:bodyPr/>
          <a:lstStyle/>
          <a:p>
            <a:fld id="{D9B3B530-9FC8-4A8E-BF3B-7C4D22F46B46}" type="datetimeFigureOut">
              <a:rPr lang="en-US" smtClean="0"/>
              <a:t>10/29/2025</a:t>
            </a:fld>
            <a:endParaRPr lang="en-US"/>
          </a:p>
        </p:txBody>
      </p:sp>
      <p:sp>
        <p:nvSpPr>
          <p:cNvPr id="5" name="Footer Placeholder 4">
            <a:extLst>
              <a:ext uri="{FF2B5EF4-FFF2-40B4-BE49-F238E27FC236}">
                <a16:creationId xmlns:a16="http://schemas.microsoft.com/office/drawing/2014/main" id="{B814BB0A-C592-FA75-3B84-1CABCC93B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EB8B35-AFA6-4D44-0EE9-ACF273C9D89E}"/>
              </a:ext>
            </a:extLst>
          </p:cNvPr>
          <p:cNvSpPr>
            <a:spLocks noGrp="1"/>
          </p:cNvSpPr>
          <p:nvPr>
            <p:ph type="sldNum" sz="quarter" idx="12"/>
          </p:nvPr>
        </p:nvSpPr>
        <p:spPr/>
        <p:txBody>
          <a:bodyPr/>
          <a:lstStyle/>
          <a:p>
            <a:fld id="{53E3F547-BC47-45DD-B39D-C2D95797395D}" type="slidenum">
              <a:rPr lang="en-US" smtClean="0"/>
              <a:t>‹#›</a:t>
            </a:fld>
            <a:endParaRPr lang="en-US"/>
          </a:p>
        </p:txBody>
      </p:sp>
    </p:spTree>
    <p:extLst>
      <p:ext uri="{BB962C8B-B14F-4D97-AF65-F5344CB8AC3E}">
        <p14:creationId xmlns:p14="http://schemas.microsoft.com/office/powerpoint/2010/main" val="368957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2372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ase Study Single Slide - Data Resul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3674382-8BA2-CD48-84D7-6B1CDE48F684}"/>
              </a:ext>
            </a:extLst>
          </p:cNvPr>
          <p:cNvSpPr>
            <a:spLocks noGrp="1"/>
          </p:cNvSpPr>
          <p:nvPr>
            <p:ph type="pic" sz="quarter" idx="17"/>
          </p:nvPr>
        </p:nvSpPr>
        <p:spPr>
          <a:xfrm>
            <a:off x="6095998" y="0"/>
            <a:ext cx="6096002" cy="5093207"/>
          </a:xfrm>
        </p:spPr>
        <p:txBody>
          <a:bodyPr/>
          <a:lstStyle/>
          <a:p>
            <a:endParaRPr lang="en-US"/>
          </a:p>
        </p:txBody>
      </p:sp>
      <p:sp>
        <p:nvSpPr>
          <p:cNvPr id="18" name="Rectangle 17">
            <a:extLst>
              <a:ext uri="{FF2B5EF4-FFF2-40B4-BE49-F238E27FC236}">
                <a16:creationId xmlns:a16="http://schemas.microsoft.com/office/drawing/2014/main" id="{ACBE22CA-CCD0-734A-932E-AF573C2B98B7}"/>
              </a:ext>
            </a:extLst>
          </p:cNvPr>
          <p:cNvSpPr/>
          <p:nvPr userDrawn="1"/>
        </p:nvSpPr>
        <p:spPr>
          <a:xfrm>
            <a:off x="6095998" y="5093207"/>
            <a:ext cx="6096002" cy="1764793"/>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bg1"/>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20" name="Text Placeholder 5">
            <a:extLst>
              <a:ext uri="{FF2B5EF4-FFF2-40B4-BE49-F238E27FC236}">
                <a16:creationId xmlns:a16="http://schemas.microsoft.com/office/drawing/2014/main" id="{50E4BD5B-FA1C-CA42-B01F-D6A4F333E0FE}"/>
              </a:ext>
            </a:extLst>
          </p:cNvPr>
          <p:cNvSpPr>
            <a:spLocks noGrp="1"/>
          </p:cNvSpPr>
          <p:nvPr>
            <p:ph type="body" sz="quarter" idx="18" hasCustomPrompt="1"/>
          </p:nvPr>
        </p:nvSpPr>
        <p:spPr>
          <a:xfrm>
            <a:off x="6479966" y="556945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1D9650A9-D1FE-7F4E-A1C9-FF16CE20B16F}"/>
              </a:ext>
            </a:extLst>
          </p:cNvPr>
          <p:cNvSpPr txBox="1"/>
          <p:nvPr userDrawn="1"/>
        </p:nvSpPr>
        <p:spPr>
          <a:xfrm>
            <a:off x="6479967" y="5292458"/>
            <a:ext cx="1523418" cy="276999"/>
          </a:xfrm>
          <a:prstGeom prst="rect">
            <a:avLst/>
          </a:prstGeom>
          <a:noFill/>
        </p:spPr>
        <p:txBody>
          <a:bodyPr wrap="square" rtlCol="0">
            <a:spAutoFit/>
          </a:bodyPr>
          <a:lstStyle/>
          <a:p>
            <a:pPr algn="l"/>
            <a:r>
              <a:rPr lang="en-US" sz="1200" b="1" i="0" spc="300">
                <a:solidFill>
                  <a:schemeClr val="bg1"/>
                </a:solidFill>
                <a:latin typeface="Arial" panose="020B0604020202020204" pitchFamily="34" charset="0"/>
                <a:cs typeface="Arial" panose="020B0604020202020204" pitchFamily="34" charset="0"/>
              </a:rPr>
              <a:t>RESULTS</a:t>
            </a:r>
          </a:p>
        </p:txBody>
      </p:sp>
      <p:sp>
        <p:nvSpPr>
          <p:cNvPr id="19" name="Text Placeholder 5">
            <a:extLst>
              <a:ext uri="{FF2B5EF4-FFF2-40B4-BE49-F238E27FC236}">
                <a16:creationId xmlns:a16="http://schemas.microsoft.com/office/drawing/2014/main" id="{DE51963F-09DC-8E4A-88D2-C536162B970E}"/>
              </a:ext>
            </a:extLst>
          </p:cNvPr>
          <p:cNvSpPr>
            <a:spLocks noGrp="1"/>
          </p:cNvSpPr>
          <p:nvPr>
            <p:ph type="body" sz="quarter" idx="21" hasCustomPrompt="1"/>
          </p:nvPr>
        </p:nvSpPr>
        <p:spPr>
          <a:xfrm>
            <a:off x="6479965" y="596823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28" name="Text Placeholder 5">
            <a:extLst>
              <a:ext uri="{FF2B5EF4-FFF2-40B4-BE49-F238E27FC236}">
                <a16:creationId xmlns:a16="http://schemas.microsoft.com/office/drawing/2014/main" id="{C8C32DBD-DA02-E348-877F-086CEC75A197}"/>
              </a:ext>
            </a:extLst>
          </p:cNvPr>
          <p:cNvSpPr>
            <a:spLocks noGrp="1"/>
          </p:cNvSpPr>
          <p:nvPr>
            <p:ph type="body" sz="quarter" idx="22" hasCustomPrompt="1"/>
          </p:nvPr>
        </p:nvSpPr>
        <p:spPr>
          <a:xfrm>
            <a:off x="8278598" y="5560830"/>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29" name="Text Placeholder 5">
            <a:extLst>
              <a:ext uri="{FF2B5EF4-FFF2-40B4-BE49-F238E27FC236}">
                <a16:creationId xmlns:a16="http://schemas.microsoft.com/office/drawing/2014/main" id="{6EB1CA55-D925-444F-8DA0-8CEF05F20D86}"/>
              </a:ext>
            </a:extLst>
          </p:cNvPr>
          <p:cNvSpPr>
            <a:spLocks noGrp="1"/>
          </p:cNvSpPr>
          <p:nvPr>
            <p:ph type="body" sz="quarter" idx="23" hasCustomPrompt="1"/>
          </p:nvPr>
        </p:nvSpPr>
        <p:spPr>
          <a:xfrm>
            <a:off x="8278597" y="5959610"/>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30" name="Text Placeholder 5">
            <a:extLst>
              <a:ext uri="{FF2B5EF4-FFF2-40B4-BE49-F238E27FC236}">
                <a16:creationId xmlns:a16="http://schemas.microsoft.com/office/drawing/2014/main" id="{9555A56F-2156-0C47-9C24-6E95A084A9D2}"/>
              </a:ext>
            </a:extLst>
          </p:cNvPr>
          <p:cNvSpPr>
            <a:spLocks noGrp="1"/>
          </p:cNvSpPr>
          <p:nvPr>
            <p:ph type="body" sz="quarter" idx="24" hasCustomPrompt="1"/>
          </p:nvPr>
        </p:nvSpPr>
        <p:spPr>
          <a:xfrm>
            <a:off x="10077230" y="555309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31" name="Text Placeholder 5">
            <a:extLst>
              <a:ext uri="{FF2B5EF4-FFF2-40B4-BE49-F238E27FC236}">
                <a16:creationId xmlns:a16="http://schemas.microsoft.com/office/drawing/2014/main" id="{0AC86934-578D-4547-91D4-0207518575BA}"/>
              </a:ext>
            </a:extLst>
          </p:cNvPr>
          <p:cNvSpPr>
            <a:spLocks noGrp="1"/>
          </p:cNvSpPr>
          <p:nvPr>
            <p:ph type="body" sz="quarter" idx="25" hasCustomPrompt="1"/>
          </p:nvPr>
        </p:nvSpPr>
        <p:spPr>
          <a:xfrm>
            <a:off x="10077229" y="595187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Tree>
    <p:extLst>
      <p:ext uri="{BB962C8B-B14F-4D97-AF65-F5344CB8AC3E}">
        <p14:creationId xmlns:p14="http://schemas.microsoft.com/office/powerpoint/2010/main" val="2424051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2498511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4F0BCA-5AC7-A8D5-691B-6AE4CDB6A4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80206C-C563-6B57-22BB-36133B9A43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717DD1-AEB3-19E1-C844-11ACE156DC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B3B530-9FC8-4A8E-BF3B-7C4D22F46B46}" type="datetimeFigureOut">
              <a:rPr lang="en-US" smtClean="0"/>
              <a:t>10/29/2025</a:t>
            </a:fld>
            <a:endParaRPr lang="en-US"/>
          </a:p>
        </p:txBody>
      </p:sp>
      <p:sp>
        <p:nvSpPr>
          <p:cNvPr id="5" name="Footer Placeholder 4">
            <a:extLst>
              <a:ext uri="{FF2B5EF4-FFF2-40B4-BE49-F238E27FC236}">
                <a16:creationId xmlns:a16="http://schemas.microsoft.com/office/drawing/2014/main" id="{10E52F66-FB1E-6605-B84E-C511D5110E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FFFBC6-7868-3FA8-ABAC-CA1FC19B56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E3F547-BC47-45DD-B39D-C2D95797395D}" type="slidenum">
              <a:rPr lang="en-US" smtClean="0"/>
              <a:t>‹#›</a:t>
            </a:fld>
            <a:endParaRPr lang="en-US"/>
          </a:p>
        </p:txBody>
      </p:sp>
    </p:spTree>
    <p:extLst>
      <p:ext uri="{BB962C8B-B14F-4D97-AF65-F5344CB8AC3E}">
        <p14:creationId xmlns:p14="http://schemas.microsoft.com/office/powerpoint/2010/main" val="379572839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9918B97-2236-432B-9D84-A860394888A6}"/>
              </a:ext>
            </a:extLst>
          </p:cNvPr>
          <p:cNvSpPr/>
          <p:nvPr/>
        </p:nvSpPr>
        <p:spPr>
          <a:xfrm>
            <a:off x="5380140" y="4408414"/>
            <a:ext cx="6811860" cy="24495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3" name="Slide Number Placeholder 2">
            <a:extLst>
              <a:ext uri="{FF2B5EF4-FFF2-40B4-BE49-F238E27FC236}">
                <a16:creationId xmlns:a16="http://schemas.microsoft.com/office/drawing/2014/main" id="{D888A8EE-A41B-104E-87E1-EB98061134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6F86DB-78DF-EB43-A6BE-40415A3A0052}" type="slidenum">
              <a:rPr kumimoji="0" lang="en-US" sz="700" b="0" i="0" u="none" strike="noStrike" kern="1200" cap="none" spc="0" normalizeH="0" baseline="0" noProof="0" smtClean="0">
                <a:ln>
                  <a:noFill/>
                </a:ln>
                <a:solidFill>
                  <a:prstClr val="white"/>
                </a:solidFill>
                <a:effectLst/>
                <a:uLnTx/>
                <a:uFillTx/>
                <a:latin typeface="Poppins" panose="00000500000000000000" pitchFamily="2" charset="0"/>
                <a:ea typeface="+mn-ea"/>
                <a:cs typeface="Poppins" panose="00000500000000000000"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6" name="Text Placeholder 5">
            <a:extLst>
              <a:ext uri="{FF2B5EF4-FFF2-40B4-BE49-F238E27FC236}">
                <a16:creationId xmlns:a16="http://schemas.microsoft.com/office/drawing/2014/main" id="{DC3185AF-4529-9642-92AB-B131CAEBC7A9}"/>
              </a:ext>
            </a:extLst>
          </p:cNvPr>
          <p:cNvSpPr>
            <a:spLocks noGrp="1"/>
          </p:cNvSpPr>
          <p:nvPr>
            <p:ph type="body" sz="quarter" idx="20"/>
          </p:nvPr>
        </p:nvSpPr>
        <p:spPr>
          <a:xfrm>
            <a:off x="603250" y="1402865"/>
            <a:ext cx="6347689" cy="4842371"/>
          </a:xfrm>
        </p:spPr>
        <p:txBody>
          <a:bodyPr vert="horz" lIns="91440" tIns="45720" rIns="91440" bIns="45720" rtlCol="0" anchor="t">
            <a:normAutofit/>
          </a:bodyPr>
          <a:lstStyle/>
          <a:p>
            <a:r>
              <a:rPr lang="en-US" sz="1800">
                <a:solidFill>
                  <a:srgbClr val="029CD4"/>
                </a:solidFill>
                <a:latin typeface="Poppins SemiBold" panose="00000700000000000000" pitchFamily="2" charset="0"/>
                <a:cs typeface="Poppins SemiBold" panose="00000700000000000000" pitchFamily="2" charset="0"/>
              </a:rPr>
              <a:t>Overview</a:t>
            </a:r>
          </a:p>
          <a:p>
            <a:pPr>
              <a:spcBef>
                <a:spcPts val="0"/>
              </a:spcBef>
            </a:pPr>
            <a:r>
              <a:rPr lang="en-US" sz="1400">
                <a:solidFill>
                  <a:schemeClr val="tx1"/>
                </a:solidFill>
                <a:latin typeface="Poppins" panose="00000500000000000000" pitchFamily="2" charset="0"/>
                <a:cs typeface="Poppins" panose="00000500000000000000" pitchFamily="2" charset="0"/>
              </a:rPr>
              <a:t>The Microsoft Dynamics 365 Team was looking to refresh their MPF and pitch deck to ensure the messaging was reflective of the market changes and to solidify their messaging for the sales teams and customers. </a:t>
            </a:r>
          </a:p>
          <a:p>
            <a:endParaRPr lang="en-US" sz="800">
              <a:latin typeface="Poppins" panose="00000500000000000000" pitchFamily="2" charset="0"/>
              <a:cs typeface="Poppins" panose="00000500000000000000" pitchFamily="2" charset="0"/>
            </a:endParaRPr>
          </a:p>
          <a:p>
            <a:r>
              <a:rPr lang="en-US" sz="1800">
                <a:solidFill>
                  <a:srgbClr val="029CD4"/>
                </a:solidFill>
                <a:latin typeface="Poppins SemiBold" panose="00000700000000000000" pitchFamily="2" charset="0"/>
                <a:cs typeface="Poppins SemiBold" panose="00000700000000000000" pitchFamily="2" charset="0"/>
              </a:rPr>
              <a:t>Affirma:</a:t>
            </a:r>
          </a:p>
          <a:p>
            <a:pPr fontAlgn="base">
              <a:spcBef>
                <a:spcPts val="0"/>
              </a:spcBef>
            </a:pPr>
            <a:r>
              <a:rPr lang="en-US" sz="1400">
                <a:solidFill>
                  <a:schemeClr val="tx1"/>
                </a:solidFill>
                <a:latin typeface="Poppins" panose="00000500000000000000" pitchFamily="2" charset="0"/>
                <a:cs typeface="Poppins" panose="00000500000000000000" pitchFamily="2" charset="0"/>
              </a:rPr>
              <a:t>The Microsoft Dynamics 365 Team was delivered an updated MPF aligned to the latest messaging criteria and a 25-slide animated pitch deck that will be used to ensure messaging alignment within the sales teams. </a:t>
            </a:r>
          </a:p>
          <a:p>
            <a:pPr algn="l" rtl="0" fontAlgn="base"/>
            <a:endParaRPr lang="en-US">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endParaRPr lang="en-US">
              <a:solidFill>
                <a:srgbClr val="404040"/>
              </a:solidFill>
              <a:latin typeface="Poppins" panose="00000500000000000000" pitchFamily="2" charset="0"/>
              <a:cs typeface="Poppins" panose="00000500000000000000" pitchFamily="2" charset="0"/>
            </a:endParaRPr>
          </a:p>
        </p:txBody>
      </p:sp>
      <p:sp>
        <p:nvSpPr>
          <p:cNvPr id="8" name="Text Placeholder 7">
            <a:extLst>
              <a:ext uri="{FF2B5EF4-FFF2-40B4-BE49-F238E27FC236}">
                <a16:creationId xmlns:a16="http://schemas.microsoft.com/office/drawing/2014/main" id="{F7328E13-9F30-0846-AE9E-2A00307B067C}"/>
              </a:ext>
            </a:extLst>
          </p:cNvPr>
          <p:cNvSpPr>
            <a:spLocks noGrp="1"/>
          </p:cNvSpPr>
          <p:nvPr>
            <p:ph type="body" sz="quarter" idx="22"/>
          </p:nvPr>
        </p:nvSpPr>
        <p:spPr/>
        <p:txBody>
          <a:bodyPr/>
          <a:lstStyle/>
          <a:p>
            <a:r>
              <a:rPr lang="en-US">
                <a:latin typeface="Poppins" panose="00000500000000000000" pitchFamily="2" charset="0"/>
                <a:cs typeface="Poppins" panose="00000500000000000000" pitchFamily="2" charset="0"/>
              </a:rPr>
              <a:t>3</a:t>
            </a:r>
          </a:p>
        </p:txBody>
      </p:sp>
      <p:sp>
        <p:nvSpPr>
          <p:cNvPr id="9" name="Text Placeholder 8">
            <a:extLst>
              <a:ext uri="{FF2B5EF4-FFF2-40B4-BE49-F238E27FC236}">
                <a16:creationId xmlns:a16="http://schemas.microsoft.com/office/drawing/2014/main" id="{26D1C182-68D6-5145-9959-7C17A6C7E8D2}"/>
              </a:ext>
            </a:extLst>
          </p:cNvPr>
          <p:cNvSpPr>
            <a:spLocks noGrp="1"/>
          </p:cNvSpPr>
          <p:nvPr>
            <p:ph type="body" sz="quarter" idx="23"/>
          </p:nvPr>
        </p:nvSpPr>
        <p:spPr/>
        <p:txBody>
          <a:bodyPr/>
          <a:lstStyle/>
          <a:p>
            <a:r>
              <a:rPr lang="en-US">
                <a:latin typeface="Poppins" panose="00000500000000000000" pitchFamily="2" charset="0"/>
                <a:cs typeface="Poppins" panose="00000500000000000000" pitchFamily="2" charset="0"/>
              </a:rPr>
              <a:t>Responsive viewport sizes</a:t>
            </a:r>
          </a:p>
        </p:txBody>
      </p:sp>
      <p:sp>
        <p:nvSpPr>
          <p:cNvPr id="10" name="Text Placeholder 9">
            <a:extLst>
              <a:ext uri="{FF2B5EF4-FFF2-40B4-BE49-F238E27FC236}">
                <a16:creationId xmlns:a16="http://schemas.microsoft.com/office/drawing/2014/main" id="{634B247A-B54F-9443-948E-781E9E7017D5}"/>
              </a:ext>
            </a:extLst>
          </p:cNvPr>
          <p:cNvSpPr>
            <a:spLocks noGrp="1"/>
          </p:cNvSpPr>
          <p:nvPr>
            <p:ph type="body" sz="quarter" idx="24"/>
          </p:nvPr>
        </p:nvSpPr>
        <p:spPr/>
        <p:txBody>
          <a:bodyPr/>
          <a:lstStyle/>
          <a:p>
            <a:r>
              <a:rPr lang="en-US">
                <a:latin typeface="Poppins" panose="00000500000000000000" pitchFamily="2" charset="0"/>
                <a:cs typeface="Poppins" panose="00000500000000000000" pitchFamily="2" charset="0"/>
              </a:rPr>
              <a:t>6 weeks</a:t>
            </a:r>
          </a:p>
        </p:txBody>
      </p:sp>
      <p:sp>
        <p:nvSpPr>
          <p:cNvPr id="11" name="Text Placeholder 10">
            <a:extLst>
              <a:ext uri="{FF2B5EF4-FFF2-40B4-BE49-F238E27FC236}">
                <a16:creationId xmlns:a16="http://schemas.microsoft.com/office/drawing/2014/main" id="{18416BC8-7D3A-C447-82D3-1B919C1E4CD7}"/>
              </a:ext>
            </a:extLst>
          </p:cNvPr>
          <p:cNvSpPr>
            <a:spLocks noGrp="1"/>
          </p:cNvSpPr>
          <p:nvPr>
            <p:ph type="body" sz="quarter" idx="25"/>
          </p:nvPr>
        </p:nvSpPr>
        <p:spPr>
          <a:xfrm>
            <a:off x="10077229" y="5951877"/>
            <a:ext cx="1266763" cy="471961"/>
          </a:xfrm>
        </p:spPr>
        <p:txBody>
          <a:bodyPr/>
          <a:lstStyle/>
          <a:p>
            <a:r>
              <a:rPr lang="en-US">
                <a:latin typeface="Poppins" panose="00000500000000000000" pitchFamily="2" charset="0"/>
                <a:cs typeface="Poppins" panose="00000500000000000000" pitchFamily="2" charset="0"/>
              </a:rPr>
              <a:t>Lorem Ipsum Dolor</a:t>
            </a:r>
          </a:p>
        </p:txBody>
      </p:sp>
      <p:pic>
        <p:nvPicPr>
          <p:cNvPr id="2" name="Picture 1">
            <a:extLst>
              <a:ext uri="{FF2B5EF4-FFF2-40B4-BE49-F238E27FC236}">
                <a16:creationId xmlns:a16="http://schemas.microsoft.com/office/drawing/2014/main" id="{7B77A876-920A-4FDA-9EC5-125C7B4DCB6E}"/>
              </a:ext>
            </a:extLst>
          </p:cNvPr>
          <p:cNvPicPr>
            <a:picLocks noChangeAspect="1"/>
          </p:cNvPicPr>
          <p:nvPr/>
        </p:nvPicPr>
        <p:blipFill rotWithShape="1">
          <a:blip r:embed="rId3"/>
          <a:srcRect l="1855" r="2656"/>
          <a:stretch/>
        </p:blipFill>
        <p:spPr>
          <a:xfrm>
            <a:off x="7238953" y="1346339"/>
            <a:ext cx="4361694" cy="2563658"/>
          </a:xfrm>
          <a:prstGeom prst="rect">
            <a:avLst/>
          </a:prstGeom>
        </p:spPr>
      </p:pic>
      <p:pic>
        <p:nvPicPr>
          <p:cNvPr id="15" name="Picture 14">
            <a:extLst>
              <a:ext uri="{FF2B5EF4-FFF2-40B4-BE49-F238E27FC236}">
                <a16:creationId xmlns:a16="http://schemas.microsoft.com/office/drawing/2014/main" id="{201A2A45-7B0C-41D2-BE94-6682D71C6BF8}"/>
              </a:ext>
            </a:extLst>
          </p:cNvPr>
          <p:cNvPicPr>
            <a:picLocks noChangeAspect="1"/>
          </p:cNvPicPr>
          <p:nvPr/>
        </p:nvPicPr>
        <p:blipFill>
          <a:blip r:embed="rId4"/>
          <a:stretch>
            <a:fillRect/>
          </a:stretch>
        </p:blipFill>
        <p:spPr>
          <a:xfrm>
            <a:off x="7241674" y="4089718"/>
            <a:ext cx="4361695" cy="2458483"/>
          </a:xfrm>
          <a:prstGeom prst="rect">
            <a:avLst/>
          </a:prstGeom>
        </p:spPr>
      </p:pic>
      <p:sp>
        <p:nvSpPr>
          <p:cNvPr id="17" name="Rectangle 16">
            <a:extLst>
              <a:ext uri="{FF2B5EF4-FFF2-40B4-BE49-F238E27FC236}">
                <a16:creationId xmlns:a16="http://schemas.microsoft.com/office/drawing/2014/main" id="{3C51EA08-40AD-4711-B3CE-9753EE8DCDB8}"/>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  </a:t>
            </a:r>
          </a:p>
        </p:txBody>
      </p:sp>
      <p:sp>
        <p:nvSpPr>
          <p:cNvPr id="19" name="Title 8">
            <a:extLst>
              <a:ext uri="{FF2B5EF4-FFF2-40B4-BE49-F238E27FC236}">
                <a16:creationId xmlns:a16="http://schemas.microsoft.com/office/drawing/2014/main" id="{92137B7D-17B0-49E7-B1EF-0CFF16E97587}"/>
              </a:ext>
            </a:extLst>
          </p:cNvPr>
          <p:cNvSpPr txBox="1">
            <a:spLocks/>
          </p:cNvSpPr>
          <p:nvPr/>
        </p:nvSpPr>
        <p:spPr>
          <a:xfrm>
            <a:off x="377021" y="387936"/>
            <a:ext cx="10985432" cy="7643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896533"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a:ln>
                  <a:noFill/>
                </a:ln>
                <a:solidFill>
                  <a:srgbClr val="002060"/>
                </a:solidFill>
                <a:effectLst/>
                <a:uLnTx/>
                <a:uFillTx/>
                <a:latin typeface="Poppins" panose="00000500000000000000" pitchFamily="2" charset="0"/>
                <a:cs typeface="Poppins" panose="00000500000000000000" pitchFamily="2" charset="0"/>
              </a:rPr>
              <a:t>Dynamics 365 MPF &amp; Pitch Deck</a:t>
            </a:r>
          </a:p>
        </p:txBody>
      </p:sp>
      <p:sp>
        <p:nvSpPr>
          <p:cNvPr id="4" name="Rectangle 3">
            <a:extLst>
              <a:ext uri="{FF2B5EF4-FFF2-40B4-BE49-F238E27FC236}">
                <a16:creationId xmlns:a16="http://schemas.microsoft.com/office/drawing/2014/main" id="{45E936E4-73E3-E4A3-213C-5610033BADD4}"/>
              </a:ext>
            </a:extLst>
          </p:cNvPr>
          <p:cNvSpPr/>
          <p:nvPr/>
        </p:nvSpPr>
        <p:spPr>
          <a:xfrm>
            <a:off x="-5311" y="6730048"/>
            <a:ext cx="12200696" cy="127952"/>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5" name="TextBox 4">
            <a:extLst>
              <a:ext uri="{FF2B5EF4-FFF2-40B4-BE49-F238E27FC236}">
                <a16:creationId xmlns:a16="http://schemas.microsoft.com/office/drawing/2014/main" id="{012DD317-C39D-7D5D-CFF1-760C281DB9FA}"/>
              </a:ext>
            </a:extLst>
          </p:cNvPr>
          <p:cNvSpPr txBox="1"/>
          <p:nvPr/>
        </p:nvSpPr>
        <p:spPr>
          <a:xfrm>
            <a:off x="4394178" y="6409754"/>
            <a:ext cx="5437300" cy="292388"/>
          </a:xfrm>
          <a:prstGeom prst="rect">
            <a:avLst/>
          </a:prstGeom>
          <a:noFill/>
        </p:spPr>
        <p:txBody>
          <a:bodyPr wrap="square" rtlCol="0">
            <a:spAutoFit/>
          </a:bodyPr>
          <a:lstStyle/>
          <a:p>
            <a:r>
              <a:rPr lang="en-US" sz="1300" i="1">
                <a:solidFill>
                  <a:srgbClr val="E8E8E8">
                    <a:lumMod val="10000"/>
                  </a:srgbClr>
                </a:solidFill>
                <a:latin typeface="Poppins" panose="00000500000000000000" pitchFamily="2" charset="0"/>
                <a:cs typeface="Poppins" panose="00000500000000000000" pitchFamily="2" charset="0"/>
              </a:rPr>
              <a:t>For Microsoft internal use only</a:t>
            </a:r>
          </a:p>
        </p:txBody>
      </p:sp>
    </p:spTree>
    <p:extLst>
      <p:ext uri="{BB962C8B-B14F-4D97-AF65-F5344CB8AC3E}">
        <p14:creationId xmlns:p14="http://schemas.microsoft.com/office/powerpoint/2010/main" val="679640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Microsoft</Named_x0020_Account>
    <Industries xmlns="f0ee8362-fa7e-4bc9-ab88-7dcfb17cb19b">
      <Value>Technology</Value>
    </Industries>
    <PlatTech xmlns="f0ee8362-fa7e-4bc9-ab88-7dcfb17cb19b" xsi:nil="true"/>
    <ProjectCompletionDate xmlns="f0ee8362-fa7e-4bc9-ab88-7dcfb17cb19b" xsi:nil="true"/>
    <BusinessUnit xmlns="f0ee8362-fa7e-4bc9-ab88-7dcfb17cb19b">
      <Value>Marketing Services</Value>
    </BusinessUnit>
    <Solutions xmlns="f0ee8362-fa7e-4bc9-ab88-7dcfb17cb19b">
      <Value>Content</Value>
      <Value>Marketing Strategy</Value>
    </Solutions>
    <ApprovedByClient xmlns="f0ee8362-fa7e-4bc9-ab88-7dcfb17cb19b">false</ApprovedByClient>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D9BAD305-8EAD-4388-9352-B0CBC76F452B}">
  <ds:schemaRefs>
    <ds:schemaRef ds:uri="http://schemas.microsoft.com/sharepoint/v3/contenttype/forms"/>
  </ds:schemaRefs>
</ds:datastoreItem>
</file>

<file path=customXml/itemProps2.xml><?xml version="1.0" encoding="utf-8"?>
<ds:datastoreItem xmlns:ds="http://schemas.openxmlformats.org/officeDocument/2006/customXml" ds:itemID="{06EC331A-30DA-4C5C-97D8-6F6F94FBB04C}">
  <ds:schemaRefs>
    <ds:schemaRef ds:uri="e2c2ef5b-3321-467b-8747-2b7d9bbfcb89"/>
    <ds:schemaRef ds:uri="fabc9836-146a-4824-a105-b3bada49a53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636C0B6-EEC6-47A1-A801-7D8935C42F36}"/>
</file>

<file path=customXml/itemProps4.xml><?xml version="1.0" encoding="utf-8"?>
<ds:datastoreItem xmlns:ds="http://schemas.openxmlformats.org/officeDocument/2006/customXml" ds:itemID="{99126FC0-F354-4F09-84A6-643F337FD162}"/>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1_Office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cp:revision>
  <dcterms:created xsi:type="dcterms:W3CDTF">2025-10-15T15:24:42Z</dcterms:created>
  <dcterms:modified xsi:type="dcterms:W3CDTF">2025-10-29T15:50:45Z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MediaServiceImageTags">
    <vt:lpwstr/>
  </property>
</Properties>
</file>