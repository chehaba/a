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CF9650-93CD-5700-EB51-06075DF63EE7}" v="39" dt="2024-04-15T10:45:05.650"/>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a Lynch" userId="S::elynch@affirma.com::e9a545a7-d4c6-4568-8496-b7f25b1d444b" providerId="AD" clId="Web-{72D472EB-A891-BD69-D671-3E25E288794C}"/>
    <pc:docChg chg="modSld">
      <pc:chgData name="Emma Lynch" userId="S::elynch@affirma.com::e9a545a7-d4c6-4568-8496-b7f25b1d444b" providerId="AD" clId="Web-{72D472EB-A891-BD69-D671-3E25E288794C}" dt="2020-10-26T22:41:20.627" v="0" actId="1076"/>
      <pc:docMkLst>
        <pc:docMk/>
      </pc:docMkLst>
      <pc:sldChg chg="modSp">
        <pc:chgData name="Emma Lynch" userId="S::elynch@affirma.com::e9a545a7-d4c6-4568-8496-b7f25b1d444b" providerId="AD" clId="Web-{72D472EB-A891-BD69-D671-3E25E288794C}" dt="2020-10-26T22:41:20.627" v="0" actId="1076"/>
        <pc:sldMkLst>
          <pc:docMk/>
          <pc:sldMk cId="2582825011" sldId="300"/>
        </pc:sldMkLst>
        <pc:spChg chg="mod">
          <ac:chgData name="Emma Lynch" userId="S::elynch@affirma.com::e9a545a7-d4c6-4568-8496-b7f25b1d444b" providerId="AD" clId="Web-{72D472EB-A891-BD69-D671-3E25E288794C}" dt="2020-10-26T22:41:20.627" v="0" actId="1076"/>
          <ac:spMkLst>
            <pc:docMk/>
            <pc:sldMk cId="2582825011" sldId="300"/>
            <ac:spMk id="30" creationId="{9665E9BF-B954-4AC7-821E-2E0CD116D915}"/>
          </ac:spMkLst>
        </pc:spChg>
      </pc:sldChg>
    </pc:docChg>
  </pc:docChgLst>
  <pc:docChgLst>
    <pc:chgData name="Colin Peterson" userId="S::copeterson@affirma.com::06b2b3a9-6c5f-4199-8546-9ee8c5a2a571" providerId="AD" clId="Web-{2C8F9F89-9B44-341B-56DF-944BECB46EA5}"/>
    <pc:docChg chg="modSld">
      <pc:chgData name="Colin Peterson" userId="S::copeterson@affirma.com::06b2b3a9-6c5f-4199-8546-9ee8c5a2a571" providerId="AD" clId="Web-{2C8F9F89-9B44-341B-56DF-944BECB46EA5}" dt="2019-06-10T21:37:22.896" v="2" actId="1076"/>
      <pc:docMkLst>
        <pc:docMk/>
      </pc:docMkLst>
      <pc:sldChg chg="modSp">
        <pc:chgData name="Colin Peterson" userId="S::copeterson@affirma.com::06b2b3a9-6c5f-4199-8546-9ee8c5a2a571" providerId="AD" clId="Web-{2C8F9F89-9B44-341B-56DF-944BECB46EA5}" dt="2019-06-10T21:37:22.896" v="2" actId="1076"/>
        <pc:sldMkLst>
          <pc:docMk/>
          <pc:sldMk cId="2582825011" sldId="300"/>
        </pc:sldMkLst>
        <pc:spChg chg="mod">
          <ac:chgData name="Colin Peterson" userId="S::copeterson@affirma.com::06b2b3a9-6c5f-4199-8546-9ee8c5a2a571" providerId="AD" clId="Web-{2C8F9F89-9B44-341B-56DF-944BECB46EA5}" dt="2019-06-10T21:37:22.896" v="2" actId="1076"/>
          <ac:spMkLst>
            <pc:docMk/>
            <pc:sldMk cId="2582825011" sldId="300"/>
            <ac:spMk id="33" creationId="{A2CD0AFB-BBEB-434B-985F-3ACF7BE51454}"/>
          </ac:spMkLst>
        </pc:spChg>
      </pc:sldChg>
    </pc:docChg>
  </pc:docChgLst>
  <pc:docChgLst>
    <pc:chgData name="Pooja Atkotiya" userId="S::patkotiya@affirma.com::8f424ac3-6f38-4fa3-8ec7-d8540700ae0d" providerId="AD" clId="Web-{2CCF9650-93CD-5700-EB51-06075DF63EE7}"/>
    <pc:docChg chg="modSld">
      <pc:chgData name="Pooja Atkotiya" userId="S::patkotiya@affirma.com::8f424ac3-6f38-4fa3-8ec7-d8540700ae0d" providerId="AD" clId="Web-{2CCF9650-93CD-5700-EB51-06075DF63EE7}" dt="2024-04-15T10:45:02.415" v="16" actId="20577"/>
      <pc:docMkLst>
        <pc:docMk/>
      </pc:docMkLst>
      <pc:sldChg chg="modSp">
        <pc:chgData name="Pooja Atkotiya" userId="S::patkotiya@affirma.com::8f424ac3-6f38-4fa3-8ec7-d8540700ae0d" providerId="AD" clId="Web-{2CCF9650-93CD-5700-EB51-06075DF63EE7}" dt="2024-04-15T10:45:02.415" v="16" actId="20577"/>
        <pc:sldMkLst>
          <pc:docMk/>
          <pc:sldMk cId="2582825011" sldId="300"/>
        </pc:sldMkLst>
        <pc:spChg chg="mod">
          <ac:chgData name="Pooja Atkotiya" userId="S::patkotiya@affirma.com::8f424ac3-6f38-4fa3-8ec7-d8540700ae0d" providerId="AD" clId="Web-{2CCF9650-93CD-5700-EB51-06075DF63EE7}" dt="2024-04-15T10:44:21.056" v="1" actId="20577"/>
          <ac:spMkLst>
            <pc:docMk/>
            <pc:sldMk cId="2582825011" sldId="300"/>
            <ac:spMk id="31" creationId="{EC9A7433-5BCD-4EA6-924A-53FDBF0CAAA6}"/>
          </ac:spMkLst>
        </pc:spChg>
        <pc:spChg chg="mod">
          <ac:chgData name="Pooja Atkotiya" userId="S::patkotiya@affirma.com::8f424ac3-6f38-4fa3-8ec7-d8540700ae0d" providerId="AD" clId="Web-{2CCF9650-93CD-5700-EB51-06075DF63EE7}" dt="2024-04-15T10:45:02.415" v="16" actId="20577"/>
          <ac:spMkLst>
            <pc:docMk/>
            <pc:sldMk cId="2582825011" sldId="300"/>
            <ac:spMk id="33" creationId="{A2CD0AFB-BBEB-434B-985F-3ACF7BE514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4/15/2024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4/15/2024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Appen – Lead Management Process and Salesforce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186906"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2350515"/>
          </a:xfrm>
          <a:prstGeom prst="rect">
            <a:avLst/>
          </a:prstGeom>
          <a:noFill/>
        </p:spPr>
        <p:txBody>
          <a:bodyPr wrap="square" lIns="91440" tIns="45720" rIns="91440" bIns="45720" rtlCol="0" anchor="t">
            <a:spAutoFit/>
          </a:bodyPr>
          <a:lstStyle/>
          <a:p>
            <a:pPr>
              <a:lnSpc>
                <a:spcPct val="150000"/>
              </a:lnSpc>
            </a:pPr>
            <a:r>
              <a:rPr lang="en-US" sz="1100" b="0" i="0" kern="1200" dirty="0">
                <a:effectLst/>
                <a:latin typeface="Open Sans"/>
                <a:ea typeface="+mn-ea"/>
                <a:cs typeface="+mn-cs"/>
              </a:rPr>
              <a:t>Appen, a global leader in the development of high-quality, human-annotated data for machine learning and artificial intelligence, was investing in Marketing to a much larger extent. As such, they needed accurate tracking of lead generation through conversion to better inform sales and marketing decisions as well as ensure quality data. These processes needed to be built in the context of their CRM platform, Salesforce. They also have two sales divisions that have unique requirements, so the lead tracking process needed to accommodate these differences</a:t>
            </a:r>
            <a:r>
              <a:rPr lang="en-US" sz="1100" dirty="0">
                <a:latin typeface="Open Sans"/>
              </a:rPr>
              <a:t>.</a:t>
            </a:r>
            <a:r>
              <a:rPr lang="en-US" sz="1100" b="0" i="0" kern="1200" dirty="0">
                <a:effectLst/>
                <a:latin typeface="Open Sans"/>
                <a:ea typeface="+mn-ea"/>
                <a:cs typeface="+mn-cs"/>
              </a:rPr>
              <a:t>
</a:t>
            </a: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795498" y="3932578"/>
            <a:ext cx="5533147" cy="3112262"/>
          </a:xfrm>
          <a:prstGeom prst="rect">
            <a:avLst/>
          </a:prstGeom>
          <a:noFill/>
        </p:spPr>
        <p:txBody>
          <a:bodyPr wrap="square" lIns="91440" tIns="45720" rIns="91440" bIns="45720" rtlCol="0" anchor="t">
            <a:spAutoFit/>
          </a:bodyPr>
          <a:lstStyle/>
          <a:p>
            <a:pPr>
              <a:lnSpc>
                <a:spcPct val="150000"/>
              </a:lnSpc>
            </a:pPr>
            <a:r>
              <a:rPr lang="en-US" sz="1100" b="0" i="0" kern="1200" dirty="0" err="1">
                <a:effectLst/>
                <a:latin typeface="Open Sans"/>
                <a:ea typeface="+mn-ea"/>
                <a:cs typeface="+mn-cs"/>
              </a:rPr>
              <a:t>Affirma</a:t>
            </a:r>
            <a:r>
              <a:rPr lang="en-US" sz="1100" b="0" i="0" kern="1200" dirty="0">
                <a:effectLst/>
                <a:latin typeface="Open Sans"/>
                <a:ea typeface="+mn-ea"/>
                <a:cs typeface="+mn-cs"/>
              </a:rPr>
              <a:t> performed a series of marketing workshops and stakeholder interviews to assess current strategies and business flow. We then outlined a comprehensive lead management process and reconfigured Salesforce to reflect the new approach</a:t>
            </a:r>
            <a:r>
              <a:rPr lang="en-US" sz="1100" dirty="0">
                <a:latin typeface="Open Sans"/>
              </a:rPr>
              <a:t>.</a:t>
            </a:r>
            <a:r>
              <a:rPr lang="en-US" sz="1100" b="0" i="0" kern="1200" dirty="0">
                <a:effectLst/>
                <a:latin typeface="Open Sans"/>
                <a:ea typeface="+mn-ea"/>
                <a:cs typeface="+mn-cs"/>
              </a:rPr>
              <a:t>
Deliverables also included a variety of documents to help facilitate process implementation, including Governance recommendations, lead process flow chart, lead management procedure and naming convention specification. Finally, we supported Appen with training materials and sessions</a:t>
            </a:r>
            <a:r>
              <a:rPr lang="en-US" sz="1100" dirty="0">
                <a:latin typeface="Open Sans"/>
              </a:rPr>
              <a:t>.</a:t>
            </a:r>
            <a:r>
              <a:rPr lang="en-US" sz="1100" b="0" i="0" kern="1200" dirty="0">
                <a:effectLst/>
                <a:latin typeface="Open Sans"/>
                <a:ea typeface="+mn-ea"/>
                <a:cs typeface="+mn-cs"/>
              </a:rPr>
              <a:t>
</a:t>
            </a:r>
            <a:r>
              <a:rPr lang="en-US" sz="1100" b="0" i="0" kern="1200" dirty="0" err="1">
                <a:effectLst/>
                <a:latin typeface="Open Sans"/>
                <a:ea typeface="+mn-ea"/>
                <a:cs typeface="+mn-cs"/>
              </a:rPr>
              <a:t>Affirma</a:t>
            </a:r>
            <a:r>
              <a:rPr lang="en-US" sz="1100" b="0" i="0" kern="1200" dirty="0">
                <a:effectLst/>
                <a:latin typeface="Open Sans"/>
                <a:ea typeface="+mn-ea"/>
                <a:cs typeface="+mn-cs"/>
              </a:rPr>
              <a:t> continues to support </a:t>
            </a:r>
            <a:r>
              <a:rPr lang="en-US" sz="1100" b="0" i="0" kern="1200" dirty="0" err="1">
                <a:effectLst/>
                <a:latin typeface="Open Sans"/>
                <a:ea typeface="+mn-ea"/>
                <a:cs typeface="+mn-cs"/>
              </a:rPr>
              <a:t>Appen&amp;rsquo;s</a:t>
            </a:r>
            <a:r>
              <a:rPr lang="en-US" sz="1100" b="0" i="0" kern="1200" dirty="0">
                <a:effectLst/>
                <a:latin typeface="Open Sans"/>
                <a:ea typeface="+mn-ea"/>
                <a:cs typeface="+mn-cs"/>
              </a:rPr>
              <a:t> team with Salesforce support via a managed service approach</a:t>
            </a:r>
            <a:r>
              <a:rPr lang="en-US" sz="1100" dirty="0">
                <a:latin typeface="Open Sans"/>
              </a:rPr>
              <a:t>.</a:t>
            </a:r>
            <a:r>
              <a:rPr lang="en-US" sz="1100" b="0" i="0" kern="1200" dirty="0">
                <a:effectLst/>
                <a:latin typeface="Open Sans"/>
                <a:ea typeface="+mn-ea"/>
                <a:cs typeface="+mn-cs"/>
              </a:rPr>
              <a:t>
</a:t>
            </a: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97646" y="1565275"/>
            <a:ext cx="1781175" cy="1770063"/>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Value>Customer Relationship Management</Value>
    </BusinessUnit>
    <Solutions xmlns="f0ee8362-fa7e-4bc9-ab88-7dcfb17cb19b" xsi:nil="true"/>
    <Industries xmlns="f0ee8362-fa7e-4bc9-ab88-7dcfb17cb19b">
      <Value>B2B</Value>
      <Value>AI / AI Models</Value>
    </Industries>
    <Notes0 xmlns="f0ee8362-fa7e-4bc9-ab88-7dcfb17cb19b" xsi:nil="true"/>
    <Named_x0020_Account xmlns="f0ee8362-fa7e-4bc9-ab88-7dcfb17cb19b" xsi:nil="true"/>
    <PlatTech xmlns="f0ee8362-fa7e-4bc9-ab88-7dcfb17cb19b">
      <Value>Salesforce Marketing Cloud</Value>
      <Value>Salesforce</Value>
      <Value>Salesforce Pardot</Value>
    </PlatTech>
    <ProjectCompletionDate xmlns="f0ee8362-fa7e-4bc9-ab88-7dcfb17cb19b">2020-01-01T08:00:00+00:00</ProjectCompletionDate>
    <ApprovedByClient xmlns="f0ee8362-fa7e-4bc9-ab88-7dcfb17cb19b">false</ApprovedByClient>
  </documentManagement>
</p:properties>
</file>

<file path=customXml/item3.xml><?xml version="1.0" encoding="utf-8"?>
<?mso-contentType ?>
<customXsn xmlns="http://schemas.microsoft.com/office/2006/metadata/customXsn">
  <xsnLocation/>
  <cached>True</cached>
  <openByDefault>False</openByDefault>
  <xsnScope/>
</customXsn>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4B90BDD-7D7C-4800-8A3D-9B438439C2F5}"/>
</file>

<file path=customXml/itemProps2.xml><?xml version="1.0" encoding="utf-8"?>
<ds:datastoreItem xmlns:ds="http://schemas.openxmlformats.org/officeDocument/2006/customXml" ds:itemID="{8F52B173-BE8E-40BB-BFC1-66A65D645E4D}">
  <ds:schemaRefs>
    <ds:schemaRef ds:uri="http://schemas.microsoft.com/office/2006/metadata/properties"/>
    <ds:schemaRef ds:uri="http://schemas.microsoft.com/office/infopath/2007/PartnerControls"/>
    <ds:schemaRef ds:uri="54243e05-8da7-404c-85e0-0480aaa26276"/>
    <ds:schemaRef ds:uri="f205c2cf-faee-43e7-95df-8aa62e5feae0"/>
  </ds:schemaRefs>
</ds:datastoreItem>
</file>

<file path=customXml/itemProps3.xml><?xml version="1.0" encoding="utf-8"?>
<ds:datastoreItem xmlns:ds="http://schemas.openxmlformats.org/officeDocument/2006/customXml" ds:itemID="{69D58668-8E00-450B-A852-D997459A6F73}">
  <ds:schemaRefs>
    <ds:schemaRef ds:uri="http://schemas.microsoft.com/office/2006/metadata/customXsn"/>
  </ds:schemaRefs>
</ds:datastoreItem>
</file>

<file path=customXml/itemProps4.xml><?xml version="1.0" encoding="utf-8"?>
<ds:datastoreItem xmlns:ds="http://schemas.openxmlformats.org/officeDocument/2006/customXml" ds:itemID="{4CF51F9E-CCC6-46F9-8B72-A9F6AFB76FF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Appen – Lead Management Process and Salesforce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599</cp:revision>
  <dcterms:created xsi:type="dcterms:W3CDTF">2017-10-09T12:47:23Z</dcterms:created>
  <dcterms:modified xsi:type="dcterms:W3CDTF">2024-04-15T10:45:09Z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16400</vt:r8>
  </property>
  <property fmtid="{D5CDD505-2E9C-101B-9397-08002B2CF9AE}" pid="11" name="xd_Signature">
    <vt:bool>false</vt:bool>
  </property>
  <property fmtid="{D5CDD505-2E9C-101B-9397-08002B2CF9AE}" pid="12" name="SO">
    <vt:lpwstr>33;#;#15;#;#21;#;#19;#</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