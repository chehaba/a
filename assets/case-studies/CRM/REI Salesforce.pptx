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128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58"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customXml" Target="../customXml/item4.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E8489F-B3D7-4E00-8244-FBE189DF66AA}" type="datetimeFigureOut">
              <a:rPr lang="en-US" smtClean="0"/>
              <a:t>8/19/2019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1FD405-1148-4A5F-9A0F-ABDC6A06C4FD}" type="slidenum">
              <a:rPr lang="en-US" smtClean="0"/>
              <a:t>‹#›</a:t>
            </a:fld>
            <a:endParaRPr lang="en-US"/>
          </a:p>
        </p:txBody>
      </p:sp>
    </p:spTree>
    <p:extLst>
      <p:ext uri="{BB962C8B-B14F-4D97-AF65-F5344CB8AC3E}">
        <p14:creationId xmlns:p14="http://schemas.microsoft.com/office/powerpoint/2010/main" val="4006328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927553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290231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78541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88565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dirty="0"/>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381704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597329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dirty="0"/>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095887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endParaRPr lang="en-US" dirty="0"/>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144325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609170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8/19/2019</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dirty="0"/>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236615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8/19/2019</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dirty="0"/>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12143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737469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944944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41915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598110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8/19/2019</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dirty="0"/>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03635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8/19/2019</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8329167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8/19/2019</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524105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8/19/2019</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8667461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endParaRPr lang="en-US" dirty="0"/>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8/19/2019</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9074609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8/19/2019</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61679811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8/19/2019</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94097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8/19/2019</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867356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dirty="0"/>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8/19/2019</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39125963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dirty="0"/>
              <a:t>Click to edit Master text styles</a:t>
            </a:r>
          </a:p>
        </p:txBody>
      </p:sp>
      <p:sp>
        <p:nvSpPr>
          <p:cNvPr id="4" name="Title 3"/>
          <p:cNvSpPr>
            <a:spLocks noGrp="1"/>
          </p:cNvSpPr>
          <p:nvPr>
            <p:ph type="title"/>
          </p:nvPr>
        </p:nvSpPr>
        <p:spPr/>
        <p:txBody>
          <a:bodyPr/>
          <a:lstStyle/>
          <a:p>
            <a:r>
              <a:rPr lang="en-US"/>
              <a:t>Click to edit Master title style</a:t>
            </a:r>
            <a:endParaRPr lang="en-US" dirty="0"/>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3596916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6C1EC331-590E-4679-816A-DCB458BBD7AB}" type="datetime1">
              <a:rPr lang="en-US" smtClean="0"/>
              <a:t>8/19/2019</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39580214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sldNum="0"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p:txBody>
          <a:bodyPr/>
          <a:lstStyle/>
          <a:p>
            <a:r>
              <a:rPr lang="en-US" dirty="0"/>
              <a:t>REI – Salesforce Development </a:t>
            </a:r>
          </a:p>
        </p:txBody>
      </p:sp>
      <p:sp>
        <p:nvSpPr>
          <p:cNvPr id="9" name="TextBox 8">
            <a:extLst>
              <a:ext uri="{FF2B5EF4-FFF2-40B4-BE49-F238E27FC236}">
                <a16:creationId xmlns:a16="http://schemas.microsoft.com/office/drawing/2014/main" id="{977E7440-243D-4314-97FF-1FC3D4DEC54E}"/>
              </a:ext>
            </a:extLst>
          </p:cNvPr>
          <p:cNvSpPr txBox="1"/>
          <p:nvPr/>
        </p:nvSpPr>
        <p:spPr>
          <a:xfrm>
            <a:off x="492103" y="1564136"/>
            <a:ext cx="5603898" cy="2321276"/>
          </a:xfrm>
          <a:prstGeom prst="rect">
            <a:avLst/>
          </a:prstGeom>
          <a:noFill/>
        </p:spPr>
        <p:txBody>
          <a:bodyPr wrap="square" rtlCol="0">
            <a:spAutoFit/>
          </a:bodyPr>
          <a:lstStyle/>
          <a:p>
            <a:pPr defTabSz="976845"/>
            <a:r>
              <a:rPr lang="en-US" sz="2667" b="1" dirty="0">
                <a:solidFill>
                  <a:srgbClr val="0096A9"/>
                </a:solidFill>
                <a:latin typeface="Segoe UI" panose="020B0502040204020203" pitchFamily="34" charset="0"/>
                <a:ea typeface="Calibri" panose="020F0502020204030204" pitchFamily="34" charset="0"/>
                <a:cs typeface="Segoe UI" panose="020B0502040204020203" pitchFamily="34" charset="0"/>
              </a:rPr>
              <a:t>Business Need</a:t>
            </a:r>
            <a:endParaRPr lang="en-US" sz="2667" dirty="0">
              <a:solidFill>
                <a:prstClr val="black"/>
              </a:solidFill>
              <a:latin typeface="Segoe UI" panose="020B0502040204020203" pitchFamily="34" charset="0"/>
              <a:cs typeface="Segoe UI" panose="020B0502040204020203" pitchFamily="34" charset="0"/>
            </a:endParaRPr>
          </a:p>
          <a:p>
            <a:pPr defTabSz="976845">
              <a:lnSpc>
                <a:spcPct val="120000"/>
              </a:lnSpc>
            </a:pPr>
            <a:r>
              <a:rPr lang="en-US" sz="1667" dirty="0">
                <a:solidFill>
                  <a:srgbClr val="2B2B2B"/>
                </a:solidFill>
                <a:latin typeface="Segoe UI" panose="020B0502040204020203" pitchFamily="34" charset="0"/>
                <a:ea typeface="MS Mincho" panose="02020609040205080304" pitchFamily="49" charset="-128"/>
                <a:cs typeface="Segoe UI" panose="020B0502040204020203" pitchFamily="34" charset="0"/>
              </a:rPr>
              <a:t>REI came to Affirma looking for additional development support on their in-store Salesforce applications. These applications help manage the entire customer support lifecycle for their ski and bike shops. These applications had been deployed and the REI team had developed a significant backlog of enhancements and bugs to address.</a:t>
            </a:r>
          </a:p>
        </p:txBody>
      </p:sp>
      <p:sp>
        <p:nvSpPr>
          <p:cNvPr id="13" name="TextBox 12">
            <a:extLst>
              <a:ext uri="{FF2B5EF4-FFF2-40B4-BE49-F238E27FC236}">
                <a16:creationId xmlns:a16="http://schemas.microsoft.com/office/drawing/2014/main" id="{5CC9D2C9-1394-4E6F-906A-05A8C185F0A2}"/>
              </a:ext>
            </a:extLst>
          </p:cNvPr>
          <p:cNvSpPr txBox="1"/>
          <p:nvPr/>
        </p:nvSpPr>
        <p:spPr>
          <a:xfrm>
            <a:off x="492103" y="4192088"/>
            <a:ext cx="10789001" cy="2011833"/>
          </a:xfrm>
          <a:prstGeom prst="rect">
            <a:avLst/>
          </a:prstGeom>
          <a:noFill/>
        </p:spPr>
        <p:txBody>
          <a:bodyPr wrap="square" rtlCol="0">
            <a:spAutoFit/>
          </a:bodyPr>
          <a:lstStyle/>
          <a:p>
            <a:pPr defTabSz="976845"/>
            <a:r>
              <a:rPr lang="en-US" sz="2667" b="1" dirty="0">
                <a:solidFill>
                  <a:srgbClr val="0096A9"/>
                </a:solidFill>
                <a:latin typeface="Segoe UI" panose="020B0502040204020203" pitchFamily="34" charset="0"/>
                <a:cs typeface="Segoe UI" panose="020B0502040204020203" pitchFamily="34" charset="0"/>
              </a:rPr>
              <a:t>Scope of Partnership</a:t>
            </a:r>
            <a:endParaRPr lang="en-US" sz="2667" dirty="0">
              <a:solidFill>
                <a:prstClr val="black"/>
              </a:solidFill>
              <a:latin typeface="Segoe UI" panose="020B0502040204020203" pitchFamily="34" charset="0"/>
              <a:cs typeface="Segoe UI" panose="020B0502040204020203" pitchFamily="34" charset="0"/>
            </a:endParaRPr>
          </a:p>
          <a:p>
            <a:pPr defTabSz="976845">
              <a:lnSpc>
                <a:spcPct val="114000"/>
              </a:lnSpc>
            </a:pPr>
            <a:r>
              <a:rPr lang="en-US" sz="1750" dirty="0">
                <a:solidFill>
                  <a:prstClr val="black"/>
                </a:solidFill>
                <a:latin typeface="Segoe UI" panose="020B0502040204020203" pitchFamily="34" charset="0"/>
                <a:cs typeface="Segoe UI" panose="020B0502040204020203" pitchFamily="34" charset="0"/>
              </a:rPr>
              <a:t>Affirma provided Salesforce resources to develop enhancements, perform bug fixes, and provide ongoing support to store employees. Our resources worked within an existing REI development team, and integrated seamlessly with their Product and Project Management groups. With the additional resourcing, REI was able to accomplish major enhancements to the solution and triage bugs more efficiently. Affirma continues to support various development initiatives within REI. </a:t>
            </a:r>
          </a:p>
        </p:txBody>
      </p:sp>
      <p:pic>
        <p:nvPicPr>
          <p:cNvPr id="1028" name="Picture 4" descr="Image result for rei ski shop">
            <a:extLst>
              <a:ext uri="{FF2B5EF4-FFF2-40B4-BE49-F238E27FC236}">
                <a16:creationId xmlns:a16="http://schemas.microsoft.com/office/drawing/2014/main" id="{4DD899B4-409A-445A-96CC-20C50CD408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9618" y="1698523"/>
            <a:ext cx="4987129" cy="249356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rei logo">
            <a:extLst>
              <a:ext uri="{FF2B5EF4-FFF2-40B4-BE49-F238E27FC236}">
                <a16:creationId xmlns:a16="http://schemas.microsoft.com/office/drawing/2014/main" id="{F23730BA-FD0B-4D53-8761-ED88C53D6CF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1880" y="1771883"/>
            <a:ext cx="1272189" cy="818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613898"/>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Customer Relationship Management</Value>
    </BusinessUnit>
    <Solutions xmlns="f0ee8362-fa7e-4bc9-ab88-7dcfb17cb19b" xsi:nil="true"/>
    <Industries xmlns="f0ee8362-fa7e-4bc9-ab88-7dcfb17cb19b">
      <Value>Retail</Value>
    </Industries>
    <Notes0 xmlns="f0ee8362-fa7e-4bc9-ab88-7dcfb17cb19b" xsi:nil="true"/>
    <Named_x0020_Account xmlns="f0ee8362-fa7e-4bc9-ab88-7dcfb17cb19b" xsi:nil="true"/>
    <PlatTech xmlns="f0ee8362-fa7e-4bc9-ab88-7dcfb17cb19b">
      <Value>Salesforce</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633DD831-EA21-4B29-B769-AE44C6846B86}"/>
</file>

<file path=customXml/itemProps2.xml><?xml version="1.0" encoding="utf-8"?>
<ds:datastoreItem xmlns:ds="http://schemas.openxmlformats.org/officeDocument/2006/customXml" ds:itemID="{F79DDFB3-25B4-46A7-B54D-D3229F001387}">
  <ds:schemaRefs>
    <ds:schemaRef ds:uri="http://schemas.microsoft.com/sharepoint/v3/contenttype/forms"/>
  </ds:schemaRefs>
</ds:datastoreItem>
</file>

<file path=customXml/itemProps3.xml><?xml version="1.0" encoding="utf-8"?>
<ds:datastoreItem xmlns:ds="http://schemas.openxmlformats.org/officeDocument/2006/customXml" ds:itemID="{4B8A9561-269F-4F3E-BA05-C01F4C068F19}">
  <ds:schemaRefs>
    <ds:schemaRef ds:uri="a343fe23-5f90-48a0-aaec-5e8a931ff273"/>
    <ds:schemaRef ds:uri="http://purl.org/dc/terms/"/>
    <ds:schemaRef ds:uri="http://schemas.microsoft.com/office/infopath/2007/PartnerControls"/>
    <ds:schemaRef ds:uri="http://www.w3.org/XML/1998/namespace"/>
    <ds:schemaRef ds:uri="http://purl.org/dc/elements/1.1/"/>
    <ds:schemaRef ds:uri="http://schemas.microsoft.com/office/2006/metadata/properties"/>
    <ds:schemaRef ds:uri="http://purl.org/dc/dcmitype/"/>
    <ds:schemaRef ds:uri="http://schemas.microsoft.com/office/2006/documentManagement/types"/>
    <ds:schemaRef ds:uri="http://schemas.openxmlformats.org/package/2006/metadata/core-properties"/>
    <ds:schemaRef ds:uri="8e63a164-624a-427c-9dec-42519b8a70df"/>
  </ds:schemaRefs>
</ds:datastoreItem>
</file>

<file path=customXml/itemProps4.xml><?xml version="1.0" encoding="utf-8"?>
<ds:datastoreItem xmlns:ds="http://schemas.openxmlformats.org/officeDocument/2006/customXml" ds:itemID="{A70005D8-D597-4B18-B705-E7AECD0A4B0C}"/>
</file>

<file path=docProps/app.xml><?xml version="1.0" encoding="utf-8"?>
<Properties xmlns="http://schemas.openxmlformats.org/officeDocument/2006/extended-properties" xmlns:vt="http://schemas.openxmlformats.org/officeDocument/2006/docPropsVTypes">
  <TotalTime>0</TotalTime>
  <Words>134</Words>
  <Application>Microsoft Office PowerPoint</Application>
  <PresentationFormat>Widescreen</PresentationFormat>
  <Paragraphs>6</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Segoe UI</vt:lpstr>
      <vt:lpstr>Segoe UI Light</vt:lpstr>
      <vt:lpstr>Segoe UI Semilight</vt:lpstr>
      <vt:lpstr>Custom Design</vt:lpstr>
      <vt:lpstr>REI – Salesforce Development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 – Salesforce Development </dc:title>
  <dc:creator>Scot Reynolds</dc:creator>
  <cp:lastModifiedBy>Scot Reynolds</cp:lastModifiedBy>
  <cp:revision>1</cp:revision>
  <dcterms:created xsi:type="dcterms:W3CDTF">2019-08-19T18:24:39Z</dcterms:created>
  <dcterms:modified xsi:type="dcterms:W3CDTF">2019-08-19T18:25:19Z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xd_Signature">
    <vt:bool>false</vt:bool>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Business Unit">
    <vt:lpwstr/>
  </property>
  <property fmtid="{D5CDD505-2E9C-101B-9397-08002B2CF9AE}" pid="10" name="Industry">
    <vt:lpwstr>63;#Consumer Goods|4d538a30-6b9b-4d7a-9ad2-87117c1edff2</vt:lpwstr>
  </property>
  <property fmtid="{D5CDD505-2E9C-101B-9397-08002B2CF9AE}" pid="11" name="Service_x0020_Offering">
    <vt:lpwstr/>
  </property>
  <property fmtid="{D5CDD505-2E9C-101B-9397-08002B2CF9AE}" pid="12" name="Business_x0020_Unit">
    <vt:lpwstr/>
  </property>
  <property fmtid="{D5CDD505-2E9C-101B-9397-08002B2CF9AE}" pid="13" name="_ExtendedDescription">
    <vt:lpwstr/>
  </property>
  <property fmtid="{D5CDD505-2E9C-101B-9397-08002B2CF9AE}" pid="14" name="Service Offering">
    <vt:lpwstr/>
  </property>
  <property fmtid="{D5CDD505-2E9C-101B-9397-08002B2CF9AE}" pid="15" name="Category">
    <vt:lpwstr>6;#Case Study|8faa0ad1-25f0-4f56-8e38-f60e20c455d6</vt:lpwstr>
  </property>
  <property fmtid="{D5CDD505-2E9C-101B-9397-08002B2CF9AE}" pid="16" name="Order">
    <vt:r8>64400</vt:r8>
  </property>
  <property fmtid="{D5CDD505-2E9C-101B-9397-08002B2CF9AE}" pid="17" name="SO">
    <vt:lpwstr>33;#</vt:lpwstr>
  </property>
  <property fmtid="{D5CDD505-2E9C-101B-9397-08002B2CF9AE}" pid="18" name="TriggerFlowInfo">
    <vt:lpwstr/>
  </property>
</Properties>
</file>