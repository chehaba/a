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C3D4B3-736D-4240-8D46-E262EE2CAF21}" v="1" dt="2021-06-09T21:30:47.26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81" d="100"/>
          <a:sy n="81" d="100"/>
        </p:scale>
        <p:origin x="725" y="4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ug Christel" userId="9f53b616-87d6-46ec-89bc-f383d652bdb0" providerId="ADAL" clId="{82C3D4B3-736D-4240-8D46-E262EE2CAF21}"/>
    <pc:docChg chg="undo custSel modSld">
      <pc:chgData name="Doug Christel" userId="9f53b616-87d6-46ec-89bc-f383d652bdb0" providerId="ADAL" clId="{82C3D4B3-736D-4240-8D46-E262EE2CAF21}" dt="2021-06-09T21:31:33.194" v="236" actId="1076"/>
      <pc:docMkLst>
        <pc:docMk/>
      </pc:docMkLst>
      <pc:sldChg chg="addSp delSp modSp mod">
        <pc:chgData name="Doug Christel" userId="9f53b616-87d6-46ec-89bc-f383d652bdb0" providerId="ADAL" clId="{82C3D4B3-736D-4240-8D46-E262EE2CAF21}" dt="2021-06-09T21:31:33.194" v="236" actId="1076"/>
        <pc:sldMkLst>
          <pc:docMk/>
          <pc:sldMk cId="2582825011" sldId="300"/>
        </pc:sldMkLst>
        <pc:spChg chg="mod">
          <ac:chgData name="Doug Christel" userId="9f53b616-87d6-46ec-89bc-f383d652bdb0" providerId="ADAL" clId="{82C3D4B3-736D-4240-8D46-E262EE2CAF21}" dt="2021-06-09T21:30:47.313" v="225" actId="27636"/>
          <ac:spMkLst>
            <pc:docMk/>
            <pc:sldMk cId="2582825011" sldId="300"/>
            <ac:spMk id="2" creationId="{00000000-0000-0000-0000-000000000000}"/>
          </ac:spMkLst>
        </pc:spChg>
        <pc:spChg chg="mod">
          <ac:chgData name="Doug Christel" userId="9f53b616-87d6-46ec-89bc-f383d652bdb0" providerId="ADAL" clId="{82C3D4B3-736D-4240-8D46-E262EE2CAF21}" dt="2021-06-09T21:26:31.883" v="189" actId="1076"/>
          <ac:spMkLst>
            <pc:docMk/>
            <pc:sldMk cId="2582825011" sldId="300"/>
            <ac:spMk id="30" creationId="{9665E9BF-B954-4AC7-821E-2E0CD116D915}"/>
          </ac:spMkLst>
        </pc:spChg>
        <pc:spChg chg="mod">
          <ac:chgData name="Doug Christel" userId="9f53b616-87d6-46ec-89bc-f383d652bdb0" providerId="ADAL" clId="{82C3D4B3-736D-4240-8D46-E262EE2CAF21}" dt="2021-06-09T21:28:49.578" v="212" actId="14100"/>
          <ac:spMkLst>
            <pc:docMk/>
            <pc:sldMk cId="2582825011" sldId="300"/>
            <ac:spMk id="31" creationId="{EC9A7433-5BCD-4EA6-924A-53FDBF0CAAA6}"/>
          </ac:spMkLst>
        </pc:spChg>
        <pc:spChg chg="mod">
          <ac:chgData name="Doug Christel" userId="9f53b616-87d6-46ec-89bc-f383d652bdb0" providerId="ADAL" clId="{82C3D4B3-736D-4240-8D46-E262EE2CAF21}" dt="2021-06-09T21:27:41.557" v="195" actId="1076"/>
          <ac:spMkLst>
            <pc:docMk/>
            <pc:sldMk cId="2582825011" sldId="300"/>
            <ac:spMk id="32" creationId="{E1C0119A-9047-4290-917B-405E19FFDA31}"/>
          </ac:spMkLst>
        </pc:spChg>
        <pc:spChg chg="mod">
          <ac:chgData name="Doug Christel" userId="9f53b616-87d6-46ec-89bc-f383d652bdb0" providerId="ADAL" clId="{82C3D4B3-736D-4240-8D46-E262EE2CAF21}" dt="2021-06-09T21:29:48.530" v="220" actId="1076"/>
          <ac:spMkLst>
            <pc:docMk/>
            <pc:sldMk cId="2582825011" sldId="300"/>
            <ac:spMk id="33" creationId="{A2CD0AFB-BBEB-434B-985F-3ACF7BE51454}"/>
          </ac:spMkLst>
        </pc:spChg>
        <pc:spChg chg="mod">
          <ac:chgData name="Doug Christel" userId="9f53b616-87d6-46ec-89bc-f383d652bdb0" providerId="ADAL" clId="{82C3D4B3-736D-4240-8D46-E262EE2CAF21}" dt="2021-06-09T21:29:41.089" v="219" actId="1076"/>
          <ac:spMkLst>
            <pc:docMk/>
            <pc:sldMk cId="2582825011" sldId="300"/>
            <ac:spMk id="34" creationId="{EC17F625-2EC2-4F28-895B-03B104D7945A}"/>
          </ac:spMkLst>
        </pc:spChg>
        <pc:spChg chg="mod">
          <ac:chgData name="Doug Christel" userId="9f53b616-87d6-46ec-89bc-f383d652bdb0" providerId="ADAL" clId="{82C3D4B3-736D-4240-8D46-E262EE2CAF21}" dt="2021-06-09T21:30:03.220" v="222" actId="1076"/>
          <ac:spMkLst>
            <pc:docMk/>
            <pc:sldMk cId="2582825011" sldId="300"/>
            <ac:spMk id="35" creationId="{127A5A2A-6A75-46BB-A872-3D435F9C8C26}"/>
          </ac:spMkLst>
        </pc:spChg>
        <pc:spChg chg="mod">
          <ac:chgData name="Doug Christel" userId="9f53b616-87d6-46ec-89bc-f383d652bdb0" providerId="ADAL" clId="{82C3D4B3-736D-4240-8D46-E262EE2CAF21}" dt="2021-06-09T21:29:53.695" v="221" actId="1076"/>
          <ac:spMkLst>
            <pc:docMk/>
            <pc:sldMk cId="2582825011" sldId="300"/>
            <ac:spMk id="36" creationId="{4651924A-7907-4360-9ED8-B533D803C21B}"/>
          </ac:spMkLst>
        </pc:spChg>
        <pc:picChg chg="mod">
          <ac:chgData name="Doug Christel" userId="9f53b616-87d6-46ec-89bc-f383d652bdb0" providerId="ADAL" clId="{82C3D4B3-736D-4240-8D46-E262EE2CAF21}" dt="2021-06-09T21:31:33.194" v="236" actId="1076"/>
          <ac:picMkLst>
            <pc:docMk/>
            <pc:sldMk cId="2582825011" sldId="300"/>
            <ac:picMk id="3" creationId="{00000000-0000-0000-0000-000000000000}"/>
          </ac:picMkLst>
        </pc:picChg>
        <pc:picChg chg="add del mod">
          <ac:chgData name="Doug Christel" userId="9f53b616-87d6-46ec-89bc-f383d652bdb0" providerId="ADAL" clId="{82C3D4B3-736D-4240-8D46-E262EE2CAF21}" dt="2021-06-09T21:31:27.298" v="235" actId="478"/>
          <ac:picMkLst>
            <pc:docMk/>
            <pc:sldMk cId="2582825011" sldId="300"/>
            <ac:picMk id="5" creationId="{E50A97DC-EFAE-40EC-8677-E08EE04F783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normAutofit fontScale="90000"/>
          </a:bodyPr>
          <a:lstStyle>
            <a:lvl1pPr>
              <a:defRPr b="0">
                <a:solidFill>
                  <a:schemeClr val="bg1"/>
                </a:solidFill>
                <a:latin typeface="Montserrat"/>
              </a:defRPr>
            </a:lvl1pPr>
          </a:lstStyle>
          <a:p>
            <a:r>
              <a:rPr lang="en-US" dirty="0"/>
              <a:t>Thales Academy Web Design</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19821" y="1011890"/>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83794" y="1219201"/>
            <a:ext cx="6289652" cy="2092111"/>
          </a:xfrm>
          <a:prstGeom prst="rect">
            <a:avLst/>
          </a:prstGeom>
          <a:noFill/>
        </p:spPr>
        <p:txBody>
          <a:bodyPr wrap="square" rtlCol="0">
            <a:spAutoFit/>
          </a:bodyPr>
          <a:lstStyle/>
          <a:p>
            <a:pPr>
              <a:lnSpc>
                <a:spcPct val="150000"/>
              </a:lnSpc>
            </a:pPr>
            <a:r>
              <a:rPr lang="en-US" sz="1100" b="0" i="0" kern="1200" dirty="0">
                <a:solidFill>
                  <a:schemeClr val="tx1"/>
                </a:solidFill>
                <a:effectLst/>
                <a:latin typeface="Open Sans"/>
                <a:ea typeface="+mn-ea"/>
                <a:cs typeface="+mn-cs"/>
              </a:rPr>
              <a:t>Thales Academy, a system of independent schools based in North Carolina, came to Affirma wanting to improve their website</a:t>
            </a:r>
            <a:r>
              <a:rPr lang="en-US" sz="1100" dirty="0">
                <a:latin typeface="Open Sans"/>
              </a:rPr>
              <a:t> </a:t>
            </a:r>
            <a:r>
              <a:rPr lang="en-US" sz="1100" b="0" i="0" kern="1200" dirty="0">
                <a:solidFill>
                  <a:schemeClr val="tx1"/>
                </a:solidFill>
                <a:effectLst/>
                <a:latin typeface="Open Sans"/>
                <a:ea typeface="+mn-ea"/>
                <a:cs typeface="+mn-cs"/>
              </a:rPr>
              <a:t>effectiveness in student conversion. The school system provides excellent and affordable education to students in Pre-K to 12th grades through Direct Instruction and a classical curriculum. Thales stakeholders felt the creation of a true marketing website could provide more clarity and impact on parents deciding what school to send their children. Through the design and deployment of a new website they hoped to capture the school spirit, engage parents with inspiring content, as well as motivate parents to schedule a campus visit</a:t>
            </a:r>
            <a:r>
              <a:rPr lang="en-US" sz="1100" dirty="0">
                <a:latin typeface="Open Sans"/>
              </a:rPr>
              <a:t>. </a:t>
            </a:r>
            <a:r>
              <a:rPr lang="en-US" sz="1100" b="0" i="0" kern="1200" dirty="0">
                <a:solidFill>
                  <a:schemeClr val="tx1"/>
                </a:solidFill>
                <a:effectLst/>
                <a:latin typeface="Open Sans"/>
                <a:ea typeface="+mn-ea"/>
                <a:cs typeface="+mn-cs"/>
              </a:rPr>
              <a:t>
</a:t>
            </a: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8" y="976861"/>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80524" y="3001019"/>
            <a:ext cx="6289652" cy="2599943"/>
          </a:xfrm>
          <a:prstGeom prst="rect">
            <a:avLst/>
          </a:prstGeom>
          <a:noFill/>
        </p:spPr>
        <p:txBody>
          <a:bodyPr wrap="square" rtlCol="0">
            <a:spAutoFit/>
          </a:bodyPr>
          <a:lstStyle/>
          <a:p>
            <a:pPr>
              <a:lnSpc>
                <a:spcPct val="150000"/>
              </a:lnSpc>
            </a:pPr>
            <a:r>
              <a:rPr lang="en-US" sz="1100" b="0" i="0" kern="1200" dirty="0">
                <a:solidFill>
                  <a:schemeClr val="tx1"/>
                </a:solidFill>
                <a:effectLst/>
                <a:latin typeface="Open Sans"/>
                <a:ea typeface="+mn-ea"/>
                <a:cs typeface="+mn-cs"/>
              </a:rPr>
              <a:t>
Affirma</a:t>
            </a:r>
            <a:r>
              <a:rPr lang="en-US" sz="1100" dirty="0">
                <a:latin typeface="Open Sans"/>
              </a:rPr>
              <a:t>’</a:t>
            </a:r>
            <a:r>
              <a:rPr lang="en-US" sz="1100" b="0" i="0" kern="1200" dirty="0">
                <a:solidFill>
                  <a:schemeClr val="tx1"/>
                </a:solidFill>
                <a:effectLst/>
                <a:latin typeface="Open Sans"/>
                <a:ea typeface="+mn-ea"/>
                <a:cs typeface="+mn-cs"/>
              </a:rPr>
              <a:t>s Creative team worked with the Thales team to map out the expected flow of users. It was very important that users of the website could search and navigate effectively and intuitively. Developed responsive wireframes from requirements and the information architecture outputs so users could utilize the site from mobile and tablet devices.</a:t>
            </a:r>
            <a:r>
              <a:rPr lang="en-US" sz="1100" dirty="0">
                <a:latin typeface="Open Sans"/>
              </a:rPr>
              <a:t> </a:t>
            </a:r>
            <a:r>
              <a:rPr lang="en-US" sz="1100" b="0" i="0" kern="1200" dirty="0">
                <a:solidFill>
                  <a:schemeClr val="tx1"/>
                </a:solidFill>
                <a:effectLst/>
                <a:latin typeface="Open Sans"/>
                <a:ea typeface="+mn-ea"/>
                <a:cs typeface="+mn-cs"/>
              </a:rPr>
              <a:t>Created a modern minimalistic design while maintaining the Thales culture, voice and aesthetic.</a:t>
            </a:r>
            <a:r>
              <a:rPr lang="en-US" sz="1100" dirty="0">
                <a:latin typeface="Open Sans"/>
              </a:rPr>
              <a:t> </a:t>
            </a:r>
            <a:r>
              <a:rPr lang="en-US" sz="1100" b="0" i="0" kern="1200" dirty="0">
                <a:solidFill>
                  <a:schemeClr val="tx1"/>
                </a:solidFill>
                <a:effectLst/>
                <a:latin typeface="Open Sans"/>
                <a:ea typeface="+mn-ea"/>
                <a:cs typeface="+mn-cs"/>
              </a:rPr>
              <a:t>Design iterations were focused on ease of use, streamlined navigation and visual quality. We utilized modern technology such as sticky headers, animations and parallax scrolling to engage users as they explored the site. Affirma provided a one stop agency for both design and development expertise.
</a:t>
            </a: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83794" y="3013454"/>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58128" y="5554358"/>
            <a:ext cx="5517672" cy="1584280"/>
          </a:xfrm>
          <a:prstGeom prst="rect">
            <a:avLst/>
          </a:prstGeom>
          <a:noFill/>
        </p:spPr>
        <p:txBody>
          <a:bodyPr wrap="square" rtlCol="0">
            <a:spAutoFit/>
          </a:bodyPr>
          <a:lstStyle/>
          <a:p>
            <a:pPr>
              <a:lnSpc>
                <a:spcPct val="150000"/>
              </a:lnSpc>
            </a:pPr>
            <a:r>
              <a:rPr lang="en-US" sz="1100" b="0" i="0" kern="1200" dirty="0">
                <a:solidFill>
                  <a:schemeClr val="tx1"/>
                </a:solidFill>
                <a:effectLst/>
                <a:latin typeface="Open Sans"/>
                <a:ea typeface="+mn-ea"/>
                <a:cs typeface="+mn-cs"/>
              </a:rPr>
              <a:t>Thales Academy</a:t>
            </a:r>
            <a:r>
              <a:rPr lang="en-US" sz="1100" dirty="0">
                <a:latin typeface="Open Sans"/>
              </a:rPr>
              <a:t> </a:t>
            </a:r>
            <a:r>
              <a:rPr lang="en-US" sz="1100" b="0" i="0" kern="1200" dirty="0">
                <a:solidFill>
                  <a:schemeClr val="tx1"/>
                </a:solidFill>
                <a:effectLst/>
                <a:latin typeface="Open Sans"/>
                <a:ea typeface="+mn-ea"/>
                <a:cs typeface="+mn-cs"/>
              </a:rPr>
              <a:t>redesigned website encapsulated Thales</a:t>
            </a:r>
            <a:r>
              <a:rPr lang="en-US" sz="1100" dirty="0">
                <a:latin typeface="Open Sans"/>
              </a:rPr>
              <a:t> </a:t>
            </a:r>
            <a:r>
              <a:rPr lang="en-US" sz="1100" b="0" i="0" kern="1200" dirty="0">
                <a:solidFill>
                  <a:schemeClr val="tx1"/>
                </a:solidFill>
                <a:effectLst/>
                <a:latin typeface="Open Sans"/>
                <a:ea typeface="+mn-ea"/>
                <a:cs typeface="+mn-cs"/>
              </a:rPr>
              <a:t>vision of classical education blended with modern technology. Every aspect of the site, from its attractive and streamlined design, to its intuitive navigation, guided prospective students and families to conversion. The development language and structure also made future content editing simple and achievable.
</a:t>
            </a: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58128" y="5244065"/>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pic>
        <p:nvPicPr>
          <p:cNvPr id="3" name="Picture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7672" y="2016347"/>
            <a:ext cx="2609850" cy="773987"/>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Websites</Value>
    </Solutions>
    <Industries xmlns="f0ee8362-fa7e-4bc9-ab88-7dcfb17cb19b">
      <Value>Manufacturing</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AA48E66-51CB-4CF3-9062-0E69646D7814}">
  <ds:schemaRefs>
    <ds:schemaRef ds:uri="http://schemas.microsoft.com/sharepoint/v3/contenttype/forms"/>
  </ds:schemaRefs>
</ds:datastoreItem>
</file>

<file path=customXml/itemProps2.xml><?xml version="1.0" encoding="utf-8"?>
<ds:datastoreItem xmlns:ds="http://schemas.openxmlformats.org/officeDocument/2006/customXml" ds:itemID="{54698218-4A78-46A6-B1F2-3BFEAB957A13}"/>
</file>

<file path=customXml/itemProps3.xml><?xml version="1.0" encoding="utf-8"?>
<ds:datastoreItem xmlns:ds="http://schemas.openxmlformats.org/officeDocument/2006/customXml" ds:itemID="{BE01CC90-78A6-46F8-AF96-B779FA7C912A}">
  <ds:schemaRefs>
    <ds:schemaRef ds:uri="http://purl.org/dc/elements/1.1/"/>
    <ds:schemaRef ds:uri="http://www.w3.org/XML/1998/namespace"/>
    <ds:schemaRef ds:uri="http://purl.org/dc/dcmitype/"/>
    <ds:schemaRef ds:uri="http://schemas.microsoft.com/office/infopath/2007/PartnerControls"/>
    <ds:schemaRef ds:uri="http://schemas.openxmlformats.org/package/2006/metadata/core-properties"/>
    <ds:schemaRef ds:uri="94f955fe-dfdf-46af-8eb4-7120d5d18e03"/>
    <ds:schemaRef ds:uri="http://purl.org/dc/terms/"/>
    <ds:schemaRef ds:uri="54243e05-8da7-404c-85e0-0480aaa26276"/>
    <ds:schemaRef ds:uri="http://schemas.microsoft.com/office/2006/documentManagement/types"/>
    <ds:schemaRef ds:uri="357972b2-b7ed-48bc-bbb4-0804bacba9d2"/>
    <ds:schemaRef ds:uri="7b4220d0-7dfa-4105-8a9f-61778b1dcc88"/>
    <ds:schemaRef ds:uri="http://schemas.microsoft.com/office/2006/metadata/properties"/>
  </ds:schemaRefs>
</ds:datastoreItem>
</file>

<file path=customXml/itemProps4.xml><?xml version="1.0" encoding="utf-8"?>
<ds:datastoreItem xmlns:ds="http://schemas.openxmlformats.org/officeDocument/2006/customXml" ds:itemID="{01389A1E-3BD3-4696-A91A-AED3CEB96F92}"/>
</file>

<file path=docProps/app.xml><?xml version="1.0" encoding="utf-8"?>
<Properties xmlns="http://schemas.openxmlformats.org/officeDocument/2006/extended-properties" xmlns:vt="http://schemas.openxmlformats.org/officeDocument/2006/docPropsVTypes">
  <TotalTime>4908</TotalTime>
  <Words>299</Words>
  <Application>Microsoft Office PowerPoint</Application>
  <PresentationFormat>Widescreen</PresentationFormat>
  <Paragraphs>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Thales Academy Web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Doug Christel</cp:lastModifiedBy>
  <cp:revision>571</cp:revision>
  <dcterms:created xsi:type="dcterms:W3CDTF">2017-10-09T12:47:23Z</dcterms:created>
  <dcterms:modified xsi:type="dcterms:W3CDTF">2021-06-09T21:31:34Z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58;#Education|385ce81e-4183-41eb-b473-ecd18f79329c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25000</vt:r8>
  </property>
  <property fmtid="{D5CDD505-2E9C-101B-9397-08002B2CF9AE}" pid="11" name="xd_Signature">
    <vt:bool>false</vt:bool>
  </property>
  <property fmtid="{D5CDD505-2E9C-101B-9397-08002B2CF9AE}" pid="12" name="SO">
    <vt:lpwstr>43;#;#44;#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