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1815" r:id="rId6"/>
    <p:sldId id="181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8" autoAdjust="0"/>
    <p:restoredTop sz="94660"/>
  </p:normalViewPr>
  <p:slideViewPr>
    <p:cSldViewPr snapToGrid="0">
      <p:cViewPr varScale="1">
        <p:scale>
          <a:sx n="86" d="100"/>
          <a:sy n="86" d="100"/>
        </p:scale>
        <p:origin x="108"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BB6EA-0E6D-4F5A-ABBB-9C8EF73C4E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59399C-216B-48BE-866D-74B13CF0F4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4D3115-8BA4-4C0E-A53B-577246489A61}"/>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5" name="Footer Placeholder 4">
            <a:extLst>
              <a:ext uri="{FF2B5EF4-FFF2-40B4-BE49-F238E27FC236}">
                <a16:creationId xmlns:a16="http://schemas.microsoft.com/office/drawing/2014/main" id="{8911061F-F1A6-4742-A0D4-E4E7E9F12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DE18D-63A6-44DC-8103-3CE141A63D9F}"/>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2393373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1FAD-7198-406A-ADC2-D91BACE097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E11027-EE05-4958-92A0-98CE0E7ADE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6614D9-CA08-4E11-98E3-2F29F0D364E9}"/>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5" name="Footer Placeholder 4">
            <a:extLst>
              <a:ext uri="{FF2B5EF4-FFF2-40B4-BE49-F238E27FC236}">
                <a16:creationId xmlns:a16="http://schemas.microsoft.com/office/drawing/2014/main" id="{2CAA04ED-5FCB-4901-A383-41A33C5C60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133CF-362D-4206-ADB9-5E0B447AD22B}"/>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1676559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5096D-DFA1-4F79-9DD5-65328AD4CC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AFF8F3-8742-434D-8A23-06E622E3EC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A7A2C-451E-4A65-84B8-1963894D23C8}"/>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5" name="Footer Placeholder 4">
            <a:extLst>
              <a:ext uri="{FF2B5EF4-FFF2-40B4-BE49-F238E27FC236}">
                <a16:creationId xmlns:a16="http://schemas.microsoft.com/office/drawing/2014/main" id="{F8C998BB-3B25-49B3-A327-AB7C6665DD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13A89-BDB7-430A-B896-8B7FBCD3C679}"/>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236482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0478-4089-43B9-A97D-F62761510D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75D470-7D55-478B-A6FB-772BFBA34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F3C28E-A31D-4112-B817-85D5517DF7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27BD92-06E3-44A8-A84A-6481E45EA2AC}"/>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6" name="Footer Placeholder 5">
            <a:extLst>
              <a:ext uri="{FF2B5EF4-FFF2-40B4-BE49-F238E27FC236}">
                <a16:creationId xmlns:a16="http://schemas.microsoft.com/office/drawing/2014/main" id="{04984C0B-29B6-49D8-B197-FBB2BB180B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8D70FF-27A9-4AC5-9D37-D4959B3AA107}"/>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2922445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429C-F021-4A21-B337-2313BA587C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BE8E0D-9D3C-488D-A917-9156F4A234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5C4590-03F4-4635-9F24-BC2F804BC9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9F8CB3-E1AE-4299-8256-751D324D5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CBE15A-1237-4CF7-B125-D8DBE4F9BF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2A81E2-AFD6-4004-A3D4-D10919B8AE53}"/>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8" name="Footer Placeholder 7">
            <a:extLst>
              <a:ext uri="{FF2B5EF4-FFF2-40B4-BE49-F238E27FC236}">
                <a16:creationId xmlns:a16="http://schemas.microsoft.com/office/drawing/2014/main" id="{75AB91E4-E6EA-4202-8701-29547C0135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A0CC04-8061-42CD-9C98-DAA7FE0159C7}"/>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272320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D83E9-D9AE-4CE7-9CF2-41405E53CC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A03DA9-86A8-4EDB-9D94-D728DBA01AC5}"/>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4" name="Footer Placeholder 3">
            <a:extLst>
              <a:ext uri="{FF2B5EF4-FFF2-40B4-BE49-F238E27FC236}">
                <a16:creationId xmlns:a16="http://schemas.microsoft.com/office/drawing/2014/main" id="{1D42F735-B964-442B-9CCB-708E32C128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24BBA0-25D8-4A40-B9B5-E476BE17B999}"/>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1779898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7C8D40-02AC-4D86-B7AC-285BA6DEC060}"/>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3" name="Footer Placeholder 2">
            <a:extLst>
              <a:ext uri="{FF2B5EF4-FFF2-40B4-BE49-F238E27FC236}">
                <a16:creationId xmlns:a16="http://schemas.microsoft.com/office/drawing/2014/main" id="{1DBAD79D-0CEE-4FD1-BBF8-8A59B56D42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804E82-5E02-4F3A-AC31-9400C286A182}"/>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3602054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92A78-F36F-4291-97CA-79B1D31D2A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96B293-073D-4B4E-A41F-3F675DD866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37AFE2-5098-4D97-AE69-EC6F41DE8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E50BDC-9030-42CD-824C-C2F2D9819E28}"/>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6" name="Footer Placeholder 5">
            <a:extLst>
              <a:ext uri="{FF2B5EF4-FFF2-40B4-BE49-F238E27FC236}">
                <a16:creationId xmlns:a16="http://schemas.microsoft.com/office/drawing/2014/main" id="{BA4078F8-4AD8-404A-B35C-44FCEB7FC3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69FEC-D263-4A80-AA6F-76A8D50C3948}"/>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948938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6B7D2-D105-44EF-B91C-985A59829E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2A4CDC-411F-4536-B3DF-18C26020CE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5AD006-AAD2-4300-9840-933E975454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3A98FD-80A4-4C3C-AA8F-29904AD4BF25}"/>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6" name="Footer Placeholder 5">
            <a:extLst>
              <a:ext uri="{FF2B5EF4-FFF2-40B4-BE49-F238E27FC236}">
                <a16:creationId xmlns:a16="http://schemas.microsoft.com/office/drawing/2014/main" id="{A1126483-7F68-4852-924A-274A238D83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5DC729-D272-4277-B261-102717709E52}"/>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145251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2BC86-9FED-4BFD-AEFA-EA48EA5FE4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A134F3-A87E-4E73-8B62-6E25CE59FC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B18AD9-4213-4BB1-B46A-67944F552791}"/>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5" name="Footer Placeholder 4">
            <a:extLst>
              <a:ext uri="{FF2B5EF4-FFF2-40B4-BE49-F238E27FC236}">
                <a16:creationId xmlns:a16="http://schemas.microsoft.com/office/drawing/2014/main" id="{2A1EB504-6221-4C12-A79D-D74B2E2F98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1BC81-0094-4275-8915-451F8609CFC7}"/>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1580232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C72EEB-6F66-4838-BFA3-57034E8890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9F90AD-C1F7-4FCE-9560-5B6CE49B6A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B3DD3E-9CB5-4424-A164-CDE63A4D95C3}"/>
              </a:ext>
            </a:extLst>
          </p:cNvPr>
          <p:cNvSpPr>
            <a:spLocks noGrp="1"/>
          </p:cNvSpPr>
          <p:nvPr>
            <p:ph type="dt" sz="half" idx="10"/>
          </p:nvPr>
        </p:nvSpPr>
        <p:spPr/>
        <p:txBody>
          <a:bodyPr/>
          <a:lstStyle/>
          <a:p>
            <a:fld id="{69D2C28E-906C-4850-89BE-EA25D5B60429}" type="datetimeFigureOut">
              <a:rPr lang="en-US" smtClean="0"/>
              <a:t>9/30/2025</a:t>
            </a:fld>
            <a:endParaRPr lang="en-US"/>
          </a:p>
        </p:txBody>
      </p:sp>
      <p:sp>
        <p:nvSpPr>
          <p:cNvPr id="5" name="Footer Placeholder 4">
            <a:extLst>
              <a:ext uri="{FF2B5EF4-FFF2-40B4-BE49-F238E27FC236}">
                <a16:creationId xmlns:a16="http://schemas.microsoft.com/office/drawing/2014/main" id="{EA253368-2BEF-4FAE-BF54-99D36CCFAB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BDF12-37EB-4CF3-8E7D-7A55E8F88691}"/>
              </a:ext>
            </a:extLst>
          </p:cNvPr>
          <p:cNvSpPr>
            <a:spLocks noGrp="1"/>
          </p:cNvSpPr>
          <p:nvPr>
            <p:ph type="sldNum" sz="quarter" idx="12"/>
          </p:nvPr>
        </p:nvSpPr>
        <p:spPr/>
        <p:txBody>
          <a:bodyPr/>
          <a:lstStyle/>
          <a:p>
            <a:fld id="{30BA2B52-537C-48E5-9ABE-DBB460B10BDC}" type="slidenum">
              <a:rPr lang="en-US" smtClean="0"/>
              <a:t>‹#›</a:t>
            </a:fld>
            <a:endParaRPr lang="en-US"/>
          </a:p>
        </p:txBody>
      </p:sp>
    </p:spTree>
    <p:extLst>
      <p:ext uri="{BB962C8B-B14F-4D97-AF65-F5344CB8AC3E}">
        <p14:creationId xmlns:p14="http://schemas.microsoft.com/office/powerpoint/2010/main" val="2393350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ase Study - Two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095998" y="0"/>
            <a:ext cx="6096002" cy="6245236"/>
          </a:xfrm>
        </p:spPr>
        <p:txBody>
          <a:bodyPr/>
          <a:lstStyle/>
          <a:p>
            <a:endParaRPr lang="en-US" dirty="0"/>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75000"/>
                    <a:lumOff val="25000"/>
                  </a:schemeClr>
                </a:solidFill>
              </a:defRPr>
            </a:lvl1pPr>
          </a:lstStyle>
          <a:p>
            <a:fld id="{056F86DB-78DF-EB43-A6BE-40415A3A0052}" type="slidenum">
              <a:rPr lang="en-US" smtClean="0"/>
              <a:pPr/>
              <a:t>‹#›</a:t>
            </a:fld>
            <a:endParaRPr lang="en-US" dirty="0"/>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063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025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ase Study - Two Slid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bg1"/>
                </a:solidFill>
              </a:defRPr>
            </a:lvl1pPr>
          </a:lstStyle>
          <a:p>
            <a:fld id="{056F86DB-78DF-EB43-A6BE-40415A3A0052}" type="slidenum">
              <a:rPr lang="en-US" smtClean="0"/>
              <a:pPr/>
              <a:t>‹#›</a:t>
            </a:fld>
            <a:endParaRPr lang="en-US" dirty="0"/>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558741"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063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3">
            <a:extLst>
              <a:ext uri="{FF2B5EF4-FFF2-40B4-BE49-F238E27FC236}">
                <a16:creationId xmlns:a16="http://schemas.microsoft.com/office/drawing/2014/main" id="{297CEAD3-C89F-4D4E-800D-03278CC987D0}"/>
              </a:ext>
            </a:extLst>
          </p:cNvPr>
          <p:cNvSpPr>
            <a:spLocks noGrp="1"/>
          </p:cNvSpPr>
          <p:nvPr>
            <p:ph type="body" sz="quarter" idx="21"/>
          </p:nvPr>
        </p:nvSpPr>
        <p:spPr>
          <a:xfrm>
            <a:off x="6095995" y="1450136"/>
            <a:ext cx="5066030" cy="3311987"/>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Rectangle 12">
            <a:extLst>
              <a:ext uri="{FF2B5EF4-FFF2-40B4-BE49-F238E27FC236}">
                <a16:creationId xmlns:a16="http://schemas.microsoft.com/office/drawing/2014/main" id="{AD24C7A6-D640-CF45-80ED-0D0586847BA0}"/>
              </a:ext>
            </a:extLst>
          </p:cNvPr>
          <p:cNvSpPr/>
          <p:nvPr userDrawn="1"/>
        </p:nvSpPr>
        <p:spPr>
          <a:xfrm>
            <a:off x="6095998" y="5093207"/>
            <a:ext cx="6096002" cy="1764793"/>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5">
            <a:extLst>
              <a:ext uri="{FF2B5EF4-FFF2-40B4-BE49-F238E27FC236}">
                <a16:creationId xmlns:a16="http://schemas.microsoft.com/office/drawing/2014/main" id="{B5A17C67-7CB2-284C-99FC-A2BAC91D5CF7}"/>
              </a:ext>
            </a:extLst>
          </p:cNvPr>
          <p:cNvSpPr>
            <a:spLocks noGrp="1"/>
          </p:cNvSpPr>
          <p:nvPr>
            <p:ph type="body" sz="quarter" idx="18" hasCustomPrompt="1"/>
          </p:nvPr>
        </p:nvSpPr>
        <p:spPr>
          <a:xfrm>
            <a:off x="6479966" y="556945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16" name="TextBox 15">
            <a:extLst>
              <a:ext uri="{FF2B5EF4-FFF2-40B4-BE49-F238E27FC236}">
                <a16:creationId xmlns:a16="http://schemas.microsoft.com/office/drawing/2014/main" id="{51E11AF9-BFB5-2249-A289-E9CD9BC90DAF}"/>
              </a:ext>
            </a:extLst>
          </p:cNvPr>
          <p:cNvSpPr txBox="1"/>
          <p:nvPr userDrawn="1"/>
        </p:nvSpPr>
        <p:spPr>
          <a:xfrm>
            <a:off x="6479967" y="5292458"/>
            <a:ext cx="1523418" cy="276999"/>
          </a:xfrm>
          <a:prstGeom prst="rect">
            <a:avLst/>
          </a:prstGeom>
          <a:noFill/>
        </p:spPr>
        <p:txBody>
          <a:bodyPr wrap="square" rtlCol="0">
            <a:spAutoFit/>
          </a:bodyPr>
          <a:lstStyle/>
          <a:p>
            <a:pPr algn="l"/>
            <a:r>
              <a:rPr lang="en-US" sz="1200" b="1" i="0" spc="300" dirty="0">
                <a:solidFill>
                  <a:schemeClr val="bg1"/>
                </a:solidFill>
                <a:latin typeface="Arial" panose="020B0604020202020204" pitchFamily="34" charset="0"/>
                <a:cs typeface="Arial" panose="020B0604020202020204" pitchFamily="34" charset="0"/>
              </a:rPr>
              <a:t>RESULTS</a:t>
            </a:r>
          </a:p>
        </p:txBody>
      </p:sp>
      <p:sp>
        <p:nvSpPr>
          <p:cNvPr id="17" name="Text Placeholder 5">
            <a:extLst>
              <a:ext uri="{FF2B5EF4-FFF2-40B4-BE49-F238E27FC236}">
                <a16:creationId xmlns:a16="http://schemas.microsoft.com/office/drawing/2014/main" id="{5E2E3C11-DE33-084A-AD71-C891FA8663DF}"/>
              </a:ext>
            </a:extLst>
          </p:cNvPr>
          <p:cNvSpPr>
            <a:spLocks noGrp="1"/>
          </p:cNvSpPr>
          <p:nvPr>
            <p:ph type="body" sz="quarter" idx="22" hasCustomPrompt="1"/>
          </p:nvPr>
        </p:nvSpPr>
        <p:spPr>
          <a:xfrm>
            <a:off x="6479965" y="596823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18" name="Text Placeholder 5">
            <a:extLst>
              <a:ext uri="{FF2B5EF4-FFF2-40B4-BE49-F238E27FC236}">
                <a16:creationId xmlns:a16="http://schemas.microsoft.com/office/drawing/2014/main" id="{DC954BAD-17EC-8E4A-9A29-55BEDEA6DB01}"/>
              </a:ext>
            </a:extLst>
          </p:cNvPr>
          <p:cNvSpPr>
            <a:spLocks noGrp="1"/>
          </p:cNvSpPr>
          <p:nvPr>
            <p:ph type="body" sz="quarter" idx="23" hasCustomPrompt="1"/>
          </p:nvPr>
        </p:nvSpPr>
        <p:spPr>
          <a:xfrm>
            <a:off x="8278598" y="5560830"/>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19" name="Text Placeholder 5">
            <a:extLst>
              <a:ext uri="{FF2B5EF4-FFF2-40B4-BE49-F238E27FC236}">
                <a16:creationId xmlns:a16="http://schemas.microsoft.com/office/drawing/2014/main" id="{3224947F-5A0A-8840-BFFF-2177D9724E38}"/>
              </a:ext>
            </a:extLst>
          </p:cNvPr>
          <p:cNvSpPr>
            <a:spLocks noGrp="1"/>
          </p:cNvSpPr>
          <p:nvPr>
            <p:ph type="body" sz="quarter" idx="24" hasCustomPrompt="1"/>
          </p:nvPr>
        </p:nvSpPr>
        <p:spPr>
          <a:xfrm>
            <a:off x="8278597" y="5959610"/>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20" name="Text Placeholder 5">
            <a:extLst>
              <a:ext uri="{FF2B5EF4-FFF2-40B4-BE49-F238E27FC236}">
                <a16:creationId xmlns:a16="http://schemas.microsoft.com/office/drawing/2014/main" id="{041CDB05-136E-5C4F-8C5F-901152807BB7}"/>
              </a:ext>
            </a:extLst>
          </p:cNvPr>
          <p:cNvSpPr>
            <a:spLocks noGrp="1"/>
          </p:cNvSpPr>
          <p:nvPr>
            <p:ph type="body" sz="quarter" idx="25" hasCustomPrompt="1"/>
          </p:nvPr>
        </p:nvSpPr>
        <p:spPr>
          <a:xfrm>
            <a:off x="10077230" y="555309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21" name="Text Placeholder 5">
            <a:extLst>
              <a:ext uri="{FF2B5EF4-FFF2-40B4-BE49-F238E27FC236}">
                <a16:creationId xmlns:a16="http://schemas.microsoft.com/office/drawing/2014/main" id="{D1361775-607B-C343-8D7F-3DEE0E32266D}"/>
              </a:ext>
            </a:extLst>
          </p:cNvPr>
          <p:cNvSpPr>
            <a:spLocks noGrp="1"/>
          </p:cNvSpPr>
          <p:nvPr>
            <p:ph type="body" sz="quarter" idx="26" hasCustomPrompt="1"/>
          </p:nvPr>
        </p:nvSpPr>
        <p:spPr>
          <a:xfrm>
            <a:off x="10077229" y="595187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Tree>
    <p:extLst>
      <p:ext uri="{BB962C8B-B14F-4D97-AF65-F5344CB8AC3E}">
        <p14:creationId xmlns:p14="http://schemas.microsoft.com/office/powerpoint/2010/main" val="819223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C499DF-BF7E-4194-B057-C33FE68CA3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5C32FD-2A91-4550-981B-08E1E34169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961DFF-5682-4BD2-86AE-9B5F25CCCD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D2C28E-906C-4850-89BE-EA25D5B60429}" type="datetimeFigureOut">
              <a:rPr lang="en-US" smtClean="0"/>
              <a:t>9/30/2025</a:t>
            </a:fld>
            <a:endParaRPr lang="en-US"/>
          </a:p>
        </p:txBody>
      </p:sp>
      <p:sp>
        <p:nvSpPr>
          <p:cNvPr id="5" name="Footer Placeholder 4">
            <a:extLst>
              <a:ext uri="{FF2B5EF4-FFF2-40B4-BE49-F238E27FC236}">
                <a16:creationId xmlns:a16="http://schemas.microsoft.com/office/drawing/2014/main" id="{68A98CA5-0B4A-4870-9936-801BD9314C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427E21-63EC-4340-8539-66FE2BBC05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BA2B52-537C-48E5-9ABE-DBB460B10BDC}" type="slidenum">
              <a:rPr lang="en-US" smtClean="0"/>
              <a:t>‹#›</a:t>
            </a:fld>
            <a:endParaRPr lang="en-US"/>
          </a:p>
        </p:txBody>
      </p:sp>
    </p:spTree>
    <p:extLst>
      <p:ext uri="{BB962C8B-B14F-4D97-AF65-F5344CB8AC3E}">
        <p14:creationId xmlns:p14="http://schemas.microsoft.com/office/powerpoint/2010/main" val="2306891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30978A-2A14-464E-920B-39258E5D23EF}"/>
              </a:ext>
            </a:extLst>
          </p:cNvPr>
          <p:cNvSpPr>
            <a:spLocks noGrp="1"/>
          </p:cNvSpPr>
          <p:nvPr>
            <p:ph type="sldNum" sz="quarter" idx="12"/>
          </p:nvPr>
        </p:nvSpPr>
        <p:spPr/>
        <p:txBody>
          <a:bodyPr/>
          <a:lstStyle/>
          <a:p>
            <a:fld id="{056F86DB-78DF-EB43-A6BE-40415A3A0052}" type="slidenum">
              <a:rPr lang="en-US" smtClean="0"/>
              <a:pPr/>
              <a:t>1</a:t>
            </a:fld>
            <a:endParaRPr lang="en-US" dirty="0"/>
          </a:p>
        </p:txBody>
      </p:sp>
      <p:sp>
        <p:nvSpPr>
          <p:cNvPr id="3" name="Title 2">
            <a:extLst>
              <a:ext uri="{FF2B5EF4-FFF2-40B4-BE49-F238E27FC236}">
                <a16:creationId xmlns:a16="http://schemas.microsoft.com/office/drawing/2014/main" id="{7AAC5494-1DE9-9E4E-9526-DA5138F0E937}"/>
              </a:ext>
            </a:extLst>
          </p:cNvPr>
          <p:cNvSpPr>
            <a:spLocks noGrp="1"/>
          </p:cNvSpPr>
          <p:nvPr>
            <p:ph type="ctrTitle"/>
          </p:nvPr>
        </p:nvSpPr>
        <p:spPr/>
        <p:txBody>
          <a:bodyPr/>
          <a:lstStyle/>
          <a:p>
            <a:r>
              <a:rPr lang="en-US" dirty="0"/>
              <a:t>Advantage Waypoint Sales Team Mobile</a:t>
            </a:r>
          </a:p>
        </p:txBody>
      </p:sp>
      <p:sp>
        <p:nvSpPr>
          <p:cNvPr id="4" name="Text Placeholder 3">
            <a:extLst>
              <a:ext uri="{FF2B5EF4-FFF2-40B4-BE49-F238E27FC236}">
                <a16:creationId xmlns:a16="http://schemas.microsoft.com/office/drawing/2014/main" id="{37B8E007-8058-4948-9872-3692D781E7E6}"/>
              </a:ext>
            </a:extLst>
          </p:cNvPr>
          <p:cNvSpPr>
            <a:spLocks noGrp="1"/>
          </p:cNvSpPr>
          <p:nvPr>
            <p:ph type="body" sz="quarter" idx="20"/>
          </p:nvPr>
        </p:nvSpPr>
        <p:spPr>
          <a:xfrm>
            <a:off x="591353" y="1501900"/>
            <a:ext cx="5492750" cy="4119321"/>
          </a:xfrm>
        </p:spPr>
        <p:txBody>
          <a:bodyPr>
            <a:normAutofit fontScale="92500"/>
          </a:bodyPr>
          <a:lstStyle/>
          <a:p>
            <a:pPr lvl="0"/>
            <a:r>
              <a:rPr lang="en-US" sz="1800" b="1" dirty="0">
                <a:solidFill>
                  <a:srgbClr val="008AD9"/>
                </a:solidFill>
                <a:latin typeface="+mn-lt"/>
                <a:cs typeface="Segoe UI" panose="020B0502040204020203" pitchFamily="34" charset="0"/>
              </a:rPr>
              <a:t>What We Did</a:t>
            </a:r>
          </a:p>
          <a:p>
            <a:pPr lvl="0"/>
            <a:r>
              <a:rPr lang="en-US" sz="1400" dirty="0">
                <a:solidFill>
                  <a:srgbClr val="353535"/>
                </a:solidFill>
                <a:latin typeface="+mn-lt"/>
                <a:cs typeface="Segoe UI" panose="020B0502040204020203" pitchFamily="34" charset="0"/>
              </a:rPr>
              <a:t>Built an application that runs natively on Android and iOS platforms to give both user types the unique interactive experience they expect from their phone interface. </a:t>
            </a:r>
          </a:p>
          <a:p>
            <a:pPr lvl="0"/>
            <a:r>
              <a:rPr lang="en-US" sz="1400" dirty="0">
                <a:solidFill>
                  <a:srgbClr val="353535"/>
                </a:solidFill>
                <a:latin typeface="+mn-lt"/>
                <a:cs typeface="Segoe UI" panose="020B0502040204020203" pitchFamily="34" charset="0"/>
              </a:rPr>
              <a:t>We enabled two unique barcode scanners that access Advantage Waypoint’s large database, which contains hundreds of thousands of products and gives a user full image and information and can run a search on competitors’ products as an associate comes across them in the field, comparing them to the database and giving information for further assessment. Affirma ensured a successful deployment of the application and Advantage Waypoint is very happy with the results. The project ended under budget and the application is fully launched and currently in use.</a:t>
            </a:r>
          </a:p>
          <a:p>
            <a:endParaRPr lang="en-US" sz="1200" dirty="0"/>
          </a:p>
        </p:txBody>
      </p:sp>
      <p:sp>
        <p:nvSpPr>
          <p:cNvPr id="7" name="Text Placeholder 6">
            <a:extLst>
              <a:ext uri="{FF2B5EF4-FFF2-40B4-BE49-F238E27FC236}">
                <a16:creationId xmlns:a16="http://schemas.microsoft.com/office/drawing/2014/main" id="{AB39CF23-7510-CD4F-BB08-237A534584E5}"/>
              </a:ext>
            </a:extLst>
          </p:cNvPr>
          <p:cNvSpPr>
            <a:spLocks noGrp="1"/>
          </p:cNvSpPr>
          <p:nvPr>
            <p:ph type="body" sz="quarter" idx="18"/>
          </p:nvPr>
        </p:nvSpPr>
        <p:spPr/>
        <p:txBody>
          <a:bodyPr/>
          <a:lstStyle/>
          <a:p>
            <a:r>
              <a:rPr lang="en-US" dirty="0"/>
              <a:t>5k</a:t>
            </a:r>
          </a:p>
        </p:txBody>
      </p:sp>
      <p:sp>
        <p:nvSpPr>
          <p:cNvPr id="8" name="Text Placeholder 7">
            <a:extLst>
              <a:ext uri="{FF2B5EF4-FFF2-40B4-BE49-F238E27FC236}">
                <a16:creationId xmlns:a16="http://schemas.microsoft.com/office/drawing/2014/main" id="{05009084-C2A9-A14B-8AA5-D642D880782A}"/>
              </a:ext>
            </a:extLst>
          </p:cNvPr>
          <p:cNvSpPr>
            <a:spLocks noGrp="1"/>
          </p:cNvSpPr>
          <p:nvPr>
            <p:ph type="body" sz="quarter" idx="22"/>
          </p:nvPr>
        </p:nvSpPr>
        <p:spPr/>
        <p:txBody>
          <a:bodyPr/>
          <a:lstStyle/>
          <a:p>
            <a:r>
              <a:rPr lang="en-US" dirty="0"/>
              <a:t>Increase of User Adoption</a:t>
            </a:r>
          </a:p>
        </p:txBody>
      </p:sp>
      <p:sp>
        <p:nvSpPr>
          <p:cNvPr id="9" name="Text Placeholder 8">
            <a:extLst>
              <a:ext uri="{FF2B5EF4-FFF2-40B4-BE49-F238E27FC236}">
                <a16:creationId xmlns:a16="http://schemas.microsoft.com/office/drawing/2014/main" id="{E1DD747E-20FD-6940-B8E6-0B6F2BB0B241}"/>
              </a:ext>
            </a:extLst>
          </p:cNvPr>
          <p:cNvSpPr>
            <a:spLocks noGrp="1"/>
          </p:cNvSpPr>
          <p:nvPr>
            <p:ph type="body" sz="quarter" idx="23"/>
          </p:nvPr>
        </p:nvSpPr>
        <p:spPr/>
        <p:txBody>
          <a:bodyPr/>
          <a:lstStyle/>
          <a:p>
            <a:r>
              <a:rPr lang="en-US" dirty="0"/>
              <a:t>3</a:t>
            </a:r>
          </a:p>
        </p:txBody>
      </p:sp>
      <p:sp>
        <p:nvSpPr>
          <p:cNvPr id="10" name="Text Placeholder 9">
            <a:extLst>
              <a:ext uri="{FF2B5EF4-FFF2-40B4-BE49-F238E27FC236}">
                <a16:creationId xmlns:a16="http://schemas.microsoft.com/office/drawing/2014/main" id="{D3B65217-A190-0649-85C7-23FD552CF3E0}"/>
              </a:ext>
            </a:extLst>
          </p:cNvPr>
          <p:cNvSpPr>
            <a:spLocks noGrp="1"/>
          </p:cNvSpPr>
          <p:nvPr>
            <p:ph type="body" sz="quarter" idx="24"/>
          </p:nvPr>
        </p:nvSpPr>
        <p:spPr/>
        <p:txBody>
          <a:bodyPr/>
          <a:lstStyle/>
          <a:p>
            <a:r>
              <a:rPr lang="en-US" dirty="0"/>
              <a:t>Responsive Viewport Sizes</a:t>
            </a:r>
          </a:p>
        </p:txBody>
      </p:sp>
      <p:sp>
        <p:nvSpPr>
          <p:cNvPr id="11" name="Text Placeholder 10">
            <a:extLst>
              <a:ext uri="{FF2B5EF4-FFF2-40B4-BE49-F238E27FC236}">
                <a16:creationId xmlns:a16="http://schemas.microsoft.com/office/drawing/2014/main" id="{50A98929-5E6C-8E44-A78F-9E38D1BCEFA1}"/>
              </a:ext>
            </a:extLst>
          </p:cNvPr>
          <p:cNvSpPr>
            <a:spLocks noGrp="1"/>
          </p:cNvSpPr>
          <p:nvPr>
            <p:ph type="body" sz="quarter" idx="25"/>
          </p:nvPr>
        </p:nvSpPr>
        <p:spPr/>
        <p:txBody>
          <a:bodyPr/>
          <a:lstStyle/>
          <a:p>
            <a:r>
              <a:rPr lang="en-US" dirty="0"/>
              <a:t>6 weeks</a:t>
            </a:r>
          </a:p>
        </p:txBody>
      </p:sp>
      <p:pic>
        <p:nvPicPr>
          <p:cNvPr id="14" name="Picture 13" descr="https://pivot.affirmaconsulting.com/CaseStudyImages/AWP-iphone.jpg">
            <a:extLst>
              <a:ext uri="{FF2B5EF4-FFF2-40B4-BE49-F238E27FC236}">
                <a16:creationId xmlns:a16="http://schemas.microsoft.com/office/drawing/2014/main" id="{433879AE-5C9B-45C1-91C8-59667680961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504" t="8911" r="3847" b="1369"/>
          <a:stretch/>
        </p:blipFill>
        <p:spPr bwMode="auto">
          <a:xfrm>
            <a:off x="7076831" y="1384331"/>
            <a:ext cx="4648200" cy="352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91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83934A2-18D7-7648-BD94-EBE28739CC1F}"/>
              </a:ext>
            </a:extLst>
          </p:cNvPr>
          <p:cNvSpPr>
            <a:spLocks noGrp="1"/>
          </p:cNvSpPr>
          <p:nvPr>
            <p:ph type="sldNum" sz="quarter" idx="12"/>
          </p:nvPr>
        </p:nvSpPr>
        <p:spPr/>
        <p:txBody>
          <a:bodyPr/>
          <a:lstStyle/>
          <a:p>
            <a:fld id="{056F86DB-78DF-EB43-A6BE-40415A3A0052}" type="slidenum">
              <a:rPr lang="en-US" smtClean="0"/>
              <a:pPr/>
              <a:t>2</a:t>
            </a:fld>
            <a:endParaRPr lang="en-US" dirty="0"/>
          </a:p>
        </p:txBody>
      </p:sp>
      <p:sp>
        <p:nvSpPr>
          <p:cNvPr id="4" name="Title 3">
            <a:extLst>
              <a:ext uri="{FF2B5EF4-FFF2-40B4-BE49-F238E27FC236}">
                <a16:creationId xmlns:a16="http://schemas.microsoft.com/office/drawing/2014/main" id="{E2E8FBEA-6BA6-494E-A12E-4CC67BD59014}"/>
              </a:ext>
            </a:extLst>
          </p:cNvPr>
          <p:cNvSpPr>
            <a:spLocks noGrp="1"/>
          </p:cNvSpPr>
          <p:nvPr>
            <p:ph type="ctrTitle"/>
          </p:nvPr>
        </p:nvSpPr>
        <p:spPr>
          <a:xfrm>
            <a:off x="603284" y="397933"/>
            <a:ext cx="8626441" cy="764390"/>
          </a:xfrm>
        </p:spPr>
        <p:txBody>
          <a:bodyPr>
            <a:normAutofit fontScale="90000"/>
          </a:bodyPr>
          <a:lstStyle/>
          <a:p>
            <a:r>
              <a:rPr lang="en-US" dirty="0"/>
              <a:t>Advantage Waypoint Sales Team Mobile</a:t>
            </a:r>
          </a:p>
        </p:txBody>
      </p:sp>
      <p:pic>
        <p:nvPicPr>
          <p:cNvPr id="8" name="Picture 7">
            <a:extLst>
              <a:ext uri="{FF2B5EF4-FFF2-40B4-BE49-F238E27FC236}">
                <a16:creationId xmlns:a16="http://schemas.microsoft.com/office/drawing/2014/main" id="{97E557A1-FCCD-4681-8547-687FC332E6A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44988" y="1431920"/>
            <a:ext cx="7047012" cy="5426080"/>
          </a:xfrm>
          <a:prstGeom prst="rect">
            <a:avLst/>
          </a:prstGeom>
          <a:noFill/>
          <a:ln>
            <a:noFill/>
          </a:ln>
        </p:spPr>
      </p:pic>
      <p:sp>
        <p:nvSpPr>
          <p:cNvPr id="11" name="TextBox 5">
            <a:extLst>
              <a:ext uri="{FF2B5EF4-FFF2-40B4-BE49-F238E27FC236}">
                <a16:creationId xmlns:a16="http://schemas.microsoft.com/office/drawing/2014/main" id="{D9E6EE0B-835A-4CF9-93AF-701251EADEF3}"/>
              </a:ext>
            </a:extLst>
          </p:cNvPr>
          <p:cNvSpPr txBox="1"/>
          <p:nvPr/>
        </p:nvSpPr>
        <p:spPr>
          <a:xfrm>
            <a:off x="603284" y="1768705"/>
            <a:ext cx="4347795" cy="442281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008AD9"/>
                </a:solidFill>
                <a:cs typeface="Segoe UI" panose="020B0502040204020203" pitchFamily="34" charset="0"/>
              </a:rPr>
              <a:t>Business Need</a:t>
            </a:r>
          </a:p>
          <a:p>
            <a:endParaRPr lang="en-US" sz="1600" b="1" dirty="0">
              <a:solidFill>
                <a:srgbClr val="008AD9"/>
              </a:solidFill>
              <a:cs typeface="Segoe UI" panose="020B0502040204020203" pitchFamily="34" charset="0"/>
            </a:endParaRPr>
          </a:p>
          <a:p>
            <a:pPr>
              <a:lnSpc>
                <a:spcPct val="150000"/>
              </a:lnSpc>
            </a:pPr>
            <a:r>
              <a:rPr lang="en-US" sz="1400" dirty="0">
                <a:solidFill>
                  <a:srgbClr val="353535"/>
                </a:solidFill>
                <a:cs typeface="Segoe UI" panose="020B0502040204020203" pitchFamily="34" charset="0"/>
              </a:rPr>
              <a:t>Advantage Waypoint came to Affirma to transfer their sales function web portal to a mobile application. The app needed to include their large database of information for distributors, operators, and sales associates and adapt the processes into Android and iOS formatting to empower the sales staff and drive business decisions with the information they provide. </a:t>
            </a:r>
          </a:p>
          <a:p>
            <a:pPr>
              <a:lnSpc>
                <a:spcPct val="150000"/>
              </a:lnSpc>
            </a:pPr>
            <a:endParaRPr lang="en-US" sz="1400" dirty="0">
              <a:solidFill>
                <a:srgbClr val="353535"/>
              </a:solidFill>
              <a:cs typeface="Segoe UI" panose="020B0502040204020203" pitchFamily="34" charset="0"/>
            </a:endParaRPr>
          </a:p>
          <a:p>
            <a:pPr>
              <a:lnSpc>
                <a:spcPct val="150000"/>
              </a:lnSpc>
            </a:pPr>
            <a:r>
              <a:rPr lang="en-US" sz="1400" dirty="0">
                <a:solidFill>
                  <a:srgbClr val="353535"/>
                </a:solidFill>
                <a:cs typeface="Segoe UI" panose="020B0502040204020203" pitchFamily="34" charset="0"/>
              </a:rPr>
              <a:t>We took their existing enterprise customer relationship management program and created a mobile version that went above and beyond the current web functionalities. </a:t>
            </a:r>
          </a:p>
        </p:txBody>
      </p:sp>
    </p:spTree>
    <p:extLst>
      <p:ext uri="{BB962C8B-B14F-4D97-AF65-F5344CB8AC3E}">
        <p14:creationId xmlns:p14="http://schemas.microsoft.com/office/powerpoint/2010/main" val="2025911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Mobile Application</Value>
    </Solutions>
    <Industries xmlns="f0ee8362-fa7e-4bc9-ab88-7dcfb17cb19b">
      <Value>Technology</Value>
      <Value>Food</Value>
    </Industries>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DA0870-5836-4F42-BDF9-20F83F3EEB06}">
  <ds:schemaRefs>
    <ds:schemaRef ds:uri="http://schemas.microsoft.com/sharepoint/v3/contenttype/forms"/>
  </ds:schemaRefs>
</ds:datastoreItem>
</file>

<file path=customXml/itemProps2.xml><?xml version="1.0" encoding="utf-8"?>
<ds:datastoreItem xmlns:ds="http://schemas.openxmlformats.org/officeDocument/2006/customXml" ds:itemID="{A3051BF1-31A0-4E63-8341-56C1C5DFE784}">
  <ds:schemaRefs>
    <ds:schemaRef ds:uri="http://schemas.microsoft.com/office/2006/metadata/properties"/>
    <ds:schemaRef ds:uri="http://schemas.microsoft.com/office/infopath/2007/PartnerControls"/>
    <ds:schemaRef ds:uri="f205c2cf-faee-43e7-95df-8aa62e5feae0"/>
    <ds:schemaRef ds:uri="f0ee8362-fa7e-4bc9-ab88-7dcfb17cb19b"/>
  </ds:schemaRefs>
</ds:datastoreItem>
</file>

<file path=customXml/itemProps3.xml><?xml version="1.0" encoding="utf-8"?>
<ds:datastoreItem xmlns:ds="http://schemas.openxmlformats.org/officeDocument/2006/customXml" ds:itemID="{F2F59CB7-14E6-430C-8DF8-C3BFE29250B8}">
  <ds:schemaRefs>
    <ds:schemaRef ds:uri="http://schemas.microsoft.com/office/2006/metadata/customXsn"/>
  </ds:schemaRefs>
</ds:datastoreItem>
</file>

<file path=customXml/itemProps4.xml><?xml version="1.0" encoding="utf-8"?>
<ds:datastoreItem xmlns:ds="http://schemas.openxmlformats.org/officeDocument/2006/customXml" ds:itemID="{00F66648-8456-4ABC-8B8C-294D8BB3C209}"/>
</file>

<file path=docProps/app.xml><?xml version="1.0" encoding="utf-8"?>
<Properties xmlns="http://schemas.openxmlformats.org/officeDocument/2006/extended-properties" xmlns:vt="http://schemas.openxmlformats.org/officeDocument/2006/docPropsVTypes">
  <TotalTime>1</TotalTime>
  <Words>231</Words>
  <Application>Microsoft Office PowerPoint</Application>
  <PresentationFormat>Widescreen</PresentationFormat>
  <Paragraphs>17</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Advantage Waypoint Sales Team Mobile</vt:lpstr>
      <vt:lpstr>Advantage Waypoint Sales Team Mobile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Advantage Waypoint Sales Team Mobile</dc:title>
  <dc:creator>Gabrielle Phillips</dc:creator>
  <cp:lastModifiedBy>Gabrielle Phillips</cp:lastModifiedBy>
  <cp:revision>5</cp:revision>
  <dcterms:created xsi:type="dcterms:W3CDTF">2021-05-07T18:46:42Z</dcterms:created>
  <dcterms:modified xsi:type="dcterms:W3CDTF">2025-09-30T15:41:34Z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Category">
    <vt:lpwstr>6;#Case Study|8faa0ad1-25f0-4f56-8e38-f60e20c455d6</vt:lpwstr>
  </property>
  <property fmtid="{D5CDD505-2E9C-101B-9397-08002B2CF9AE}" pid="5" name="Industry">
    <vt:lpwstr>9;#Agriculture|5df84b11-8ca9-4faf-bd9a-2a8f99471f09;#38;#Food|46041b94-1b79-4ecc-9dec-124819e4695a</vt:lpwstr>
  </property>
  <property fmtid="{D5CDD505-2E9C-101B-9397-08002B2CF9AE}" pid="6" name="Service_x0020_Offering">
    <vt:lpwstr/>
  </property>
  <property fmtid="{D5CDD505-2E9C-101B-9397-08002B2CF9AE}" pid="7" name="_ExtendedDescription">
    <vt:lpwstr/>
  </property>
  <property fmtid="{D5CDD505-2E9C-101B-9397-08002B2CF9AE}" pid="8" name="Service Offering">
    <vt:lpwstr/>
  </property>
  <property fmtid="{D5CDD505-2E9C-101B-9397-08002B2CF9AE}" pid="9" name="Business_x0020_Unit">
    <vt:lpwstr/>
  </property>
</Properties>
</file>