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3"/>
  </p:notesMasterIdLst>
  <p:sldIdLst>
    <p:sldId id="30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p="http://schemas.openxmlformats.org/presentationml/2006/main" xmlns:r="http://schemas.openxmlformats.org/officeDocument/2006/relationships" xmlns:a="http://schemas.openxmlformats.org/drawingml/2006/main" xmlns="">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p:present/>
    <p:sldAll/>
    <p:penClr>
      <a:prstClr val="red"/>
    </p:penClr>
    <p:extLst>
      <p:ext uri="{EC167BDD-8182-4AB7-AECC-EB403E3ABB37}">
        <p14:laserClr xmlns:p14="http://schemas.microsoft.com/office/powerpoint/2010/main" xmlns:p="http://schemas.openxmlformats.org/presentationml/2006/main" xmlns:r="http://schemas.openxmlformats.org/officeDocument/2006/relationships" xmlns:a="http://schemas.openxmlformats.org/drawingml/2006/main" xmlns="">
          <a:srgbClr val="FF0000"/>
        </p14:laserClr>
      </p:ext>
      <p:ext uri="{2FDB2607-1784-4EEB-B798-7EB5836EED8A}">
        <p14:showMediaCtrls xmlns:p14="http://schemas.microsoft.com/office/powerpoint/2010/main" xmlns:p="http://schemas.openxmlformats.org/presentationml/2006/main" xmlns:r="http://schemas.openxmlformats.org/officeDocument/2006/relationships" xmlns:a="http://schemas.openxmlformats.org/drawingml/2006/main" xmlns=""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xmlns:p="http://schemas.openxmlformats.org/presentationml/2006/main" xmlns:r="http://schemas.openxmlformats.org/officeDocument/2006/relationships" xmlns:a="http://schemas.openxmlformats.org/drawingml/2006/main" xmlns="" val="0"/>
    </p:ext>
    <p:ext uri="{D31A062A-798A-4329-ABDD-BBA856620510}">
      <p14:defaultImageDpi xmlns:p14="http://schemas.microsoft.com/office/powerpoint/2010/main" xmlns:p="http://schemas.openxmlformats.org/presentationml/2006/main" xmlns:r="http://schemas.openxmlformats.org/officeDocument/2006/relationships" xmlns:a="http://schemas.openxmlformats.org/drawingml/2006/main" xmlns="" val="220"/>
    </p:ext>
    <p:ext uri="{FD5EFAAD-0ECE-453E-9831-46B23BE46B34}">
      <p15:chartTrackingRefBased xmlns:p15="http://schemas.microsoft.com/office/powerpoint/2012/main" xmlns:p="http://schemas.openxmlformats.org/presentationml/2006/main" xmlns:r="http://schemas.openxmlformats.org/officeDocument/2006/relationships" xmlns:a="http://schemas.openxmlformats.org/drawingml/2006/main" xmlns=""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569" autoAdjust="0"/>
    <p:restoredTop sz="94608"/>
  </p:normalViewPr>
  <p:slideViewPr>
    <p:cSldViewPr snapToGrid="0" snapToObjects="1">
      <p:cViewPr varScale="1">
        <p:scale>
          <a:sx n="87" d="100"/>
          <a:sy n="87" d="100"/>
        </p:scale>
        <p:origin x="-128" y="-232"/>
      </p:cViewPr>
      <p:guideLst>
        <p:guide orient="horz" pos="2160"/>
        <p:guide pos="3816"/>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12" Type="http://schemas.openxmlformats.org/officeDocument/2006/relationships/customXml" Target="../customXml/item4.xml"/><Relationship Id="rId2" Type="http://schemas.openxmlformats.org/officeDocument/2006/relationships/slide" Target="slides/slide1.xml"/><Relationship Id="rId6" Type="http://schemas.openxmlformats.org/officeDocument/2006/relationships/viewProps" Target="viewProps.xml"/><Relationship Id="rId1" Type="http://schemas.openxmlformats.org/officeDocument/2006/relationships/slideMaster" Target="slideMasters/slideMaster1.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printerSettings" Target="printerSettings/printerSettings1.bin"/><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rPr lang="en-US"/>
              <a:pPr/>
              <a:t>5/16/19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rPr/>
              <a:pPr/>
              <a:t>‹#›</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p15="http://schemas.microsoft.com/office/powerpoint/2012/main" xmlns:a16="http://schemas.microsoft.com/office/drawing/2014/main" xmlns="" val="2582825011"/>
      </p:ext>
    </p:extLst>
  </p:cSld>
  <p:clrMapOvr>
    <a:masterClrMapping/>
  </p:clrMapOvr>
  <p:extLst mod="1">
    <p:ext uri="{DCECCB84-F9BA-43D5-87BE-67443E8EF086}">
      <p15:sldGuideLst xmlns:p15="http://schemas.microsoft.com/office/powerpoint/2012/main" xmlns:p="http://schemas.openxmlformats.org/presentationml/2006/main" xmlns:r="http://schemas.openxmlformats.org/officeDocument/2006/relationships" xmlns:a="http://schemas.openxmlformats.org/drawingml/2006/main" xmlns:p14="http://schemas.microsoft.com/office/powerpoint/2010/main" xmlns:a16="http://schemas.microsoft.com/office/drawing/2014/main" xmlns="">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xmlns:p="http://schemas.openxmlformats.org/presentationml/2006/main" xmlns:r="http://schemas.openxmlformats.org/officeDocument/2006/relationships" xmlns:a="http://schemas.openxmlformats.org/drawingml/2006/main" xmlns:p15="http://schemas.microsoft.com/office/powerpoint/2012/main" xmlns:p14="http://schemas.microsoft.com/office/powerpoint/2010/main" xmlns=""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p15="http://schemas.microsoft.com/office/powerpoint/2012/main" xmlns:a16="http://schemas.microsoft.com/office/drawing/2014/main" xmlns="" val="731290465"/>
      </p:ext>
    </p:extLst>
  </p:cSld>
  <p:clrMapOvr>
    <a:masterClrMapping/>
  </p:clrMapOvr>
  <p:extLst mod="1">
    <p:ext uri="{DCECCB84-F9BA-43D5-87BE-67443E8EF086}">
      <p15:sldGuideLst xmlns:p15="http://schemas.microsoft.com/office/powerpoint/2012/main" xmlns:p="http://schemas.openxmlformats.org/presentationml/2006/main" xmlns:r="http://schemas.openxmlformats.org/officeDocument/2006/relationships" xmlns:a="http://schemas.openxmlformats.org/drawingml/2006/main" xmlns:p14="http://schemas.microsoft.com/office/powerpoint/2010/main" xmlns:a16="http://schemas.microsoft.com/office/drawing/2014/main" xmlns="">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rPr lang="en-US"/>
              <a:pPr/>
              <a:t>5/16/19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rPr/>
              <a:pPr/>
              <a:t>‹#›</a:t>
            </a:fld>
            <a:endParaRPr lang="en-US"/>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38F97E55-68B0-4E78-8819-96463181F0E0}"/>
              </a:ext>
            </a:extLst>
          </p:cNvPr>
          <p:cNvSpPr/>
          <p:nvPr/>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normAutofit fontScale="90000"/>
          </a:bodyPr>
          <a:lstStyle>
            <a:lvl1pPr>
              <a:defRPr b="0">
                <a:solidFill>
                  <a:schemeClr val="bg1"/>
                </a:solidFill>
                <a:latin typeface="Montserrat"/>
              </a:defRPr>
            </a:lvl1pPr>
          </a:lstStyle>
          <a:p>
            <a:r>
              <a:rPr lang="en-US" dirty="0"/>
              <a:t>Infospace Reporting Portal</a:t>
            </a:r>
          </a:p>
        </p:txBody>
      </p:sp>
      <p:grpSp>
        <p:nvGrpSpPr>
          <p:cNvPr id="10" name="Group 9">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13883256-DDF5-46AA-B364-D5E565E8F2E8}"/>
              </a:ext>
            </a:extLst>
          </p:cNvPr>
          <p:cNvGrpSpPr/>
          <p:nvPr/>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9665E9BF-B954-4AC7-821E-2E0CD116D915}"/>
              </a:ext>
            </a:extLst>
          </p:cNvPr>
          <p:cNvSpPr/>
          <p:nvPr/>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EC9A7433-5BCD-4EA6-924A-53FDBF0CAAA6}"/>
              </a:ext>
            </a:extLst>
          </p:cNvPr>
          <p:cNvSpPr txBox="1"/>
          <p:nvPr/>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Blucora came to Affirma when they wanted to improve market share and regain competitive advantage. Blucora’s business model revolves around aggregating web data for clients and providing that data via SSRS 2008 reports. Limited by the bland SSRS default portal design, Blucora needed to update the visual appeal of these reports in order to tackle their emerging competition. Affirma was engaged to turn a standard SSRS portal into a visually stunning and interactive tool for clients.</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E1C0119A-9047-4290-917B-405E19FFDA31}"/>
              </a:ext>
            </a:extLst>
          </p:cNvPr>
          <p:cNvSpPr txBox="1"/>
          <p:nvPr/>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A2CD0AFB-BBEB-434B-985F-3ACF7BE51454}"/>
              </a:ext>
            </a:extLst>
          </p:cNvPr>
          <p:cNvSpPr txBox="1"/>
          <p:nvPr/>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	Affirma re-designed existing SSRS reports, while creating custom skins and functionality for the SSRS 2008 portal. 
•	Historically, making customizations to any SSRS default portal had never been done before. Without any precedent for turning the standard SSRS portal into something visually appealing, Affirma’s team developed a creative and unique way to do so using JQuery, CSS and JavaScript.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EC17F625-2EC2-4F28-895B-03B104D7945A}"/>
              </a:ext>
            </a:extLst>
          </p:cNvPr>
          <p:cNvSpPr txBox="1"/>
          <p:nvPr/>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127A5A2A-6A75-46BB-A872-3D435F9C8C26}"/>
              </a:ext>
            </a:extLst>
          </p:cNvPr>
          <p:cNvSpPr txBox="1"/>
          <p:nvPr/>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Initial feedback has been very positive. The client plans to go live with the new portal and updated reports December 2012.</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xmlns:a="http://schemas.openxmlformats.org/drawingml/2006/main" xmlns:p="http://schemas.openxmlformats.org/presentationml/2006/main" xmlns:p14="http://schemas.microsoft.com/office/powerpoint/2010/main" xmlns:a14="http://schemas.microsoft.com/office/drawing/2010/main" xmlns="" id="{4651924A-7907-4360-9ED8-B533D803C21B}"/>
              </a:ext>
            </a:extLst>
          </p:cNvPr>
          <p:cNvSpPr txBox="1"/>
          <p:nvPr/>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xmlns:a="http://schemas.openxmlformats.org/drawingml/2006/main" xmlns:r="http://schemas.openxmlformats.org/officeDocument/2006/relationships" xmlns:p="http://schemas.openxmlformats.org/presentationml/2006/main" xmlns:p14="http://schemas.microsoft.com/office/powerpoint/2010/main" xmlns:a16="http://schemas.microsoft.com/office/drawing/2014/main" xmlns=""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xmlns:p="http://schemas.openxmlformats.org/presentationml/2006/main" xmlns:a14="http://schemas.microsoft.com/office/drawing/2010/main" xmlns:a16="http://schemas.microsoft.com/office/drawing/2014/main" xmlns=""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a="http://schemas.openxmlformats.org/drawingml/2006/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a="http://schemas.openxmlformats.org/drawingml/2006/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UX/ UI Design</Value>
      <Value>Websites</Value>
    </Solutions>
    <Industries xmlns="f0ee8362-fa7e-4bc9-ab88-7dcfb17cb19b">
      <Value>Technology</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38979077-76DF-4267-BFA3-49E73F964492}"/>
</file>

<file path=customXml/itemProps2.xml><?xml version="1.0" encoding="utf-8"?>
<ds:datastoreItem xmlns:ds="http://schemas.openxmlformats.org/officeDocument/2006/customXml" ds:itemID="{4ED34AF1-B60D-437F-8F64-90DC43DCAA0A}"/>
</file>

<file path=customXml/itemProps3.xml><?xml version="1.0" encoding="utf-8"?>
<ds:datastoreItem xmlns:ds="http://schemas.openxmlformats.org/officeDocument/2006/customXml" ds:itemID="{E6030499-D0D8-422B-9354-02B7F57E5236}"/>
</file>

<file path=customXml/itemProps4.xml><?xml version="1.0" encoding="utf-8"?>
<ds:datastoreItem xmlns:ds="http://schemas.openxmlformats.org/officeDocument/2006/customXml" ds:itemID="{42AF7076-8F4B-445B-B033-2346024964D5}"/>
</file>

<file path=docProps/app.xml><?xml version="1.0" encoding="utf-8"?>
<Properties xmlns="http://schemas.openxmlformats.org/officeDocument/2006/extended-properties" xmlns:vt="http://schemas.openxmlformats.org/officeDocument/2006/docPropsVTypes">
  <TotalTime>4898</TotalTime>
  <Words>186</Words>
  <Application>Microsoft Macintosh PowerPoint</Application>
  <PresentationFormat>Custom</PresentationFormat>
  <Paragraphs>7</Paragraphs>
  <Slides>1</Slides>
  <Notes>0</Notes>
  <HiddenSlides>0</HiddenSlides>
  <MMClips>0</MMClips>
  <ScaleCrop>false</ScaleCrop>
  <HeadingPairs>
    <vt:vector size="4" baseType="variant">
      <vt:variant>
        <vt:lpstr>Design Template</vt:lpstr>
      </vt:variant>
      <vt:variant>
        <vt:i4>1</vt:i4>
      </vt:variant>
      <vt:variant>
        <vt:lpstr>Slide Titles</vt:lpstr>
      </vt:variant>
      <vt:variant>
        <vt:i4>1</vt:i4>
      </vt:variant>
    </vt:vector>
  </HeadingPairs>
  <TitlesOfParts>
    <vt:vector size="2" baseType="lpstr">
      <vt:lpstr>Office Theme</vt:lpstr>
      <vt:lpstr>Infospace Reporting Portal</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Scot Reynolds</cp:lastModifiedBy>
  <cp:revision>572</cp:revision>
  <dcterms:created xsi:type="dcterms:W3CDTF">2019-05-16T21:02:50Z</dcterms:created>
  <dcterms:modified xsi:type="dcterms:W3CDTF">2019-05-16T21:03:28Z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3;#Modern Workplace|5e13f635-143c-4003-9ef7-883d87ea247e</vt:lpwstr>
  </property>
  <property fmtid="{D5CDD505-2E9C-101B-9397-08002B2CF9AE}" pid="4" name="Category">
    <vt:lpwstr>6;#Case Study|8faa0ad1-25f0-4f56-8e38-f60e20c455d6</vt:lpwstr>
  </property>
  <property fmtid="{D5CDD505-2E9C-101B-9397-08002B2CF9AE}" pid="5" name="Industry">
    <vt:lpwstr>49;#Technology|9fd4705e-a3c7-4085-9147-cb1125b68f2c</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3;#Modern Workplace|5e13f635-143c-4003-9ef7-883d87ea247e</vt:lpwstr>
  </property>
  <property fmtid="{D5CDD505-2E9C-101B-9397-08002B2CF9AE}" pid="10" name="Order">
    <vt:r8>19900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