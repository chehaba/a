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7"/>
  </p:notesMasterIdLst>
  <p:sldIdLst>
    <p:sldId id="3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12A"/>
    <a:srgbClr val="182D4C"/>
    <a:srgbClr val="2F2F2F"/>
    <a:srgbClr val="6C86B8"/>
    <a:srgbClr val="D87724"/>
    <a:srgbClr val="6A93D0"/>
    <a:srgbClr val="192943"/>
    <a:srgbClr val="1C375C"/>
    <a:srgbClr val="2F4E7F"/>
    <a:srgbClr val="2D5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511347-47FC-ECB9-08C6-6CC5E25CD130}" v="110" dt="2024-06-03T16:14:44.944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08"/>
  </p:normalViewPr>
  <p:slideViewPr>
    <p:cSldViewPr snapToGrid="0" snapToObjects="1">
      <p:cViewPr varScale="1">
        <p:scale>
          <a:sx n="87" d="100"/>
          <a:sy n="87" d="100"/>
        </p:scale>
        <p:origin x="-128" y="-104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F8511347-47FC-ECB9-08C6-6CC5E25CD130}"/>
    <pc:docChg chg="modSld">
      <pc:chgData name="Brendan Murphy" userId="S::bmurphy@affirma.com::e9f923b6-6d89-4d4e-a3b7-d9304b9d44ba" providerId="AD" clId="Web-{F8511347-47FC-ECB9-08C6-6CC5E25CD130}" dt="2024-06-03T16:14:44.944" v="65" actId="1076"/>
      <pc:docMkLst>
        <pc:docMk/>
      </pc:docMkLst>
      <pc:sldChg chg="modSp">
        <pc:chgData name="Brendan Murphy" userId="S::bmurphy@affirma.com::e9f923b6-6d89-4d4e-a3b7-d9304b9d44ba" providerId="AD" clId="Web-{F8511347-47FC-ECB9-08C6-6CC5E25CD130}" dt="2024-06-03T16:14:44.944" v="65" actId="1076"/>
        <pc:sldMkLst>
          <pc:docMk/>
          <pc:sldMk cId="2582825011" sldId="300"/>
        </pc:sldMkLst>
        <pc:spChg chg="mod">
          <ac:chgData name="Brendan Murphy" userId="S::bmurphy@affirma.com::e9f923b6-6d89-4d4e-a3b7-d9304b9d44ba" providerId="AD" clId="Web-{F8511347-47FC-ECB9-08C6-6CC5E25CD130}" dt="2024-06-03T16:13:41.332" v="14" actId="1076"/>
          <ac:spMkLst>
            <pc:docMk/>
            <pc:sldMk cId="2582825011" sldId="300"/>
            <ac:spMk id="31" creationId="{EC9A7433-5BCD-4EA6-924A-53FDBF0CAAA6}"/>
          </ac:spMkLst>
        </pc:spChg>
        <pc:spChg chg="mod">
          <ac:chgData name="Brendan Murphy" userId="S::bmurphy@affirma.com::e9f923b6-6d89-4d4e-a3b7-d9304b9d44ba" providerId="AD" clId="Web-{F8511347-47FC-ECB9-08C6-6CC5E25CD130}" dt="2024-06-03T16:13:41.317" v="13" actId="1076"/>
          <ac:spMkLst>
            <pc:docMk/>
            <pc:sldMk cId="2582825011" sldId="300"/>
            <ac:spMk id="32" creationId="{E1C0119A-9047-4290-917B-405E19FFDA31}"/>
          </ac:spMkLst>
        </pc:spChg>
        <pc:spChg chg="mod">
          <ac:chgData name="Brendan Murphy" userId="S::bmurphy@affirma.com::e9f923b6-6d89-4d4e-a3b7-d9304b9d44ba" providerId="AD" clId="Web-{F8511347-47FC-ECB9-08C6-6CC5E25CD130}" dt="2024-06-03T16:14:42.865" v="64" actId="20577"/>
          <ac:spMkLst>
            <pc:docMk/>
            <pc:sldMk cId="2582825011" sldId="300"/>
            <ac:spMk id="33" creationId="{A2CD0AFB-BBEB-434B-985F-3ACF7BE51454}"/>
          </ac:spMkLst>
        </pc:spChg>
        <pc:spChg chg="mod">
          <ac:chgData name="Brendan Murphy" userId="S::bmurphy@affirma.com::e9f923b6-6d89-4d4e-a3b7-d9304b9d44ba" providerId="AD" clId="Web-{F8511347-47FC-ECB9-08C6-6CC5E25CD130}" dt="2024-06-03T16:13:45.567" v="15" actId="1076"/>
          <ac:spMkLst>
            <pc:docMk/>
            <pc:sldMk cId="2582825011" sldId="300"/>
            <ac:spMk id="34" creationId="{EC17F625-2EC2-4F28-895B-03B104D7945A}"/>
          </ac:spMkLst>
        </pc:spChg>
        <pc:spChg chg="mod">
          <ac:chgData name="Brendan Murphy" userId="S::bmurphy@affirma.com::e9f923b6-6d89-4d4e-a3b7-d9304b9d44ba" providerId="AD" clId="Web-{F8511347-47FC-ECB9-08C6-6CC5E25CD130}" dt="2024-06-03T16:14:28.756" v="51" actId="20577"/>
          <ac:spMkLst>
            <pc:docMk/>
            <pc:sldMk cId="2582825011" sldId="300"/>
            <ac:spMk id="35" creationId="{127A5A2A-6A75-46BB-A872-3D435F9C8C26}"/>
          </ac:spMkLst>
        </pc:spChg>
        <pc:picChg chg="mod">
          <ac:chgData name="Brendan Murphy" userId="S::bmurphy@affirma.com::e9f923b6-6d89-4d4e-a3b7-d9304b9d44ba" providerId="AD" clId="Web-{F8511347-47FC-ECB9-08C6-6CC5E25CD130}" dt="2024-06-03T16:14:44.944" v="65" actId="1076"/>
          <ac:picMkLst>
            <pc:docMk/>
            <pc:sldMk cId="2582825011" sldId="300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89A5-BE3E-2441-87C0-54B69ED90FC7}" type="datetimeFigureOut">
              <a:rPr lang="en-US"/>
              <a:pPr/>
              <a:t>6/3/2024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22639-76C9-2740-BE4D-A4E2B1985EBA}" type="slidenum">
              <a:rPr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3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405468" y="1418121"/>
            <a:ext cx="3782286" cy="3782286"/>
          </a:xfrm>
          <a:custGeom>
            <a:avLst/>
            <a:gdLst>
              <a:gd name="connsiteX0" fmla="*/ 1891143 w 3782286"/>
              <a:gd name="connsiteY0" fmla="*/ 0 h 3782286"/>
              <a:gd name="connsiteX1" fmla="*/ 3782286 w 3782286"/>
              <a:gd name="connsiteY1" fmla="*/ 1891143 h 3782286"/>
              <a:gd name="connsiteX2" fmla="*/ 1891143 w 3782286"/>
              <a:gd name="connsiteY2" fmla="*/ 3782286 h 3782286"/>
              <a:gd name="connsiteX3" fmla="*/ 0 w 3782286"/>
              <a:gd name="connsiteY3" fmla="*/ 1891143 h 3782286"/>
              <a:gd name="connsiteX4" fmla="*/ 1891143 w 3782286"/>
              <a:gd name="connsiteY4" fmla="*/ 0 h 3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2286" h="3782286">
                <a:moveTo>
                  <a:pt x="1891143" y="0"/>
                </a:moveTo>
                <a:cubicBezTo>
                  <a:pt x="2935592" y="0"/>
                  <a:pt x="3782286" y="846694"/>
                  <a:pt x="3782286" y="1891143"/>
                </a:cubicBezTo>
                <a:cubicBezTo>
                  <a:pt x="3782286" y="2935592"/>
                  <a:pt x="2935592" y="3782286"/>
                  <a:pt x="1891143" y="3782286"/>
                </a:cubicBezTo>
                <a:cubicBezTo>
                  <a:pt x="846694" y="3782286"/>
                  <a:pt x="0" y="2935592"/>
                  <a:pt x="0" y="1891143"/>
                </a:cubicBezTo>
                <a:cubicBezTo>
                  <a:pt x="0" y="846694"/>
                  <a:pt x="846694" y="0"/>
                  <a:pt x="1891143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9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8763000" y="0"/>
            <a:ext cx="3429000" cy="6858000"/>
          </a:xfrm>
          <a:custGeom>
            <a:avLst/>
            <a:gdLst>
              <a:gd name="connsiteX0" fmla="*/ 3429000 w 3429000"/>
              <a:gd name="connsiteY0" fmla="*/ 0 h 6858000"/>
              <a:gd name="connsiteX1" fmla="*/ 3429000 w 3429000"/>
              <a:gd name="connsiteY1" fmla="*/ 6858000 h 6858000"/>
              <a:gd name="connsiteX2" fmla="*/ 0 w 3429000"/>
              <a:gd name="connsiteY2" fmla="*/ 3429000 h 6858000"/>
              <a:gd name="connsiteX3" fmla="*/ 3429000 w 3429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6858000">
                <a:moveTo>
                  <a:pt x="3429000" y="0"/>
                </a:move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7"/>
                  <a:pt x="1535216" y="0"/>
                  <a:pt x="3429000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6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04616" y="3578094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ECA3D9A-2ED8-4AE0-ACE4-B53CB627B2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7646" y="1565275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4953002" y="988395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5811130" y="2002260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5811131" y="1575220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5811130" y="3519578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5811131" y="3092538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5826605" y="5562764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5826605" y="5135724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3550917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585296-BAA5-41EE-AC7D-F347285C31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15685" y="1531636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90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A23AB-5C46-FA4A-BF97-1CB175D11720}" type="datetimeFigureOut">
              <a:rPr lang="en-US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42A-9AC8-E54B-B87E-06913CF81F51}" type="slidenum">
              <a:rPr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8" r:id="rId3"/>
    <p:sldLayoutId id="2147483712" r:id="rId4"/>
    <p:sldLayoutId id="214748371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Crimson Care Registry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/>
        </p:nvSpPr>
        <p:spPr>
          <a:xfrm>
            <a:off x="858128" y="1549484"/>
            <a:ext cx="5533147" cy="12772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Advisory Board came to </a:t>
            </a: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Affirma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with the goal of streamlining the care management process. Advisory Board utilizes a care manager to enroll patients in a registry; that manager then contacts each patient by phone once a week to determine his or her status, thereby transitioning care responsibility to the patient. Advisory Board needed a care management tool that would seamlessly integrate with their existing application</a:t>
            </a:r>
            <a:r>
              <a:rPr lang="en-US" sz="1100" dirty="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  <a:endParaRPr lang="en-US" sz="1100" b="0" i="0" kern="1200" dirty="0">
              <a:effectLst/>
              <a:latin typeface="Open Sans"/>
              <a:ea typeface="Open Sans"/>
              <a:cs typeface="Open San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/>
        </p:nvSpPr>
        <p:spPr>
          <a:xfrm>
            <a:off x="858129" y="112244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/>
        </p:nvSpPr>
        <p:spPr>
          <a:xfrm>
            <a:off x="858128" y="3118589"/>
            <a:ext cx="5533147" cy="16158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Affirma built a care management tool for Advisory Board containing built-in logic which assigns the appropriate care plan to patients based on the </a:t>
            </a:r>
            <a:r>
              <a:rPr lang="en-US" sz="1100">
                <a:latin typeface="Open Sans"/>
              </a:rPr>
              <a:t>individual's</a:t>
            </a:r>
            <a:r>
              <a:rPr lang="en-US" sz="1100" b="0" i="0" kern="1200">
                <a:effectLst/>
                <a:latin typeface="Open Sans"/>
                <a:ea typeface="+mn-ea"/>
                <a:cs typeface="+mn-cs"/>
              </a:rPr>
              <a:t> specific health issues</a:t>
            </a:r>
            <a:r>
              <a:rPr lang="en-US" sz="1100">
                <a:latin typeface="Open Sans"/>
              </a:rPr>
              <a:t>.</a:t>
            </a:r>
            <a:endParaRPr lang="en-US" sz="1100" dirty="0">
              <a:latin typeface="Open Sans"/>
            </a:endParaRPr>
          </a:p>
          <a:p>
            <a:pPr marL="171450" indent="-171450">
              <a:buFont typeface="Arial"/>
              <a:buChar char="•"/>
            </a:pPr>
            <a:r>
              <a:rPr lang="en-US" sz="1100" dirty="0" err="1">
                <a:latin typeface="Open Sans"/>
              </a:rPr>
              <a:t>Affirma's</a:t>
            </a:r>
            <a:r>
              <a:rPr lang="en-US" sz="1100" dirty="0">
                <a:latin typeface="Open Sans"/>
              </a:rPr>
              <a:t> 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in-house development team used .NET to create a web-based tool allowing care managers to access pertinent patient information from an intuitive, easy-to-use interface</a:t>
            </a:r>
            <a:r>
              <a:rPr lang="en-US" sz="1100" dirty="0">
                <a:latin typeface="Open Sans"/>
              </a:rPr>
              <a:t>.</a:t>
            </a:r>
            <a:endParaRPr lang="en-US" sz="1100">
              <a:latin typeface="Open Sans"/>
              <a:ea typeface="Open Sans"/>
              <a:cs typeface="Open Sans"/>
            </a:endParaRPr>
          </a:p>
          <a:p>
            <a:pPr marL="171450" indent="-171450">
              <a:buFont typeface="Arial"/>
              <a:buChar char="•"/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The solution utilizes tracking and reporting services, and is fully integrated into Advisory </a:t>
            </a:r>
            <a:r>
              <a:rPr lang="en-US" sz="1100" dirty="0">
                <a:latin typeface="Open Sans"/>
              </a:rPr>
              <a:t>Board's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existing application</a:t>
            </a:r>
            <a:r>
              <a:rPr lang="en-US" sz="1100" dirty="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  <a:endParaRPr lang="en-US" sz="1100" b="0" i="0" kern="1200">
              <a:effectLst/>
              <a:latin typeface="Open Sans"/>
              <a:ea typeface="Open Sans"/>
              <a:cs typeface="Open San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/>
        </p:nvSpPr>
        <p:spPr>
          <a:xfrm>
            <a:off x="858129" y="2691549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/>
        </p:nvSpPr>
        <p:spPr>
          <a:xfrm>
            <a:off x="873603" y="5568668"/>
            <a:ext cx="5517672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The end solution optimized workflows and processing for care managers and their patients. Advisory Board leveraged </a:t>
            </a:r>
            <a:r>
              <a:rPr lang="en-US" sz="1100" dirty="0" err="1">
                <a:latin typeface="Open Sans"/>
              </a:rPr>
              <a:t>Affirma's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development team to not only expedite delivery of the care management solution, but also to eliminate workload and time constraints on their in-house team. </a:t>
            </a:r>
            <a:r>
              <a:rPr lang="en-US" sz="1100" dirty="0" err="1">
                <a:latin typeface="Open Sans"/>
              </a:rPr>
              <a:t>Affirma's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QA team provided automated, comprehensive UI testing, condensing the testing phase from months down to weeks. The client has been extremely happy with the finished product and continues to work with </a:t>
            </a: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Affirma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for ongoing needs
</a:t>
            </a:r>
            <a:endParaRPr lang="en-US" sz="1100" b="0" i="0" kern="1200" dirty="0">
              <a:effectLst/>
              <a:latin typeface="Open Sans"/>
              <a:ea typeface="Open Sans"/>
              <a:cs typeface="Open San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pic>
        <p:nvPicPr>
          <p:cNvPr id="4" name="Picture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228" y="2549764"/>
            <a:ext cx="42545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avedigital">
      <a:dk1>
        <a:srgbClr val="242527"/>
      </a:dk1>
      <a:lt1>
        <a:srgbClr val="FFFFFF"/>
      </a:lt1>
      <a:dk2>
        <a:srgbClr val="262626"/>
      </a:dk2>
      <a:lt2>
        <a:srgbClr val="FFFFFF"/>
      </a:lt2>
      <a:accent1>
        <a:srgbClr val="FFC017"/>
      </a:accent1>
      <a:accent2>
        <a:srgbClr val="535353"/>
      </a:accent2>
      <a:accent3>
        <a:srgbClr val="A7A7A7"/>
      </a:accent3>
      <a:accent4>
        <a:srgbClr val="D2DDD9"/>
      </a:accent4>
      <a:accent5>
        <a:srgbClr val="3F3F3F"/>
      </a:accent5>
      <a:accent6>
        <a:srgbClr val="2C2C2C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</BusinessUnit>
    <Solutions xmlns="f0ee8362-fa7e-4bc9-ab88-7dcfb17cb19b" xsi:nil="true"/>
    <Industries xmlns="f0ee8362-fa7e-4bc9-ab88-7dcfb17cb19b">
      <Value>Healthcare</Value>
    </Industries>
    <Notes0 xmlns="f0ee8362-fa7e-4bc9-ab88-7dcfb17cb19b" xsi:nil="true"/>
    <Named_x0020_Account xmlns="f0ee8362-fa7e-4bc9-ab88-7dcfb17cb19b" xsi:nil="true"/>
    <PlatTech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77CD34-BC5F-4B53-9FD4-456B9DAC436F}">
  <ds:schemaRefs>
    <ds:schemaRef ds:uri="http://schemas.microsoft.com/office/2006/metadata/properties"/>
    <ds:schemaRef ds:uri="http://schemas.microsoft.com/office/infopath/2007/PartnerControls"/>
    <ds:schemaRef ds:uri="f205c2cf-faee-43e7-95df-8aa62e5feae0"/>
  </ds:schemaRefs>
</ds:datastoreItem>
</file>

<file path=customXml/itemProps2.xml><?xml version="1.0" encoding="utf-8"?>
<ds:datastoreItem xmlns:ds="http://schemas.openxmlformats.org/officeDocument/2006/customXml" ds:itemID="{99534D60-A11A-48EF-9E76-2DE71BCDF0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8C1BD2-64C5-430E-9008-33DC58910AAC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40EFA301-849C-4CA2-89FA-03377A16CE6E}"/>
</file>

<file path=docProps/app.xml><?xml version="1.0" encoding="utf-8"?>
<Properties xmlns="http://schemas.openxmlformats.org/officeDocument/2006/extended-properties" xmlns:vt="http://schemas.openxmlformats.org/officeDocument/2006/docPropsVTypes">
  <TotalTime>4898</TotalTime>
  <Words>332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Crimson Care Registry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Scot Reynolds</cp:lastModifiedBy>
  <cp:revision>596</cp:revision>
  <dcterms:created xsi:type="dcterms:W3CDTF">2019-05-16T21:01:19Z</dcterms:created>
  <dcterms:modified xsi:type="dcterms:W3CDTF">2024-06-03T16:14:45Z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Business Unit">
    <vt:lpwstr>37;#Custom Dev|c994e55d-3bae-4645-b49b-e2e1105953e3</vt:lpwstr>
  </property>
  <property fmtid="{D5CDD505-2E9C-101B-9397-08002B2CF9AE}" pid="4" name="Category">
    <vt:lpwstr>6;#Case Study|8faa0ad1-25f0-4f56-8e38-f60e20c455d6</vt:lpwstr>
  </property>
  <property fmtid="{D5CDD505-2E9C-101B-9397-08002B2CF9AE}" pid="5" name="Industry">
    <vt:lpwstr>51;#Healthcare|a26bc4ad-14b0-4fca-9fdf-0cbc9e43340d</vt:lpwstr>
  </property>
  <property fmtid="{D5CDD505-2E9C-101B-9397-08002B2CF9AE}" pid="6" name="Service_x0020_Offering">
    <vt:lpwstr/>
  </property>
  <property fmtid="{D5CDD505-2E9C-101B-9397-08002B2CF9AE}" pid="7" name="_ExtendedDescription">
    <vt:lpwstr/>
  </property>
  <property fmtid="{D5CDD505-2E9C-101B-9397-08002B2CF9AE}" pid="8" name="Service Offering">
    <vt:lpwstr/>
  </property>
  <property fmtid="{D5CDD505-2E9C-101B-9397-08002B2CF9AE}" pid="9" name="Business_x0020_Unit">
    <vt:lpwstr>37;#Custom Dev|c994e55d-3bae-4645-b49b-e2e1105953e3</vt:lpwstr>
  </property>
  <property fmtid="{D5CDD505-2E9C-101B-9397-08002B2CF9AE}" pid="10" name="Order">
    <vt:r8>18000</vt:r8>
  </property>
  <property fmtid="{D5CDD505-2E9C-101B-9397-08002B2CF9AE}" pid="11" name="xd_Signature">
    <vt:bool>false</vt:bool>
  </property>
  <property fmtid="{D5CDD505-2E9C-101B-9397-08002B2CF9AE}" pid="12" name="SO">
    <vt:lpwstr>44;#</vt:lpwstr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TriggerFlowInfo">
    <vt:lpwstr/>
  </property>
</Properties>
</file>