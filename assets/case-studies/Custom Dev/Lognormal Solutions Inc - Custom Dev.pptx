
<file path=[Content_Types].xml><?xml version="1.0" encoding="utf-8"?>
<Types xmlns="http://schemas.openxmlformats.org/package/2006/content-types">
  <Default Extension="bin" ContentType="image/jp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7"/>
  </p:notesMasterIdLst>
  <p:sldIdLst>
    <p:sldId id="3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12A"/>
    <a:srgbClr val="182D4C"/>
    <a:srgbClr val="2F2F2F"/>
    <a:srgbClr val="6C86B8"/>
    <a:srgbClr val="D87724"/>
    <a:srgbClr val="6A93D0"/>
    <a:srgbClr val="192943"/>
    <a:srgbClr val="1C375C"/>
    <a:srgbClr val="2F4E7F"/>
    <a:srgbClr val="2D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C6E8BB-A19E-BE43-BB16-BCD765529C9B}" v="80" dt="2024-06-03T16:02:28.572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08"/>
  </p:normalViewPr>
  <p:slideViewPr>
    <p:cSldViewPr snapToGrid="0" snapToObjects="1">
      <p:cViewPr varScale="1">
        <p:scale>
          <a:sx n="56" d="100"/>
          <a:sy n="56" d="100"/>
        </p:scale>
        <p:origin x="918" y="7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38C6E8BB-A19E-BE43-BB16-BCD765529C9B}"/>
    <pc:docChg chg="modSld">
      <pc:chgData name="Brendan Murphy" userId="S::bmurphy@affirma.com::e9f923b6-6d89-4d4e-a3b7-d9304b9d44ba" providerId="AD" clId="Web-{38C6E8BB-A19E-BE43-BB16-BCD765529C9B}" dt="2024-06-03T16:02:28.572" v="50" actId="20577"/>
      <pc:docMkLst>
        <pc:docMk/>
      </pc:docMkLst>
      <pc:sldChg chg="modSp">
        <pc:chgData name="Brendan Murphy" userId="S::bmurphy@affirma.com::e9f923b6-6d89-4d4e-a3b7-d9304b9d44ba" providerId="AD" clId="Web-{38C6E8BB-A19E-BE43-BB16-BCD765529C9B}" dt="2024-06-03T16:02:28.572" v="50" actId="20577"/>
        <pc:sldMkLst>
          <pc:docMk/>
          <pc:sldMk cId="2582825011" sldId="300"/>
        </pc:sldMkLst>
        <pc:spChg chg="mod">
          <ac:chgData name="Brendan Murphy" userId="S::bmurphy@affirma.com::e9f923b6-6d89-4d4e-a3b7-d9304b9d44ba" providerId="AD" clId="Web-{38C6E8BB-A19E-BE43-BB16-BCD765529C9B}" dt="2024-06-03T16:01:58.977" v="32" actId="1076"/>
          <ac:spMkLst>
            <pc:docMk/>
            <pc:sldMk cId="2582825011" sldId="300"/>
            <ac:spMk id="30" creationId="{9665E9BF-B954-4AC7-821E-2E0CD116D915}"/>
          </ac:spMkLst>
        </pc:spChg>
        <pc:spChg chg="mod">
          <ac:chgData name="Brendan Murphy" userId="S::bmurphy@affirma.com::e9f923b6-6d89-4d4e-a3b7-d9304b9d44ba" providerId="AD" clId="Web-{38C6E8BB-A19E-BE43-BB16-BCD765529C9B}" dt="2024-06-03T15:59:54.985" v="9" actId="20577"/>
          <ac:spMkLst>
            <pc:docMk/>
            <pc:sldMk cId="2582825011" sldId="300"/>
            <ac:spMk id="31" creationId="{EC9A7433-5BCD-4EA6-924A-53FDBF0CAAA6}"/>
          </ac:spMkLst>
        </pc:spChg>
        <pc:spChg chg="mod">
          <ac:chgData name="Brendan Murphy" userId="S::bmurphy@affirma.com::e9f923b6-6d89-4d4e-a3b7-d9304b9d44ba" providerId="AD" clId="Web-{38C6E8BB-A19E-BE43-BB16-BCD765529C9B}" dt="2024-06-03T16:02:28.572" v="50" actId="20577"/>
          <ac:spMkLst>
            <pc:docMk/>
            <pc:sldMk cId="2582825011" sldId="300"/>
            <ac:spMk id="33" creationId="{A2CD0AFB-BBEB-434B-985F-3ACF7BE51454}"/>
          </ac:spMkLst>
        </pc:spChg>
        <pc:spChg chg="mod">
          <ac:chgData name="Brendan Murphy" userId="S::bmurphy@affirma.com::e9f923b6-6d89-4d4e-a3b7-d9304b9d44ba" providerId="AD" clId="Web-{38C6E8BB-A19E-BE43-BB16-BCD765529C9B}" dt="2024-06-03T15:59:56.657" v="10" actId="1076"/>
          <ac:spMkLst>
            <pc:docMk/>
            <pc:sldMk cId="2582825011" sldId="300"/>
            <ac:spMk id="34" creationId="{EC17F625-2EC2-4F28-895B-03B104D7945A}"/>
          </ac:spMkLst>
        </pc:spChg>
        <pc:spChg chg="mod">
          <ac:chgData name="Brendan Murphy" userId="S::bmurphy@affirma.com::e9f923b6-6d89-4d4e-a3b7-d9304b9d44ba" providerId="AD" clId="Web-{38C6E8BB-A19E-BE43-BB16-BCD765529C9B}" dt="2024-06-03T16:02:17.259" v="40" actId="14100"/>
          <ac:spMkLst>
            <pc:docMk/>
            <pc:sldMk cId="2582825011" sldId="300"/>
            <ac:spMk id="35" creationId="{127A5A2A-6A75-46BB-A872-3D435F9C8C26}"/>
          </ac:spMkLst>
        </pc:spChg>
        <pc:spChg chg="mod">
          <ac:chgData name="Brendan Murphy" userId="S::bmurphy@affirma.com::e9f923b6-6d89-4d4e-a3b7-d9304b9d44ba" providerId="AD" clId="Web-{38C6E8BB-A19E-BE43-BB16-BCD765529C9B}" dt="2024-06-03T16:02:14.306" v="38" actId="1076"/>
          <ac:spMkLst>
            <pc:docMk/>
            <pc:sldMk cId="2582825011" sldId="300"/>
            <ac:spMk id="36" creationId="{4651924A-7907-4360-9ED8-B533D803C21B}"/>
          </ac:spMkLst>
        </pc:spChg>
        <pc:picChg chg="mod">
          <ac:chgData name="Brendan Murphy" userId="S::bmurphy@affirma.com::e9f923b6-6d89-4d4e-a3b7-d9304b9d44ba" providerId="AD" clId="Web-{38C6E8BB-A19E-BE43-BB16-BCD765529C9B}" dt="2024-06-03T16:02:18.634" v="41" actId="1076"/>
          <ac:picMkLst>
            <pc:docMk/>
            <pc:sldMk cId="2582825011" sldId="300"/>
            <ac:picMk id="4" creationId="{00000000-0000-0000-0000-000000000000}"/>
          </ac:picMkLst>
        </pc:picChg>
      </pc:sldChg>
    </pc:docChg>
  </pc:docChgLst>
  <pc:docChgLst>
    <pc:chgData name="Colin Peterson" userId="S::copeterson@affirma.com::06b2b3a9-6c5f-4199-8546-9ee8c5a2a571" providerId="AD" clId="Web-{DFE80BC4-47CB-C65B-8875-AB559A4B498E}"/>
    <pc:docChg chg="modSld">
      <pc:chgData name="Colin Peterson" userId="S::copeterson@affirma.com::06b2b3a9-6c5f-4199-8546-9ee8c5a2a571" providerId="AD" clId="Web-{DFE80BC4-47CB-C65B-8875-AB559A4B498E}" dt="2019-06-27T23:11:46.908" v="1" actId="1076"/>
      <pc:docMkLst>
        <pc:docMk/>
      </pc:docMkLst>
      <pc:sldChg chg="modSp">
        <pc:chgData name="Colin Peterson" userId="S::copeterson@affirma.com::06b2b3a9-6c5f-4199-8546-9ee8c5a2a571" providerId="AD" clId="Web-{DFE80BC4-47CB-C65B-8875-AB559A4B498E}" dt="2019-06-27T23:11:46.908" v="1" actId="1076"/>
        <pc:sldMkLst>
          <pc:docMk/>
          <pc:sldMk cId="2582825011" sldId="300"/>
        </pc:sldMkLst>
        <pc:spChg chg="mod">
          <ac:chgData name="Colin Peterson" userId="S::copeterson@affirma.com::06b2b3a9-6c5f-4199-8546-9ee8c5a2a571" providerId="AD" clId="Web-{DFE80BC4-47CB-C65B-8875-AB559A4B498E}" dt="2019-06-27T23:11:46.908" v="1" actId="1076"/>
          <ac:spMkLst>
            <pc:docMk/>
            <pc:sldMk cId="2582825011" sldId="300"/>
            <ac:spMk id="33" creationId="{A2CD0AFB-BBEB-434B-985F-3ACF7BE514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89A5-BE3E-2441-87C0-54B69ED90FC7}" type="datetimeFigureOut">
              <a:t>6/3/2024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22639-76C9-2740-BE4D-A4E2B1985E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05468" y="1418121"/>
            <a:ext cx="3782286" cy="3782286"/>
          </a:xfrm>
          <a:custGeom>
            <a:avLst/>
            <a:gdLst>
              <a:gd name="connsiteX0" fmla="*/ 1891143 w 3782286"/>
              <a:gd name="connsiteY0" fmla="*/ 0 h 3782286"/>
              <a:gd name="connsiteX1" fmla="*/ 3782286 w 3782286"/>
              <a:gd name="connsiteY1" fmla="*/ 1891143 h 3782286"/>
              <a:gd name="connsiteX2" fmla="*/ 1891143 w 3782286"/>
              <a:gd name="connsiteY2" fmla="*/ 3782286 h 3782286"/>
              <a:gd name="connsiteX3" fmla="*/ 0 w 3782286"/>
              <a:gd name="connsiteY3" fmla="*/ 1891143 h 3782286"/>
              <a:gd name="connsiteX4" fmla="*/ 1891143 w 3782286"/>
              <a:gd name="connsiteY4" fmla="*/ 0 h 3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286" h="3782286">
                <a:moveTo>
                  <a:pt x="1891143" y="0"/>
                </a:moveTo>
                <a:cubicBezTo>
                  <a:pt x="2935592" y="0"/>
                  <a:pt x="3782286" y="846694"/>
                  <a:pt x="3782286" y="1891143"/>
                </a:cubicBezTo>
                <a:cubicBezTo>
                  <a:pt x="3782286" y="2935592"/>
                  <a:pt x="2935592" y="3782286"/>
                  <a:pt x="1891143" y="3782286"/>
                </a:cubicBezTo>
                <a:cubicBezTo>
                  <a:pt x="846694" y="3782286"/>
                  <a:pt x="0" y="2935592"/>
                  <a:pt x="0" y="1891143"/>
                </a:cubicBezTo>
                <a:cubicBezTo>
                  <a:pt x="0" y="846694"/>
                  <a:pt x="846694" y="0"/>
                  <a:pt x="1891143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8763000" y="0"/>
            <a:ext cx="3429000" cy="6858000"/>
          </a:xfrm>
          <a:custGeom>
            <a:avLst/>
            <a:gdLst>
              <a:gd name="connsiteX0" fmla="*/ 3429000 w 3429000"/>
              <a:gd name="connsiteY0" fmla="*/ 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6858000">
                <a:moveTo>
                  <a:pt x="3429000" y="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7"/>
                  <a:pt x="1535216" y="0"/>
                  <a:pt x="3429000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6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04616" y="3578094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CA3D9A-2ED8-4AE0-ACE4-B53CB627B2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646" y="1565275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4953002" y="988395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5811130" y="2002260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5811131" y="1575220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5811130" y="3519578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5811131" y="3092538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5826605" y="5562764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5826605" y="513572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550917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585296-BAA5-41EE-AC7D-F347285C31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15685" y="1531636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90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23AB-5C46-FA4A-BF97-1CB175D11720}" type="datetimeFigureOut"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42A-9AC8-E54B-B87E-06913CF81F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8" r:id="rId3"/>
    <p:sldLayoutId id="2147483712" r:id="rId4"/>
    <p:sldLayoutId id="214748371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Lognormal Solutions Inc.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18426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LSi was utilizing an Excel tool to model resources and value for drilling opportunities</a:t>
            </a:r>
            <a:r>
              <a:rPr lang="en-US" sz="1100" dirty="0">
                <a:latin typeface="Open Sans"/>
              </a:rPr>
              <a:t>. 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However, the simulation and aggregation capabilities needed to be expanded in order to handle the numerous unconventional exploration projects with many thousands of wells</a:t>
            </a:r>
            <a:r>
              <a:rPr lang="en-US" sz="1100" dirty="0">
                <a:latin typeface="Open Sans"/>
              </a:rPr>
              <a:t>. 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They needed a more robust tool with a friendly user interface, that could handle different needs and be able to manipulate the data in a variety of ways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5428" y="4180910"/>
            <a:ext cx="5533147" cy="23505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developed a custom user interface for </a:t>
            </a:r>
            <a:r>
              <a:rPr lang="en-US" sz="1100" dirty="0">
                <a:latin typeface="Open Sans"/>
              </a:rPr>
              <a:t>LSi's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newly developed application, which allows their software users to manage the different types of drilling </a:t>
            </a:r>
            <a:r>
              <a:rPr lang="en-US" sz="1100" b="0" i="0" kern="1200">
                <a:effectLst/>
                <a:latin typeface="Open Sans"/>
                <a:ea typeface="+mn-ea"/>
                <a:cs typeface="+mn-cs"/>
              </a:rPr>
              <a:t>scenarios for a particular area with a lot more flexibility</a:t>
            </a:r>
            <a:r>
              <a:rPr lang="en-US" sz="1100">
                <a:latin typeface="Open Sans"/>
              </a:rPr>
              <a:t>,</a:t>
            </a:r>
            <a:endParaRPr lang="en-US" sz="1100" dirty="0">
              <a:latin typeface="Open Sans"/>
              <a:ea typeface="Open Sans"/>
              <a:cs typeface="Open Sans"/>
            </a:endParaRPr>
          </a:p>
          <a:p>
            <a:pPr>
              <a:lnSpc>
                <a:spcPct val="150000"/>
              </a:lnSpc>
            </a:pPr>
            <a:endParaRPr lang="en-US" sz="1100" dirty="0">
              <a:latin typeface="Open Sans"/>
            </a:endParaRPr>
          </a:p>
          <a:p>
            <a:pPr>
              <a:lnSpc>
                <a:spcPct val="150000"/>
              </a:lnSpc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In addition, 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established an effective and efficient working relationship with </a:t>
            </a:r>
            <a:r>
              <a:rPr lang="en-US" sz="1100" dirty="0">
                <a:latin typeface="Open Sans"/>
              </a:rPr>
              <a:t>LSi's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developer</a:t>
            </a:r>
            <a:r>
              <a:rPr lang="en-US" sz="1100" dirty="0">
                <a:latin typeface="Open Sans"/>
              </a:rPr>
              <a:t>. 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established and guided the bulk of the </a:t>
            </a:r>
            <a:r>
              <a:rPr lang="en-US" sz="1100" dirty="0">
                <a:latin typeface="Open Sans"/>
              </a:rPr>
              <a:t>frontend development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work for the project, while their developer worked on the backend </a:t>
            </a:r>
            <a:r>
              <a:rPr lang="en-US" sz="1100" b="0" i="0" kern="1200">
                <a:effectLst/>
                <a:latin typeface="Open Sans"/>
                <a:ea typeface="+mn-ea"/>
                <a:cs typeface="+mn-cs"/>
              </a:rPr>
              <a:t>business logic for an overall successful collaboration</a:t>
            </a:r>
            <a:r>
              <a:rPr lang="en-US" sz="110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  <a:endParaRPr lang="en-US" sz="1100" b="0" i="0" kern="1200" dirty="0">
              <a:effectLst/>
              <a:latin typeface="Open Sans"/>
              <a:ea typeface="Open Sans"/>
              <a:cs typeface="Open San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675491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7761195" y="2002804"/>
            <a:ext cx="4038061" cy="15887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Users now have a dynamic interface to create new probabilistic scenarios with hundreds of parameters and custom drop downs</a:t>
            </a:r>
            <a:r>
              <a:rPr lang="en-US" sz="1100" dirty="0">
                <a:latin typeface="Open Sans"/>
              </a:rPr>
              <a:t>.;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Increased reporting options with charting functionality; as well as, visual dashboards to track performance were also implemented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7753797" y="1405609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pic>
        <p:nvPicPr>
          <p:cNvPr id="4" name="Picture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228" y="3777842"/>
            <a:ext cx="42545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avedigital">
      <a:dk1>
        <a:srgbClr val="242527"/>
      </a:dk1>
      <a:lt1>
        <a:srgbClr val="FFFFFF"/>
      </a:lt1>
      <a:dk2>
        <a:srgbClr val="262626"/>
      </a:dk2>
      <a:lt2>
        <a:srgbClr val="FFFFFF"/>
      </a:lt2>
      <a:accent1>
        <a:srgbClr val="FFC017"/>
      </a:accent1>
      <a:accent2>
        <a:srgbClr val="535353"/>
      </a:accent2>
      <a:accent3>
        <a:srgbClr val="A7A7A7"/>
      </a:accent3>
      <a:accent4>
        <a:srgbClr val="D2DDD9"/>
      </a:accent4>
      <a:accent5>
        <a:srgbClr val="3F3F3F"/>
      </a:accent5>
      <a:accent6>
        <a:srgbClr val="2C2C2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</BusinessUnit>
    <Solutions xmlns="f0ee8362-fa7e-4bc9-ab88-7dcfb17cb19b">
      <Value>UX/ UI Design</Value>
    </Solutions>
    <Industries xmlns="f0ee8362-fa7e-4bc9-ab88-7dcfb17cb19b">
      <Value>Technology</Value>
    </Industries>
    <Notes0 xmlns="f0ee8362-fa7e-4bc9-ab88-7dcfb17cb19b" xsi:nil="true"/>
    <Named_x0020_Account xmlns="f0ee8362-fa7e-4bc9-ab88-7dcfb17cb19b" xsi:nil="true"/>
    <PlatTech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5D5C4DC1-0257-4D48-841F-291B7AA58C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6C412A-BACA-4AC4-A02D-018531B810AD}">
  <ds:schemaRefs>
    <ds:schemaRef ds:uri="http://schemas.microsoft.com/office/2006/metadata/properties"/>
    <ds:schemaRef ds:uri="http://schemas.microsoft.com/office/infopath/2007/PartnerControls"/>
    <ds:schemaRef ds:uri="54243e05-8da7-404c-85e0-0480aaa26276"/>
    <ds:schemaRef ds:uri="f205c2cf-faee-43e7-95df-8aa62e5feae0"/>
  </ds:schemaRefs>
</ds:datastoreItem>
</file>

<file path=customXml/itemProps3.xml><?xml version="1.0" encoding="utf-8"?>
<ds:datastoreItem xmlns:ds="http://schemas.openxmlformats.org/officeDocument/2006/customXml" ds:itemID="{1801BDA5-6C62-4960-BA02-F4EB9FE9937E}"/>
</file>

<file path=customXml/itemProps4.xml><?xml version="1.0" encoding="utf-8"?>
<ds:datastoreItem xmlns:ds="http://schemas.openxmlformats.org/officeDocument/2006/customXml" ds:itemID="{A593CDA2-CC2D-44DD-AC16-64466CEB5003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4898</TotalTime>
  <Words>68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Lognormal Solutions Inc.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Don Hyun</cp:lastModifiedBy>
  <cp:revision>602</cp:revision>
  <dcterms:created xsi:type="dcterms:W3CDTF">2017-10-09T12:47:23Z</dcterms:created>
  <dcterms:modified xsi:type="dcterms:W3CDTF">2024-06-03T16:02:30Z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/>
  </property>
  <property fmtid="{D5CDD505-2E9C-101B-9397-08002B2CF9AE}" pid="4" name="Industry">
    <vt:lpwstr>49;#Technology|9fd4705e-a3c7-4085-9147-cb1125b68f2c</vt:lpwstr>
  </property>
  <property fmtid="{D5CDD505-2E9C-101B-9397-08002B2CF9AE}" pid="5" name="Service_x0020_Offering">
    <vt:lpwstr/>
  </property>
  <property fmtid="{D5CDD505-2E9C-101B-9397-08002B2CF9AE}" pid="6" name="Business_x0020_Unit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Category">
    <vt:lpwstr>6;#Case Study|8faa0ad1-25f0-4f56-8e38-f60e20c455d6</vt:lpwstr>
  </property>
  <property fmtid="{D5CDD505-2E9C-101B-9397-08002B2CF9AE}" pid="10" name="Order">
    <vt:r8>20200</vt:r8>
  </property>
  <property fmtid="{D5CDD505-2E9C-101B-9397-08002B2CF9AE}" pid="11" name="xd_Signature">
    <vt:bool>false</vt:bool>
  </property>
  <property fmtid="{D5CDD505-2E9C-101B-9397-08002B2CF9AE}" pid="12" name="SO">
    <vt:lpwstr>7;#;#43;#</vt:lpwstr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