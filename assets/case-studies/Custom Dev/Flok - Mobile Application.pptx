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5"/>
  </p:sldMasterIdLst>
  <p:notesMasterIdLst>
    <p:notesMasterId r:id="rId10"/>
  </p:notesMasterIdLst>
  <p:sldIdLst>
    <p:sldId id="1324" r:id="rId6"/>
    <p:sldId id="300" r:id="rId7"/>
    <p:sldId id="2147469590" r:id="rId8"/>
    <p:sldId id="214746959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10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48EF2B-A2D6-4719-9FD8-556525B71842}" type="datetimeFigureOut">
              <a:t>1/15/2026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46F887-8881-457B-9B50-B6ADD5771CE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611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54050" y="1162050"/>
            <a:ext cx="5573713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E3F6CF-073A-4B4F-A2B7-08B9C7DBCB9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4047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C0C770B-B4AF-E443-922A-886366399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5516" y="6454780"/>
            <a:ext cx="2743200" cy="154809"/>
          </a:xfrm>
        </p:spPr>
        <p:txBody>
          <a:bodyPr/>
          <a:lstStyle>
            <a:lvl1pPr>
              <a:defRPr sz="7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056F86DB-78DF-EB43-A6BE-40415A3A00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93CEEC-4F06-5349-BB63-F02B2B211B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3284" y="388389"/>
            <a:ext cx="10985432" cy="764390"/>
          </a:xfrm>
        </p:spPr>
        <p:txBody>
          <a:bodyPr anchor="b">
            <a:normAutofit/>
          </a:bodyPr>
          <a:lstStyle>
            <a:lvl1pPr algn="l">
              <a:defRPr sz="4000" b="0" i="0">
                <a:solidFill>
                  <a:srgbClr val="063A7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Placeholder for Title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0499D1E-B5BB-3141-A0F0-C62AD4413D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3284" y="6440198"/>
            <a:ext cx="767123" cy="264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926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hyperlink" Target="https://flok.org/app/" TargetMode="External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png"/><Relationship Id="rId5" Type="http://schemas.openxmlformats.org/officeDocument/2006/relationships/hyperlink" Target="https://play.google.com/store/apps/details?id=com.flok.flokhealth&amp;utm_source=flok&amp;utm_medium=app&amp;utm_campaign=openbeta&amp;utm_content=androidlink&amp;clid=eyJpIjoiQjh6VlphSzVlR2ZKd0xybElaMm8wIiwiaCI6IiIsInAiOiIvYW5kcm9pZC1iZXRhLWZsb2stYXBwIiwidCI6MTc0MjkzNTE0Nn0.6EvmeNoDU4x2Rz5KPVVjYS63EKrikbUh1M3iE37ToPg" TargetMode="External"/><Relationship Id="rId4" Type="http://schemas.openxmlformats.org/officeDocument/2006/relationships/hyperlink" Target="https://apps.apple.com/us/app/flok-health/id1666886583?utm_source=flok&amp;utm_medium=app&amp;utm_campaign=openbeta&amp;utm_content=applelink&amp;clid=eyJpIjoiZUVQeFZOMXVDSER5QlVqS2prMnFFIiwiaCI6IiIsInAiOiIvYXBwbGUtYmV0YS1mbG9rLWFwcCIsInQiOjE3NDI5MzUxMjN9.eWfK1mG7UUejsf4MhhJhEhm80dh45YWLojm4UAX59IE" TargetMode="External"/><Relationship Id="rId9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88F94-B25D-4165-A05B-C919FE1245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latin typeface="Poppins" panose="00000500000000000000" pitchFamily="2" charset="0"/>
                <a:cs typeface="Poppins" panose="00000500000000000000" pitchFamily="2" charset="0"/>
              </a:rPr>
              <a:t>Flok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 –Diet Management Application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E508DA-8460-4788-8000-47A2BE6DA870}"/>
              </a:ext>
            </a:extLst>
          </p:cNvPr>
          <p:cNvSpPr/>
          <p:nvPr/>
        </p:nvSpPr>
        <p:spPr>
          <a:xfrm>
            <a:off x="603283" y="1428869"/>
            <a:ext cx="6557194" cy="1358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lang="en-US" sz="2400" b="1" dirty="0">
                <a:solidFill>
                  <a:srgbClr val="008AD9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Business Need</a:t>
            </a:r>
            <a:endParaRPr lang="en-US" sz="1600" dirty="0">
              <a:solidFill>
                <a:srgbClr val="008AD9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14000"/>
              </a:lnSpc>
              <a:spcAft>
                <a:spcPts val="500"/>
              </a:spcAft>
            </a:pPr>
            <a:r>
              <a:rPr lang="en-US" sz="1200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PKU News, a non-profit focused on supporting the inherited metabolic disorder community, were looking to rebrand to </a:t>
            </a:r>
            <a:r>
              <a:rPr lang="en-US" sz="1200" dirty="0" err="1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Flok</a:t>
            </a:r>
            <a:r>
              <a:rPr lang="en-US" sz="1200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and release a new mobile application for diet management. They selected Affirma as their trusted software development partner.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7792E2-B694-4B97-AABD-4E7DA2DAFA6F}"/>
              </a:ext>
            </a:extLst>
          </p:cNvPr>
          <p:cNvSpPr/>
          <p:nvPr/>
        </p:nvSpPr>
        <p:spPr>
          <a:xfrm>
            <a:off x="602404" y="2846389"/>
            <a:ext cx="6557193" cy="35266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400" b="1" dirty="0">
                <a:solidFill>
                  <a:srgbClr val="008AD9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Outcomes</a:t>
            </a:r>
            <a:endParaRPr lang="en-US" sz="1600" dirty="0">
              <a:solidFill>
                <a:srgbClr val="008AD9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39" indent="-285739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Flok</a:t>
            </a:r>
            <a:r>
              <a:rPr lang="en-US" sz="1200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and Affirma release a React Native mobile application on Android and iOS with the following features</a:t>
            </a:r>
          </a:p>
          <a:p>
            <a:pPr marL="285739" indent="-285739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Diet Tracking </a:t>
            </a:r>
            <a:r>
              <a:rPr lang="en-US" sz="1200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- Track your diet, identify trends, and export records to share with your clinicians.</a:t>
            </a:r>
          </a:p>
          <a:p>
            <a:pPr marL="285739" indent="-285739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Search</a:t>
            </a:r>
            <a:r>
              <a:rPr lang="en-US" sz="1200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- take control of your low-protein diet amino acid data for more than 10,000 foods, recipes, stores and restaurants.</a:t>
            </a:r>
          </a:p>
          <a:p>
            <a:pPr marL="285739" indent="-285739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Mood Tracking </a:t>
            </a:r>
            <a:r>
              <a:rPr lang="en-US" sz="1200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- Track how you're feeling as you proceed throughout your day, week, or month.</a:t>
            </a:r>
          </a:p>
          <a:p>
            <a:pPr marL="285739" indent="-285739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Fitness Tracking </a:t>
            </a:r>
            <a:r>
              <a:rPr lang="en-US" sz="1200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- Fitness trackers these days give us so much information about our health, and the dynamics of metabolic disorders and exercise need more attention. </a:t>
            </a:r>
          </a:p>
          <a:p>
            <a:pPr marL="285739" indent="-285739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Chart &amp; Labs </a:t>
            </a:r>
            <a:r>
              <a:rPr lang="en-US" sz="1200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- Track blood levels, height, weight, notes, and more.</a:t>
            </a:r>
          </a:p>
          <a:p>
            <a:pPr marL="285739" indent="-285739"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prstClr val="black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spcAft>
                <a:spcPts val="500"/>
              </a:spcAft>
            </a:pPr>
            <a:r>
              <a:rPr lang="en-US" sz="1400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  <a:hlinkClick r:id="rId3"/>
              </a:rPr>
              <a:t>flok.org</a:t>
            </a:r>
            <a:r>
              <a:rPr lang="en-US" sz="1400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  </a:t>
            </a:r>
            <a:r>
              <a:rPr lang="en-US" sz="1400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  <a:hlinkClick r:id="rId4"/>
              </a:rPr>
              <a:t>Apple Store</a:t>
            </a:r>
            <a:r>
              <a:rPr lang="en-US" sz="1400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 </a:t>
            </a:r>
            <a:r>
              <a:rPr lang="en-US" sz="1400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  <a:hlinkClick r:id="rId5"/>
              </a:rPr>
              <a:t>Google Play Store</a:t>
            </a:r>
            <a:endParaRPr lang="en-US" sz="1400" dirty="0">
              <a:solidFill>
                <a:prstClr val="black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BDC344-9777-EC7F-0B7B-D1E6E5AD5045}"/>
              </a:ext>
            </a:extLst>
          </p:cNvPr>
          <p:cNvSpPr/>
          <p:nvPr/>
        </p:nvSpPr>
        <p:spPr>
          <a:xfrm flipV="1">
            <a:off x="0" y="365239"/>
            <a:ext cx="243068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8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00DB57-DD23-3E52-96AB-5F4DCE7D4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F86DB-78DF-EB43-A6BE-40415A3A0052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BC8D9BC-A17D-95A9-3506-CE805C148E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8666" y="1299755"/>
            <a:ext cx="2784869" cy="1737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F2F4556-D894-DAF9-96FA-9AD4C0B3AC4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60848" y="3089423"/>
            <a:ext cx="1684668" cy="3226441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2B35115B-B370-9D84-3682-55DC7B0195A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32454" y="3089422"/>
            <a:ext cx="1728586" cy="3226441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DFD86531-516D-386F-A362-7E4BBE2B819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66804" y="3001983"/>
            <a:ext cx="1891966" cy="3327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392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AA3BBF53-72F8-CBAF-6BA2-4F01CBE3D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472" y="232738"/>
            <a:ext cx="9638369" cy="6383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02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Graphical user interface, application, website&#10;&#10;Description automatically generated">
            <a:extLst>
              <a:ext uri="{FF2B5EF4-FFF2-40B4-BE49-F238E27FC236}">
                <a16:creationId xmlns:a16="http://schemas.microsoft.com/office/drawing/2014/main" id="{C17A0E4A-3A6E-DA00-48E0-8C57C201A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864" y="422492"/>
            <a:ext cx="10428248" cy="5910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484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9740CAEF-B0F7-D239-A91F-4C75F988D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742" y="272071"/>
            <a:ext cx="9341004" cy="6183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0387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s0 xmlns="f0ee8362-fa7e-4bc9-ab88-7dcfb17cb19b" xsi:nil="true"/>
    <Named_x0020_Account xmlns="f0ee8362-fa7e-4bc9-ab88-7dcfb17cb19b" xsi:nil="true"/>
    <Industries xmlns="f0ee8362-fa7e-4bc9-ab88-7dcfb17cb19b">
      <Value>Healthcare</Value>
      <Value>Non-Profit</Value>
    </Industries>
    <PlatTech xmlns="f0ee8362-fa7e-4bc9-ab88-7dcfb17cb19b" xsi:nil="true"/>
    <BusinessUnit xmlns="f0ee8362-fa7e-4bc9-ab88-7dcfb17cb19b">
      <Value>Custom Development</Value>
    </BusinessUnit>
    <Solutions xmlns="f0ee8362-fa7e-4bc9-ab88-7dcfb17cb19b">
      <Value>Mobile Application</Value>
    </Solutions>
    <ProjectCompletionDate xmlns="f0ee8362-fa7e-4bc9-ab88-7dcfb17cb19b" xsi:nil="true"/>
    <ApprovedByClient xmlns="f0ee8362-fa7e-4bc9-ab88-7dcfb17cb19b">false</ApprovedByClient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b1c940a28d9f7ed7841dd66e388476ed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8c9fb4aa225d81f58c6fca2e551d2526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305E846-8A1B-487B-AF1B-0AF4F2CE04C8}">
  <ds:schemaRefs>
    <ds:schemaRef ds:uri="http://schemas.microsoft.com/office/2006/metadata/properties"/>
    <ds:schemaRef ds:uri="http://schemas.microsoft.com/office/infopath/2007/PartnerControls"/>
    <ds:schemaRef ds:uri="f0ee8362-fa7e-4bc9-ab88-7dcfb17cb19b"/>
  </ds:schemaRefs>
</ds:datastoreItem>
</file>

<file path=customXml/itemProps2.xml><?xml version="1.0" encoding="utf-8"?>
<ds:datastoreItem xmlns:ds="http://schemas.openxmlformats.org/officeDocument/2006/customXml" ds:itemID="{3FD07D8F-F97C-406C-B3AE-426378670B18}"/>
</file>

<file path=customXml/itemProps3.xml><?xml version="1.0" encoding="utf-8"?>
<ds:datastoreItem xmlns:ds="http://schemas.openxmlformats.org/officeDocument/2006/customXml" ds:itemID="{41A18514-8B89-4F5A-92A1-9C6BD96A4106}">
  <ds:schemaRefs>
    <ds:schemaRef ds:uri="http://schemas.microsoft.com/office/2006/metadata/customXsn"/>
  </ds:schemaRefs>
</ds:datastoreItem>
</file>

<file path=customXml/itemProps4.xml><?xml version="1.0" encoding="utf-8"?>
<ds:datastoreItem xmlns:ds="http://schemas.openxmlformats.org/officeDocument/2006/customXml" ds:itemID="{E4F48899-23FB-4524-9F2A-BB3C65E99AC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Flok –Diet Management Application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10</cp:revision>
  <dcterms:created xsi:type="dcterms:W3CDTF">2025-03-25T20:51:26Z</dcterms:created>
  <dcterms:modified xsi:type="dcterms:W3CDTF">2026-01-15T22:58:23Z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</Properties>
</file>