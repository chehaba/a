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3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12A"/>
    <a:srgbClr val="182D4C"/>
    <a:srgbClr val="2F2F2F"/>
    <a:srgbClr val="6C86B8"/>
    <a:srgbClr val="D87724"/>
    <a:srgbClr val="6A93D0"/>
    <a:srgbClr val="192943"/>
    <a:srgbClr val="1C375C"/>
    <a:srgbClr val="2F4E7F"/>
    <a:srgbClr val="2D5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08"/>
  </p:normalViewPr>
  <p:slideViewPr>
    <p:cSldViewPr snapToGrid="0" snapToObjects="1">
      <p:cViewPr varScale="1">
        <p:scale>
          <a:sx n="83" d="100"/>
          <a:sy n="83" d="100"/>
        </p:scale>
        <p:origin x="389" y="77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openxmlformats.org/officeDocument/2006/relationships/customXml" Target="../customXml/item4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tlin Andrade" userId="d699e9b3-1d8d-4c82-8778-0e73bb2e5775" providerId="ADAL" clId="{BDA05F7B-BEC7-4997-8153-C83F3CC7924B}"/>
    <pc:docChg chg="undo custSel modSld">
      <pc:chgData name="Kaitlin Andrade" userId="d699e9b3-1d8d-4c82-8778-0e73bb2e5775" providerId="ADAL" clId="{BDA05F7B-BEC7-4997-8153-C83F3CC7924B}" dt="2021-01-13T21:00:19.780" v="7" actId="1076"/>
      <pc:docMkLst>
        <pc:docMk/>
      </pc:docMkLst>
      <pc:sldChg chg="addSp delSp modSp">
        <pc:chgData name="Kaitlin Andrade" userId="d699e9b3-1d8d-4c82-8778-0e73bb2e5775" providerId="ADAL" clId="{BDA05F7B-BEC7-4997-8153-C83F3CC7924B}" dt="2021-01-13T21:00:19.780" v="7" actId="1076"/>
        <pc:sldMkLst>
          <pc:docMk/>
          <pc:sldMk cId="2582825011" sldId="300"/>
        </pc:sldMkLst>
        <pc:spChg chg="mod">
          <ac:chgData name="Kaitlin Andrade" userId="d699e9b3-1d8d-4c82-8778-0e73bb2e5775" providerId="ADAL" clId="{BDA05F7B-BEC7-4997-8153-C83F3CC7924B}" dt="2021-01-13T21:00:03.357" v="3" actId="1076"/>
          <ac:spMkLst>
            <pc:docMk/>
            <pc:sldMk cId="2582825011" sldId="300"/>
            <ac:spMk id="31" creationId="{EC9A7433-5BCD-4EA6-924A-53FDBF0CAAA6}"/>
          </ac:spMkLst>
        </pc:spChg>
        <pc:spChg chg="add del mod">
          <ac:chgData name="Kaitlin Andrade" userId="d699e9b3-1d8d-4c82-8778-0e73bb2e5775" providerId="ADAL" clId="{BDA05F7B-BEC7-4997-8153-C83F3CC7924B}" dt="2021-01-13T21:00:19.780" v="7" actId="1076"/>
          <ac:spMkLst>
            <pc:docMk/>
            <pc:sldMk cId="2582825011" sldId="300"/>
            <ac:spMk id="33" creationId="{A2CD0AFB-BBEB-434B-985F-3ACF7BE51454}"/>
          </ac:spMkLst>
        </pc:spChg>
        <pc:picChg chg="mod">
          <ac:chgData name="Kaitlin Andrade" userId="d699e9b3-1d8d-4c82-8778-0e73bb2e5775" providerId="ADAL" clId="{BDA05F7B-BEC7-4997-8153-C83F3CC7924B}" dt="2021-01-13T20:39:32.109" v="2" actId="14100"/>
          <ac:picMkLst>
            <pc:docMk/>
            <pc:sldMk cId="2582825011" sldId="300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89A5-BE3E-2441-87C0-54B69ED90FC7}" type="datetimeFigureOut">
              <a:t>1/13/2021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22639-76C9-2740-BE4D-A4E2B1985E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3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405468" y="1418121"/>
            <a:ext cx="3782286" cy="3782286"/>
          </a:xfrm>
          <a:custGeom>
            <a:avLst/>
            <a:gdLst>
              <a:gd name="connsiteX0" fmla="*/ 1891143 w 3782286"/>
              <a:gd name="connsiteY0" fmla="*/ 0 h 3782286"/>
              <a:gd name="connsiteX1" fmla="*/ 3782286 w 3782286"/>
              <a:gd name="connsiteY1" fmla="*/ 1891143 h 3782286"/>
              <a:gd name="connsiteX2" fmla="*/ 1891143 w 3782286"/>
              <a:gd name="connsiteY2" fmla="*/ 3782286 h 3782286"/>
              <a:gd name="connsiteX3" fmla="*/ 0 w 3782286"/>
              <a:gd name="connsiteY3" fmla="*/ 1891143 h 3782286"/>
              <a:gd name="connsiteX4" fmla="*/ 1891143 w 3782286"/>
              <a:gd name="connsiteY4" fmla="*/ 0 h 3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2286" h="3782286">
                <a:moveTo>
                  <a:pt x="1891143" y="0"/>
                </a:moveTo>
                <a:cubicBezTo>
                  <a:pt x="2935592" y="0"/>
                  <a:pt x="3782286" y="846694"/>
                  <a:pt x="3782286" y="1891143"/>
                </a:cubicBezTo>
                <a:cubicBezTo>
                  <a:pt x="3782286" y="2935592"/>
                  <a:pt x="2935592" y="3782286"/>
                  <a:pt x="1891143" y="3782286"/>
                </a:cubicBezTo>
                <a:cubicBezTo>
                  <a:pt x="846694" y="3782286"/>
                  <a:pt x="0" y="2935592"/>
                  <a:pt x="0" y="1891143"/>
                </a:cubicBezTo>
                <a:cubicBezTo>
                  <a:pt x="0" y="846694"/>
                  <a:pt x="846694" y="0"/>
                  <a:pt x="1891143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9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8763000" y="0"/>
            <a:ext cx="3429000" cy="6858000"/>
          </a:xfrm>
          <a:custGeom>
            <a:avLst/>
            <a:gdLst>
              <a:gd name="connsiteX0" fmla="*/ 3429000 w 3429000"/>
              <a:gd name="connsiteY0" fmla="*/ 0 h 6858000"/>
              <a:gd name="connsiteX1" fmla="*/ 3429000 w 3429000"/>
              <a:gd name="connsiteY1" fmla="*/ 6858000 h 6858000"/>
              <a:gd name="connsiteX2" fmla="*/ 0 w 3429000"/>
              <a:gd name="connsiteY2" fmla="*/ 3429000 h 6858000"/>
              <a:gd name="connsiteX3" fmla="*/ 3429000 w 3429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6858000">
                <a:moveTo>
                  <a:pt x="3429000" y="0"/>
                </a:move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7"/>
                  <a:pt x="1535216" y="0"/>
                  <a:pt x="3429000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6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04616" y="3578094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ECA3D9A-2ED8-4AE0-ACE4-B53CB627B2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7646" y="1565275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4953002" y="988395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5811130" y="2002260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5811131" y="1575220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5811130" y="3519578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5811131" y="3092538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5826605" y="5562764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5826605" y="5135724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3550917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585296-BAA5-41EE-AC7D-F347285C31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15685" y="1531636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90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A23AB-5C46-FA4A-BF97-1CB175D11720}" type="datetimeFigureOut">
              <a:t>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42A-9AC8-E54B-B87E-06913CF81F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8" r:id="rId3"/>
    <p:sldLayoutId id="2147483712" r:id="rId4"/>
    <p:sldLayoutId id="214748371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>
            <a:normAutofit fontScale="90000"/>
          </a:bodyPr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AWP Client Portal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2316477" y="1182378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&lt;p&gt;AWP is one of the leading foodservice sales and marketing organizations in the country.&amp;nbsp; They work with manufacturers and their customers to reduce costs and move products, using multiple tools to extend their marketing strategies, data analysis and product expertise.&amp;nbsp; AWP engaged Affirma with building a CRM portal for one of their largest national clients, to provide clearer analysis of their data through a more powerful and intuitive management system.&lt;/p&gt;
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/>
        </p:nvSpPr>
        <p:spPr>
          <a:xfrm>
            <a:off x="1918649" y="2812103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&lt;ul&gt;
	&lt;li&gt;Affirma developed a custom web application that included a data layer, web service layer and a web-based UI. The team designed this tool to display sales opportunities in a hierarchal manner, with filters and expand/collapse functionality for easy consumption of details.&amp;nbsp; Users can quickly enter opportunities and view their progress on their customized dashboard.&amp;nbsp;&lt;/li&gt;
	&lt;br /&gt;
	&lt;li&gt;We also built a cascade mechanism for their leadership to plan target goals for the entire company, with historical reference and automated roll up.&lt;/li&gt;
&lt;/ul&gt;
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&lt;p&gt;This solution has greatly improved the visibility of sales opportunities and removed pain points for entering and consuming data. AWP&amp;rsquo;s client is better able to manage their sales calls, sales opportunities, white space, and reporting because of this successful initiative.&lt;/p&gt;
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pic>
        <p:nvPicPr>
          <p:cNvPr id="4" name="Picture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593" y="3467774"/>
            <a:ext cx="4359478" cy="282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avedigital">
      <a:dk1>
        <a:srgbClr val="242527"/>
      </a:dk1>
      <a:lt1>
        <a:srgbClr val="FFFFFF"/>
      </a:lt1>
      <a:dk2>
        <a:srgbClr val="262626"/>
      </a:dk2>
      <a:lt2>
        <a:srgbClr val="FFFFFF"/>
      </a:lt2>
      <a:accent1>
        <a:srgbClr val="FFC017"/>
      </a:accent1>
      <a:accent2>
        <a:srgbClr val="535353"/>
      </a:accent2>
      <a:accent3>
        <a:srgbClr val="A7A7A7"/>
      </a:accent3>
      <a:accent4>
        <a:srgbClr val="D2DDD9"/>
      </a:accent4>
      <a:accent5>
        <a:srgbClr val="3F3F3F"/>
      </a:accent5>
      <a:accent6>
        <a:srgbClr val="2C2C2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Creative</Value>
      <Value>Custom Development</Value>
      <Value>Customer Relationship Management</Value>
    </BusinessUnit>
    <Solutions xmlns="f0ee8362-fa7e-4bc9-ab88-7dcfb17cb19b">
      <Value>Websites</Value>
      <Value>UX/ UI Design</Value>
    </Solutions>
    <Industries xmlns="f0ee8362-fa7e-4bc9-ab88-7dcfb17cb19b">
      <Value>Food</Value>
    </Industries>
    <Notes0 xmlns="f0ee8362-fa7e-4bc9-ab88-7dcfb17cb19b" xsi:nil="true"/>
    <Named_x0020_Account xmlns="f0ee8362-fa7e-4bc9-ab88-7dcfb17cb19b" xsi:nil="true"/>
    <PlatTech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2893C46D-B513-4F06-86A1-2FCBF0FF20AA}">
  <ds:schemaRefs>
    <ds:schemaRef ds:uri="7b4220d0-7dfa-4105-8a9f-61778b1dcc88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357972b2-b7ed-48bc-bbb4-0804bacba9d2"/>
    <ds:schemaRef ds:uri="54243e05-8da7-404c-85e0-0480aaa26276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29C85BB-E35D-4A19-AD69-31775F2BBF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20BED1-CA21-4673-91ED-1CBF59A0DE43}"/>
</file>

<file path=customXml/itemProps4.xml><?xml version="1.0" encoding="utf-8"?>
<ds:datastoreItem xmlns:ds="http://schemas.openxmlformats.org/officeDocument/2006/customXml" ds:itemID="{19EEB60C-1A0D-42FE-B162-DD9787E3EAA1}"/>
</file>

<file path=docProps/app.xml><?xml version="1.0" encoding="utf-8"?>
<Properties xmlns="http://schemas.openxmlformats.org/officeDocument/2006/extended-properties" xmlns:vt="http://schemas.openxmlformats.org/officeDocument/2006/docPropsVTypes">
  <TotalTime>4919</TotalTime>
  <Words>268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Montserrat</vt:lpstr>
      <vt:lpstr>Open Sans</vt:lpstr>
      <vt:lpstr>Segoe UI</vt:lpstr>
      <vt:lpstr>Office Theme</vt:lpstr>
      <vt:lpstr>AWP Client Portal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Kaitlin Andrade</cp:lastModifiedBy>
  <cp:revision>571</cp:revision>
  <dcterms:created xsi:type="dcterms:W3CDTF">2017-10-09T12:47:23Z</dcterms:created>
  <dcterms:modified xsi:type="dcterms:W3CDTF">2021-01-13T21:00:28Z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Business Unit">
    <vt:lpwstr/>
  </property>
  <property fmtid="{D5CDD505-2E9C-101B-9397-08002B2CF9AE}" pid="4" name="Industry">
    <vt:lpwstr>38;#Food|46041b94-1b79-4ecc-9dec-124819e4695a</vt:lpwstr>
  </property>
  <property fmtid="{D5CDD505-2E9C-101B-9397-08002B2CF9AE}" pid="5" name="Service_x0020_Offering">
    <vt:lpwstr/>
  </property>
  <property fmtid="{D5CDD505-2E9C-101B-9397-08002B2CF9AE}" pid="6" name="Business_x0020_Unit">
    <vt:lpwstr/>
  </property>
  <property fmtid="{D5CDD505-2E9C-101B-9397-08002B2CF9AE}" pid="7" name="_ExtendedDescription">
    <vt:lpwstr/>
  </property>
  <property fmtid="{D5CDD505-2E9C-101B-9397-08002B2CF9AE}" pid="8" name="Service Offering">
    <vt:lpwstr/>
  </property>
  <property fmtid="{D5CDD505-2E9C-101B-9397-08002B2CF9AE}" pid="9" name="Category">
    <vt:lpwstr>6;#Case Study|8faa0ad1-25f0-4f56-8e38-f60e20c455d6</vt:lpwstr>
  </property>
  <property fmtid="{D5CDD505-2E9C-101B-9397-08002B2CF9AE}" pid="10" name="Order">
    <vt:r8>17200</vt:r8>
  </property>
  <property fmtid="{D5CDD505-2E9C-101B-9397-08002B2CF9AE}" pid="11" name="SO">
    <vt:lpwstr>43;#;#10;#</vt:lpwstr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TriggerFlowInfo">
    <vt:lpwstr/>
  </property>
</Properties>
</file>