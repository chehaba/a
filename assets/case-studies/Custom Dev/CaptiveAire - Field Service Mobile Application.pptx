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14746968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EDB85C-E3F0-DEBA-6E27-5BF209884185}" v="39" dt="2025-09-30T15:13:26.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6" autoAdjust="0"/>
    <p:restoredTop sz="94660"/>
  </p:normalViewPr>
  <p:slideViewPr>
    <p:cSldViewPr snapToGrid="0">
      <p:cViewPr varScale="1">
        <p:scale>
          <a:sx n="157" d="100"/>
          <a:sy n="157" d="100"/>
        </p:scale>
        <p:origin x="15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D0EDB85C-E3F0-DEBA-6E27-5BF209884185}"/>
    <pc:docChg chg="delSld modSld">
      <pc:chgData name="Brendan Murphy" userId="S::bmurphy@affirma.com::e9f923b6-6d89-4d4e-a3b7-d9304b9d44ba" providerId="AD" clId="Web-{D0EDB85C-E3F0-DEBA-6E27-5BF209884185}" dt="2025-09-30T15:13:26.952" v="35"/>
      <pc:docMkLst>
        <pc:docMk/>
      </pc:docMkLst>
      <pc:sldChg chg="del">
        <pc:chgData name="Brendan Murphy" userId="S::bmurphy@affirma.com::e9f923b6-6d89-4d4e-a3b7-d9304b9d44ba" providerId="AD" clId="Web-{D0EDB85C-E3F0-DEBA-6E27-5BF209884185}" dt="2025-09-30T15:13:26.952" v="35"/>
        <pc:sldMkLst>
          <pc:docMk/>
          <pc:sldMk cId="2557523800" sldId="1791"/>
        </pc:sldMkLst>
      </pc:sldChg>
      <pc:sldChg chg="modSp">
        <pc:chgData name="Brendan Murphy" userId="S::bmurphy@affirma.com::e9f923b6-6d89-4d4e-a3b7-d9304b9d44ba" providerId="AD" clId="Web-{D0EDB85C-E3F0-DEBA-6E27-5BF209884185}" dt="2025-09-30T15:13:23.420" v="34" actId="20577"/>
        <pc:sldMkLst>
          <pc:docMk/>
          <pc:sldMk cId="3868913610" sldId="2147469687"/>
        </pc:sldMkLst>
        <pc:spChg chg="mod">
          <ac:chgData name="Brendan Murphy" userId="S::bmurphy@affirma.com::e9f923b6-6d89-4d4e-a3b7-d9304b9d44ba" providerId="AD" clId="Web-{D0EDB85C-E3F0-DEBA-6E27-5BF209884185}" dt="2025-09-30T15:13:23.420" v="34" actId="20577"/>
          <ac:spMkLst>
            <pc:docMk/>
            <pc:sldMk cId="3868913610" sldId="2147469687"/>
            <ac:spMk id="11" creationId="{1CC32B23-2302-7815-B420-C4F089B858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D0CD07-6E3F-47F2-BC41-1FA1011C5275}"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7ABECC-BE51-413D-A0E8-72181223E6F6}" type="slidenum">
              <a:rPr lang="en-US" smtClean="0"/>
              <a:t>‹#›</a:t>
            </a:fld>
            <a:endParaRPr lang="en-US"/>
          </a:p>
        </p:txBody>
      </p:sp>
    </p:spTree>
    <p:extLst>
      <p:ext uri="{BB962C8B-B14F-4D97-AF65-F5344CB8AC3E}">
        <p14:creationId xmlns:p14="http://schemas.microsoft.com/office/powerpoint/2010/main" val="335758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1B8B-8285-DFFA-F8C9-8550C20EA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F4E0C-F172-DDED-1A8E-34D7305CDD3E}"/>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BD4FB582-ECF0-F57F-55F9-7C6A4A49FE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D0E0C0-6EBC-E990-BE8A-AA3E5D00C2D1}"/>
              </a:ext>
            </a:extLst>
          </p:cNvPr>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11008516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6364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78489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562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7735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51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7423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0421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49679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9/30/2025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47410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9/30/2025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9606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183896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694232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42191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66697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9/30/2025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653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9/30/2025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06585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9/30/2025</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12399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9/30/2025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88923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9/30/2025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735672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9/30/2025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1135223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9/30/2025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1039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9/30/2025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006529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9/30/2025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55712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474724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3264957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9/30/2025</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924483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9ED0-2E77-A83A-CCB1-E4FC28D95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7C1ED-77C3-D335-6270-84DBBBC10C53}"/>
              </a:ext>
            </a:extLst>
          </p:cNvPr>
          <p:cNvSpPr>
            <a:spLocks noGrp="1"/>
          </p:cNvSpPr>
          <p:nvPr>
            <p:ph type="ctrTitle"/>
          </p:nvPr>
        </p:nvSpPr>
        <p:spPr/>
        <p:txBody>
          <a:bodyPr>
            <a:normAutofit/>
          </a:bodyPr>
          <a:lstStyle/>
          <a:p>
            <a:r>
              <a:rPr lang="en-US" dirty="0">
                <a:latin typeface="Poppins"/>
                <a:cs typeface="Poppins"/>
              </a:rPr>
              <a:t>HVAC Field Service Application</a:t>
            </a:r>
          </a:p>
        </p:txBody>
      </p:sp>
      <p:sp>
        <p:nvSpPr>
          <p:cNvPr id="3" name="Rectangle 2">
            <a:extLst>
              <a:ext uri="{FF2B5EF4-FFF2-40B4-BE49-F238E27FC236}">
                <a16:creationId xmlns:a16="http://schemas.microsoft.com/office/drawing/2014/main" id="{6B57ECF5-F661-2C07-D5F1-6BC1DDB8EFFD}"/>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8"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rPr>
              <a:t>  </a:t>
            </a:r>
          </a:p>
        </p:txBody>
      </p:sp>
      <p:sp>
        <p:nvSpPr>
          <p:cNvPr id="5" name="Slide Number Placeholder 4">
            <a:extLst>
              <a:ext uri="{FF2B5EF4-FFF2-40B4-BE49-F238E27FC236}">
                <a16:creationId xmlns:a16="http://schemas.microsoft.com/office/drawing/2014/main" id="{D0C7DE4E-CDB8-5743-0771-4C3FC0887E9B}"/>
              </a:ext>
            </a:extLst>
          </p:cNvPr>
          <p:cNvSpPr>
            <a:spLocks noGrp="1"/>
          </p:cNvSpPr>
          <p:nvPr>
            <p:ph type="sldNum" sz="quarter" idx="12"/>
          </p:nvPr>
        </p:nvSpPr>
        <p:spPr/>
        <p:txBody>
          <a:bodyPr/>
          <a:lstStyle/>
          <a:p>
            <a:fld id="{056F86DB-78DF-EB43-A6BE-40415A3A0052}" type="slidenum">
              <a:rPr lang="en-US" smtClean="0">
                <a:latin typeface="Poppins" panose="00000500000000000000" pitchFamily="2" charset="0"/>
                <a:cs typeface="Poppins" panose="00000500000000000000" pitchFamily="2" charset="0"/>
              </a:rPr>
              <a:pPr/>
              <a:t>1</a:t>
            </a:fld>
            <a:endParaRPr lang="en-US">
              <a:latin typeface="Poppins" panose="00000500000000000000" pitchFamily="2" charset="0"/>
              <a:cs typeface="Poppins" panose="00000500000000000000" pitchFamily="2" charset="0"/>
            </a:endParaRPr>
          </a:p>
        </p:txBody>
      </p:sp>
      <p:pic>
        <p:nvPicPr>
          <p:cNvPr id="6" name="Picture 5" descr="Graphical user interface, application, website&#10;&#10;Description automatically generated">
            <a:extLst>
              <a:ext uri="{FF2B5EF4-FFF2-40B4-BE49-F238E27FC236}">
                <a16:creationId xmlns:a16="http://schemas.microsoft.com/office/drawing/2014/main" id="{51370627-4004-5769-F3B7-EDAB5A95A5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0517" y="1218183"/>
            <a:ext cx="2756943" cy="3648580"/>
          </a:xfrm>
          <a:prstGeom prst="rect">
            <a:avLst/>
          </a:prstGeom>
        </p:spPr>
      </p:pic>
      <p:pic>
        <p:nvPicPr>
          <p:cNvPr id="10" name="Picture 9" descr="Graphical user interface, application&#10;&#10;Description automatically generated">
            <a:extLst>
              <a:ext uri="{FF2B5EF4-FFF2-40B4-BE49-F238E27FC236}">
                <a16:creationId xmlns:a16="http://schemas.microsoft.com/office/drawing/2014/main" id="{FD87D94B-F0DA-1ECE-5667-6A317876D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2931" y="1262181"/>
            <a:ext cx="2701673" cy="3604582"/>
          </a:xfrm>
          <a:prstGeom prst="rect">
            <a:avLst/>
          </a:prstGeom>
        </p:spPr>
      </p:pic>
      <p:sp>
        <p:nvSpPr>
          <p:cNvPr id="11" name="TextBox 10">
            <a:extLst>
              <a:ext uri="{FF2B5EF4-FFF2-40B4-BE49-F238E27FC236}">
                <a16:creationId xmlns:a16="http://schemas.microsoft.com/office/drawing/2014/main" id="{1CC32B23-2302-7815-B420-C4F089B858A7}"/>
              </a:ext>
            </a:extLst>
          </p:cNvPr>
          <p:cNvSpPr txBox="1"/>
          <p:nvPr/>
        </p:nvSpPr>
        <p:spPr>
          <a:xfrm>
            <a:off x="666750" y="1391627"/>
            <a:ext cx="5280270" cy="4154984"/>
          </a:xfrm>
          <a:prstGeom prst="rect">
            <a:avLst/>
          </a:prstGeom>
          <a:noFill/>
        </p:spPr>
        <p:txBody>
          <a:bodyPr wrap="square" lIns="91440" tIns="45720" rIns="91440" bIns="45720" rtlCol="0" anchor="t">
            <a:spAutoFit/>
          </a:bodyPr>
          <a:lstStyle/>
          <a:p>
            <a:pPr defTabSz="976845">
              <a:defRPr/>
            </a:pPr>
            <a:r>
              <a:rPr lang="en-US" sz="2400" b="1" dirty="0">
                <a:solidFill>
                  <a:srgbClr val="008AD9"/>
                </a:solidFill>
                <a:latin typeface="Poppins"/>
                <a:cs typeface="Poppins"/>
              </a:rPr>
              <a:t>Business Need</a:t>
            </a:r>
            <a:endParaRPr lang="en-US" dirty="0">
              <a:latin typeface="Poppins"/>
              <a:cs typeface="Poppins"/>
            </a:endParaRPr>
          </a:p>
          <a:p>
            <a:pPr defTabSz="976845">
              <a:defRPr/>
            </a:pPr>
            <a:endParaRPr lang="en-US" sz="1200" b="1" dirty="0">
              <a:solidFill>
                <a:srgbClr val="008AD9"/>
              </a:solidFill>
              <a:latin typeface="Poppins"/>
              <a:ea typeface="+mn-lt"/>
              <a:cs typeface="Poppins"/>
            </a:endParaRPr>
          </a:p>
          <a:p>
            <a:pPr defTabSz="976845">
              <a:defRPr/>
            </a:pPr>
            <a:r>
              <a:rPr lang="en-US" sz="1200" dirty="0">
                <a:solidFill>
                  <a:prstClr val="black"/>
                </a:solidFill>
                <a:latin typeface="Poppins"/>
                <a:ea typeface="+mn-lt"/>
                <a:cs typeface="+mn-lt"/>
              </a:rPr>
              <a:t>The client needed a field service app that integrated with their ERP and allowed technicians to work fully offline. Technicians had to manage schedules, customer data, estimates, and orders in the field, with all updates syncing back to the ERP once internet access was restored.</a:t>
            </a:r>
            <a:endParaRPr lang="en-US">
              <a:solidFill>
                <a:prstClr val="black"/>
              </a:solidFill>
              <a:latin typeface="Poppins"/>
              <a:ea typeface="+mn-lt"/>
              <a:cs typeface="+mn-lt"/>
            </a:endParaRPr>
          </a:p>
          <a:p>
            <a:pPr defTabSz="976845">
              <a:defRPr/>
            </a:pPr>
            <a:endParaRPr lang="en-US" sz="1200" dirty="0">
              <a:solidFill>
                <a:prstClr val="black"/>
              </a:solidFill>
              <a:latin typeface="Poppins" panose="00000500000000000000" pitchFamily="2" charset="0"/>
              <a:cs typeface="Poppins" panose="00000500000000000000" pitchFamily="2" charset="0"/>
            </a:endParaRPr>
          </a:p>
          <a:p>
            <a:pPr defTabSz="976845">
              <a:defRPr/>
            </a:pPr>
            <a:r>
              <a:rPr lang="en-US" sz="2400" b="1" dirty="0">
                <a:solidFill>
                  <a:srgbClr val="008AD9"/>
                </a:solidFill>
                <a:latin typeface="Poppins"/>
                <a:cs typeface="Poppins"/>
              </a:rPr>
              <a:t>Outcomes</a:t>
            </a:r>
            <a:endParaRPr lang="en-US">
              <a:latin typeface="Poppins"/>
              <a:cs typeface="Poppins"/>
            </a:endParaRPr>
          </a:p>
          <a:p>
            <a:pPr defTabSz="976845">
              <a:defRPr/>
            </a:pPr>
            <a:endParaRPr lang="en-US" sz="1200" b="1" dirty="0">
              <a:solidFill>
                <a:srgbClr val="008AD9"/>
              </a:solidFill>
              <a:latin typeface="Poppins"/>
              <a:ea typeface="+mn-lt"/>
              <a:cs typeface="Poppins"/>
            </a:endParaRPr>
          </a:p>
          <a:p>
            <a:pPr marL="285750" indent="-285750" defTabSz="976845">
              <a:buFont typeface="Arial"/>
              <a:buChar char="•"/>
              <a:defRPr/>
            </a:pPr>
            <a:r>
              <a:rPr lang="en-US" sz="1200" dirty="0">
                <a:solidFill>
                  <a:prstClr val="black"/>
                </a:solidFill>
                <a:latin typeface="Poppins"/>
                <a:ea typeface="+mn-lt"/>
                <a:cs typeface="+mn-lt"/>
              </a:rPr>
              <a:t>iOS app for technicians and web portal for administrators</a:t>
            </a:r>
            <a:endParaRPr lang="en-US" dirty="0">
              <a:solidFill>
                <a:prstClr val="black"/>
              </a:solidFill>
              <a:latin typeface="Poppins"/>
              <a:ea typeface="+mn-lt"/>
              <a:cs typeface="+mn-lt"/>
            </a:endParaRPr>
          </a:p>
          <a:p>
            <a:pPr marL="285750" indent="-285750" defTabSz="976845">
              <a:buFont typeface="Arial"/>
              <a:buChar char="•"/>
              <a:defRPr/>
            </a:pPr>
            <a:r>
              <a:rPr lang="en-US" sz="1200" dirty="0">
                <a:solidFill>
                  <a:prstClr val="black"/>
                </a:solidFill>
                <a:latin typeface="Poppins"/>
                <a:ea typeface="+mn-lt"/>
                <a:cs typeface="+mn-lt"/>
              </a:rPr>
              <a:t>Full offline functionality to capture data and place orders anywhere</a:t>
            </a:r>
            <a:endParaRPr lang="en-US">
              <a:solidFill>
                <a:prstClr val="black"/>
              </a:solidFill>
              <a:latin typeface="Poppins"/>
              <a:cs typeface="Poppins"/>
            </a:endParaRPr>
          </a:p>
          <a:p>
            <a:pPr marL="285750" indent="-285750" defTabSz="976845">
              <a:buFont typeface="Arial"/>
              <a:buChar char="•"/>
              <a:defRPr/>
            </a:pPr>
            <a:r>
              <a:rPr lang="en-US" sz="1200" dirty="0">
                <a:solidFill>
                  <a:prstClr val="black"/>
                </a:solidFill>
                <a:latin typeface="Poppins"/>
                <a:ea typeface="+mn-lt"/>
                <a:cs typeface="+mn-lt"/>
              </a:rPr>
              <a:t>Automatic sync with ERP when connectivity is regained</a:t>
            </a:r>
            <a:endParaRPr lang="en-US">
              <a:solidFill>
                <a:prstClr val="black"/>
              </a:solidFill>
              <a:latin typeface="Poppins"/>
              <a:cs typeface="Poppins"/>
            </a:endParaRPr>
          </a:p>
          <a:p>
            <a:pPr marL="285750" indent="-285750" defTabSz="976845">
              <a:buFont typeface="Arial"/>
              <a:buChar char="•"/>
              <a:defRPr/>
            </a:pPr>
            <a:r>
              <a:rPr lang="en-US" sz="1200" dirty="0">
                <a:solidFill>
                  <a:prstClr val="black"/>
                </a:solidFill>
                <a:latin typeface="Poppins"/>
                <a:ea typeface="+mn-lt"/>
                <a:cs typeface="+mn-lt"/>
              </a:rPr>
              <a:t>Accurate, up-to-date data without duplicate entry</a:t>
            </a:r>
            <a:endParaRPr lang="en-US">
              <a:solidFill>
                <a:prstClr val="black"/>
              </a:solidFill>
              <a:latin typeface="Poppins"/>
              <a:cs typeface="Poppins"/>
            </a:endParaRPr>
          </a:p>
          <a:p>
            <a:pPr marL="285750" indent="-285750" defTabSz="976845">
              <a:buFont typeface="Arial"/>
              <a:buChar char="•"/>
              <a:defRPr/>
            </a:pPr>
            <a:r>
              <a:rPr lang="en-US" sz="1200" dirty="0">
                <a:solidFill>
                  <a:prstClr val="black"/>
                </a:solidFill>
                <a:latin typeface="Poppins"/>
                <a:ea typeface="+mn-lt"/>
                <a:cs typeface="+mn-lt"/>
              </a:rPr>
              <a:t>Successfully deployed and actively supported by </a:t>
            </a:r>
            <a:r>
              <a:rPr lang="en-US" sz="1200" err="1">
                <a:solidFill>
                  <a:prstClr val="black"/>
                </a:solidFill>
                <a:latin typeface="Poppins"/>
                <a:ea typeface="+mn-lt"/>
                <a:cs typeface="+mn-lt"/>
              </a:rPr>
              <a:t>Affirma’s</a:t>
            </a:r>
            <a:r>
              <a:rPr lang="en-US" sz="1200" dirty="0">
                <a:solidFill>
                  <a:prstClr val="black"/>
                </a:solidFill>
                <a:latin typeface="Poppins"/>
                <a:ea typeface="+mn-lt"/>
                <a:cs typeface="+mn-lt"/>
              </a:rPr>
              <a:t> development team</a:t>
            </a:r>
            <a:endParaRPr lang="en-US" dirty="0">
              <a:solidFill>
                <a:prstClr val="black"/>
              </a:solidFill>
              <a:latin typeface="Poppins"/>
              <a:ea typeface="+mn-lt"/>
              <a:cs typeface="+mn-lt"/>
            </a:endParaRPr>
          </a:p>
          <a:p>
            <a:pPr defTabSz="976845">
              <a:defRPr/>
            </a:pPr>
            <a:endParaRPr lang="en-US" sz="1200" dirty="0">
              <a:solidFill>
                <a:prstClr val="black"/>
              </a:solidFill>
              <a:latin typeface="Poppins"/>
              <a:cs typeface="Poppins"/>
            </a:endParaRPr>
          </a:p>
          <a:p>
            <a:pPr defTabSz="976845">
              <a:defRPr/>
            </a:pPr>
            <a:endParaRPr lang="en-US" sz="1200" dirty="0">
              <a:solidFill>
                <a:prstClr val="black"/>
              </a:solidFill>
              <a:latin typeface="Poppins"/>
              <a:cs typeface="Poppins"/>
            </a:endParaRPr>
          </a:p>
          <a:p>
            <a:pPr defTabSz="976845">
              <a:defRPr/>
            </a:pPr>
            <a:endParaRPr lang="en-US" sz="1200"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6891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Mobile Application</Value>
    </Solutions>
    <Industries xmlns="f0ee8362-fa7e-4bc9-ab88-7dcfb17cb19b">
      <Value>Manufacturing</Value>
    </Industries>
    <Notes0 xmlns="f0ee8362-fa7e-4bc9-ab88-7dcfb17cb19b">Must be anonymous</Notes0>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436FAC-0304-46B2-B6A5-14C0E16C1F1F}">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02AB065B-D52E-4CD8-8C96-CE050A41B6C3}">
  <ds:schemaRefs>
    <ds:schemaRef ds:uri="http://schemas.microsoft.com/office/2006/metadata/customXsn"/>
  </ds:schemaRefs>
</ds:datastoreItem>
</file>

<file path=customXml/itemProps3.xml><?xml version="1.0" encoding="utf-8"?>
<ds:datastoreItem xmlns:ds="http://schemas.openxmlformats.org/officeDocument/2006/customXml" ds:itemID="{A6E82D27-E464-45CC-ACDF-D1E8EE9158A8}"/>
</file>

<file path=customXml/itemProps4.xml><?xml version="1.0" encoding="utf-8"?>
<ds:datastoreItem xmlns:ds="http://schemas.openxmlformats.org/officeDocument/2006/customXml" ds:itemID="{6B8CB5E5-6B32-45BE-827C-B5EAED107E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TotalTime>
  <Words>135</Words>
  <Application>Microsoft Office PowerPoint</Application>
  <PresentationFormat>Widescreen</PresentationFormat>
  <Paragraphs>6</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1_Custom Design</vt:lpstr>
      <vt:lpstr>HVAC Field Service Application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CaptiveAire - Field Service Mobile Application</dc:title>
  <dc:creator>Michael Pearson</dc:creator>
  <cp:lastModifiedBy>Brendan Murphy</cp:lastModifiedBy>
  <cp:revision>19</cp:revision>
  <dcterms:created xsi:type="dcterms:W3CDTF">2021-01-18T23:04:54Z</dcterms:created>
  <dcterms:modified xsi:type="dcterms:W3CDTF">2025-09-30T15:13:27Z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