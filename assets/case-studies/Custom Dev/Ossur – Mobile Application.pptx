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07613898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C2F4D-38A0-EA4F-82DE-DBA9A667869D}" v="1" dt="2025-12-10T23:31:06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9" autoAdjust="0"/>
    <p:restoredTop sz="94660"/>
  </p:normalViewPr>
  <p:slideViewPr>
    <p:cSldViewPr snapToGrid="0">
      <p:cViewPr varScale="1">
        <p:scale>
          <a:sx n="80" d="100"/>
          <a:sy n="80" d="100"/>
        </p:scale>
        <p:origin x="192" y="1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a Wetzel" userId="b4adebb2-8c2d-4424-9bf3-b3a817a2aef7" providerId="ADAL" clId="{B682289B-FE96-5675-849A-D9C4F550C161}"/>
    <pc:docChg chg="modSld">
      <pc:chgData name="Paula Wetzel" userId="b4adebb2-8c2d-4424-9bf3-b3a817a2aef7" providerId="ADAL" clId="{B682289B-FE96-5675-849A-D9C4F550C161}" dt="2025-12-10T23:31:06.539" v="0" actId="1076"/>
      <pc:docMkLst>
        <pc:docMk/>
      </pc:docMkLst>
      <pc:sldChg chg="modSp">
        <pc:chgData name="Paula Wetzel" userId="b4adebb2-8c2d-4424-9bf3-b3a817a2aef7" providerId="ADAL" clId="{B682289B-FE96-5675-849A-D9C4F550C161}" dt="2025-12-10T23:31:06.539" v="0" actId="1076"/>
        <pc:sldMkLst>
          <pc:docMk/>
          <pc:sldMk cId="1183911055" sldId="2076138988"/>
        </pc:sldMkLst>
        <pc:picChg chg="mod">
          <ac:chgData name="Paula Wetzel" userId="b4adebb2-8c2d-4424-9bf3-b3a817a2aef7" providerId="ADAL" clId="{B682289B-FE96-5675-849A-D9C4F550C161}" dt="2025-12-10T23:31:06.539" v="0" actId="1076"/>
          <ac:picMkLst>
            <pc:docMk/>
            <pc:sldMk cId="1183911055" sldId="2076138988"/>
            <ac:picMk id="2050" creationId="{7AA23679-6AFA-4595-B5D7-2FAE8BC8274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4998F-0959-F73A-8686-49097E873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ADC4F-4265-9C9B-1A32-90BEF16D4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1D9FC-EC09-3C48-2AE9-1F454BD71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C5D09-E6D8-4F51-9519-B2638DD159D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9E7A3-B3CC-1907-389E-E3BF918E6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E27F8-C722-3EFB-D791-987689A16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B74F4-5D02-4BF3-8970-291C593D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44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979B0-0B28-AE8C-8945-A5214E145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EA1FD-5BE4-9621-4179-7099B64DA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9980A-493D-D5F4-54D7-0D72CFB98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C5D09-E6D8-4F51-9519-B2638DD159D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D3F47-CB10-211E-CD69-576E4A64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68117-23E4-6839-9585-235E702B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B74F4-5D02-4BF3-8970-291C593D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35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354F-6521-41D7-26E1-B020424A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664E7-CA43-AAD9-0FD1-E71E0792A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CA8C0-8F08-B513-88F3-672F6750A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C5D09-E6D8-4F51-9519-B2638DD159D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598CB-6F20-C0FF-D7A8-756729444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31B49-7B76-BCEC-71BC-F3E283FAF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B74F4-5D02-4BF3-8970-291C593D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74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B578-BEA2-EBB7-1A78-04DC30AD6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275C6-F4BD-43E2-59AB-79B39F5FF3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833D3-6636-7DD0-16EC-D434CF0C9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58CC9-3B27-F517-0C61-A8410F4DD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C5D09-E6D8-4F51-9519-B2638DD159D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FC4EA-B292-1260-6AD4-CB96BDB1F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08595-3455-7FAD-1184-885D42C1B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B74F4-5D02-4BF3-8970-291C593D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93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8496E-9DC9-86FB-33C6-92D903B98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D62A0-5A76-EA04-AEC2-8E6D95FD0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D4EC6-8BD6-F7D4-FB44-FC3A7ADF3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77D8B1-1717-B681-4747-6C25AC7A7C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29FC94-A6EC-D5C9-CD40-1A5709C88F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F0DA0A-64DC-1787-79D9-73E669F2B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C5D09-E6D8-4F51-9519-B2638DD159D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316551-8BDE-7DD8-CC44-0E1689B0C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E40E40-F24D-CA0C-5492-7832714A1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B74F4-5D02-4BF3-8970-291C593D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62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718D3-586F-C1EB-AD34-3B0504B93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EE0265-B31B-B1D8-49D0-59CFF9477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C5D09-E6D8-4F51-9519-B2638DD159D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9F48B1-D016-5DBA-935D-15964A03C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950BA-1726-6BA7-3A40-9DE146CFE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B74F4-5D02-4BF3-8970-291C593D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5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1B915B-0092-9FE5-4F42-782442384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C5D09-E6D8-4F51-9519-B2638DD159D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3E99C9-623D-CFCD-70F4-028EF109D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7D682-FD25-99B9-670D-8516C6FD4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B74F4-5D02-4BF3-8970-291C593D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79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AFEFC-2881-C5C5-FB91-A1E04FB84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3148A-026E-8E32-E52B-C8F6DE201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195DB-F45A-93FF-9E05-0E6C6F27C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C4E21-A796-E8DD-B5DA-296E655F3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C5D09-E6D8-4F51-9519-B2638DD159D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62E0E-8DB5-B8A8-D7C2-6B91DFAB6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1E7BD-7026-4A69-F5D3-16F4DF5D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B74F4-5D02-4BF3-8970-291C593D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50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A174F-D669-2179-41ED-FE56054EC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850E4-AF3A-68DF-213F-36B47B58CC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4A647-735B-2A8D-E226-2EF2057ED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447C7-29FB-EEFD-430B-B94D18C72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C5D09-E6D8-4F51-9519-B2638DD159D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C8EBB-6846-FF78-379A-DC94986F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42A14-D7D2-B8A4-121E-6E814FE0A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B74F4-5D02-4BF3-8970-291C593D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62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7D0CB-CC6B-F0E7-5D4D-D28488A8F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422486-FC7D-02D9-B421-5D03CB186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17D58-8AEB-52EE-7208-608E133E4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C5D09-E6D8-4F51-9519-B2638DD159D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C9623-30B9-9441-4E3A-4845C29CE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DA923-621A-7971-D8F6-B3610C4D9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B74F4-5D02-4BF3-8970-291C593D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029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5AF170-FC22-7AD6-2826-E052267C76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DB421-B645-6756-2D61-56CBA59AE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360B5-D31A-29DB-FB07-C49BB53BF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C5D09-E6D8-4F51-9519-B2638DD159D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48868-5EA5-4995-0249-04B684AB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CEF55-7828-AC13-5B22-59484F099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EB74F4-5D02-4BF3-8970-291C593D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164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53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FD2AC1-6B74-7AF3-09DF-019ED4C1F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AEF8D-4DA5-8B70-0562-A25DA8BCA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F0A1E-BB86-FE81-136F-3B8765AE3C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C5D09-E6D8-4F51-9519-B2638DD159DC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FD8F6-0D97-59CF-C94A-061810617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BAC2F-80C4-7557-6A74-695C94D48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EB74F4-5D02-4BF3-8970-291C593D1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111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3D3112-9E43-41EE-8CFE-62849C1BE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F86DB-78DF-EB43-A6BE-40415A3A0052}" type="slidenum">
              <a:rPr lang="en-US" smtClean="0">
                <a:latin typeface="Poppins" panose="00000500000000000000" pitchFamily="2" charset="0"/>
                <a:cs typeface="Poppins" panose="00000500000000000000" pitchFamily="2" charset="0"/>
              </a:rPr>
              <a:pPr/>
              <a:t>1</a:t>
            </a:fld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39E961-BD3E-493F-81D9-9F565CF17B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Ossur – Mobile Inventory Application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A8A395-18DC-4196-93BE-062508E0E531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 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AA23679-6AFA-4595-B5D7-2FAE8BC82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116" y="1401282"/>
            <a:ext cx="2438400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5DF134D6-E2DD-4912-8533-BE2A08A2E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7197" y="1357933"/>
            <a:ext cx="2438400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5008AB2-2F7B-42EA-A233-8B3DC6CB69EA}"/>
              </a:ext>
            </a:extLst>
          </p:cNvPr>
          <p:cNvSpPr txBox="1">
            <a:spLocks/>
          </p:cNvSpPr>
          <p:nvPr/>
        </p:nvSpPr>
        <p:spPr>
          <a:xfrm>
            <a:off x="702660" y="1452013"/>
            <a:ext cx="4031044" cy="520320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08AD9"/>
                </a:solidFill>
                <a:latin typeface="Poppins"/>
                <a:cs typeface="Poppins"/>
              </a:rPr>
              <a:t>Business Need</a:t>
            </a:r>
            <a:endParaRPr lang="en-US" sz="240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989391B-0001-4F71-8DD9-2B0CDB9AB57A}"/>
              </a:ext>
            </a:extLst>
          </p:cNvPr>
          <p:cNvSpPr txBox="1">
            <a:spLocks/>
          </p:cNvSpPr>
          <p:nvPr/>
        </p:nvSpPr>
        <p:spPr>
          <a:xfrm>
            <a:off x="702660" y="1969639"/>
            <a:ext cx="4448572" cy="1452689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5000"/>
              </a:lnSpc>
              <a:spcBef>
                <a:spcPts val="0"/>
              </a:spcBef>
              <a:buNone/>
              <a:defRPr/>
            </a:pPr>
            <a:r>
              <a:rPr lang="en-US" sz="1050" dirty="0">
                <a:solidFill>
                  <a:prstClr val="black"/>
                </a:solidFill>
                <a:latin typeface="Poppins"/>
                <a:ea typeface="MS Mincho" panose="02020609040205080304" pitchFamily="49" charset="-128"/>
                <a:cs typeface="Poppins"/>
              </a:rPr>
              <a:t>Following the revitalization of Ossur’s web application, the company sought to extend its product offering with mobile apps for iOS and Android to remain competitive. The highest-value workflow identified for this expansion was Inventory Management. A critical requirement was offline functionality so that field users could continue working outside of cell service, with seamless syncing once connectivity was restored.</a:t>
            </a:r>
            <a:endParaRPr lang="en-US" dirty="0">
              <a:solidFill>
                <a:prstClr val="black"/>
              </a:solidFill>
              <a:latin typeface="Poppins"/>
              <a:cs typeface="Poppins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26EB481-3B86-4F79-8655-F0D19C495264}"/>
              </a:ext>
            </a:extLst>
          </p:cNvPr>
          <p:cNvSpPr txBox="1">
            <a:spLocks/>
          </p:cNvSpPr>
          <p:nvPr/>
        </p:nvSpPr>
        <p:spPr>
          <a:xfrm>
            <a:off x="702660" y="3600064"/>
            <a:ext cx="4031044" cy="520320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08AD9"/>
                </a:solidFill>
                <a:latin typeface="Poppins"/>
                <a:cs typeface="Poppins"/>
              </a:rPr>
              <a:t>Outcomes</a:t>
            </a:r>
            <a:endParaRPr lang="en-US" sz="240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CB65C230-76AD-4ED9-88F9-FF2EBB368B15}"/>
              </a:ext>
            </a:extLst>
          </p:cNvPr>
          <p:cNvSpPr txBox="1">
            <a:spLocks/>
          </p:cNvSpPr>
          <p:nvPr/>
        </p:nvSpPr>
        <p:spPr>
          <a:xfrm>
            <a:off x="702660" y="4109750"/>
            <a:ext cx="4448572" cy="209898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Char char="•"/>
              <a:defRPr/>
            </a:pPr>
            <a:r>
              <a:rPr lang="en-US" sz="1050" dirty="0">
                <a:solidFill>
                  <a:prstClr val="black"/>
                </a:solidFill>
                <a:latin typeface="Poppins"/>
                <a:ea typeface="MS Mincho" panose="02020609040205080304" pitchFamily="49" charset="-128"/>
                <a:cs typeface="Poppins"/>
              </a:rPr>
              <a:t>Designed and implemented a cross-platform mobile app in Xamarin Forms for iOS and Android</a:t>
            </a:r>
            <a:endParaRPr lang="en-US" dirty="0">
              <a:solidFill>
                <a:prstClr val="black"/>
              </a:solidFill>
              <a:latin typeface="Poppins"/>
              <a:cs typeface="Poppins"/>
            </a:endParaRPr>
          </a:p>
          <a:p>
            <a:pPr>
              <a:buFont typeface="Arial"/>
              <a:buChar char="•"/>
              <a:defRPr/>
            </a:pPr>
            <a:r>
              <a:rPr lang="en-US" sz="1050" dirty="0">
                <a:solidFill>
                  <a:prstClr val="black"/>
                </a:solidFill>
                <a:latin typeface="Poppins"/>
                <a:ea typeface="MS Mincho" panose="02020609040205080304" pitchFamily="49" charset="-128"/>
                <a:cs typeface="Poppins"/>
              </a:rPr>
              <a:t>Delivered an intuitive mobile experience that adapts between online and offline states</a:t>
            </a:r>
            <a:endParaRPr lang="en-US" dirty="0"/>
          </a:p>
          <a:p>
            <a:pPr>
              <a:buFont typeface="Arial"/>
              <a:buChar char="•"/>
              <a:defRPr/>
            </a:pPr>
            <a:r>
              <a:rPr lang="en-US" sz="1050" dirty="0">
                <a:solidFill>
                  <a:prstClr val="black"/>
                </a:solidFill>
                <a:latin typeface="Poppins"/>
                <a:ea typeface="MS Mincho" panose="02020609040205080304" pitchFamily="49" charset="-128"/>
                <a:cs typeface="Poppins"/>
              </a:rPr>
              <a:t>Reused the existing backend to ensure consistency and reduce implementation cost</a:t>
            </a:r>
            <a:endParaRPr lang="en-US" dirty="0"/>
          </a:p>
          <a:p>
            <a:pPr>
              <a:buFont typeface="Arial"/>
              <a:buChar char="•"/>
              <a:defRPr/>
            </a:pPr>
            <a:r>
              <a:rPr lang="en-US" sz="1050">
                <a:solidFill>
                  <a:prstClr val="black"/>
                </a:solidFill>
                <a:latin typeface="Poppins"/>
                <a:ea typeface="MS Mincho" panose="02020609040205080304" pitchFamily="49" charset="-128"/>
                <a:cs typeface="Poppins"/>
              </a:rPr>
              <a:t>Built a reusable offline framework for caching, data capture, reconciliation, and conflict resolution</a:t>
            </a:r>
            <a:endParaRPr lang="en-US">
              <a:solidFill>
                <a:prstClr val="black"/>
              </a:solidFill>
              <a:latin typeface="Poppins"/>
              <a:cs typeface="Poppins"/>
            </a:endParaRPr>
          </a:p>
          <a:p>
            <a:pPr>
              <a:buFont typeface="Arial"/>
              <a:buChar char="•"/>
              <a:defRPr/>
            </a:pPr>
            <a:r>
              <a:rPr lang="en-US" sz="1050" dirty="0">
                <a:solidFill>
                  <a:prstClr val="black"/>
                </a:solidFill>
                <a:latin typeface="Poppins"/>
                <a:ea typeface="MS Mincho" panose="02020609040205080304" pitchFamily="49" charset="-128"/>
                <a:cs typeface="Poppins"/>
              </a:rPr>
              <a:t>Enabled field users to manage inventory reliably in any environment</a:t>
            </a:r>
            <a:endParaRPr lang="en-US" dirty="0"/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  <a:defRPr/>
            </a:pPr>
            <a:endParaRPr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MS Mincho" panose="02020609040205080304" pitchFamily="49" charset="-128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911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 Development</Value>
      <Value>Creative</Value>
    </BusinessUnit>
    <Solutions xmlns="f0ee8362-fa7e-4bc9-ab88-7dcfb17cb19b">
      <Value>Mobile Application</Value>
    </Solutions>
    <Industries xmlns="f0ee8362-fa7e-4bc9-ab88-7dcfb17cb19b">
      <Value>Healthcare</Value>
    </Industries>
    <Notes0 xmlns="f0ee8362-fa7e-4bc9-ab88-7dcfb17cb19b" xsi:nil="true"/>
    <Named_x0020_Account xmlns="f0ee8362-fa7e-4bc9-ab88-7dcfb17cb19b" xsi:nil="true"/>
    <PlatTech xmlns="f0ee8362-fa7e-4bc9-ab88-7dcfb17cb19b" xsi:nil="true"/>
    <ProjectCompletionDate xmlns="f0ee8362-fa7e-4bc9-ab88-7dcfb17cb19b" xsi:nil="true"/>
    <ApprovedByClient xmlns="f0ee8362-fa7e-4bc9-ab88-7dcfb17cb19b">false</ApprovedByClient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731D44-E5AC-47C3-82C5-131191D98654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76336357-D586-457D-936A-BC2E0A2E300B}">
  <ds:schemaRefs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f0ee8362-fa7e-4bc9-ab88-7dcfb17cb19b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70D5C41-4942-4B4C-AA67-7C70BFEF763B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4E71B50-DF8D-4248-AE01-3BFCF60B72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e8362-fa7e-4bc9-ab88-7dcfb17cb1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137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Ossur – Mobile Inventory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Ossur – Mobile Application</dc:title>
  <dc:creator>Brendan Murphy</dc:creator>
  <cp:lastModifiedBy>Paula Wetzel</cp:lastModifiedBy>
  <cp:revision>15</cp:revision>
  <dcterms:created xsi:type="dcterms:W3CDTF">2024-04-12T00:15:08Z</dcterms:created>
  <dcterms:modified xsi:type="dcterms:W3CDTF">2025-12-10T23:31:16Z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