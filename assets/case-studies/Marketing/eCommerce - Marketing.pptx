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6"/>
  </p:notesMasterIdLst>
  <p:sldIdLst>
    <p:sldId id="300"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812A"/>
    <a:srgbClr val="182D4C"/>
    <a:srgbClr val="2F2F2F"/>
    <a:srgbClr val="6C86B8"/>
    <a:srgbClr val="D87724"/>
    <a:srgbClr val="6A93D0"/>
    <a:srgbClr val="192943"/>
    <a:srgbClr val="1C375C"/>
    <a:srgbClr val="2F4E7F"/>
    <a:srgbClr val="2D55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B88F268-41EB-1D13-AA24-DDF6E4F9EA06}" v="1" dt="2021-02-11T00:23:31.187"/>
  </p1510:revLst>
</p1510:revInfo>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69" autoAdjust="0"/>
    <p:restoredTop sz="94608"/>
  </p:normalViewPr>
  <p:slideViewPr>
    <p:cSldViewPr snapToGrid="0" snapToObjects="1">
      <p:cViewPr varScale="1">
        <p:scale>
          <a:sx n="56" d="100"/>
          <a:sy n="56" d="100"/>
        </p:scale>
        <p:origin x="918" y="78"/>
      </p:cViewPr>
      <p:guideLst>
        <p:guide orient="horz" pos="2160"/>
        <p:guide pos="381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13" Type="http://schemas.openxmlformats.org/officeDocument/2006/relationships/customXml" Target="../customXml/item4.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lin Peterson" userId="S::copeterson@affirma.com::06b2b3a9-6c5f-4199-8546-9ee8c5a2a571" providerId="AD" clId="Web-{6E950E49-AD70-239F-BAF6-255C86F8E528}"/>
    <pc:docChg chg="modSld">
      <pc:chgData name="Colin Peterson" userId="S::copeterson@affirma.com::06b2b3a9-6c5f-4199-8546-9ee8c5a2a571" providerId="AD" clId="Web-{6E950E49-AD70-239F-BAF6-255C86F8E528}" dt="2019-06-27T22:22:25.203" v="0" actId="1076"/>
      <pc:docMkLst>
        <pc:docMk/>
      </pc:docMkLst>
      <pc:sldChg chg="modSp">
        <pc:chgData name="Colin Peterson" userId="S::copeterson@affirma.com::06b2b3a9-6c5f-4199-8546-9ee8c5a2a571" providerId="AD" clId="Web-{6E950E49-AD70-239F-BAF6-255C86F8E528}" dt="2019-06-27T22:22:25.203" v="0" actId="1076"/>
        <pc:sldMkLst>
          <pc:docMk/>
          <pc:sldMk cId="2582825011" sldId="300"/>
        </pc:sldMkLst>
        <pc:spChg chg="mod">
          <ac:chgData name="Colin Peterson" userId="S::copeterson@affirma.com::06b2b3a9-6c5f-4199-8546-9ee8c5a2a571" providerId="AD" clId="Web-{6E950E49-AD70-239F-BAF6-255C86F8E528}" dt="2019-06-27T22:22:25.203" v="0" actId="1076"/>
          <ac:spMkLst>
            <pc:docMk/>
            <pc:sldMk cId="2582825011" sldId="300"/>
            <ac:spMk id="35" creationId="{127A5A2A-6A75-46BB-A872-3D435F9C8C26}"/>
          </ac:spMkLst>
        </pc:spChg>
      </pc:sldChg>
    </pc:docChg>
  </pc:docChgLst>
  <pc:docChgLst>
    <pc:chgData name="Haley Tschohl" userId="S::htschohl@affirma.com::9897efcd-a796-4780-86f4-e68fcff81695" providerId="AD" clId="Web-{AB88F268-41EB-1D13-AA24-DDF6E4F9EA06}"/>
    <pc:docChg chg="modSld">
      <pc:chgData name="Haley Tschohl" userId="S::htschohl@affirma.com::9897efcd-a796-4780-86f4-e68fcff81695" providerId="AD" clId="Web-{AB88F268-41EB-1D13-AA24-DDF6E4F9EA06}" dt="2021-02-11T00:23:31.187" v="0" actId="1076"/>
      <pc:docMkLst>
        <pc:docMk/>
      </pc:docMkLst>
      <pc:sldChg chg="modSp">
        <pc:chgData name="Haley Tschohl" userId="S::htschohl@affirma.com::9897efcd-a796-4780-86f4-e68fcff81695" providerId="AD" clId="Web-{AB88F268-41EB-1D13-AA24-DDF6E4F9EA06}" dt="2021-02-11T00:23:31.187" v="0" actId="1076"/>
        <pc:sldMkLst>
          <pc:docMk/>
          <pc:sldMk cId="2582825011" sldId="300"/>
        </pc:sldMkLst>
        <pc:spChg chg="mod">
          <ac:chgData name="Haley Tschohl" userId="S::htschohl@affirma.com::9897efcd-a796-4780-86f4-e68fcff81695" providerId="AD" clId="Web-{AB88F268-41EB-1D13-AA24-DDF6E4F9EA06}" dt="2021-02-11T00:23:31.187" v="0" actId="1076"/>
          <ac:spMkLst>
            <pc:docMk/>
            <pc:sldMk cId="2582825011" sldId="300"/>
            <ac:spMk id="33" creationId="{A2CD0AFB-BBEB-434B-985F-3ACF7BE5145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BC89A5-BE3E-2441-87C0-54B69ED90FC7}" type="datetimeFigureOut">
              <a:t>2/10/2021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022639-76C9-2740-BE4D-A4E2B1985EBA}" type="slidenum">
              <a:t>‹#›</a:t>
            </a:fld>
            <a:endParaRPr lang="en-US"/>
          </a:p>
        </p:txBody>
      </p:sp>
    </p:spTree>
    <p:extLst>
      <p:ext uri="{BB962C8B-B14F-4D97-AF65-F5344CB8AC3E}">
        <p14:creationId xmlns:p14="http://schemas.microsoft.com/office/powerpoint/2010/main" val="1416130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Picture Placeholder 7"/>
          <p:cNvSpPr>
            <a:spLocks noGrp="1"/>
          </p:cNvSpPr>
          <p:nvPr>
            <p:ph type="pic" sz="quarter" idx="10"/>
          </p:nvPr>
        </p:nvSpPr>
        <p:spPr>
          <a:xfrm>
            <a:off x="0" y="0"/>
            <a:ext cx="12192001" cy="6858000"/>
          </a:xfrm>
          <a:pattFill prst="divot">
            <a:fgClr>
              <a:schemeClr val="bg1">
                <a:lumMod val="85000"/>
              </a:schemeClr>
            </a:fgClr>
            <a:bgClr>
              <a:schemeClr val="bg1"/>
            </a:bgClr>
          </a:pattFill>
        </p:spPr>
        <p:txBody>
          <a:bodyPr anchor="ctr">
            <a:normAutofit/>
          </a:bodyPr>
          <a:lstStyle>
            <a:lvl1pPr marL="0" indent="0" algn="ctr">
              <a:buNone/>
              <a:defRPr sz="1800"/>
            </a:lvl1pPr>
          </a:lstStyle>
          <a:p>
            <a:endParaRPr lang="en-US"/>
          </a:p>
        </p:txBody>
      </p:sp>
    </p:spTree>
    <p:extLst>
      <p:ext uri="{BB962C8B-B14F-4D97-AF65-F5344CB8AC3E}">
        <p14:creationId xmlns:p14="http://schemas.microsoft.com/office/powerpoint/2010/main" val="1802982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1405468" y="1418121"/>
            <a:ext cx="3782286" cy="3782286"/>
          </a:xfrm>
          <a:custGeom>
            <a:avLst/>
            <a:gdLst>
              <a:gd name="connsiteX0" fmla="*/ 1891143 w 3782286"/>
              <a:gd name="connsiteY0" fmla="*/ 0 h 3782286"/>
              <a:gd name="connsiteX1" fmla="*/ 3782286 w 3782286"/>
              <a:gd name="connsiteY1" fmla="*/ 1891143 h 3782286"/>
              <a:gd name="connsiteX2" fmla="*/ 1891143 w 3782286"/>
              <a:gd name="connsiteY2" fmla="*/ 3782286 h 3782286"/>
              <a:gd name="connsiteX3" fmla="*/ 0 w 3782286"/>
              <a:gd name="connsiteY3" fmla="*/ 1891143 h 3782286"/>
              <a:gd name="connsiteX4" fmla="*/ 1891143 w 3782286"/>
              <a:gd name="connsiteY4" fmla="*/ 0 h 3782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2286" h="3782286">
                <a:moveTo>
                  <a:pt x="1891143" y="0"/>
                </a:moveTo>
                <a:cubicBezTo>
                  <a:pt x="2935592" y="0"/>
                  <a:pt x="3782286" y="846694"/>
                  <a:pt x="3782286" y="1891143"/>
                </a:cubicBezTo>
                <a:cubicBezTo>
                  <a:pt x="3782286" y="2935592"/>
                  <a:pt x="2935592" y="3782286"/>
                  <a:pt x="1891143" y="3782286"/>
                </a:cubicBezTo>
                <a:cubicBezTo>
                  <a:pt x="846694" y="3782286"/>
                  <a:pt x="0" y="2935592"/>
                  <a:pt x="0" y="1891143"/>
                </a:cubicBezTo>
                <a:cubicBezTo>
                  <a:pt x="0" y="846694"/>
                  <a:pt x="846694" y="0"/>
                  <a:pt x="1891143" y="0"/>
                </a:cubicBezTo>
                <a:close/>
              </a:path>
            </a:pathLst>
          </a:custGeom>
          <a:pattFill prst="divot">
            <a:fgClr>
              <a:schemeClr val="bg1">
                <a:lumMod val="85000"/>
              </a:schemeClr>
            </a:fgClr>
            <a:bgClr>
              <a:schemeClr val="bg1"/>
            </a:bgClr>
          </a:pattFill>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4135901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10" name="Picture Placeholder 9"/>
          <p:cNvSpPr>
            <a:spLocks noGrp="1"/>
          </p:cNvSpPr>
          <p:nvPr>
            <p:ph type="pic" sz="quarter" idx="10"/>
          </p:nvPr>
        </p:nvSpPr>
        <p:spPr>
          <a:xfrm>
            <a:off x="8763000" y="0"/>
            <a:ext cx="3429000" cy="6858000"/>
          </a:xfrm>
          <a:custGeom>
            <a:avLst/>
            <a:gdLst>
              <a:gd name="connsiteX0" fmla="*/ 3429000 w 3429000"/>
              <a:gd name="connsiteY0" fmla="*/ 0 h 6858000"/>
              <a:gd name="connsiteX1" fmla="*/ 3429000 w 3429000"/>
              <a:gd name="connsiteY1" fmla="*/ 6858000 h 6858000"/>
              <a:gd name="connsiteX2" fmla="*/ 0 w 3429000"/>
              <a:gd name="connsiteY2" fmla="*/ 3429000 h 6858000"/>
              <a:gd name="connsiteX3" fmla="*/ 3429000 w 3429000"/>
              <a:gd name="connsiteY3" fmla="*/ 0 h 6858000"/>
            </a:gdLst>
            <a:ahLst/>
            <a:cxnLst>
              <a:cxn ang="0">
                <a:pos x="connsiteX0" y="connsiteY0"/>
              </a:cxn>
              <a:cxn ang="0">
                <a:pos x="connsiteX1" y="connsiteY1"/>
              </a:cxn>
              <a:cxn ang="0">
                <a:pos x="connsiteX2" y="connsiteY2"/>
              </a:cxn>
              <a:cxn ang="0">
                <a:pos x="connsiteX3" y="connsiteY3"/>
              </a:cxn>
            </a:cxnLst>
            <a:rect l="l" t="t" r="r" b="b"/>
            <a:pathLst>
              <a:path w="3429000" h="6858000">
                <a:moveTo>
                  <a:pt x="3429000" y="0"/>
                </a:moveTo>
                <a:lnTo>
                  <a:pt x="3429000" y="6858000"/>
                </a:lnTo>
                <a:cubicBezTo>
                  <a:pt x="1535216" y="6858000"/>
                  <a:pt x="0" y="5322784"/>
                  <a:pt x="0" y="3429000"/>
                </a:cubicBezTo>
                <a:cubicBezTo>
                  <a:pt x="0" y="1535217"/>
                  <a:pt x="1535216" y="0"/>
                  <a:pt x="3429000" y="0"/>
                </a:cubicBezTo>
                <a:close/>
              </a:path>
            </a:pathLst>
          </a:custGeom>
          <a:pattFill prst="divot">
            <a:fgClr>
              <a:schemeClr val="bg1">
                <a:lumMod val="85000"/>
              </a:schemeClr>
            </a:fgClr>
            <a:bgClr>
              <a:schemeClr val="bg1"/>
            </a:bgClr>
          </a:pattFill>
          <a:ln>
            <a:noFill/>
          </a:ln>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1740639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0" y="994299"/>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858128" y="2008164"/>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858129" y="1581124"/>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858128" y="3525482"/>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858129" y="3098442"/>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873603" y="5568668"/>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873603" y="5141628"/>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7604616" y="3578094"/>
            <a:ext cx="4254500" cy="2755900"/>
          </a:xfrm>
        </p:spPr>
        <p:txBody>
          <a:bodyPr/>
          <a:lstStyle>
            <a:lvl1pPr>
              <a:defRPr/>
            </a:lvl1pPr>
          </a:lstStyle>
          <a:p>
            <a:r>
              <a:rPr lang="en-US" dirty="0" err="1"/>
              <a:t>screenshotplace</a:t>
            </a:r>
            <a:endParaRPr lang="en-US" dirty="0"/>
          </a:p>
        </p:txBody>
      </p:sp>
      <p:sp>
        <p:nvSpPr>
          <p:cNvPr id="5" name="Picture Placeholder 4">
            <a:extLst>
              <a:ext uri="{FF2B5EF4-FFF2-40B4-BE49-F238E27FC236}">
                <a16:creationId xmlns:a16="http://schemas.microsoft.com/office/drawing/2014/main" id="{3ECA3D9A-2ED8-4AE0-ACE4-B53CB627B2D7}"/>
              </a:ext>
            </a:extLst>
          </p:cNvPr>
          <p:cNvSpPr>
            <a:spLocks noGrp="1"/>
          </p:cNvSpPr>
          <p:nvPr>
            <p:ph type="pic" sz="quarter" idx="12"/>
          </p:nvPr>
        </p:nvSpPr>
        <p:spPr>
          <a:xfrm>
            <a:off x="8797646" y="1565275"/>
            <a:ext cx="1781175" cy="1770063"/>
          </a:xfrm>
        </p:spPr>
        <p:txBody>
          <a:bodyPr/>
          <a:lstStyle/>
          <a:p>
            <a:endParaRPr lang="en-US"/>
          </a:p>
        </p:txBody>
      </p:sp>
    </p:spTree>
    <p:extLst>
      <p:ext uri="{BB962C8B-B14F-4D97-AF65-F5344CB8AC3E}">
        <p14:creationId xmlns:p14="http://schemas.microsoft.com/office/powerpoint/2010/main" val="258282501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ase (Righ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4953002" y="988395"/>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5811130" y="2002260"/>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5811131" y="1575220"/>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5811130" y="3519578"/>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5811131" y="3092538"/>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5826605" y="5562764"/>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5826605" y="5135724"/>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381000" y="3550917"/>
            <a:ext cx="4254500" cy="2755900"/>
          </a:xfrm>
        </p:spPr>
        <p:txBody>
          <a:bodyPr/>
          <a:lstStyle>
            <a:lvl1pPr>
              <a:defRPr/>
            </a:lvl1pPr>
          </a:lstStyle>
          <a:p>
            <a:r>
              <a:rPr lang="en-US" dirty="0" err="1"/>
              <a:t>screenshotplace</a:t>
            </a:r>
            <a:endParaRPr lang="en-US" dirty="0"/>
          </a:p>
        </p:txBody>
      </p:sp>
      <p:sp>
        <p:nvSpPr>
          <p:cNvPr id="37" name="Picture Placeholder 4">
            <a:extLst>
              <a:ext uri="{FF2B5EF4-FFF2-40B4-BE49-F238E27FC236}">
                <a16:creationId xmlns:a16="http://schemas.microsoft.com/office/drawing/2014/main" id="{EB585296-BAA5-41EE-AC7D-F347285C3162}"/>
              </a:ext>
            </a:extLst>
          </p:cNvPr>
          <p:cNvSpPr>
            <a:spLocks noGrp="1"/>
          </p:cNvSpPr>
          <p:nvPr>
            <p:ph type="pic" sz="quarter" idx="12"/>
          </p:nvPr>
        </p:nvSpPr>
        <p:spPr>
          <a:xfrm>
            <a:off x="1615685" y="1531636"/>
            <a:ext cx="1781175" cy="1770063"/>
          </a:xfrm>
        </p:spPr>
        <p:txBody>
          <a:bodyPr/>
          <a:lstStyle/>
          <a:p>
            <a:endParaRPr lang="en-US"/>
          </a:p>
        </p:txBody>
      </p:sp>
    </p:spTree>
    <p:extLst>
      <p:ext uri="{BB962C8B-B14F-4D97-AF65-F5344CB8AC3E}">
        <p14:creationId xmlns:p14="http://schemas.microsoft.com/office/powerpoint/2010/main" val="73129046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5A23AB-5C46-FA4A-BF97-1CB175D11720}" type="datetimeFigureOut">
              <a:t>2/10/2021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00B42A-9AC8-E54B-B87E-06913CF81F51}" type="slidenum">
              <a:t>‹#›</a:t>
            </a:fld>
            <a:endParaRPr lang="en-US"/>
          </a:p>
        </p:txBody>
      </p:sp>
    </p:spTree>
    <p:extLst>
      <p:ext uri="{BB962C8B-B14F-4D97-AF65-F5344CB8AC3E}">
        <p14:creationId xmlns:p14="http://schemas.microsoft.com/office/powerpoint/2010/main" val="2069889758"/>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8" r:id="rId3"/>
    <p:sldLayoutId id="2147483712" r:id="rId4"/>
    <p:sldLayoutId id="214748371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eCommerce Client – Social Media Marketing</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0" y="994299"/>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858128" y="2008164"/>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&lt;p&gt;A new to Amazon based e-commerce business aimed to build an online marketing presence. The client hoped to utilize social media marketing and advertising to grow highly engaged social followers as well as build an email marketing list.&lt;/p&gt;
&lt;p&gt;The client wanted to leverage their social media marketing efforts into a solid sales funnel. Due to their start-up nature, budget for the project was limited.&lt;/p&gt;
</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858129" y="1581124"/>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484317" y="4905708"/>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&lt;p&gt;After performing a thorough keyword and competitor analysis, we developed and implemented a comprehensive social media marketing campaign. We evaluated the target market and performed A/B testing to determine cost-effective strategies to engage and build long-term social media followers. In addition to these programs, we also strategically engaged the followers in activities, including contests and promotions, to build an email marketing list and enhance ongoing buyer loyalty.&lt;/p&gt;
</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858129" y="3098442"/>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6804846" y="3159100"/>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&lt;p&gt;With a limited budget and an average monthly ad spend of less than $500 per month, we helped our client achieve all targeted results.&lt;/p&gt;
&lt;p&gt;This included an addition of over 15,000 new Facebook followers, with 80% falling into the targeted buyer personas and over 8,000 new emails added to the sales nurture stream!&lt;/p&gt;
</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873603" y="5141628"/>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Tree>
    <p:extLst>
      <p:ext uri="{BB962C8B-B14F-4D97-AF65-F5344CB8AC3E}">
        <p14:creationId xmlns:p14="http://schemas.microsoft.com/office/powerpoint/2010/main" val="2582825011"/>
      </p:ext>
    </p:extLst>
  </p:cSld>
  <p:clrMapOvr>
    <a:masterClrMapping/>
  </p:clrMapOvr>
</p:sld>
</file>

<file path=ppt/theme/theme1.xml><?xml version="1.0" encoding="utf-8"?>
<a:theme xmlns:a="http://schemas.openxmlformats.org/drawingml/2006/main" name="Office Theme">
  <a:themeElements>
    <a:clrScheme name="Suavedigital">
      <a:dk1>
        <a:srgbClr val="242527"/>
      </a:dk1>
      <a:lt1>
        <a:srgbClr val="FFFFFF"/>
      </a:lt1>
      <a:dk2>
        <a:srgbClr val="262626"/>
      </a:dk2>
      <a:lt2>
        <a:srgbClr val="FFFFFF"/>
      </a:lt2>
      <a:accent1>
        <a:srgbClr val="FFC017"/>
      </a:accent1>
      <a:accent2>
        <a:srgbClr val="535353"/>
      </a:accent2>
      <a:accent3>
        <a:srgbClr val="A7A7A7"/>
      </a:accent3>
      <a:accent4>
        <a:srgbClr val="D2DDD9"/>
      </a:accent4>
      <a:accent5>
        <a:srgbClr val="3F3F3F"/>
      </a:accent5>
      <a:accent6>
        <a:srgbClr val="2C2C2C"/>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Marketing Services</Value>
    </BusinessUnit>
    <Solutions xmlns="f0ee8362-fa7e-4bc9-ab88-7dcfb17cb19b">
      <Value>Marketing Automation</Value>
      <Value>Marketing Strategy</Value>
      <Value>SEO/ AEO</Value>
    </Solutions>
    <Industries xmlns="f0ee8362-fa7e-4bc9-ab88-7dcfb17cb19b">
      <Value>Services</Value>
      <Value>Technology</Value>
    </Industries>
    <Notes0 xmlns="f0ee8362-fa7e-4bc9-ab88-7dcfb17cb19b" xsi:nil="true"/>
    <Named_x0020_Account xmlns="f0ee8362-fa7e-4bc9-ab88-7dcfb17cb19b" xsi:nil="true"/>
    <PlatTech xmlns="f0ee8362-fa7e-4bc9-ab88-7dcfb17cb19b">
      <Value>Other</Value>
    </PlatTech>
    <ApprovedByClient xmlns="f0ee8362-fa7e-4bc9-ab88-7dcfb17cb19b">false</ApprovedByClient>
    <ProjectCompletionDate xmlns="f0ee8362-fa7e-4bc9-ab88-7dcfb17cb19b"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mso-contentType ?>
<customXsn xmlns="http://schemas.microsoft.com/office/2006/metadata/customXsn">
  <xsnLocation/>
  <cached>True</cached>
  <openByDefault>False</openByDefault>
  <xsnScope/>
</customXsn>
</file>

<file path=customXml/itemProps1.xml><?xml version="1.0" encoding="utf-8"?>
<ds:datastoreItem xmlns:ds="http://schemas.openxmlformats.org/officeDocument/2006/customXml" ds:itemID="{20F41222-BD8F-441A-9169-2491374C2910}">
  <ds:schemaRefs>
    <ds:schemaRef ds:uri="http://schemas.microsoft.com/office/2006/metadata/properties"/>
    <ds:schemaRef ds:uri="http://schemas.microsoft.com/office/infopath/2007/PartnerControls"/>
    <ds:schemaRef ds:uri="54243e05-8da7-404c-85e0-0480aaa26276"/>
  </ds:schemaRefs>
</ds:datastoreItem>
</file>

<file path=customXml/itemProps2.xml><?xml version="1.0" encoding="utf-8"?>
<ds:datastoreItem xmlns:ds="http://schemas.openxmlformats.org/officeDocument/2006/customXml" ds:itemID="{C4307160-14F0-4D7F-97E2-E4243F1F3261}"/>
</file>

<file path=customXml/itemProps3.xml><?xml version="1.0" encoding="utf-8"?>
<ds:datastoreItem xmlns:ds="http://schemas.openxmlformats.org/officeDocument/2006/customXml" ds:itemID="{CF655054-5218-4149-A482-CA977CA4F4C2}">
  <ds:schemaRefs>
    <ds:schemaRef ds:uri="http://schemas.microsoft.com/sharepoint/v3/contenttype/forms"/>
  </ds:schemaRefs>
</ds:datastoreItem>
</file>

<file path=customXml/itemProps4.xml><?xml version="1.0" encoding="utf-8"?>
<ds:datastoreItem xmlns:ds="http://schemas.openxmlformats.org/officeDocument/2006/customXml" ds:itemID="{09F54C20-992A-4A6D-8EA4-9719120B0C93}"/>
</file>

<file path=docProps/app.xml><?xml version="1.0" encoding="utf-8"?>
<Properties xmlns="http://schemas.openxmlformats.org/officeDocument/2006/extended-properties" xmlns:vt="http://schemas.openxmlformats.org/officeDocument/2006/docPropsVTypes">
  <TotalTime>4898</TotalTime>
  <Words>68</Words>
  <Application>Microsoft Office PowerPoint</Application>
  <PresentationFormat>Widescreen</PresentationFormat>
  <Paragraphs>2</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eCommerce Client – Social Media Marketing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Don Hyun</cp:lastModifiedBy>
  <cp:revision>573</cp:revision>
  <dcterms:created xsi:type="dcterms:W3CDTF">2017-10-09T12:47:23Z</dcterms:created>
  <dcterms:modified xsi:type="dcterms:W3CDTF">2021-02-11T00:23:31Z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y fmtid="{D5CDD505-2E9C-101B-9397-08002B2CF9AE}" pid="3" name="Business Unit">
    <vt:lpwstr/>
  </property>
  <property fmtid="{D5CDD505-2E9C-101B-9397-08002B2CF9AE}" pid="4" name="Industry">
    <vt:lpwstr/>
  </property>
  <property fmtid="{D5CDD505-2E9C-101B-9397-08002B2CF9AE}" pid="5" name="Service_x0020_Offering">
    <vt:lpwstr/>
  </property>
  <property fmtid="{D5CDD505-2E9C-101B-9397-08002B2CF9AE}" pid="6" name="Business_x0020_Unit">
    <vt:lpwstr/>
  </property>
  <property fmtid="{D5CDD505-2E9C-101B-9397-08002B2CF9AE}" pid="7" name="_ExtendedDescription">
    <vt:lpwstr/>
  </property>
  <property fmtid="{D5CDD505-2E9C-101B-9397-08002B2CF9AE}" pid="8" name="Service Offering">
    <vt:lpwstr/>
  </property>
  <property fmtid="{D5CDD505-2E9C-101B-9397-08002B2CF9AE}" pid="9" name="Category">
    <vt:lpwstr>6;#Case Study|8faa0ad1-25f0-4f56-8e38-f60e20c455d6</vt:lpwstr>
  </property>
  <property fmtid="{D5CDD505-2E9C-101B-9397-08002B2CF9AE}" pid="10" name="Order">
    <vt:r8>18700</vt:r8>
  </property>
  <property fmtid="{D5CDD505-2E9C-101B-9397-08002B2CF9AE}" pid="11" name="xd_Signature">
    <vt:bool>false</vt:bool>
  </property>
  <property fmtid="{D5CDD505-2E9C-101B-9397-08002B2CF9AE}" pid="12" name="SO">
    <vt:lpwstr>20;#;#21;#;#35;#</vt:lpwstr>
  </property>
  <property fmtid="{D5CDD505-2E9C-101B-9397-08002B2CF9AE}" pid="13" name="xd_ProgID">
    <vt:lpwstr/>
  </property>
  <property fmtid="{D5CDD505-2E9C-101B-9397-08002B2CF9AE}" pid="14" name="_SourceUrl">
    <vt:lpwstr/>
  </property>
  <property fmtid="{D5CDD505-2E9C-101B-9397-08002B2CF9AE}" pid="15" name="_SharedFileIndex">
    <vt:lpwstr/>
  </property>
  <property fmtid="{D5CDD505-2E9C-101B-9397-08002B2CF9AE}" pid="16" name="ComplianceAssetId">
    <vt:lpwstr/>
  </property>
  <property fmtid="{D5CDD505-2E9C-101B-9397-08002B2CF9AE}" pid="17" name="TemplateUrl">
    <vt:lpwstr/>
  </property>
  <property fmtid="{D5CDD505-2E9C-101B-9397-08002B2CF9AE}" pid="18" name="TriggerFlowInfo">
    <vt:lpwstr/>
  </property>
</Properties>
</file>