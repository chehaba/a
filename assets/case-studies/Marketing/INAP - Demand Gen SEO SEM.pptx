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121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39922B-4E81-412C-BC4D-FB7B41004CD1}"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2EB4A5-168C-4A4F-B053-2654E4E5CE59}" type="slidenum">
              <a:rPr lang="en-US" smtClean="0"/>
              <a:t>‹#›</a:t>
            </a:fld>
            <a:endParaRPr lang="en-US"/>
          </a:p>
        </p:txBody>
      </p:sp>
    </p:spTree>
    <p:extLst>
      <p:ext uri="{BB962C8B-B14F-4D97-AF65-F5344CB8AC3E}">
        <p14:creationId xmlns:p14="http://schemas.microsoft.com/office/powerpoint/2010/main" val="1554551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706864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9645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329792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216638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1365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9632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29031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34023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308907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68008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35650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35565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37061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767976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30495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0003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57930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3/12/2024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18192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297717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198254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24810671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19613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839111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42132349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1679764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Section Title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97830-EF50-B643-B994-D997482F2707}"/>
              </a:ext>
            </a:extLst>
          </p:cNvPr>
          <p:cNvSpPr/>
          <p:nvPr userDrawn="1"/>
        </p:nvSpPr>
        <p:spPr>
          <a:xfrm>
            <a:off x="6085837" y="0"/>
            <a:ext cx="6106163" cy="6857999"/>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855A5-7553-0742-89D9-7FDDEAC12245}"/>
              </a:ext>
            </a:extLst>
          </p:cNvPr>
          <p:cNvSpPr>
            <a:spLocks noGrp="1"/>
          </p:cNvSpPr>
          <p:nvPr>
            <p:ph type="ctrTitle" hasCustomPrompt="1"/>
          </p:nvPr>
        </p:nvSpPr>
        <p:spPr>
          <a:xfrm>
            <a:off x="6922804" y="3046804"/>
            <a:ext cx="4415756" cy="1911276"/>
          </a:xfrm>
        </p:spPr>
        <p:txBody>
          <a:bodyPr anchor="t">
            <a:normAutofit/>
          </a:bodyPr>
          <a:lstStyle>
            <a:lvl1pPr algn="l">
              <a:defRPr sz="4000" b="0" i="0">
                <a:solidFill>
                  <a:schemeClr val="bg1"/>
                </a:solidFill>
                <a:latin typeface="Arial" panose="020B0604020202020204" pitchFamily="34" charset="0"/>
                <a:cs typeface="Arial" panose="020B0604020202020204" pitchFamily="34" charset="0"/>
              </a:defRPr>
            </a:lvl1pPr>
          </a:lstStyle>
          <a:p>
            <a:r>
              <a:rPr lang="en-US"/>
              <a:t>Title Placeholder</a:t>
            </a:r>
          </a:p>
        </p:txBody>
      </p:sp>
      <p:pic>
        <p:nvPicPr>
          <p:cNvPr id="13" name="Picture 12">
            <a:extLst>
              <a:ext uri="{FF2B5EF4-FFF2-40B4-BE49-F238E27FC236}">
                <a16:creationId xmlns:a16="http://schemas.microsoft.com/office/drawing/2014/main" id="{EA06EB43-50DE-5C43-AAC6-9C2DB54E885C}"/>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7949" t="2727" r="40534" b="23812"/>
          <a:stretch/>
        </p:blipFill>
        <p:spPr>
          <a:xfrm rot="5400000">
            <a:off x="7580032" y="2995634"/>
            <a:ext cx="3127936" cy="6096000"/>
          </a:xfrm>
          <a:prstGeom prst="rect">
            <a:avLst/>
          </a:prstGeom>
        </p:spPr>
      </p:pic>
      <p:sp>
        <p:nvSpPr>
          <p:cNvPr id="5" name="Text Placeholder 4">
            <a:extLst>
              <a:ext uri="{FF2B5EF4-FFF2-40B4-BE49-F238E27FC236}">
                <a16:creationId xmlns:a16="http://schemas.microsoft.com/office/drawing/2014/main" id="{A7342920-A5B1-934D-ADB8-26E82483F9D4}"/>
              </a:ext>
            </a:extLst>
          </p:cNvPr>
          <p:cNvSpPr>
            <a:spLocks noGrp="1"/>
          </p:cNvSpPr>
          <p:nvPr>
            <p:ph type="body" sz="quarter" idx="10" hasCustomPrompt="1"/>
          </p:nvPr>
        </p:nvSpPr>
        <p:spPr>
          <a:xfrm>
            <a:off x="6941818" y="1945416"/>
            <a:ext cx="4396742" cy="769915"/>
          </a:xfrm>
        </p:spPr>
        <p:txBody>
          <a:bodyPr/>
          <a:lstStyle>
            <a:lvl1pPr marL="0" indent="0">
              <a:buNone/>
              <a:defRPr sz="5600" b="0" i="0" spc="600">
                <a:solidFill>
                  <a:srgbClr val="FFD8A5"/>
                </a:solidFill>
                <a:latin typeface="Arial Narrow" panose="020B0604020202020204" pitchFamily="34" charset="0"/>
                <a:cs typeface="Arial Narrow" panose="020B0604020202020204" pitchFamily="34" charset="0"/>
              </a:defRPr>
            </a:lvl1pPr>
          </a:lstStyle>
          <a:p>
            <a:pPr lvl="0"/>
            <a:r>
              <a:rPr lang="en-US"/>
              <a:t>01</a:t>
            </a:r>
          </a:p>
        </p:txBody>
      </p:sp>
    </p:spTree>
    <p:extLst>
      <p:ext uri="{BB962C8B-B14F-4D97-AF65-F5344CB8AC3E}">
        <p14:creationId xmlns:p14="http://schemas.microsoft.com/office/powerpoint/2010/main" val="392421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3/12/2024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4826753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78054" y="1106299"/>
            <a:ext cx="7547893" cy="4757584"/>
          </a:xfrm>
          <a:prstGeom prst="rect">
            <a:avLst/>
          </a:prstGeom>
          <a:noFill/>
        </p:spPr>
        <p:txBody>
          <a:bodyPr wrap="square" rtlCol="0">
            <a:spAutoFit/>
          </a:bodyPr>
          <a:lstStyle/>
          <a:p>
            <a:pPr defTabSz="976845">
              <a:lnSpc>
                <a:spcPct val="120000"/>
              </a:lnSpc>
            </a:pPr>
            <a:r>
              <a:rPr lang="en-US" sz="2117" b="1">
                <a:solidFill>
                  <a:srgbClr val="0096A9"/>
                </a:solidFill>
                <a:latin typeface="Segoe UI" panose="020B0502040204020203" pitchFamily="34" charset="0"/>
                <a:ea typeface="MS Mincho" panose="02020609040205080304" pitchFamily="49" charset="-128"/>
                <a:cs typeface="Segoe UI" panose="020B0502040204020203" pitchFamily="34" charset="0"/>
              </a:rPr>
              <a:t>Business Need</a:t>
            </a:r>
            <a:endParaRPr lang="en-US" altLang="ja-JP" sz="2117" b="1">
              <a:solidFill>
                <a:srgbClr val="0096A9"/>
              </a:solidFill>
              <a:latin typeface="Segoe UI" panose="020B0502040204020203" pitchFamily="34" charset="0"/>
              <a:ea typeface="MS Mincho" panose="02020609040205080304" pitchFamily="49" charset="-128"/>
              <a:cs typeface="Segoe UI" panose="020B0502040204020203" pitchFamily="34" charset="0"/>
            </a:endParaRPr>
          </a:p>
          <a:p>
            <a:pPr defTabSz="976845"/>
            <a:r>
              <a:rPr lang="en-US" altLang="ja-JP" sz="1500">
                <a:solidFill>
                  <a:prstClr val="black"/>
                </a:solidFill>
                <a:latin typeface="Segoe UI" pitchFamily="34" charset="0"/>
                <a:cs typeface="Segoe UI" pitchFamily="34" charset="0"/>
              </a:rPr>
              <a:t>INAP was looking to maintain their SEO value while transitioning their domain name from internap.com to inap.com as well as increase lead generation. As such, they needed a detailed process for the domain change and support with their search engine marketing (SEM) tactics.  </a:t>
            </a:r>
          </a:p>
          <a:p>
            <a:pPr defTabSz="976845"/>
            <a:endParaRPr lang="en-US" altLang="ja-JP" sz="1235">
              <a:solidFill>
                <a:prstClr val="black"/>
              </a:solidFill>
              <a:latin typeface="Segoe UI" pitchFamily="34" charset="0"/>
              <a:cs typeface="Segoe UI" pitchFamily="34" charset="0"/>
            </a:endParaRPr>
          </a:p>
          <a:p>
            <a:pPr defTabSz="976845">
              <a:lnSpc>
                <a:spcPct val="120000"/>
              </a:lnSpc>
            </a:pPr>
            <a:r>
              <a:rPr lang="en-US" sz="2117" b="1">
                <a:solidFill>
                  <a:srgbClr val="0096A9"/>
                </a:solidFill>
                <a:latin typeface="Segoe UI" panose="020B0502040204020203" pitchFamily="34" charset="0"/>
                <a:ea typeface="MS Mincho" panose="02020609040205080304" pitchFamily="49" charset="-128"/>
                <a:cs typeface="Segoe UI" panose="020B0502040204020203" pitchFamily="34" charset="0"/>
              </a:rPr>
              <a:t>What We Did</a:t>
            </a:r>
          </a:p>
          <a:p>
            <a:pPr defTabSz="976845"/>
            <a:r>
              <a:rPr lang="en-US" sz="1500">
                <a:solidFill>
                  <a:prstClr val="black"/>
                </a:solidFill>
                <a:latin typeface="Segoe UI" pitchFamily="34" charset="0"/>
                <a:cs typeface="Segoe UI" pitchFamily="34" charset="0"/>
              </a:rPr>
              <a:t>Affirma provided a step-by-step domain change strategy for INAP’s web development team, specifically how to minimize the impact to SEO. The Affirma team also performed a full SEO audit and then implemented best practices and recommendations, including meta description updates, back link management and set up of the Google Search Console for indexing. In addition, local SEO was set up for Google and Bing maps. </a:t>
            </a:r>
          </a:p>
          <a:p>
            <a:pPr defTabSz="976845"/>
            <a:endParaRPr lang="en-US" sz="1500">
              <a:solidFill>
                <a:prstClr val="black"/>
              </a:solidFill>
              <a:latin typeface="Segoe UI" pitchFamily="34" charset="0"/>
              <a:cs typeface="Segoe UI" pitchFamily="34" charset="0"/>
            </a:endParaRPr>
          </a:p>
          <a:p>
            <a:pPr defTabSz="976845"/>
            <a:r>
              <a:rPr lang="en-US" sz="1500">
                <a:solidFill>
                  <a:prstClr val="black"/>
                </a:solidFill>
                <a:latin typeface="Segoe UI" pitchFamily="34" charset="0"/>
                <a:cs typeface="Segoe UI" pitchFamily="34" charset="0"/>
              </a:rPr>
              <a:t>Affirma performed a keyword and competitor analysis to develop a comprehensive Pay-Per-Click (PPC) Google and Bing AdWords strategy well as retargeting strategy. Implementation included creating campaigns and landing pages as well as setting up appropriate tracking code.</a:t>
            </a:r>
          </a:p>
          <a:p>
            <a:pPr defTabSz="976845"/>
            <a:endParaRPr lang="en-US" sz="1500">
              <a:solidFill>
                <a:prstClr val="black"/>
              </a:solidFill>
              <a:latin typeface="Segoe UI" pitchFamily="34" charset="0"/>
              <a:cs typeface="Segoe UI" pitchFamily="34" charset="0"/>
            </a:endParaRPr>
          </a:p>
          <a:p>
            <a:pPr defTabSz="976845"/>
            <a:r>
              <a:rPr lang="en-US" sz="1500">
                <a:solidFill>
                  <a:prstClr val="black"/>
                </a:solidFill>
                <a:latin typeface="Segoe UI" pitchFamily="34" charset="0"/>
                <a:cs typeface="Segoe UI" pitchFamily="34" charset="0"/>
              </a:rPr>
              <a:t>Affirma continues to support INAP’s team with their SEO/SEM efforts.</a:t>
            </a:r>
          </a:p>
        </p:txBody>
      </p:sp>
      <p:sp>
        <p:nvSpPr>
          <p:cNvPr id="8" name="Title 1"/>
          <p:cNvSpPr txBox="1">
            <a:spLocks/>
          </p:cNvSpPr>
          <p:nvPr/>
        </p:nvSpPr>
        <p:spPr>
          <a:xfrm>
            <a:off x="293524" y="249678"/>
            <a:ext cx="8200060" cy="740283"/>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pPr defTabSz="838166"/>
            <a:r>
              <a:rPr lang="en-US" sz="3167" dirty="0">
                <a:solidFill>
                  <a:prstClr val="white"/>
                </a:solidFill>
                <a:latin typeface="Segoe UI Light"/>
              </a:rPr>
              <a:t>INAP – Demand Gen: SEO/SEM</a:t>
            </a:r>
          </a:p>
        </p:txBody>
      </p:sp>
      <p:pic>
        <p:nvPicPr>
          <p:cNvPr id="3" name="Picture 2">
            <a:extLst>
              <a:ext uri="{FF2B5EF4-FFF2-40B4-BE49-F238E27FC236}">
                <a16:creationId xmlns:a16="http://schemas.microsoft.com/office/drawing/2014/main" id="{733CB4DB-1B36-49E5-B740-35F53291E9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9203" y="1358125"/>
            <a:ext cx="1843855" cy="1170390"/>
          </a:xfrm>
          <a:prstGeom prst="rect">
            <a:avLst/>
          </a:prstGeom>
        </p:spPr>
      </p:pic>
      <p:pic>
        <p:nvPicPr>
          <p:cNvPr id="9" name="Picture 8">
            <a:extLst>
              <a:ext uri="{FF2B5EF4-FFF2-40B4-BE49-F238E27FC236}">
                <a16:creationId xmlns:a16="http://schemas.microsoft.com/office/drawing/2014/main" id="{1BE37D4A-CBCD-478B-BF7B-B775115F2004}"/>
              </a:ext>
            </a:extLst>
          </p:cNvPr>
          <p:cNvPicPr>
            <a:picLocks noChangeAspect="1"/>
          </p:cNvPicPr>
          <p:nvPr/>
        </p:nvPicPr>
        <p:blipFill>
          <a:blip r:embed="rId4"/>
          <a:stretch>
            <a:fillRect/>
          </a:stretch>
        </p:blipFill>
        <p:spPr>
          <a:xfrm>
            <a:off x="8040076" y="1309407"/>
            <a:ext cx="2089128" cy="3973250"/>
          </a:xfrm>
          <a:prstGeom prst="rect">
            <a:avLst/>
          </a:prstGeom>
        </p:spPr>
      </p:pic>
      <p:pic>
        <p:nvPicPr>
          <p:cNvPr id="2" name="Picture 1">
            <a:extLst>
              <a:ext uri="{FF2B5EF4-FFF2-40B4-BE49-F238E27FC236}">
                <a16:creationId xmlns:a16="http://schemas.microsoft.com/office/drawing/2014/main" id="{A9218A6E-8542-458D-B1F2-798F29AF6CC0}"/>
              </a:ext>
            </a:extLst>
          </p:cNvPr>
          <p:cNvPicPr>
            <a:picLocks noChangeAspect="1"/>
          </p:cNvPicPr>
          <p:nvPr/>
        </p:nvPicPr>
        <p:blipFill>
          <a:blip r:embed="rId5"/>
          <a:stretch>
            <a:fillRect/>
          </a:stretch>
        </p:blipFill>
        <p:spPr>
          <a:xfrm>
            <a:off x="9630207" y="2761630"/>
            <a:ext cx="2214962" cy="1923436"/>
          </a:xfrm>
          <a:prstGeom prst="rect">
            <a:avLst/>
          </a:prstGeom>
          <a:ln>
            <a:solidFill>
              <a:schemeClr val="accent2"/>
            </a:solidFill>
          </a:ln>
        </p:spPr>
      </p:pic>
    </p:spTree>
    <p:extLst>
      <p:ext uri="{BB962C8B-B14F-4D97-AF65-F5344CB8AC3E}">
        <p14:creationId xmlns:p14="http://schemas.microsoft.com/office/powerpoint/2010/main" val="313498331"/>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xsi:nil="true"/>
    <Industries xmlns="f0ee8362-fa7e-4bc9-ab88-7dcfb17cb19b">
      <Value>Technology</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98787FF-A019-44B2-8C96-33C621BA5EE1}"/>
</file>

<file path=customXml/itemProps2.xml><?xml version="1.0" encoding="utf-8"?>
<ds:datastoreItem xmlns:ds="http://schemas.openxmlformats.org/officeDocument/2006/customXml" ds:itemID="{E622AD12-27C0-4266-864E-36DD6C3ED234}"/>
</file>

<file path=customXml/itemProps3.xml><?xml version="1.0" encoding="utf-8"?>
<ds:datastoreItem xmlns:ds="http://schemas.openxmlformats.org/officeDocument/2006/customXml" ds:itemID="{B7DA9C25-F695-47E6-9C7E-3DAAA8D9D9B5}"/>
</file>

<file path=customXml/itemProps4.xml><?xml version="1.0" encoding="utf-8"?>
<ds:datastoreItem xmlns:ds="http://schemas.openxmlformats.org/officeDocument/2006/customXml" ds:itemID="{04AAD024-76BB-421F-BE54-5EAA1D7A6D8F}"/>
</file>

<file path=docProps/app.xml><?xml version="1.0" encoding="utf-8"?>
<Properties xmlns="http://schemas.openxmlformats.org/officeDocument/2006/extended-properties" xmlns:vt="http://schemas.openxmlformats.org/officeDocument/2006/docPropsVTypes">
  <TotalTime>7</TotalTime>
  <Words>192</Words>
  <Application>Microsoft Office PowerPoint</Application>
  <PresentationFormat>Widescreen</PresentationFormat>
  <Paragraphs>11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Narrow</vt:lpstr>
      <vt:lpstr>Calibri</vt:lpstr>
      <vt:lpstr>Segoe UI</vt:lpstr>
      <vt:lpstr>Segoe UI Light</vt:lpstr>
      <vt:lpstr>Segoe UI Semilight</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Brendan Murphy</dc:creator>
  <cp:lastModifiedBy>Brendan Murphy</cp:lastModifiedBy>
  <cp:revision>5</cp:revision>
  <dcterms:created xsi:type="dcterms:W3CDTF">2024-03-12T20:53:18Z</dcterms:created>
  <dcterms:modified xsi:type="dcterms:W3CDTF">2024-03-12T21:00:43Z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