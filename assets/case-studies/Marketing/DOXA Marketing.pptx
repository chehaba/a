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notesMasterIdLst>
    <p:notesMasterId r:id="rId7"/>
  </p:notesMasterIdLst>
  <p:sldIdLst>
    <p:sldId id="214748137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3" d="100"/>
          <a:sy n="93" d="100"/>
        </p:scale>
        <p:origin x="1272"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1.xml"/><Relationship Id="rId1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FB4734-A80E-473C-83A3-88094A3545ED}"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0C3934-D1A7-4BB1-AF8E-D49FC00EB61C}" type="slidenum">
              <a:rPr lang="en-US" smtClean="0"/>
              <a:t>‹#›</a:t>
            </a:fld>
            <a:endParaRPr lang="en-US"/>
          </a:p>
        </p:txBody>
      </p:sp>
    </p:spTree>
    <p:extLst>
      <p:ext uri="{BB962C8B-B14F-4D97-AF65-F5344CB8AC3E}">
        <p14:creationId xmlns:p14="http://schemas.microsoft.com/office/powerpoint/2010/main" val="2072063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DEF1B-0EA9-4B0E-6460-19E5182F21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4B417-C4AC-A935-6CC3-DE04302F01F0}"/>
              </a:ext>
            </a:extLst>
          </p:cNvPr>
          <p:cNvSpPr>
            <a:spLocks noGrp="1" noRot="1" noChangeAspect="1"/>
          </p:cNvSpPr>
          <p:nvPr>
            <p:ph type="sldImg"/>
          </p:nvPr>
        </p:nvSpPr>
        <p:spPr>
          <a:xfrm>
            <a:off x="654050" y="1162050"/>
            <a:ext cx="5573713" cy="3136900"/>
          </a:xfrm>
        </p:spPr>
      </p:sp>
      <p:sp>
        <p:nvSpPr>
          <p:cNvPr id="3" name="Notes Placeholder 2">
            <a:extLst>
              <a:ext uri="{FF2B5EF4-FFF2-40B4-BE49-F238E27FC236}">
                <a16:creationId xmlns:a16="http://schemas.microsoft.com/office/drawing/2014/main" id="{6A65669B-C058-35DC-1E3B-542C880203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D354331-5F60-E0CE-FCD8-7F4C9BB33C3E}"/>
              </a:ext>
            </a:extLst>
          </p:cNvPr>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5EE3F6CF-073A-4B4F-A2B7-08B9C7DBCB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172261"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62570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F1AEB-BB9B-8E85-C705-A348AA9BDC4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894A74DD-1927-812D-49C1-808DE81AC7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C3EFF88C-4453-C802-68FC-5D4C6F7F4E87}"/>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5" name="Footer Placeholder 4">
            <a:extLst>
              <a:ext uri="{FF2B5EF4-FFF2-40B4-BE49-F238E27FC236}">
                <a16:creationId xmlns:a16="http://schemas.microsoft.com/office/drawing/2014/main" id="{2D07CD21-EF15-928E-B785-79D0BF2938B7}"/>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B4791E8D-7B89-531C-C775-84CF3D1C279E}"/>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299108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807C6-FA8A-5B8D-0271-08CEE2536ECA}"/>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65F7C318-6499-EF04-157A-E0300ABCD0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89D3E25-52EF-4E1F-5865-FCD5DE98CEFA}"/>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5" name="Footer Placeholder 4">
            <a:extLst>
              <a:ext uri="{FF2B5EF4-FFF2-40B4-BE49-F238E27FC236}">
                <a16:creationId xmlns:a16="http://schemas.microsoft.com/office/drawing/2014/main" id="{21386000-6F50-4310-759E-7FA63A82724E}"/>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00EB0D7E-76EF-9F4A-FEDE-CA3C32D86608}"/>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4074954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4BB74-5492-A688-62A1-5DFCAEBFDD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FD58568-13D8-0D55-76EF-540EB356EB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7120D2-EACE-687E-CEC3-45CEA39CF042}"/>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5" name="Footer Placeholder 4">
            <a:extLst>
              <a:ext uri="{FF2B5EF4-FFF2-40B4-BE49-F238E27FC236}">
                <a16:creationId xmlns:a16="http://schemas.microsoft.com/office/drawing/2014/main" id="{0EE43557-662E-D2A2-41A2-55D04BF2D763}"/>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6CC73B49-1442-A0CD-1881-A8590291F67B}"/>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077163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1284A-0F8E-A481-9297-DC941BA55E96}"/>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2AB3A0AE-3230-0327-5CF4-5EB04FCDC3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6538C2F6-22A0-49CD-673C-C7B6028BCB0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52CD7B26-9B0A-CEEB-0B44-5C6276D123C3}"/>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6" name="Footer Placeholder 5">
            <a:extLst>
              <a:ext uri="{FF2B5EF4-FFF2-40B4-BE49-F238E27FC236}">
                <a16:creationId xmlns:a16="http://schemas.microsoft.com/office/drawing/2014/main" id="{E871A45B-C105-E95A-D81D-F2D267760AFF}"/>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73C4FAED-7F8A-459B-FB15-B2C656C1FD1F}"/>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960064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66252-54FE-8D35-2DAF-25F1D96A88A5}"/>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5826BD5B-58D1-6FE4-9352-16B70FE86B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FCF96D-42EC-B5C8-E687-488A398410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3159C821-5D69-6537-EDCC-44E4AF28C6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BEC08-1F9D-BFD2-9ABA-6566EB1F95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13105D38-705B-FA03-20BC-5EE5D266F019}"/>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8" name="Footer Placeholder 7">
            <a:extLst>
              <a:ext uri="{FF2B5EF4-FFF2-40B4-BE49-F238E27FC236}">
                <a16:creationId xmlns:a16="http://schemas.microsoft.com/office/drawing/2014/main" id="{8899C3EB-5DE7-B003-54B3-86F2DE3609C6}"/>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A995B974-66AB-702D-3CC6-27DBA04E23F1}"/>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292198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2304C-B78C-39E9-BC96-F5F46534653F}"/>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38EA4792-21CB-951A-5204-5D91F8426C57}"/>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4" name="Footer Placeholder 3">
            <a:extLst>
              <a:ext uri="{FF2B5EF4-FFF2-40B4-BE49-F238E27FC236}">
                <a16:creationId xmlns:a16="http://schemas.microsoft.com/office/drawing/2014/main" id="{0C5EBC02-4251-7501-3E94-E9C1E3E5984B}"/>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A805A057-734D-163B-7EEC-7FC9F0FDB4C7}"/>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451466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3480D2-B210-4FE7-DC85-6A3B69ADC947}"/>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3" name="Footer Placeholder 2">
            <a:extLst>
              <a:ext uri="{FF2B5EF4-FFF2-40B4-BE49-F238E27FC236}">
                <a16:creationId xmlns:a16="http://schemas.microsoft.com/office/drawing/2014/main" id="{5B573986-D1B7-E9D2-A45A-0C2954A3F280}"/>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805617B9-2283-52FC-73CF-B4F9B75B59F5}"/>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457234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3663-0D79-64F6-6DFA-0F6EC7707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76E40B25-9084-B91A-C611-C1495E11C0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A331E652-EFCA-3F11-B58A-EC3CDA27F5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C91AA5-2A5D-BD21-4286-05A85A4F12E0}"/>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6" name="Footer Placeholder 5">
            <a:extLst>
              <a:ext uri="{FF2B5EF4-FFF2-40B4-BE49-F238E27FC236}">
                <a16:creationId xmlns:a16="http://schemas.microsoft.com/office/drawing/2014/main" id="{CD6C715F-28C1-577C-A42A-080F1C9E925E}"/>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FF1B1E07-49EA-E2F4-D7E5-C0A1C1CC2051}"/>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925204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B08B2-0F6F-76DE-7835-68DD24D8B3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2D936AC3-6F54-2692-84B8-314A9A965E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521E8BE7-BBC9-1CA5-AF0B-8F443C92B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B9E6E5-E19D-9D7E-2D42-B6621E04F382}"/>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6" name="Footer Placeholder 5">
            <a:extLst>
              <a:ext uri="{FF2B5EF4-FFF2-40B4-BE49-F238E27FC236}">
                <a16:creationId xmlns:a16="http://schemas.microsoft.com/office/drawing/2014/main" id="{68AD248F-6175-F8A9-2AB0-EA47C69783B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A2E6A434-246A-506C-23F6-3A96601D4C1E}"/>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20964119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E863A-20D9-8CEC-CDF7-A117B440D2E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7A8B607-B6DA-A75A-5E2A-B82BD3E4E5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7AE45386-C070-B5C1-D43B-E8D3421E55FA}"/>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5" name="Footer Placeholder 4">
            <a:extLst>
              <a:ext uri="{FF2B5EF4-FFF2-40B4-BE49-F238E27FC236}">
                <a16:creationId xmlns:a16="http://schemas.microsoft.com/office/drawing/2014/main" id="{9AD46DAB-7F00-5A2D-CAEC-BBADEA837408}"/>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EB1B073-BB5F-D138-6115-A4743913A83D}"/>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310181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49C304-FEAB-01FA-DF2D-C15CBA49ED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F356571D-C146-CD08-1535-B17ABB1323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A5F29EC5-A4B2-BDC3-7F35-54781114B74E}"/>
              </a:ext>
            </a:extLst>
          </p:cNvPr>
          <p:cNvSpPr>
            <a:spLocks noGrp="1"/>
          </p:cNvSpPr>
          <p:nvPr>
            <p:ph type="dt" sz="half" idx="10"/>
          </p:nvPr>
        </p:nvSpPr>
        <p:spPr/>
        <p:txBody>
          <a:bodyPr/>
          <a:lstStyle/>
          <a:p>
            <a:fld id="{9D5D0B21-9F8C-4D01-8D9A-C841602790D9}" type="datetimeFigureOut">
              <a:rPr lang="en-IE" smtClean="0"/>
              <a:t>13/11/2025</a:t>
            </a:fld>
            <a:endParaRPr lang="en-IE"/>
          </a:p>
        </p:txBody>
      </p:sp>
      <p:sp>
        <p:nvSpPr>
          <p:cNvPr id="5" name="Footer Placeholder 4">
            <a:extLst>
              <a:ext uri="{FF2B5EF4-FFF2-40B4-BE49-F238E27FC236}">
                <a16:creationId xmlns:a16="http://schemas.microsoft.com/office/drawing/2014/main" id="{D50C9799-07DB-4DEF-9423-6667F5EADCEA}"/>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AC2055FF-131C-4456-9DC3-AEDA3EDBDA1A}"/>
              </a:ext>
            </a:extLst>
          </p:cNvPr>
          <p:cNvSpPr>
            <a:spLocks noGrp="1"/>
          </p:cNvSpPr>
          <p:nvPr>
            <p:ph type="sldNum" sz="quarter" idx="12"/>
          </p:nvPr>
        </p:nvSpPr>
        <p:spPr/>
        <p:txBody>
          <a:bodyPr/>
          <a:lstStyle/>
          <a:p>
            <a:fld id="{2511752F-ABDC-4920-96EF-1735859A7CF5}" type="slidenum">
              <a:rPr lang="en-IE" smtClean="0"/>
              <a:t>‹#›</a:t>
            </a:fld>
            <a:endParaRPr lang="en-IE"/>
          </a:p>
        </p:txBody>
      </p:sp>
    </p:spTree>
    <p:extLst>
      <p:ext uri="{BB962C8B-B14F-4D97-AF65-F5344CB8AC3E}">
        <p14:creationId xmlns:p14="http://schemas.microsoft.com/office/powerpoint/2010/main" val="1786068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Title onl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350883" y="347096"/>
            <a:ext cx="10985432" cy="764390"/>
          </a:xfrm>
        </p:spPr>
        <p:txBody>
          <a:bodyPr anchor="b">
            <a:normAutofit/>
          </a:bodyPr>
          <a:lstStyle>
            <a:lvl1pPr algn="l">
              <a:defRPr sz="4000" b="0" i="0">
                <a:solidFill>
                  <a:srgbClr val="063A79"/>
                </a:solidFill>
                <a:latin typeface="Poppins SemiBold" panose="00000700000000000000" pitchFamily="2" charset="0"/>
                <a:cs typeface="Poppins SemiBold" panose="00000700000000000000" pitchFamily="2" charset="0"/>
              </a:defRPr>
            </a:lvl1pPr>
          </a:lstStyle>
          <a:p>
            <a:r>
              <a:rPr lang="en-US"/>
              <a:t>Placeholder for Title</a:t>
            </a:r>
          </a:p>
        </p:txBody>
      </p:sp>
      <p:pic>
        <p:nvPicPr>
          <p:cNvPr id="20" name="Picture 19">
            <a:extLst>
              <a:ext uri="{FF2B5EF4-FFF2-40B4-BE49-F238E27FC236}">
                <a16:creationId xmlns:a16="http://schemas.microsoft.com/office/drawing/2014/main" id="{60499D1E-B5BB-3141-A0F0-C62AD4413DC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002852" y="6337495"/>
            <a:ext cx="767123" cy="264231"/>
          </a:xfrm>
          <a:prstGeom prst="rect">
            <a:avLst/>
          </a:prstGeom>
        </p:spPr>
      </p:pic>
      <p:sp>
        <p:nvSpPr>
          <p:cNvPr id="2" name="Rectangle 1">
            <a:extLst>
              <a:ext uri="{FF2B5EF4-FFF2-40B4-BE49-F238E27FC236}">
                <a16:creationId xmlns:a16="http://schemas.microsoft.com/office/drawing/2014/main" id="{FEEC62C7-21A3-29A1-2073-C46D015B8769}"/>
              </a:ext>
            </a:extLst>
          </p:cNvPr>
          <p:cNvSpPr/>
          <p:nvPr userDrawn="1"/>
        </p:nvSpPr>
        <p:spPr>
          <a:xfrm flipV="1">
            <a:off x="1" y="365239"/>
            <a:ext cx="79744"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308" b="1"/>
              <a:t>  </a:t>
            </a:r>
          </a:p>
        </p:txBody>
      </p:sp>
    </p:spTree>
    <p:extLst>
      <p:ext uri="{BB962C8B-B14F-4D97-AF65-F5344CB8AC3E}">
        <p14:creationId xmlns:p14="http://schemas.microsoft.com/office/powerpoint/2010/main" val="1382366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329F05-3856-E7F8-F2D1-35502E14A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CDCAD473-ACCD-36D6-B237-D36A5A1D2C8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0B4C49FA-8C66-1153-22AC-B10CBBABC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5D0B21-9F8C-4D01-8D9A-C841602790D9}" type="datetimeFigureOut">
              <a:rPr lang="en-IE" smtClean="0"/>
              <a:t>13/11/2025</a:t>
            </a:fld>
            <a:endParaRPr lang="en-IE"/>
          </a:p>
        </p:txBody>
      </p:sp>
      <p:sp>
        <p:nvSpPr>
          <p:cNvPr id="5" name="Footer Placeholder 4">
            <a:extLst>
              <a:ext uri="{FF2B5EF4-FFF2-40B4-BE49-F238E27FC236}">
                <a16:creationId xmlns:a16="http://schemas.microsoft.com/office/drawing/2014/main" id="{E68DEBC1-68A1-98C8-B45B-C12C9F855C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FE4E50FD-385D-F3D4-47FC-FEDA1B6961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511752F-ABDC-4920-96EF-1735859A7CF5}" type="slidenum">
              <a:rPr lang="en-IE" smtClean="0"/>
              <a:t>‹#›</a:t>
            </a:fld>
            <a:endParaRPr lang="en-IE"/>
          </a:p>
        </p:txBody>
      </p:sp>
    </p:spTree>
    <p:extLst>
      <p:ext uri="{BB962C8B-B14F-4D97-AF65-F5344CB8AC3E}">
        <p14:creationId xmlns:p14="http://schemas.microsoft.com/office/powerpoint/2010/main" val="3063269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5255B-29D7-861F-518A-D591F1543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C432C9-2795-4AA5-4E5E-6836804154D0}"/>
              </a:ext>
            </a:extLst>
          </p:cNvPr>
          <p:cNvSpPr>
            <a:spLocks noGrp="1"/>
          </p:cNvSpPr>
          <p:nvPr>
            <p:ph type="ctrTitle"/>
          </p:nvPr>
        </p:nvSpPr>
        <p:spPr>
          <a:xfrm>
            <a:off x="350883" y="347096"/>
            <a:ext cx="11841117" cy="764390"/>
          </a:xfrm>
        </p:spPr>
        <p:txBody>
          <a:bodyPr>
            <a:normAutofit/>
          </a:bodyPr>
          <a:lstStyle/>
          <a:p>
            <a:r>
              <a:rPr lang="en-US" noProof="0"/>
              <a:t>DOXA – Dynamics 365 Marketing Support</a:t>
            </a:r>
          </a:p>
        </p:txBody>
      </p:sp>
      <p:sp>
        <p:nvSpPr>
          <p:cNvPr id="8" name="Rectangle 7">
            <a:extLst>
              <a:ext uri="{FF2B5EF4-FFF2-40B4-BE49-F238E27FC236}">
                <a16:creationId xmlns:a16="http://schemas.microsoft.com/office/drawing/2014/main" id="{9FB133F3-7328-19E6-EC00-57ABDB72EA6E}"/>
              </a:ext>
            </a:extLst>
          </p:cNvPr>
          <p:cNvSpPr/>
          <p:nvPr/>
        </p:nvSpPr>
        <p:spPr>
          <a:xfrm>
            <a:off x="643628" y="1763970"/>
            <a:ext cx="6459850" cy="1558632"/>
          </a:xfrm>
          <a:prstGeom prst="rect">
            <a:avLst/>
          </a:prstGeom>
        </p:spPr>
        <p:txBody>
          <a:bodyPr wrap="square">
            <a:spAutoFit/>
          </a:bodyPr>
          <a:lstStyle/>
          <a:p>
            <a:pPr defTabSz="976845">
              <a:defRPr/>
            </a:pPr>
            <a:r>
              <a:rPr lang="en-US" sz="2000" b="1" dirty="0">
                <a:solidFill>
                  <a:srgbClr val="0089D9"/>
                </a:solidFill>
                <a:latin typeface="Poppins" panose="00000500000000000000" pitchFamily="2" charset="0"/>
                <a:ea typeface="Calibri" panose="020F0502020204030204" pitchFamily="34" charset="0"/>
                <a:cs typeface="Poppins" panose="00000500000000000000" pitchFamily="2" charset="0"/>
              </a:rPr>
              <a:t>Business Need</a:t>
            </a:r>
            <a:endParaRPr lang="en-US" sz="1333" dirty="0">
              <a:solidFill>
                <a:srgbClr val="0089D9"/>
              </a:solidFill>
              <a:latin typeface="Poppins" panose="00000500000000000000" pitchFamily="2" charset="0"/>
              <a:cs typeface="Poppins" panose="00000500000000000000" pitchFamily="2" charset="0"/>
            </a:endParaRPr>
          </a:p>
          <a:p>
            <a:pPr lvl="0">
              <a:lnSpc>
                <a:spcPct val="114000"/>
              </a:lnSpc>
              <a:defRPr/>
            </a:pPr>
            <a:r>
              <a:rPr lang="en-US" sz="1333" dirty="0"/>
              <a:t>Doxa’s Marketing team was using </a:t>
            </a:r>
            <a:r>
              <a:rPr lang="en-US" sz="1333" dirty="0" err="1"/>
              <a:t>Klaviyo</a:t>
            </a:r>
            <a:r>
              <a:rPr lang="en-US" sz="1333" dirty="0"/>
              <a:t> for email campaigns, while the Sales team operated within Microsoft Dynamics 365. This separation led to data silos, limited visibility into lead progression, and weak collaboration between Sales and Marketing. The client needed a unified system to align marketing activities with sales outcomes, improve lead quality, and streamline consent and communication management.</a:t>
            </a:r>
            <a:endParaRPr lang="en-US" sz="1500" dirty="0">
              <a:solidFill>
                <a:prstClr val="black"/>
              </a:solidFill>
              <a:latin typeface="Poppins" panose="00000500000000000000" pitchFamily="2" charset="0"/>
              <a:cs typeface="Poppins" panose="00000500000000000000" pitchFamily="2" charset="0"/>
            </a:endParaRPr>
          </a:p>
        </p:txBody>
      </p:sp>
      <p:sp>
        <p:nvSpPr>
          <p:cNvPr id="10" name="TextBox 9">
            <a:extLst>
              <a:ext uri="{FF2B5EF4-FFF2-40B4-BE49-F238E27FC236}">
                <a16:creationId xmlns:a16="http://schemas.microsoft.com/office/drawing/2014/main" id="{71D317E1-5877-ABB1-B7AE-376628F5AC1A}"/>
              </a:ext>
            </a:extLst>
          </p:cNvPr>
          <p:cNvSpPr txBox="1"/>
          <p:nvPr/>
        </p:nvSpPr>
        <p:spPr>
          <a:xfrm>
            <a:off x="697996" y="3463128"/>
            <a:ext cx="6611888" cy="3066673"/>
          </a:xfrm>
          <a:prstGeom prst="rect">
            <a:avLst/>
          </a:prstGeom>
          <a:noFill/>
        </p:spPr>
        <p:txBody>
          <a:bodyPr wrap="square" rtlCol="0">
            <a:spAutoFit/>
          </a:bodyPr>
          <a:lstStyle/>
          <a:p>
            <a:pPr defTabSz="976845">
              <a:defRPr/>
            </a:pPr>
            <a:r>
              <a:rPr lang="en-US" sz="2000" b="1" dirty="0">
                <a:solidFill>
                  <a:srgbClr val="0089D9"/>
                </a:solidFill>
                <a:latin typeface="Poppins" panose="00000500000000000000" pitchFamily="2" charset="0"/>
                <a:ea typeface="Calibri" panose="020F0502020204030204" pitchFamily="34" charset="0"/>
                <a:cs typeface="Poppins" panose="00000500000000000000" pitchFamily="2" charset="0"/>
              </a:rPr>
              <a:t>What We Did</a:t>
            </a:r>
            <a:endParaRPr lang="en-US" sz="1333" dirty="0">
              <a:solidFill>
                <a:srgbClr val="0089D9"/>
              </a:solidFill>
              <a:latin typeface="Poppins" panose="00000500000000000000" pitchFamily="2" charset="0"/>
              <a:cs typeface="Poppins" panose="00000500000000000000" pitchFamily="2" charset="0"/>
            </a:endParaRPr>
          </a:p>
          <a:p>
            <a:r>
              <a:rPr lang="en-US" sz="1333" dirty="0" err="1"/>
              <a:t>Affirma</a:t>
            </a:r>
            <a:r>
              <a:rPr lang="en-US" sz="1333" dirty="0"/>
              <a:t> integrated and configured </a:t>
            </a:r>
            <a:r>
              <a:rPr lang="en-US" sz="1333" b="1" dirty="0"/>
              <a:t>Dynamics 365 Customer Insights – Journeys</a:t>
            </a:r>
            <a:r>
              <a:rPr lang="en-US" sz="1333" dirty="0"/>
              <a:t> to create a connected marketing and sales ecosystem. Key activities included:</a:t>
            </a:r>
          </a:p>
          <a:p>
            <a:endParaRPr lang="en-US" sz="1333" dirty="0"/>
          </a:p>
          <a:p>
            <a:pPr marL="238115" indent="-238115">
              <a:buFont typeface="Arial" panose="020B0604020202020204" pitchFamily="34" charset="0"/>
              <a:buChar char="•"/>
            </a:pPr>
            <a:r>
              <a:rPr lang="en-US" sz="1333" b="1" dirty="0"/>
              <a:t>Lead Process Alignment:</a:t>
            </a:r>
            <a:r>
              <a:rPr lang="en-US" sz="1333" dirty="0"/>
              <a:t> Defined and implemented MQL/SQL processes to improve lead conversion tracking.</a:t>
            </a:r>
          </a:p>
          <a:p>
            <a:pPr marL="238115" indent="-238115">
              <a:buFont typeface="Arial" panose="020B0604020202020204" pitchFamily="34" charset="0"/>
              <a:buChar char="•"/>
            </a:pPr>
            <a:r>
              <a:rPr lang="en-US" sz="1333" b="1" dirty="0"/>
              <a:t>Compliance &amp; Consent Management:</a:t>
            </a:r>
            <a:r>
              <a:rPr lang="en-US" sz="1333" dirty="0"/>
              <a:t> Built a compliance profile with defined purposes (Commercial, Events, Marketing, Webinars, Transactional).</a:t>
            </a:r>
          </a:p>
          <a:p>
            <a:pPr marL="238115" indent="-238115">
              <a:buFont typeface="Arial" panose="020B0604020202020204" pitchFamily="34" charset="0"/>
              <a:buChar char="•"/>
            </a:pPr>
            <a:r>
              <a:rPr lang="en-US" sz="1333" b="1" dirty="0"/>
              <a:t>Subscription Customization:</a:t>
            </a:r>
            <a:r>
              <a:rPr lang="en-US" sz="1333" dirty="0"/>
              <a:t> Customized unsubscribe and topic-subscription forms to support user preferences.</a:t>
            </a:r>
          </a:p>
          <a:p>
            <a:pPr marL="238115" indent="-238115">
              <a:buFont typeface="Arial" panose="020B0604020202020204" pitchFamily="34" charset="0"/>
              <a:buChar char="•"/>
            </a:pPr>
            <a:r>
              <a:rPr lang="en-US" sz="1333" b="1" dirty="0"/>
              <a:t>Campaign Enablement:</a:t>
            </a:r>
            <a:r>
              <a:rPr lang="en-US" sz="1333" dirty="0"/>
              <a:t> Created reusable templates for Segments, Emails, and Customer Journeys to accelerate campaign execution.</a:t>
            </a:r>
          </a:p>
          <a:p>
            <a:pPr marL="238115" indent="-238115">
              <a:buFont typeface="Arial" panose="020B0604020202020204" pitchFamily="34" charset="0"/>
              <a:buChar char="•"/>
            </a:pPr>
            <a:r>
              <a:rPr lang="en-US" sz="1333" b="1" dirty="0"/>
              <a:t>Data &amp; Journey Setup:</a:t>
            </a:r>
            <a:r>
              <a:rPr lang="en-US" sz="1333" dirty="0"/>
              <a:t> Supported importing contacts, creating consent records, and building SHRM and Vertical campaign assets within Customer Insights.</a:t>
            </a:r>
          </a:p>
        </p:txBody>
      </p:sp>
      <p:pic>
        <p:nvPicPr>
          <p:cNvPr id="1026" name="Picture 2" descr="DOXA Talent">
            <a:extLst>
              <a:ext uri="{FF2B5EF4-FFF2-40B4-BE49-F238E27FC236}">
                <a16:creationId xmlns:a16="http://schemas.microsoft.com/office/drawing/2014/main" id="{224A740B-B7EF-7495-8290-2F12774D29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830"/>
          <a:stretch>
            <a:fillRect/>
          </a:stretch>
        </p:blipFill>
        <p:spPr bwMode="auto">
          <a:xfrm>
            <a:off x="7309884" y="1818749"/>
            <a:ext cx="4075828" cy="9680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A8F4A26-B0EF-CD5B-92FA-9E03FAED5D2B}"/>
              </a:ext>
            </a:extLst>
          </p:cNvPr>
          <p:cNvPicPr>
            <a:picLocks noChangeAspect="1"/>
          </p:cNvPicPr>
          <p:nvPr/>
        </p:nvPicPr>
        <p:blipFill>
          <a:blip r:embed="rId4"/>
          <a:stretch>
            <a:fillRect/>
          </a:stretch>
        </p:blipFill>
        <p:spPr>
          <a:xfrm>
            <a:off x="7309884" y="3324679"/>
            <a:ext cx="4075828" cy="2272917"/>
          </a:xfrm>
          <a:prstGeom prst="rect">
            <a:avLst/>
          </a:prstGeom>
        </p:spPr>
      </p:pic>
    </p:spTree>
    <p:extLst>
      <p:ext uri="{BB962C8B-B14F-4D97-AF65-F5344CB8AC3E}">
        <p14:creationId xmlns:p14="http://schemas.microsoft.com/office/powerpoint/2010/main" val="3437744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Customer Relationship Management</Value>
    </BusinessUnit>
    <Solutions xmlns="f0ee8362-fa7e-4bc9-ab88-7dcfb17cb19b" xsi:nil="true"/>
    <Industries xmlns="f0ee8362-fa7e-4bc9-ab88-7dcfb17cb19b">
      <Value>Services</Value>
    </Industries>
    <Notes0 xmlns="f0ee8362-fa7e-4bc9-ab88-7dcfb17cb19b" xsi:nil="true"/>
    <Named_x0020_Account xmlns="f0ee8362-fa7e-4bc9-ab88-7dcfb17cb19b" xsi:nil="true"/>
    <PlatTech xmlns="f0ee8362-fa7e-4bc9-ab88-7dcfb17cb19b">
      <Value>Dynamics</Value>
    </PlatTech>
    <ProjectCompletionDate xmlns="f0ee8362-fa7e-4bc9-ab88-7dcfb17cb19b" xsi:nil="true"/>
    <ApprovedByClient xmlns="f0ee8362-fa7e-4bc9-ab88-7dcfb17cb19b">false</ApprovedByClient>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6C1163-AA10-4CEA-8A49-98BB0A837F1D}">
  <ds:schemaRefs>
    <ds:schemaRef ds:uri="http://schemas.microsoft.com/office/2006/metadata/customXsn"/>
  </ds:schemaRefs>
</ds:datastoreItem>
</file>

<file path=customXml/itemProps2.xml><?xml version="1.0" encoding="utf-8"?>
<ds:datastoreItem xmlns:ds="http://schemas.openxmlformats.org/officeDocument/2006/customXml" ds:itemID="{9AF0E40C-CB7E-411C-93D5-FDFA863B8B82}">
  <ds:schemaRefs>
    <ds:schemaRef ds:uri="http://schemas.microsoft.com/sharepoint/v3/contenttype/forms"/>
  </ds:schemaRefs>
</ds:datastoreItem>
</file>

<file path=customXml/itemProps3.xml><?xml version="1.0" encoding="utf-8"?>
<ds:datastoreItem xmlns:ds="http://schemas.openxmlformats.org/officeDocument/2006/customXml" ds:itemID="{22E5F021-45BE-493E-A189-392161E53B94}">
  <ds:schemaRefs>
    <ds:schemaRef ds:uri="http://schemas.openxmlformats.org/package/2006/metadata/core-properties"/>
    <ds:schemaRef ds:uri="http://purl.org/dc/elements/1.1/"/>
    <ds:schemaRef ds:uri="http://purl.org/dc/terms/"/>
    <ds:schemaRef ds:uri="http://schemas.microsoft.com/office/2006/documentManagement/types"/>
    <ds:schemaRef ds:uri="http://www.w3.org/XML/1998/namespace"/>
    <ds:schemaRef ds:uri="f0ee8362-fa7e-4bc9-ab88-7dcfb17cb19b"/>
    <ds:schemaRef ds:uri="http://schemas.microsoft.com/office/infopath/2007/PartnerControls"/>
    <ds:schemaRef ds:uri="http://schemas.microsoft.com/office/2006/metadata/properties"/>
    <ds:schemaRef ds:uri="http://purl.org/dc/dcmitype/"/>
  </ds:schemaRefs>
</ds:datastoreItem>
</file>

<file path=customXml/itemProps4.xml><?xml version="1.0" encoding="utf-8"?>
<ds:datastoreItem xmlns:ds="http://schemas.openxmlformats.org/officeDocument/2006/customXml" ds:itemID="{6E2B1FBC-D396-41A2-A281-58D7787E1E77}"/>
</file>

<file path=docMetadata/LabelInfo.xml><?xml version="1.0" encoding="utf-8"?>
<clbl:labelList xmlns:clbl="http://schemas.microsoft.com/office/2020/mipLabelMetadata">
  <clbl:label id="{65265dd0-4b20-44a4-aca4-b7ecbb143664}" enabled="0" method="" siteId="{65265dd0-4b20-44a4-aca4-b7ecbb143664}" removed="1"/>
</clbl:labelList>
</file>

<file path=docProps/app.xml><?xml version="1.0" encoding="utf-8"?>
<Properties xmlns="http://schemas.openxmlformats.org/officeDocument/2006/extended-properties" xmlns:vt="http://schemas.openxmlformats.org/officeDocument/2006/docPropsVTypes">
  <TotalTime>103</TotalTime>
  <Words>197</Words>
  <Application>Microsoft Office PowerPoint</Application>
  <PresentationFormat>Widescreen</PresentationFormat>
  <Paragraphs>12</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DOXA – Dynamics 365 Marketing Support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 XBOX Customer Support Dynamics 365</dc:title>
  <dc:creator>Evaldas Mencinskas</dc:creator>
  <cp:lastModifiedBy>Brendan Murphy</cp:lastModifiedBy>
  <cp:revision>5</cp:revision>
  <dcterms:created xsi:type="dcterms:W3CDTF">2024-05-30T09:06:53Z</dcterms:created>
  <dcterms:modified xsi:type="dcterms:W3CDTF">2025-11-13T21:53:13Z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