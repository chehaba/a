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1111" r:id="rId2"/>
    <p:sldId id="188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524A89-2205-4149-884D-65BE0A522DA1}" v="4" dt="2023-03-07T18:24:47.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13" Type="http://schemas.openxmlformats.org/officeDocument/2006/relationships/customXml" Target="../customXml/item4.xml"/><Relationship Id="rId3" Type="http://schemas.openxmlformats.org/officeDocument/2006/relationships/slide" Target="slides/slide2.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son Knox-Meade" userId="9add29cb-6821-43c7-a287-0793ac386e0f" providerId="ADAL" clId="{21524A89-2205-4149-884D-65BE0A522DA1}"/>
    <pc:docChg chg="delSld modSld">
      <pc:chgData name="Alyson Knox-Meade" userId="9add29cb-6821-43c7-a287-0793ac386e0f" providerId="ADAL" clId="{21524A89-2205-4149-884D-65BE0A522DA1}" dt="2023-03-07T19:09:00.518" v="409" actId="14100"/>
      <pc:docMkLst>
        <pc:docMk/>
      </pc:docMkLst>
      <pc:sldChg chg="modSp mod">
        <pc:chgData name="Alyson Knox-Meade" userId="9add29cb-6821-43c7-a287-0793ac386e0f" providerId="ADAL" clId="{21524A89-2205-4149-884D-65BE0A522DA1}" dt="2023-03-07T18:23:15.155" v="50" actId="255"/>
        <pc:sldMkLst>
          <pc:docMk/>
          <pc:sldMk cId="1311558966" sldId="1111"/>
        </pc:sldMkLst>
        <pc:spChg chg="mod">
          <ac:chgData name="Alyson Knox-Meade" userId="9add29cb-6821-43c7-a287-0793ac386e0f" providerId="ADAL" clId="{21524A89-2205-4149-884D-65BE0A522DA1}" dt="2023-03-07T18:23:15.155" v="50" actId="255"/>
          <ac:spMkLst>
            <pc:docMk/>
            <pc:sldMk cId="1311558966" sldId="1111"/>
            <ac:spMk id="2" creationId="{BE4DCE00-DBB2-41BB-8766-14D2DB07B1E1}"/>
          </ac:spMkLst>
        </pc:spChg>
        <pc:picChg chg="mod">
          <ac:chgData name="Alyson Knox-Meade" userId="9add29cb-6821-43c7-a287-0793ac386e0f" providerId="ADAL" clId="{21524A89-2205-4149-884D-65BE0A522DA1}" dt="2023-03-07T18:23:05.731" v="46" actId="1076"/>
          <ac:picMkLst>
            <pc:docMk/>
            <pc:sldMk cId="1311558966" sldId="1111"/>
            <ac:picMk id="1030" creationId="{88BF1B7D-FB9D-4C09-A1C1-5D2A91339D84}"/>
          </ac:picMkLst>
        </pc:picChg>
      </pc:sldChg>
      <pc:sldChg chg="modSp del mod">
        <pc:chgData name="Alyson Knox-Meade" userId="9add29cb-6821-43c7-a287-0793ac386e0f" providerId="ADAL" clId="{21524A89-2205-4149-884D-65BE0A522DA1}" dt="2023-03-07T18:25:29.644" v="51" actId="2696"/>
        <pc:sldMkLst>
          <pc:docMk/>
          <pc:sldMk cId="1697930200" sldId="1888"/>
        </pc:sldMkLst>
        <pc:spChg chg="mod">
          <ac:chgData name="Alyson Knox-Meade" userId="9add29cb-6821-43c7-a287-0793ac386e0f" providerId="ADAL" clId="{21524A89-2205-4149-884D-65BE0A522DA1}" dt="2023-03-07T18:21:55.171" v="20" actId="20577"/>
          <ac:spMkLst>
            <pc:docMk/>
            <pc:sldMk cId="1697930200" sldId="1888"/>
            <ac:spMk id="3" creationId="{7FA2897C-912A-D8E7-3219-31642917B57D}"/>
          </ac:spMkLst>
        </pc:spChg>
        <pc:spChg chg="mod">
          <ac:chgData name="Alyson Knox-Meade" userId="9add29cb-6821-43c7-a287-0793ac386e0f" providerId="ADAL" clId="{21524A89-2205-4149-884D-65BE0A522DA1}" dt="2023-03-07T18:21:48.656" v="10" actId="20577"/>
          <ac:spMkLst>
            <pc:docMk/>
            <pc:sldMk cId="1697930200" sldId="1888"/>
            <ac:spMk id="12" creationId="{F0F82307-37A2-3641-986D-5EB52CE50C60}"/>
          </ac:spMkLst>
        </pc:spChg>
      </pc:sldChg>
      <pc:sldChg chg="modSp mod">
        <pc:chgData name="Alyson Knox-Meade" userId="9add29cb-6821-43c7-a287-0793ac386e0f" providerId="ADAL" clId="{21524A89-2205-4149-884D-65BE0A522DA1}" dt="2023-03-07T19:09:00.518" v="409" actId="14100"/>
        <pc:sldMkLst>
          <pc:docMk/>
          <pc:sldMk cId="2376729558" sldId="1889"/>
        </pc:sldMkLst>
        <pc:spChg chg="mod">
          <ac:chgData name="Alyson Knox-Meade" userId="9add29cb-6821-43c7-a287-0793ac386e0f" providerId="ADAL" clId="{21524A89-2205-4149-884D-65BE0A522DA1}" dt="2023-03-07T19:08:22.319" v="358" actId="20577"/>
          <ac:spMkLst>
            <pc:docMk/>
            <pc:sldMk cId="2376729558" sldId="1889"/>
            <ac:spMk id="3" creationId="{FCE8B0AD-E948-04A3-DB6E-49E052E6A6AE}"/>
          </ac:spMkLst>
        </pc:spChg>
        <pc:spChg chg="mod">
          <ac:chgData name="Alyson Knox-Meade" userId="9add29cb-6821-43c7-a287-0793ac386e0f" providerId="ADAL" clId="{21524A89-2205-4149-884D-65BE0A522DA1}" dt="2023-03-07T19:08:26.754" v="359" actId="14100"/>
          <ac:spMkLst>
            <pc:docMk/>
            <pc:sldMk cId="2376729558" sldId="1889"/>
            <ac:spMk id="4" creationId="{7C6F2655-44C7-3D30-F107-48979B0B851A}"/>
          </ac:spMkLst>
        </pc:spChg>
        <pc:spChg chg="mod">
          <ac:chgData name="Alyson Knox-Meade" userId="9add29cb-6821-43c7-a287-0793ac386e0f" providerId="ADAL" clId="{21524A89-2205-4149-884D-65BE0A522DA1}" dt="2023-03-07T18:26:45.726" v="79" actId="255"/>
          <ac:spMkLst>
            <pc:docMk/>
            <pc:sldMk cId="2376729558" sldId="1889"/>
            <ac:spMk id="12" creationId="{F0F82307-37A2-3641-986D-5EB52CE50C60}"/>
          </ac:spMkLst>
        </pc:spChg>
        <pc:spChg chg="mod">
          <ac:chgData name="Alyson Knox-Meade" userId="9add29cb-6821-43c7-a287-0793ac386e0f" providerId="ADAL" clId="{21524A89-2205-4149-884D-65BE0A522DA1}" dt="2023-03-07T19:07:24.450" v="300" actId="6549"/>
          <ac:spMkLst>
            <pc:docMk/>
            <pc:sldMk cId="2376729558" sldId="1889"/>
            <ac:spMk id="26" creationId="{94B2EFBB-178C-C7FD-C821-EAD1E950FC9A}"/>
          </ac:spMkLst>
        </pc:spChg>
        <pc:spChg chg="mod">
          <ac:chgData name="Alyson Knox-Meade" userId="9add29cb-6821-43c7-a287-0793ac386e0f" providerId="ADAL" clId="{21524A89-2205-4149-884D-65BE0A522DA1}" dt="2023-03-07T19:08:50.224" v="407" actId="20577"/>
          <ac:spMkLst>
            <pc:docMk/>
            <pc:sldMk cId="2376729558" sldId="1889"/>
            <ac:spMk id="53" creationId="{12C5E303-F64E-F05A-4F8A-16902048E043}"/>
          </ac:spMkLst>
        </pc:spChg>
        <pc:spChg chg="mod">
          <ac:chgData name="Alyson Knox-Meade" userId="9add29cb-6821-43c7-a287-0793ac386e0f" providerId="ADAL" clId="{21524A89-2205-4149-884D-65BE0A522DA1}" dt="2023-03-07T19:05:17.134" v="191" actId="14100"/>
          <ac:spMkLst>
            <pc:docMk/>
            <pc:sldMk cId="2376729558" sldId="1889"/>
            <ac:spMk id="56" creationId="{F299A934-1475-0106-06BD-790BC3788484}"/>
          </ac:spMkLst>
        </pc:spChg>
        <pc:spChg chg="mod">
          <ac:chgData name="Alyson Knox-Meade" userId="9add29cb-6821-43c7-a287-0793ac386e0f" providerId="ADAL" clId="{21524A89-2205-4149-884D-65BE0A522DA1}" dt="2023-03-07T19:08:43.248" v="387" actId="20577"/>
          <ac:spMkLst>
            <pc:docMk/>
            <pc:sldMk cId="2376729558" sldId="1889"/>
            <ac:spMk id="59" creationId="{4F51ECE7-0425-F522-CA37-CD9F0825A6F7}"/>
          </ac:spMkLst>
        </pc:spChg>
        <pc:spChg chg="mod">
          <ac:chgData name="Alyson Knox-Meade" userId="9add29cb-6821-43c7-a287-0793ac386e0f" providerId="ADAL" clId="{21524A89-2205-4149-884D-65BE0A522DA1}" dt="2023-03-07T19:09:00.518" v="409" actId="14100"/>
          <ac:spMkLst>
            <pc:docMk/>
            <pc:sldMk cId="2376729558" sldId="1889"/>
            <ac:spMk id="60" creationId="{F016435A-BF9E-996F-CB2D-F58A343C82EA}"/>
          </ac:spMkLst>
        </pc:spChg>
        <pc:spChg chg="mod">
          <ac:chgData name="Alyson Knox-Meade" userId="9add29cb-6821-43c7-a287-0793ac386e0f" providerId="ADAL" clId="{21524A89-2205-4149-884D-65BE0A522DA1}" dt="2023-03-07T19:06:20.110" v="229" actId="20577"/>
          <ac:spMkLst>
            <pc:docMk/>
            <pc:sldMk cId="2376729558" sldId="1889"/>
            <ac:spMk id="68" creationId="{89ED8C8D-66EF-9179-C38F-C3EAB6CFB72D}"/>
          </ac:spMkLst>
        </pc:spChg>
        <pc:spChg chg="mod">
          <ac:chgData name="Alyson Knox-Meade" userId="9add29cb-6821-43c7-a287-0793ac386e0f" providerId="ADAL" clId="{21524A89-2205-4149-884D-65BE0A522DA1}" dt="2023-03-07T19:06:11.862" v="225" actId="14100"/>
          <ac:spMkLst>
            <pc:docMk/>
            <pc:sldMk cId="2376729558" sldId="1889"/>
            <ac:spMk id="69" creationId="{BB0E2E29-24FD-9819-B856-AC4751E08C16}"/>
          </ac:spMkLst>
        </pc:spChg>
        <pc:cxnChg chg="mod">
          <ac:chgData name="Alyson Knox-Meade" userId="9add29cb-6821-43c7-a287-0793ac386e0f" providerId="ADAL" clId="{21524A89-2205-4149-884D-65BE0A522DA1}" dt="2023-03-07T19:08:26.754" v="359" actId="14100"/>
          <ac:cxnSpMkLst>
            <pc:docMk/>
            <pc:sldMk cId="2376729558" sldId="1889"/>
            <ac:cxnSpMk id="7" creationId="{9D70DC7D-9116-04B0-0199-56396F01D383}"/>
          </ac:cxnSpMkLst>
        </pc:cxnChg>
        <pc:cxnChg chg="mod">
          <ac:chgData name="Alyson Knox-Meade" userId="9add29cb-6821-43c7-a287-0793ac386e0f" providerId="ADAL" clId="{21524A89-2205-4149-884D-65BE0A522DA1}" dt="2023-03-07T19:05:17.134" v="191" actId="14100"/>
          <ac:cxnSpMkLst>
            <pc:docMk/>
            <pc:sldMk cId="2376729558" sldId="1889"/>
            <ac:cxnSpMk id="58" creationId="{94D5DBDC-25C0-E27D-E7B6-38847B39CDE2}"/>
          </ac:cxnSpMkLst>
        </pc:cxnChg>
        <pc:cxnChg chg="mod">
          <ac:chgData name="Alyson Knox-Meade" userId="9add29cb-6821-43c7-a287-0793ac386e0f" providerId="ADAL" clId="{21524A89-2205-4149-884D-65BE0A522DA1}" dt="2023-03-07T19:09:00.518" v="409" actId="14100"/>
          <ac:cxnSpMkLst>
            <pc:docMk/>
            <pc:sldMk cId="2376729558" sldId="1889"/>
            <ac:cxnSpMk id="61" creationId="{E3B4DE7D-A818-2C98-E01E-9689679ABEEE}"/>
          </ac:cxnSpMkLst>
        </pc:cxnChg>
        <pc:cxnChg chg="mod">
          <ac:chgData name="Alyson Knox-Meade" userId="9add29cb-6821-43c7-a287-0793ac386e0f" providerId="ADAL" clId="{21524A89-2205-4149-884D-65BE0A522DA1}" dt="2023-03-07T19:06:11.862" v="225" actId="14100"/>
          <ac:cxnSpMkLst>
            <pc:docMk/>
            <pc:sldMk cId="2376729558" sldId="1889"/>
            <ac:cxnSpMk id="70" creationId="{6A01A22C-CDDC-F2FD-46B4-FC508F3AB2AD}"/>
          </ac:cxnSpMkLst>
        </pc:cxnChg>
      </pc:sldChg>
      <pc:sldChg chg="del">
        <pc:chgData name="Alyson Knox-Meade" userId="9add29cb-6821-43c7-a287-0793ac386e0f" providerId="ADAL" clId="{21524A89-2205-4149-884D-65BE0A522DA1}" dt="2023-03-07T18:25:32.235" v="52" actId="2696"/>
        <pc:sldMkLst>
          <pc:docMk/>
          <pc:sldMk cId="1483948564" sldId="189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F0D6-5306-4AC5-A6CD-606442892D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9B65E-54B4-415C-BD8B-E0DCE2DD9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6FC818-5B0A-4C58-BC42-493497C1A456}"/>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87D2910E-40CF-4257-98CD-066B15976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C425FA-0A5F-49F5-BB4B-117AF6848F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1893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460E-9625-4DD4-9AAF-6C5EDA6369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38866-2102-42A6-9B58-232DB42C3F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04D5D-2D7B-4F91-B910-C49F6E19A246}"/>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1C53EB0A-3CE7-456B-8666-3A7B8F311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1EBB7-3EB9-4D01-932D-2DA6CFE7BF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972287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2683-AB13-4CBF-8D15-314069F2C5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196D35-2E37-4B6D-B90F-D77128FDD3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F2FB49-5DB8-4278-9749-3B1B45FDC974}"/>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D55CA11C-4AFF-43E9-937B-30F143508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B8618-8B47-4109-8859-AB22B4062B58}"/>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369001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30665-589C-4B00-AE7C-165575FBC5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6CAB7-F0AD-4D88-89C8-79825E552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72A13A-6B03-4509-9C15-8610C73BA1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C0C2A6-6B19-429D-BFAA-F19C0D2F538B}"/>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6" name="Footer Placeholder 5">
            <a:extLst>
              <a:ext uri="{FF2B5EF4-FFF2-40B4-BE49-F238E27FC236}">
                <a16:creationId xmlns:a16="http://schemas.microsoft.com/office/drawing/2014/main" id="{7C7AE127-03B3-44D3-9989-5895012F8B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80765-0F4E-4DDD-B744-9D86D7B4F02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75051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9FF4-EA4F-4BE5-83BA-093797F112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CD7E6F-D1A7-4EC4-A798-6515E5F7F4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3106AB-8357-4C0D-B9D5-DB9FC483F9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61582-8C96-4E8D-BC06-EE11120342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C3A6B5-AFB3-46BE-BDE8-D9EAC38AA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1EF17-830E-424E-95F9-84846DEA3968}"/>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8" name="Footer Placeholder 7">
            <a:extLst>
              <a:ext uri="{FF2B5EF4-FFF2-40B4-BE49-F238E27FC236}">
                <a16:creationId xmlns:a16="http://schemas.microsoft.com/office/drawing/2014/main" id="{BB7AA3F5-18C3-4B3B-B1AF-7944BE808D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8D959D-E126-4442-8869-C6676F7C11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777733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C7BE-C48D-4760-9EED-87B743272B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2AD6DB-3465-4EE6-B38E-A07A70579D1E}"/>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4" name="Footer Placeholder 3">
            <a:extLst>
              <a:ext uri="{FF2B5EF4-FFF2-40B4-BE49-F238E27FC236}">
                <a16:creationId xmlns:a16="http://schemas.microsoft.com/office/drawing/2014/main" id="{478E646D-A9D7-4A38-A9BF-9679DC43FA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6265F8-4BAB-474A-9C93-7DE9B95E5A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09782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D24569-DBBD-4F79-BDB4-2BDD26F7DFAA}"/>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3" name="Footer Placeholder 2">
            <a:extLst>
              <a:ext uri="{FF2B5EF4-FFF2-40B4-BE49-F238E27FC236}">
                <a16:creationId xmlns:a16="http://schemas.microsoft.com/office/drawing/2014/main" id="{8FD5A5BE-59CC-4189-9380-0D8FC7BDDC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76A7B-490B-4CF0-AFF0-CA48AF014791}"/>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898320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882C-FF98-4459-9067-31D84C5BB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AD226B-CA09-44AF-87C7-5EDFF4777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AD8B3-23E2-4EEE-B069-D87579AC3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A2539C-9900-4E98-8F93-1C6A40F7BB5B}"/>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6" name="Footer Placeholder 5">
            <a:extLst>
              <a:ext uri="{FF2B5EF4-FFF2-40B4-BE49-F238E27FC236}">
                <a16:creationId xmlns:a16="http://schemas.microsoft.com/office/drawing/2014/main" id="{765F89F6-5988-41E6-A1B9-DBE423A10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E51EE-2244-4744-8A63-3F5DBBFB329D}"/>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951686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0233-605C-4FB3-9102-70C4B3CA6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534E09-17CF-40E7-994C-65F7EB727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978C32-3DC4-4B0E-9992-4A1336385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1AFB2-1054-4F94-BF33-C896A73A2D4B}"/>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6" name="Footer Placeholder 5">
            <a:extLst>
              <a:ext uri="{FF2B5EF4-FFF2-40B4-BE49-F238E27FC236}">
                <a16:creationId xmlns:a16="http://schemas.microsoft.com/office/drawing/2014/main" id="{7BE5D8B1-9E34-40E1-902A-F5947BA55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4D4A8-89B9-41A6-8BFD-CBFFE8B441D6}"/>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796563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5347-BCC4-4A6B-B1B5-AA327C7BD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4A9707-54C3-4826-A37C-7BFD3C69C7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23BA22-0214-497C-B20B-81A8523082C8}"/>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D587DF59-DCB0-45ED-BF11-E6E9145D2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1485-88E9-450A-A1E9-34D08CCF157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5270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591674-1002-4C87-82FA-C8F42D304E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08704C-F88B-4869-B2EF-568C49DFFB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26AFF6-4B45-47DD-B91E-59B10FD504DC}"/>
              </a:ext>
            </a:extLst>
          </p:cNvPr>
          <p:cNvSpPr>
            <a:spLocks noGrp="1"/>
          </p:cNvSpPr>
          <p:nvPr>
            <p:ph type="dt" sz="half" idx="10"/>
          </p:nvPr>
        </p:nvSpPr>
        <p:spPr/>
        <p:txBody>
          <a:body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9F50C32C-77DB-4F72-9C63-5D82E50A3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4368A-4E24-4292-8F20-42F825930274}"/>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102917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2FA0E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90605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762935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BC5F76-E21D-46DF-9BDB-A86829D51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5D42D8-68D5-496C-8954-AAD092654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599ED-AEF2-4BB8-A771-F3A9E2FCD2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3E4D57-7DC2-4C3A-AF88-3D95FDE3995A}" type="datetimeFigureOut">
              <a:rPr lang="en-US" smtClean="0"/>
              <a:t>3/3/2023</a:t>
            </a:fld>
            <a:endParaRPr lang="en-US"/>
          </a:p>
        </p:txBody>
      </p:sp>
      <p:sp>
        <p:nvSpPr>
          <p:cNvPr id="5" name="Footer Placeholder 4">
            <a:extLst>
              <a:ext uri="{FF2B5EF4-FFF2-40B4-BE49-F238E27FC236}">
                <a16:creationId xmlns:a16="http://schemas.microsoft.com/office/drawing/2014/main" id="{4B39011D-4DCE-415A-B2C1-EDC04B581E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A5B462-5896-4BB3-BF1B-FA7DEA641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83D0DA-FA43-4589-B418-BF12C8079A85}" type="slidenum">
              <a:rPr lang="en-US" smtClean="0"/>
              <a:t>‹#›</a:t>
            </a:fld>
            <a:endParaRPr lang="en-US"/>
          </a:p>
        </p:txBody>
      </p:sp>
    </p:spTree>
    <p:extLst>
      <p:ext uri="{BB962C8B-B14F-4D97-AF65-F5344CB8AC3E}">
        <p14:creationId xmlns:p14="http://schemas.microsoft.com/office/powerpoint/2010/main" val="679861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CE00-DBB2-41BB-8766-14D2DB07B1E1}"/>
              </a:ext>
            </a:extLst>
          </p:cNvPr>
          <p:cNvSpPr>
            <a:spLocks noGrp="1"/>
          </p:cNvSpPr>
          <p:nvPr>
            <p:ph type="title"/>
          </p:nvPr>
        </p:nvSpPr>
        <p:spPr>
          <a:xfrm>
            <a:off x="2911876" y="228600"/>
            <a:ext cx="5698723" cy="533400"/>
          </a:xfrm>
        </p:spPr>
        <p:txBody>
          <a:bodyPr>
            <a:noAutofit/>
          </a:bodyPr>
          <a:lstStyle/>
          <a:p>
            <a:r>
              <a:rPr lang="en-US" sz="3400" b="1" dirty="0">
                <a:cs typeface="Arial"/>
              </a:rPr>
              <a:t>Lifecycle Marketing</a:t>
            </a:r>
          </a:p>
        </p:txBody>
      </p:sp>
      <p:sp>
        <p:nvSpPr>
          <p:cNvPr id="4" name="Slide Number Placeholder 3">
            <a:extLst>
              <a:ext uri="{FF2B5EF4-FFF2-40B4-BE49-F238E27FC236}">
                <a16:creationId xmlns:a16="http://schemas.microsoft.com/office/drawing/2014/main" id="{37C1D19C-12FC-4F1E-BC24-1052D1FEC33E}"/>
              </a:ext>
            </a:extLst>
          </p:cNvPr>
          <p:cNvSpPr>
            <a:spLocks noGrp="1"/>
          </p:cNvSpPr>
          <p:nvPr>
            <p:ph type="sldNum" sz="quarter" idx="12"/>
          </p:nvPr>
        </p:nvSpPr>
        <p:spPr/>
        <p:txBody>
          <a:bodyPr/>
          <a:lstStyle/>
          <a:p>
            <a:fld id="{49A40DB5-B054-4B52-B27D-446721D6CC27}" type="slidenum">
              <a:rPr lang="en-US" smtClean="0"/>
              <a:pPr/>
              <a:t>1</a:t>
            </a:fld>
            <a:endParaRPr lang="en-US" dirty="0"/>
          </a:p>
        </p:txBody>
      </p:sp>
      <p:sp>
        <p:nvSpPr>
          <p:cNvPr id="5" name="Rectangle 4">
            <a:extLst>
              <a:ext uri="{FF2B5EF4-FFF2-40B4-BE49-F238E27FC236}">
                <a16:creationId xmlns:a16="http://schemas.microsoft.com/office/drawing/2014/main" id="{92151E7E-EE34-4643-B5C7-9E353C625BA6}"/>
              </a:ext>
            </a:extLst>
          </p:cNvPr>
          <p:cNvSpPr/>
          <p:nvPr/>
        </p:nvSpPr>
        <p:spPr>
          <a:xfrm>
            <a:off x="287055" y="1177672"/>
            <a:ext cx="11523945" cy="1281698"/>
          </a:xfrm>
          <a:prstGeom prst="rect">
            <a:avLst/>
          </a:prstGeom>
        </p:spPr>
        <p:txBody>
          <a:bodyPr wrap="square">
            <a:spAutoFit/>
          </a:bodyPr>
          <a:lstStyle/>
          <a:p>
            <a:pPr lvl="0">
              <a:lnSpc>
                <a:spcPct val="110000"/>
              </a:lnSpc>
            </a:pPr>
            <a:r>
              <a:rPr lang="en-US" sz="2117" b="1" dirty="0">
                <a:solidFill>
                  <a:srgbClr val="008AD9"/>
                </a:solidFill>
                <a:latin typeface="+mj-lt"/>
                <a:ea typeface="MS Mincho" panose="02020609040205080304" pitchFamily="49" charset="-128"/>
                <a:cs typeface="Segoe UI Light" panose="020B0502040204020203" pitchFamily="34" charset="0"/>
              </a:rPr>
              <a:t>Client</a:t>
            </a:r>
            <a:r>
              <a:rPr lang="en-US" sz="2117" b="1" dirty="0">
                <a:solidFill>
                  <a:srgbClr val="008AD9"/>
                </a:solidFill>
                <a:latin typeface="+mj-lt"/>
                <a:cs typeface="Segoe UI Light" panose="020B0502040204020203" pitchFamily="34" charset="0"/>
              </a:rPr>
              <a:t> </a:t>
            </a:r>
            <a:r>
              <a:rPr lang="en-US" sz="2117" b="1" dirty="0">
                <a:solidFill>
                  <a:srgbClr val="008AD9"/>
                </a:solidFill>
                <a:latin typeface="+mj-lt"/>
                <a:ea typeface="MS Mincho" panose="02020609040205080304" pitchFamily="49" charset="-128"/>
                <a:cs typeface="Segoe UI Light" panose="020B0502040204020203" pitchFamily="34" charset="0"/>
              </a:rPr>
              <a:t>Need</a:t>
            </a:r>
          </a:p>
          <a:p>
            <a:r>
              <a:rPr lang="en-US" dirty="0" err="1">
                <a:solidFill>
                  <a:schemeClr val="tx1">
                    <a:lumMod val="65000"/>
                    <a:lumOff val="35000"/>
                  </a:schemeClr>
                </a:solidFill>
              </a:rPr>
              <a:t>HighRes</a:t>
            </a:r>
            <a:r>
              <a:rPr lang="en-US" dirty="0">
                <a:solidFill>
                  <a:schemeClr val="tx1">
                    <a:lumMod val="65000"/>
                    <a:lumOff val="35000"/>
                  </a:schemeClr>
                </a:solidFill>
              </a:rPr>
              <a:t> </a:t>
            </a:r>
            <a:r>
              <a:rPr lang="en-US" dirty="0" err="1">
                <a:solidFill>
                  <a:schemeClr val="tx1">
                    <a:lumMod val="65000"/>
                    <a:lumOff val="35000"/>
                  </a:schemeClr>
                </a:solidFill>
              </a:rPr>
              <a:t>Biosolutions</a:t>
            </a:r>
            <a:r>
              <a:rPr lang="en-US" dirty="0">
                <a:solidFill>
                  <a:schemeClr val="tx1">
                    <a:lumMod val="65000"/>
                    <a:lumOff val="35000"/>
                  </a:schemeClr>
                </a:solidFill>
              </a:rPr>
              <a:t> believes in a future where scientists and robots work together to improve human health. As the technology leader in lab automation, </a:t>
            </a:r>
            <a:r>
              <a:rPr lang="en-US" dirty="0" err="1">
                <a:solidFill>
                  <a:schemeClr val="tx1">
                    <a:lumMod val="65000"/>
                    <a:lumOff val="35000"/>
                  </a:schemeClr>
                </a:solidFill>
              </a:rPr>
              <a:t>HighRes</a:t>
            </a:r>
            <a:r>
              <a:rPr lang="en-US" dirty="0">
                <a:solidFill>
                  <a:schemeClr val="tx1">
                    <a:lumMod val="65000"/>
                    <a:lumOff val="35000"/>
                  </a:schemeClr>
                </a:solidFill>
              </a:rPr>
              <a:t> currently utilizes Salesforce &amp; Salesforce Pardot as well as offers numerous webinars. They were looking for an ongoing partner to help support marketing strategy and ongoing implementation. </a:t>
            </a:r>
            <a:endParaRPr lang="en-US" sz="1059" dirty="0">
              <a:solidFill>
                <a:schemeClr val="tx1">
                  <a:lumMod val="65000"/>
                  <a:lumOff val="35000"/>
                </a:schemeClr>
              </a:solidFill>
              <a:latin typeface="Segoe UI" panose="020B0502040204020203" pitchFamily="34" charset="0"/>
              <a:ea typeface="MS Mincho" panose="02020609040205080304" pitchFamily="49" charset="-128"/>
              <a:cs typeface="Segoe UI" panose="020B0502040204020203" pitchFamily="34" charset="0"/>
            </a:endParaRPr>
          </a:p>
        </p:txBody>
      </p:sp>
      <p:sp>
        <p:nvSpPr>
          <p:cNvPr id="7" name="Rectangle 6">
            <a:extLst>
              <a:ext uri="{FF2B5EF4-FFF2-40B4-BE49-F238E27FC236}">
                <a16:creationId xmlns:a16="http://schemas.microsoft.com/office/drawing/2014/main" id="{18B0CBF5-424C-4AAE-8C3D-098A83D2C8B6}"/>
              </a:ext>
            </a:extLst>
          </p:cNvPr>
          <p:cNvSpPr/>
          <p:nvPr/>
        </p:nvSpPr>
        <p:spPr>
          <a:xfrm>
            <a:off x="287054" y="2461887"/>
            <a:ext cx="11617891" cy="2699265"/>
          </a:xfrm>
          <a:prstGeom prst="rect">
            <a:avLst/>
          </a:prstGeom>
        </p:spPr>
        <p:txBody>
          <a:bodyPr wrap="square">
            <a:spAutoFit/>
          </a:bodyPr>
          <a:lstStyle/>
          <a:p>
            <a:pPr>
              <a:lnSpc>
                <a:spcPct val="120000"/>
              </a:lnSpc>
            </a:pPr>
            <a:r>
              <a:rPr lang="en-US" sz="2117" b="1" dirty="0">
                <a:solidFill>
                  <a:srgbClr val="008AD9"/>
                </a:solidFill>
                <a:latin typeface="+mj-lt"/>
                <a:ea typeface="MS Mincho" panose="02020609040205080304" pitchFamily="49" charset="-128"/>
                <a:cs typeface="Segoe UI Light" panose="020B0502040204020203" pitchFamily="34" charset="0"/>
              </a:rPr>
              <a:t>What We Do</a:t>
            </a:r>
            <a:r>
              <a:rPr lang="en-US" sz="1500" b="1" dirty="0">
                <a:solidFill>
                  <a:srgbClr val="008AD9"/>
                </a:solidFill>
                <a:latin typeface="+mj-lt"/>
                <a:ea typeface="MS Mincho" panose="02020609040205080304" pitchFamily="49" charset="-128"/>
                <a:cs typeface="Segoe UI" panose="020B0502040204020203" pitchFamily="34" charset="0"/>
              </a:rPr>
              <a:t> </a:t>
            </a:r>
          </a:p>
          <a:p>
            <a:r>
              <a:rPr lang="en-US" dirty="0">
                <a:solidFill>
                  <a:schemeClr val="tx1">
                    <a:lumMod val="65000"/>
                    <a:lumOff val="35000"/>
                  </a:schemeClr>
                </a:solidFill>
              </a:rPr>
              <a:t>First, Affirma performed several in-depth assessments and reviewed relevant marketing documents, including buyer personas, SEO/website evaluation, organic social media, competitor analysis, content mapping, Pardot and more to get a better understanding of their ecosystem and undercover any gaps in their marketing roadmap. The team provided findings and recommendations as well as completed buyer personas, messaging framework and specific campaign strategies.</a:t>
            </a:r>
          </a:p>
          <a:p>
            <a:endParaRPr lang="en-US" dirty="0">
              <a:solidFill>
                <a:schemeClr val="tx1">
                  <a:lumMod val="65000"/>
                  <a:lumOff val="35000"/>
                </a:schemeClr>
              </a:solidFill>
            </a:endParaRPr>
          </a:p>
          <a:p>
            <a:r>
              <a:rPr lang="en-US" dirty="0">
                <a:solidFill>
                  <a:schemeClr val="tx1">
                    <a:lumMod val="65000"/>
                    <a:lumOff val="35000"/>
                  </a:schemeClr>
                </a:solidFill>
              </a:rPr>
              <a:t>Affirma continues to serve and support the </a:t>
            </a:r>
            <a:r>
              <a:rPr lang="en-US" dirty="0" err="1">
                <a:solidFill>
                  <a:schemeClr val="tx1">
                    <a:lumMod val="65000"/>
                    <a:lumOff val="35000"/>
                  </a:schemeClr>
                </a:solidFill>
              </a:rPr>
              <a:t>HighRes</a:t>
            </a:r>
            <a:r>
              <a:rPr lang="en-US" dirty="0">
                <a:solidFill>
                  <a:schemeClr val="tx1">
                    <a:lumMod val="65000"/>
                    <a:lumOff val="35000"/>
                  </a:schemeClr>
                </a:solidFill>
              </a:rPr>
              <a:t> team as their trusted marketing partner, including managing organic social media via Buffer; creating and deploying webinar/email campaigns via Pardot; optimizing their website; repurposing content; video strategy and more.</a:t>
            </a:r>
          </a:p>
        </p:txBody>
      </p:sp>
      <p:sp>
        <p:nvSpPr>
          <p:cNvPr id="8" name="Rectangle 7">
            <a:extLst>
              <a:ext uri="{FF2B5EF4-FFF2-40B4-BE49-F238E27FC236}">
                <a16:creationId xmlns:a16="http://schemas.microsoft.com/office/drawing/2014/main" id="{5B514433-8F06-468B-AC0E-8A2C85C0A51C}"/>
              </a:ext>
            </a:extLst>
          </p:cNvPr>
          <p:cNvSpPr/>
          <p:nvPr/>
        </p:nvSpPr>
        <p:spPr>
          <a:xfrm>
            <a:off x="1621653" y="5513421"/>
            <a:ext cx="8948691" cy="1200329"/>
          </a:xfrm>
          <a:prstGeom prst="rect">
            <a:avLst/>
          </a:prstGeom>
        </p:spPr>
        <p:txBody>
          <a:bodyPr wrap="square">
            <a:spAutoFit/>
          </a:bodyPr>
          <a:lstStyle/>
          <a:p>
            <a:r>
              <a:rPr lang="en-US" i="1" dirty="0">
                <a:solidFill>
                  <a:schemeClr val="accent2"/>
                </a:solidFill>
              </a:rPr>
              <a:t>“The Affirma team is really getting a handle on what we do and how we want to present ourselves in the marketplace. In addition, they have been able to take a lot of work off our plates, so we can focus on our clients and other high-priority </a:t>
            </a:r>
            <a:r>
              <a:rPr lang="en-US" i="1">
                <a:solidFill>
                  <a:schemeClr val="accent2"/>
                </a:solidFill>
              </a:rPr>
              <a:t>items.”</a:t>
            </a:r>
            <a:endParaRPr lang="en-US" i="1" dirty="0">
              <a:solidFill>
                <a:schemeClr val="accent2"/>
              </a:solidFill>
            </a:endParaRPr>
          </a:p>
          <a:p>
            <a:pPr algn="r"/>
            <a:r>
              <a:rPr lang="en-US" dirty="0">
                <a:solidFill>
                  <a:schemeClr val="accent2"/>
                </a:solidFill>
              </a:rPr>
              <a:t>Brian O’Sullivan, Senior Vice-President</a:t>
            </a:r>
          </a:p>
        </p:txBody>
      </p:sp>
      <p:pic>
        <p:nvPicPr>
          <p:cNvPr id="6" name="Picture 4" descr="Salesforce Pardot API | Cloud Elements | API Integration | iPaaS">
            <a:extLst>
              <a:ext uri="{FF2B5EF4-FFF2-40B4-BE49-F238E27FC236}">
                <a16:creationId xmlns:a16="http://schemas.microsoft.com/office/drawing/2014/main" id="{56E46FE4-85C9-445B-B26B-E0AC0CF17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727" t="24214" r="21280" b="22350"/>
          <a:stretch/>
        </p:blipFill>
        <p:spPr bwMode="auto">
          <a:xfrm>
            <a:off x="272988" y="5393693"/>
            <a:ext cx="1242874" cy="114521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ighRes Biosolutions and Novo Nordisk Partner to Transform Drug Discovery  in Automated Lab of the Future - HighRes Biosolutions">
            <a:extLst>
              <a:ext uri="{FF2B5EF4-FFF2-40B4-BE49-F238E27FC236}">
                <a16:creationId xmlns:a16="http://schemas.microsoft.com/office/drawing/2014/main" id="{88BF1B7D-FB9D-4C09-A1C1-5D2A91339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020" y="81311"/>
            <a:ext cx="2535684" cy="827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55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Graphic 43">
            <a:extLst>
              <a:ext uri="{FF2B5EF4-FFF2-40B4-BE49-F238E27FC236}">
                <a16:creationId xmlns:a16="http://schemas.microsoft.com/office/drawing/2014/main" id="{8A173F3F-A8B7-2DB1-A8A6-E267E0C38D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01825" y="880306"/>
            <a:ext cx="6500590" cy="5784583"/>
          </a:xfrm>
          <a:prstGeom prst="rect">
            <a:avLst/>
          </a:prstGeom>
        </p:spPr>
      </p:pic>
      <p:sp>
        <p:nvSpPr>
          <p:cNvPr id="2" name="Slide Number Placeholder 1">
            <a:extLst>
              <a:ext uri="{FF2B5EF4-FFF2-40B4-BE49-F238E27FC236}">
                <a16:creationId xmlns:a16="http://schemas.microsoft.com/office/drawing/2014/main" id="{6457CABF-ACC3-4E42-A5EB-DEECD05914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6F86DB-78DF-EB43-A6BE-40415A3A0052}" type="slidenum">
              <a:rPr kumimoji="0" lang="en-US" sz="700" b="0" i="0" u="none" strike="noStrike" kern="1200" cap="none" spc="0" normalizeH="0" baseline="0" noProof="0" smtClean="0">
                <a:ln>
                  <a:noFill/>
                </a:ln>
                <a:solidFill>
                  <a:prstClr val="black">
                    <a:lumMod val="85000"/>
                    <a:lumOff val="1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0DFE12FA-C776-4347-8F10-F6DEF52B8307}"/>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 name="Title 2">
            <a:extLst>
              <a:ext uri="{FF2B5EF4-FFF2-40B4-BE49-F238E27FC236}">
                <a16:creationId xmlns:a16="http://schemas.microsoft.com/office/drawing/2014/main" id="{F0F82307-37A2-3641-986D-5EB52CE50C60}"/>
              </a:ext>
            </a:extLst>
          </p:cNvPr>
          <p:cNvSpPr>
            <a:spLocks noGrp="1"/>
          </p:cNvSpPr>
          <p:nvPr>
            <p:ph type="ctrTitle"/>
          </p:nvPr>
        </p:nvSpPr>
        <p:spPr>
          <a:xfrm>
            <a:off x="603283" y="388389"/>
            <a:ext cx="9897243" cy="764390"/>
          </a:xfrm>
        </p:spPr>
        <p:txBody>
          <a:bodyPr anchor="t">
            <a:normAutofit/>
          </a:bodyPr>
          <a:lstStyle/>
          <a:p>
            <a:pPr>
              <a:lnSpc>
                <a:spcPct val="100000"/>
              </a:lnSpc>
            </a:pPr>
            <a:r>
              <a:rPr lang="en-US" sz="3400" b="1" dirty="0" err="1">
                <a:latin typeface="+mj-lt"/>
                <a:cs typeface="Calibri Light" panose="020F0302020204030204" pitchFamily="34" charset="0"/>
              </a:rPr>
              <a:t>HighRes</a:t>
            </a:r>
            <a:r>
              <a:rPr lang="en-US" sz="3400" b="1" dirty="0">
                <a:latin typeface="+mj-lt"/>
                <a:cs typeface="Calibri Light" panose="020F0302020204030204" pitchFamily="34" charset="0"/>
              </a:rPr>
              <a:t> Bio: Full-Service Support</a:t>
            </a:r>
          </a:p>
        </p:txBody>
      </p:sp>
      <p:sp>
        <p:nvSpPr>
          <p:cNvPr id="66" name="TextBox 65">
            <a:extLst>
              <a:ext uri="{FF2B5EF4-FFF2-40B4-BE49-F238E27FC236}">
                <a16:creationId xmlns:a16="http://schemas.microsoft.com/office/drawing/2014/main" id="{9FEDB407-3D16-42BA-AFEB-0E7F79E0FD5E}"/>
              </a:ext>
            </a:extLst>
          </p:cNvPr>
          <p:cNvSpPr txBox="1"/>
          <p:nvPr/>
        </p:nvSpPr>
        <p:spPr>
          <a:xfrm>
            <a:off x="8214212" y="5626415"/>
            <a:ext cx="101079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Calibri" panose="020F0502020204030204"/>
                <a:ea typeface="Roboto Bold Condensed" charset="0"/>
                <a:cs typeface="Roboto Bold Condensed" charset="0"/>
              </a:rPr>
              <a:t>ANALYTICS</a:t>
            </a:r>
          </a:p>
        </p:txBody>
      </p:sp>
      <p:sp>
        <p:nvSpPr>
          <p:cNvPr id="8" name="TextBox 7">
            <a:extLst>
              <a:ext uri="{FF2B5EF4-FFF2-40B4-BE49-F238E27FC236}">
                <a16:creationId xmlns:a16="http://schemas.microsoft.com/office/drawing/2014/main" id="{6F2F7DAF-4AAA-3495-FCC4-272C1BE5A79A}"/>
              </a:ext>
            </a:extLst>
          </p:cNvPr>
          <p:cNvSpPr txBox="1"/>
          <p:nvPr/>
        </p:nvSpPr>
        <p:spPr>
          <a:xfrm>
            <a:off x="3557492" y="2333105"/>
            <a:ext cx="23478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Research/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Go-To-Market</a:t>
            </a:r>
          </a:p>
        </p:txBody>
      </p:sp>
      <p:sp>
        <p:nvSpPr>
          <p:cNvPr id="9" name="TextBox 8">
            <a:extLst>
              <a:ext uri="{FF2B5EF4-FFF2-40B4-BE49-F238E27FC236}">
                <a16:creationId xmlns:a16="http://schemas.microsoft.com/office/drawing/2014/main" id="{68847CCD-593E-46A8-EDD7-D13538454D30}"/>
              </a:ext>
            </a:extLst>
          </p:cNvPr>
          <p:cNvSpPr txBox="1"/>
          <p:nvPr/>
        </p:nvSpPr>
        <p:spPr>
          <a:xfrm>
            <a:off x="6057666" y="2516404"/>
            <a:ext cx="17419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Awareness</a:t>
            </a:r>
          </a:p>
        </p:txBody>
      </p:sp>
      <p:sp>
        <p:nvSpPr>
          <p:cNvPr id="10" name="TextBox 9">
            <a:extLst>
              <a:ext uri="{FF2B5EF4-FFF2-40B4-BE49-F238E27FC236}">
                <a16:creationId xmlns:a16="http://schemas.microsoft.com/office/drawing/2014/main" id="{0B70D75F-6955-6447-7DB5-315710B0DF08}"/>
              </a:ext>
            </a:extLst>
          </p:cNvPr>
          <p:cNvSpPr txBox="1"/>
          <p:nvPr/>
        </p:nvSpPr>
        <p:spPr>
          <a:xfrm>
            <a:off x="6721119" y="3828484"/>
            <a:ext cx="146255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Consideration</a:t>
            </a:r>
          </a:p>
        </p:txBody>
      </p:sp>
      <p:sp>
        <p:nvSpPr>
          <p:cNvPr id="11" name="TextBox 10">
            <a:extLst>
              <a:ext uri="{FF2B5EF4-FFF2-40B4-BE49-F238E27FC236}">
                <a16:creationId xmlns:a16="http://schemas.microsoft.com/office/drawing/2014/main" id="{55784327-9252-565A-5F92-9C4F96F10B67}"/>
              </a:ext>
            </a:extLst>
          </p:cNvPr>
          <p:cNvSpPr txBox="1"/>
          <p:nvPr/>
        </p:nvSpPr>
        <p:spPr>
          <a:xfrm>
            <a:off x="4691103" y="4991918"/>
            <a:ext cx="242847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Conversion</a:t>
            </a:r>
          </a:p>
        </p:txBody>
      </p:sp>
      <p:sp>
        <p:nvSpPr>
          <p:cNvPr id="13" name="TextBox 12">
            <a:extLst>
              <a:ext uri="{FF2B5EF4-FFF2-40B4-BE49-F238E27FC236}">
                <a16:creationId xmlns:a16="http://schemas.microsoft.com/office/drawing/2014/main" id="{E4851CB9-A3C4-F103-5901-8A541BCAF8CC}"/>
              </a:ext>
            </a:extLst>
          </p:cNvPr>
          <p:cNvSpPr txBox="1"/>
          <p:nvPr/>
        </p:nvSpPr>
        <p:spPr>
          <a:xfrm>
            <a:off x="3815779" y="4066539"/>
            <a:ext cx="132750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Engagement</a:t>
            </a:r>
          </a:p>
        </p:txBody>
      </p:sp>
      <p:sp>
        <p:nvSpPr>
          <p:cNvPr id="53" name="TextBox 52">
            <a:extLst>
              <a:ext uri="{FF2B5EF4-FFF2-40B4-BE49-F238E27FC236}">
                <a16:creationId xmlns:a16="http://schemas.microsoft.com/office/drawing/2014/main" id="{12C5E303-F64E-F05A-4F8A-16902048E043}"/>
              </a:ext>
            </a:extLst>
          </p:cNvPr>
          <p:cNvSpPr txBox="1"/>
          <p:nvPr/>
        </p:nvSpPr>
        <p:spPr>
          <a:xfrm>
            <a:off x="8302567" y="661632"/>
            <a:ext cx="3097569" cy="227972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Sales Enablement Materials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Organic Social Media</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SEO, including blog support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Event Support (pre, during and post show)</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Videos and Webinar Support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ABM</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Content Creation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AD9"/>
                </a:solidFill>
                <a:effectLst/>
                <a:uLnTx/>
                <a:uFillTx/>
                <a:latin typeface="Calibri" panose="020F0502020204030204"/>
                <a:ea typeface="+mn-ea"/>
                <a:cs typeface="+mn-cs"/>
              </a:rPr>
              <a:t>Infographics/Visual Design</a:t>
            </a:r>
          </a:p>
        </p:txBody>
      </p:sp>
      <p:sp>
        <p:nvSpPr>
          <p:cNvPr id="56" name="Left Bracket 55">
            <a:extLst>
              <a:ext uri="{FF2B5EF4-FFF2-40B4-BE49-F238E27FC236}">
                <a16:creationId xmlns:a16="http://schemas.microsoft.com/office/drawing/2014/main" id="{F299A934-1475-0106-06BD-790BC3788484}"/>
              </a:ext>
            </a:extLst>
          </p:cNvPr>
          <p:cNvSpPr/>
          <p:nvPr/>
        </p:nvSpPr>
        <p:spPr>
          <a:xfrm>
            <a:off x="8214212" y="631806"/>
            <a:ext cx="88355" cy="2333336"/>
          </a:xfrm>
          <a:prstGeom prst="leftBracket">
            <a:avLst/>
          </a:prstGeom>
          <a:noFill/>
          <a:ln w="12700">
            <a:solidFill>
              <a:srgbClr val="008AD9"/>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8" name="Straight Connector 57">
            <a:extLst>
              <a:ext uri="{FF2B5EF4-FFF2-40B4-BE49-F238E27FC236}">
                <a16:creationId xmlns:a16="http://schemas.microsoft.com/office/drawing/2014/main" id="{94D5DBDC-25C0-E27D-E7B6-38847B39CDE2}"/>
              </a:ext>
            </a:extLst>
          </p:cNvPr>
          <p:cNvCxnSpPr>
            <a:cxnSpLocks/>
            <a:stCxn id="56" idx="1"/>
          </p:cNvCxnSpPr>
          <p:nvPr/>
        </p:nvCxnSpPr>
        <p:spPr>
          <a:xfrm flipH="1">
            <a:off x="7314601" y="1798474"/>
            <a:ext cx="899611" cy="106127"/>
          </a:xfrm>
          <a:prstGeom prst="line">
            <a:avLst/>
          </a:prstGeom>
          <a:ln w="12700">
            <a:solidFill>
              <a:srgbClr val="008AD9"/>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F51ECE7-0425-F522-CA37-CD9F0825A6F7}"/>
              </a:ext>
            </a:extLst>
          </p:cNvPr>
          <p:cNvSpPr txBox="1"/>
          <p:nvPr/>
        </p:nvSpPr>
        <p:spPr>
          <a:xfrm>
            <a:off x="9018535" y="3383718"/>
            <a:ext cx="2764366" cy="200272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Nurture Emails leveraging Pardot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Organic Social Media</a:t>
            </a:r>
            <a:endParaRPr lang="en-US" sz="1200" dirty="0">
              <a:solidFill>
                <a:srgbClr val="2BADE3"/>
              </a:solidFill>
              <a:latin typeface="Calibri" panose="020F0502020204030204"/>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SEO</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ABM</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Infographics/Visual Design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rPr>
              <a:t>Content Creation and Strategy</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1200" dirty="0">
                <a:solidFill>
                  <a:srgbClr val="2BADE3"/>
                </a:solidFill>
                <a:latin typeface="Calibri" panose="020F0502020204030204"/>
              </a:rPr>
              <a:t>Videos and Webinar Support</a:t>
            </a:r>
            <a:endParaRPr kumimoji="0" lang="en-US" sz="1200" b="0" i="0" u="none" strike="noStrike" kern="1200" cap="none" spc="0" normalizeH="0" baseline="0" noProof="0" dirty="0">
              <a:ln>
                <a:noFill/>
              </a:ln>
              <a:solidFill>
                <a:srgbClr val="2BADE3"/>
              </a:solidFill>
              <a:effectLst/>
              <a:uLnTx/>
              <a:uFillTx/>
              <a:latin typeface="Calibri" panose="020F0502020204030204"/>
              <a:ea typeface="+mn-ea"/>
              <a:cs typeface="+mn-cs"/>
            </a:endParaRPr>
          </a:p>
        </p:txBody>
      </p:sp>
      <p:sp>
        <p:nvSpPr>
          <p:cNvPr id="60" name="Left Bracket 59">
            <a:extLst>
              <a:ext uri="{FF2B5EF4-FFF2-40B4-BE49-F238E27FC236}">
                <a16:creationId xmlns:a16="http://schemas.microsoft.com/office/drawing/2014/main" id="{F016435A-BF9E-996F-CB2D-F58A343C82EA}"/>
              </a:ext>
            </a:extLst>
          </p:cNvPr>
          <p:cNvSpPr/>
          <p:nvPr/>
        </p:nvSpPr>
        <p:spPr>
          <a:xfrm>
            <a:off x="8930178" y="3353892"/>
            <a:ext cx="45719" cy="2096998"/>
          </a:xfrm>
          <a:prstGeom prst="leftBracket">
            <a:avLst/>
          </a:prstGeom>
          <a:no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1" name="Straight Connector 60">
            <a:extLst>
              <a:ext uri="{FF2B5EF4-FFF2-40B4-BE49-F238E27FC236}">
                <a16:creationId xmlns:a16="http://schemas.microsoft.com/office/drawing/2014/main" id="{E3B4DE7D-A818-2C98-E01E-9689679ABEEE}"/>
              </a:ext>
            </a:extLst>
          </p:cNvPr>
          <p:cNvCxnSpPr>
            <a:cxnSpLocks/>
            <a:stCxn id="60" idx="1"/>
            <a:endCxn id="10" idx="3"/>
          </p:cNvCxnSpPr>
          <p:nvPr/>
        </p:nvCxnSpPr>
        <p:spPr>
          <a:xfrm flipH="1" flipV="1">
            <a:off x="8183670" y="3982373"/>
            <a:ext cx="746508" cy="420018"/>
          </a:xfrm>
          <a:prstGeom prst="line">
            <a:avLst/>
          </a:prstGeom>
          <a:ln w="12700">
            <a:solidFill>
              <a:srgbClr val="2BADE3"/>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9ED8C8D-66EF-9179-C38F-C3EAB6CFB72D}"/>
              </a:ext>
            </a:extLst>
          </p:cNvPr>
          <p:cNvSpPr txBox="1"/>
          <p:nvPr/>
        </p:nvSpPr>
        <p:spPr>
          <a:xfrm>
            <a:off x="7463333" y="5779743"/>
            <a:ext cx="2764366" cy="89473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rPr>
              <a:t>Nurture Emails</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1200" dirty="0">
                <a:solidFill>
                  <a:srgbClr val="ED7D31"/>
                </a:solidFill>
                <a:latin typeface="Calibri" panose="020F0502020204030204"/>
              </a:rPr>
              <a:t>SEO</a:t>
            </a:r>
            <a:endPar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rPr>
              <a:t>Content Creation</a:t>
            </a:r>
          </a:p>
        </p:txBody>
      </p:sp>
      <p:sp>
        <p:nvSpPr>
          <p:cNvPr id="69" name="Left Bracket 68">
            <a:extLst>
              <a:ext uri="{FF2B5EF4-FFF2-40B4-BE49-F238E27FC236}">
                <a16:creationId xmlns:a16="http://schemas.microsoft.com/office/drawing/2014/main" id="{BB0E2E29-24FD-9819-B856-AC4751E08C16}"/>
              </a:ext>
            </a:extLst>
          </p:cNvPr>
          <p:cNvSpPr/>
          <p:nvPr/>
        </p:nvSpPr>
        <p:spPr>
          <a:xfrm>
            <a:off x="7374978" y="5749917"/>
            <a:ext cx="45719" cy="859672"/>
          </a:xfrm>
          <a:prstGeom prst="leftBracket">
            <a:avLst/>
          </a:prstGeom>
          <a:noFill/>
          <a:ln w="127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0" name="Straight Connector 69">
            <a:extLst>
              <a:ext uri="{FF2B5EF4-FFF2-40B4-BE49-F238E27FC236}">
                <a16:creationId xmlns:a16="http://schemas.microsoft.com/office/drawing/2014/main" id="{6A01A22C-CDDC-F2FD-46B4-FC508F3AB2AD}"/>
              </a:ext>
            </a:extLst>
          </p:cNvPr>
          <p:cNvCxnSpPr>
            <a:cxnSpLocks/>
            <a:stCxn id="69" idx="1"/>
          </p:cNvCxnSpPr>
          <p:nvPr/>
        </p:nvCxnSpPr>
        <p:spPr>
          <a:xfrm flipH="1" flipV="1">
            <a:off x="6771222" y="5798819"/>
            <a:ext cx="603756" cy="38093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CE8B0AD-E948-04A3-DB6E-49E052E6A6AE}"/>
              </a:ext>
            </a:extLst>
          </p:cNvPr>
          <p:cNvSpPr txBox="1"/>
          <p:nvPr/>
        </p:nvSpPr>
        <p:spPr>
          <a:xfrm>
            <a:off x="-130532" y="4614586"/>
            <a:ext cx="2764366" cy="1448730"/>
          </a:xfrm>
          <a:prstGeom prst="rect">
            <a:avLst/>
          </a:prstGeom>
          <a:noFill/>
          <a:ln>
            <a:noFill/>
          </a:ln>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DAE48"/>
                </a:solidFill>
                <a:effectLst/>
                <a:uLnTx/>
                <a:uFillTx/>
                <a:latin typeface="Calibri" panose="020F0502020204030204"/>
                <a:ea typeface="+mn-ea"/>
                <a:cs typeface="+mn-cs"/>
              </a:rPr>
              <a:t>Email Nurtures:</a:t>
            </a:r>
          </a:p>
          <a:p>
            <a:pPr marL="171450" marR="0" lvl="0" indent="-171450" algn="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DAE48"/>
                </a:solidFill>
                <a:effectLst/>
                <a:uLnTx/>
                <a:uFillTx/>
                <a:latin typeface="Calibri" panose="020F0502020204030204"/>
                <a:ea typeface="+mn-ea"/>
                <a:cs typeface="+mn-cs"/>
              </a:rPr>
              <a:t>Retention</a:t>
            </a:r>
          </a:p>
          <a:p>
            <a:pPr marL="171450" marR="0" lvl="0" indent="-171450" algn="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DAE48"/>
                </a:solidFill>
                <a:effectLst/>
                <a:uLnTx/>
                <a:uFillTx/>
                <a:latin typeface="Calibri" panose="020F0502020204030204"/>
                <a:ea typeface="+mn-ea"/>
                <a:cs typeface="+mn-cs"/>
              </a:rPr>
              <a:t>Win Back</a:t>
            </a:r>
          </a:p>
          <a:p>
            <a:pPr marL="171450" marR="0" lvl="0" indent="-171450" algn="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DAE48"/>
                </a:solidFill>
                <a:effectLst/>
                <a:uLnTx/>
                <a:uFillTx/>
                <a:latin typeface="Calibri" panose="020F0502020204030204"/>
                <a:ea typeface="+mn-ea"/>
                <a:cs typeface="+mn-cs"/>
              </a:rPr>
              <a:t>Advocacy</a:t>
            </a:r>
            <a:endParaRPr lang="en-US" sz="1200" dirty="0">
              <a:solidFill>
                <a:srgbClr val="FDAE48"/>
              </a:solidFill>
              <a:latin typeface="Calibri" panose="020F0502020204030204"/>
            </a:endParaRPr>
          </a:p>
          <a:p>
            <a:pPr marL="171450" marR="0" lvl="0" indent="-171450" algn="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DAE48"/>
                </a:solidFill>
                <a:effectLst/>
                <a:uLnTx/>
                <a:uFillTx/>
                <a:latin typeface="Calibri" panose="020F0502020204030204"/>
                <a:ea typeface="+mn-ea"/>
                <a:cs typeface="+mn-cs"/>
              </a:rPr>
              <a:t>Events</a:t>
            </a:r>
          </a:p>
        </p:txBody>
      </p:sp>
      <p:sp>
        <p:nvSpPr>
          <p:cNvPr id="4" name="Left Bracket 3">
            <a:extLst>
              <a:ext uri="{FF2B5EF4-FFF2-40B4-BE49-F238E27FC236}">
                <a16:creationId xmlns:a16="http://schemas.microsoft.com/office/drawing/2014/main" id="{7C6F2655-44C7-3D30-F107-48979B0B851A}"/>
              </a:ext>
            </a:extLst>
          </p:cNvPr>
          <p:cNvSpPr/>
          <p:nvPr/>
        </p:nvSpPr>
        <p:spPr>
          <a:xfrm flipH="1">
            <a:off x="2662121" y="4568200"/>
            <a:ext cx="45720" cy="1495116"/>
          </a:xfrm>
          <a:prstGeom prst="leftBracket">
            <a:avLst/>
          </a:prstGeom>
          <a:noFill/>
          <a:ln w="12700">
            <a:solidFill>
              <a:srgbClr val="FDAE48"/>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9D70DC7D-9116-04B0-0199-56396F01D383}"/>
              </a:ext>
            </a:extLst>
          </p:cNvPr>
          <p:cNvCxnSpPr>
            <a:cxnSpLocks/>
            <a:stCxn id="4" idx="1"/>
          </p:cNvCxnSpPr>
          <p:nvPr/>
        </p:nvCxnSpPr>
        <p:spPr>
          <a:xfrm flipV="1">
            <a:off x="2707841" y="4783654"/>
            <a:ext cx="630061" cy="532104"/>
          </a:xfrm>
          <a:prstGeom prst="line">
            <a:avLst/>
          </a:prstGeom>
          <a:ln w="12700">
            <a:solidFill>
              <a:srgbClr val="FDAE48"/>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4B2EFBB-178C-C7FD-C821-EAD1E950FC9A}"/>
              </a:ext>
            </a:extLst>
          </p:cNvPr>
          <p:cNvSpPr txBox="1"/>
          <p:nvPr/>
        </p:nvSpPr>
        <p:spPr>
          <a:xfrm>
            <a:off x="97268" y="1812613"/>
            <a:ext cx="2764366" cy="617733"/>
          </a:xfrm>
          <a:prstGeom prst="rect">
            <a:avLst/>
          </a:prstGeom>
          <a:noFill/>
          <a:ln>
            <a:noFill/>
          </a:ln>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3A79"/>
                </a:solidFill>
                <a:effectLst/>
                <a:uLnTx/>
                <a:uFillTx/>
                <a:latin typeface="Calibri" panose="020F0502020204030204"/>
                <a:ea typeface="+mn-ea"/>
                <a:cs typeface="+mn-cs"/>
              </a:rPr>
              <a:t>Competitor Analysis</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3A79"/>
                </a:solidFill>
                <a:effectLst/>
                <a:uLnTx/>
                <a:uFillTx/>
                <a:latin typeface="Calibri" panose="020F0502020204030204"/>
                <a:ea typeface="+mn-ea"/>
                <a:cs typeface="+mn-cs"/>
              </a:rPr>
              <a:t>Industry Research</a:t>
            </a:r>
          </a:p>
        </p:txBody>
      </p:sp>
      <p:sp>
        <p:nvSpPr>
          <p:cNvPr id="28" name="Left Bracket 27">
            <a:extLst>
              <a:ext uri="{FF2B5EF4-FFF2-40B4-BE49-F238E27FC236}">
                <a16:creationId xmlns:a16="http://schemas.microsoft.com/office/drawing/2014/main" id="{57B86061-909A-2FEE-C260-971991E01858}"/>
              </a:ext>
            </a:extLst>
          </p:cNvPr>
          <p:cNvSpPr/>
          <p:nvPr/>
        </p:nvSpPr>
        <p:spPr>
          <a:xfrm flipH="1">
            <a:off x="2861632" y="1754035"/>
            <a:ext cx="45719" cy="1068071"/>
          </a:xfrm>
          <a:prstGeom prst="leftBracket">
            <a:avLst/>
          </a:prstGeom>
          <a:noFill/>
          <a:ln w="12700">
            <a:solidFill>
              <a:srgbClr val="063A79"/>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0" name="Straight Connector 29">
            <a:extLst>
              <a:ext uri="{FF2B5EF4-FFF2-40B4-BE49-F238E27FC236}">
                <a16:creationId xmlns:a16="http://schemas.microsoft.com/office/drawing/2014/main" id="{49A13E98-EFB9-5EBD-E320-FF188789385B}"/>
              </a:ext>
            </a:extLst>
          </p:cNvPr>
          <p:cNvCxnSpPr>
            <a:cxnSpLocks/>
            <a:stCxn id="28" idx="1"/>
          </p:cNvCxnSpPr>
          <p:nvPr/>
        </p:nvCxnSpPr>
        <p:spPr>
          <a:xfrm flipV="1">
            <a:off x="2907351" y="2177429"/>
            <a:ext cx="728782" cy="110642"/>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729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Life Sciences</Value>
    </Industries>
    <PlatTech xmlns="f0ee8362-fa7e-4bc9-ab88-7dcfb17cb19b">
      <Value>HubSpot</Value>
      <Value>Salesforce</Value>
      <Value>Salesforce Pardot</Value>
    </PlatTech>
    <ProjectCompletionDate xmlns="f0ee8362-fa7e-4bc9-ab88-7dcfb17cb19b">2025-07-01T07:00:00+00:00</ProjectCompletionDate>
    <BusinessUnit xmlns="f0ee8362-fa7e-4bc9-ab88-7dcfb17cb19b">
      <Value>Marketing Services</Value>
    </BusinessUnit>
    <Solutions xmlns="f0ee8362-fa7e-4bc9-ab88-7dcfb17cb19b">
      <Value>Marketing Strategy</Value>
      <Value>Organic Social Media</Value>
      <Value>PPC</Value>
      <Value>SEO/ AEO</Value>
    </Solutions>
    <ApprovedByClient xmlns="f0ee8362-fa7e-4bc9-ab88-7dcfb17cb19b">false</ApprovedByClient>
  </documentManagement>
</p:properties>
</file>

<file path=customXml/itemProps1.xml><?xml version="1.0" encoding="utf-8"?>
<ds:datastoreItem xmlns:ds="http://schemas.openxmlformats.org/officeDocument/2006/customXml" ds:itemID="{57057BE7-566D-4E8A-9426-C68D2DF82D86}"/>
</file>

<file path=customXml/itemProps2.xml><?xml version="1.0" encoding="utf-8"?>
<ds:datastoreItem xmlns:ds="http://schemas.openxmlformats.org/officeDocument/2006/customXml" ds:itemID="{D4E31D74-6332-42CB-803E-4FDEFC8B89B3}"/>
</file>

<file path=customXml/itemProps3.xml><?xml version="1.0" encoding="utf-8"?>
<ds:datastoreItem xmlns:ds="http://schemas.openxmlformats.org/officeDocument/2006/customXml" ds:itemID="{80520127-F7A1-4AB8-8863-FDCAED7368CA}"/>
</file>

<file path=customXml/itemProps4.xml><?xml version="1.0" encoding="utf-8"?>
<ds:datastoreItem xmlns:ds="http://schemas.openxmlformats.org/officeDocument/2006/customXml" ds:itemID="{221DA4C8-2814-4D7D-BAB5-97FA7C22A929}"/>
</file>

<file path=docProps/app.xml><?xml version="1.0" encoding="utf-8"?>
<Properties xmlns="http://schemas.openxmlformats.org/officeDocument/2006/extended-properties" xmlns:vt="http://schemas.openxmlformats.org/officeDocument/2006/docPropsVTypes">
  <TotalTime>8304</TotalTime>
  <Words>323</Words>
  <Application>Microsoft Office PowerPoint</Application>
  <PresentationFormat>Widescreen</PresentationFormat>
  <Paragraphs>45</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Segoe UI</vt:lpstr>
      <vt:lpstr>Office Theme</vt:lpstr>
      <vt:lpstr>Lifecycle Marketing</vt:lpstr>
      <vt:lpstr>HighRes Bio: Full-Service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Ideoclick – PPC Audit &amp; Ongoing Paid Ads Campaign Execution</dc:title>
  <dc:creator>Alyson Knox-Meade</dc:creator>
  <cp:lastModifiedBy>Alyson Knox-Meade</cp:lastModifiedBy>
  <cp:revision>4</cp:revision>
  <dcterms:created xsi:type="dcterms:W3CDTF">2021-04-12T22:19:17Z</dcterms:created>
  <dcterms:modified xsi:type="dcterms:W3CDTF">2023-03-07T19:09:10Z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