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sldIdLst>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1C36E5-024A-DA0E-D912-1297B72352A1}" v="3" dt="2025-05-29T20:21:05.3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5" d="100"/>
          <a:sy n="75" d="100"/>
        </p:scale>
        <p:origin x="72"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ley Lange" userId="S::hlange@affirma.com::d253178d-2053-40f8-aed1-02e2d8431d3d" providerId="AD" clId="Web-{BF1A4A5F-82EA-8907-30D5-8820B76FE184}"/>
    <pc:docChg chg="modSld">
      <pc:chgData name="Haley Lange" userId="S::hlange@affirma.com::d253178d-2053-40f8-aed1-02e2d8431d3d" providerId="AD" clId="Web-{BF1A4A5F-82EA-8907-30D5-8820B76FE184}" dt="2020-09-24T23:29:59.176" v="12" actId="20577"/>
      <pc:docMkLst>
        <pc:docMk/>
      </pc:docMkLst>
      <pc:sldChg chg="modSp">
        <pc:chgData name="Haley Lange" userId="S::hlange@affirma.com::d253178d-2053-40f8-aed1-02e2d8431d3d" providerId="AD" clId="Web-{BF1A4A5F-82EA-8907-30D5-8820B76FE184}" dt="2020-09-24T23:29:59.176" v="12" actId="20577"/>
        <pc:sldMkLst>
          <pc:docMk/>
          <pc:sldMk cId="2196614632" sldId="258"/>
        </pc:sldMkLst>
        <pc:spChg chg="mod">
          <ac:chgData name="Haley Lange" userId="S::hlange@affirma.com::d253178d-2053-40f8-aed1-02e2d8431d3d" providerId="AD" clId="Web-{BF1A4A5F-82EA-8907-30D5-8820B76FE184}" dt="2020-09-24T23:29:49.097" v="9" actId="20577"/>
          <ac:spMkLst>
            <pc:docMk/>
            <pc:sldMk cId="2196614632" sldId="258"/>
            <ac:spMk id="5" creationId="{AC9F8B28-FEC9-4D7E-9E9E-789D9C87E1FA}"/>
          </ac:spMkLst>
        </pc:spChg>
        <pc:spChg chg="mod">
          <ac:chgData name="Haley Lange" userId="S::hlange@affirma.com::d253178d-2053-40f8-aed1-02e2d8431d3d" providerId="AD" clId="Web-{BF1A4A5F-82EA-8907-30D5-8820B76FE184}" dt="2020-09-24T23:29:46.160" v="4" actId="20577"/>
          <ac:spMkLst>
            <pc:docMk/>
            <pc:sldMk cId="2196614632" sldId="258"/>
            <ac:spMk id="8" creationId="{00000000-0000-0000-0000-000000000000}"/>
          </ac:spMkLst>
        </pc:spChg>
        <pc:spChg chg="mod">
          <ac:chgData name="Haley Lange" userId="S::hlange@affirma.com::d253178d-2053-40f8-aed1-02e2d8431d3d" providerId="AD" clId="Web-{BF1A4A5F-82EA-8907-30D5-8820B76FE184}" dt="2020-09-24T23:29:59.176" v="12" actId="20577"/>
          <ac:spMkLst>
            <pc:docMk/>
            <pc:sldMk cId="2196614632" sldId="258"/>
            <ac:spMk id="10" creationId="{00000000-0000-0000-0000-000000000000}"/>
          </ac:spMkLst>
        </pc:spChg>
      </pc:sldChg>
    </pc:docChg>
  </pc:docChgLst>
  <pc:docChgLst>
    <pc:chgData name="Steve Lauver" userId="S::slauver@affirma.com::5aeef662-8307-4a96-b665-3cf607363aec" providerId="AD" clId="Web-{DA1C36E5-024A-DA0E-D912-1297B72352A1}"/>
    <pc:docChg chg="addSld delSld">
      <pc:chgData name="Steve Lauver" userId="S::slauver@affirma.com::5aeef662-8307-4a96-b665-3cf607363aec" providerId="AD" clId="Web-{DA1C36E5-024A-DA0E-D912-1297B72352A1}" dt="2025-05-29T20:21:05.383" v="2"/>
      <pc:docMkLst>
        <pc:docMk/>
      </pc:docMkLst>
      <pc:sldChg chg="add del">
        <pc:chgData name="Steve Lauver" userId="S::slauver@affirma.com::5aeef662-8307-4a96-b665-3cf607363aec" providerId="AD" clId="Web-{DA1C36E5-024A-DA0E-D912-1297B72352A1}" dt="2025-05-29T20:21:05.383" v="2"/>
        <pc:sldMkLst>
          <pc:docMk/>
          <pc:sldMk cId="2196614632" sldId="258"/>
        </pc:sldMkLst>
      </pc:sldChg>
    </pc:docChg>
  </pc:docChgLst>
  <pc:docChgLst>
    <pc:chgData name="Claire Tomsett" userId="S::ctomsett@affirma.com::ea3112b9-ca53-4127-a1cd-5baa62d4ece7" providerId="AD" clId="Web-{FB88CF35-309E-07B4-8616-EA7425DF00C7}"/>
    <pc:docChg chg="addSld">
      <pc:chgData name="Claire Tomsett" userId="S::ctomsett@affirma.com::ea3112b9-ca53-4127-a1cd-5baa62d4ece7" providerId="AD" clId="Web-{FB88CF35-309E-07B4-8616-EA7425DF00C7}" dt="2020-09-01T20:17:07.862" v="0"/>
      <pc:docMkLst>
        <pc:docMk/>
      </pc:docMkLst>
      <pc:sldChg chg="add replId">
        <pc:chgData name="Claire Tomsett" userId="S::ctomsett@affirma.com::ea3112b9-ca53-4127-a1cd-5baa62d4ece7" providerId="AD" clId="Web-{FB88CF35-309E-07B4-8616-EA7425DF00C7}" dt="2020-09-01T20:17:07.862" v="0"/>
        <pc:sldMkLst>
          <pc:docMk/>
          <pc:sldMk cId="2196614632" sldId="2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16418E-A048-4577-8EAE-67E436E53532}" type="datetimeFigureOut">
              <a:rPr lang="en-US" smtClean="0"/>
              <a:t>5/29/2025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7976E1-85B3-40FB-B679-4B632F4C8E04}" type="slidenum">
              <a:rPr lang="en-US" smtClean="0"/>
              <a:t>‹#›</a:t>
            </a:fld>
            <a:endParaRPr lang="en-US"/>
          </a:p>
        </p:txBody>
      </p:sp>
    </p:spTree>
    <p:extLst>
      <p:ext uri="{BB962C8B-B14F-4D97-AF65-F5344CB8AC3E}">
        <p14:creationId xmlns:p14="http://schemas.microsoft.com/office/powerpoint/2010/main" val="917665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93315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2589857E-D93D-4A21-9AB3-A840A160F03B}"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89394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0B01164-5CBA-4648-BBB3-1EB5138BF7CD}"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64911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F7971B0-0328-4F64-BA27-89D4CAC33489}"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10613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0E057AF1-1271-4135-A4DF-8212A85BBEEA}"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933227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CB3A4C8-E168-479B-83D1-C113CA114E80}"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50014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5AD6EFC-A893-47A2-B525-6AE25CD43720}"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854154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73F61E-6393-484F-81CD-CE96DFCD4478}"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985778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901EE36-167B-4DA5-95BB-753B376CEB75}"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04757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E548EB2C-6580-45D7-AC10-F7C321F98456}" type="datetime1">
              <a:rPr lang="en-US" smtClean="0"/>
              <a:t>5/29/2025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406076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FBAD4CDD-A28F-41D7-9D76-ED6B7C26BC23}" type="datetime1">
              <a:rPr lang="en-US" smtClean="0"/>
              <a:t>5/29/2025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54476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F0823077-BDB8-4343-9A5A-E70DE6FE1F58}"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619949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5E63FAB-1A18-4635-802B-2C4423B099FF}"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819184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028D1743-5612-4CC6-8460-5CD288C8D9F7}"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391442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F0D154AB-5FF0-4A59-AD14-BD6DAAA45C83}"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697407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200D02DF-DA1F-45CD-806C-A925B0D26A78}" type="datetime1">
              <a:rPr lang="en-US" smtClean="0"/>
              <a:t>5/29/2025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17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A1771C6-2395-4CCE-B69E-84DC09874068}" type="datetime1">
              <a:rPr lang="en-US" smtClean="0"/>
              <a:t>5/29/2025</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411732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856697E3-44A2-4392-9AC5-7385B01DAB87}" type="datetime1">
              <a:rPr lang="en-US" smtClean="0"/>
              <a:t>5/29/2025</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7718627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41D198B3-3934-4AF5-BDB7-D2BDCB28105E}" type="datetime1">
              <a:rPr lang="en-US" smtClean="0"/>
              <a:t>5/29/2025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3098041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EAC6B8E-9D2C-432F-A327-BF32E23E919F}" type="datetime1">
              <a:rPr lang="en-US" smtClean="0"/>
              <a:t>5/29/2025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39518940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DA17C4F9-4528-4D32-97BB-1274CAA1E8F0}" type="datetime1">
              <a:rPr lang="en-US" smtClean="0"/>
              <a:t>5/29/2025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66539844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3E06428E-6ECE-4D5D-8DE7-0DB2C2A15BB7}" type="datetime1">
              <a:rPr lang="en-US" smtClean="0"/>
              <a:t>5/29/2025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9266599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E1095555-1A88-4F87-8212-D4FEB0F33880}" type="datetime1">
              <a:rPr lang="en-US" smtClean="0"/>
              <a:t>5/29/2025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9220743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289DC953-6504-482B-BCD8-15B3DF1A111E}" type="datetime1">
              <a:rPr lang="en-US" smtClean="0"/>
              <a:t>5/29/2025</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11443997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1813794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744F366A-46F1-42DC-85CB-06E4A6FAC9A6}" type="datetime1">
              <a:rPr lang="en-US" smtClean="0"/>
              <a:t>5/29/2025</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3863817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1061" y="1184819"/>
            <a:ext cx="6127680" cy="4612738"/>
          </a:xfrm>
          <a:prstGeom prst="rect">
            <a:avLst/>
          </a:prstGeom>
          <a:noFill/>
        </p:spPr>
        <p:txBody>
          <a:bodyPr wrap="square" rtlCol="0">
            <a:spAutoFit/>
          </a:bodyPr>
          <a:lstStyle/>
          <a:p>
            <a:pPr defTabSz="976845">
              <a:lnSpc>
                <a:spcPct val="120000"/>
              </a:lnSpc>
            </a:pPr>
            <a:r>
              <a:rPr lang="en-US" sz="2000" b="1" dirty="0" err="1">
                <a:solidFill>
                  <a:srgbClr val="0096A9"/>
                </a:solidFill>
                <a:latin typeface="Segoe UI" panose="020B0502040204020203" pitchFamily="34" charset="0"/>
                <a:ea typeface="MS Mincho" panose="02020609040205080304" pitchFamily="49" charset="-128"/>
                <a:cs typeface="Segoe UI" panose="020B0502040204020203" pitchFamily="34" charset="0"/>
              </a:rPr>
              <a:t>BeamReaders</a:t>
            </a:r>
            <a:r>
              <a:rPr lang="en-US" sz="2000" b="1" dirty="0">
                <a:solidFill>
                  <a:srgbClr val="0096A9"/>
                </a:solidFill>
                <a:latin typeface="Segoe UI" panose="020B0502040204020203" pitchFamily="34" charset="0"/>
                <a:ea typeface="MS Mincho" panose="02020609040205080304" pitchFamily="49" charset="-128"/>
                <a:cs typeface="Segoe UI" panose="020B0502040204020203" pitchFamily="34" charset="0"/>
              </a:rPr>
              <a:t>,</a:t>
            </a:r>
            <a:r>
              <a:rPr lang="en-US" sz="2118" dirty="0">
                <a:solidFill>
                  <a:srgbClr val="0096A9"/>
                </a:solidFill>
                <a:latin typeface="Segoe UI" panose="020B0502040204020203" pitchFamily="34" charset="0"/>
                <a:ea typeface="MS Mincho" panose="02020609040205080304" pitchFamily="49" charset="-128"/>
                <a:cs typeface="Segoe UI" panose="020B0502040204020203" pitchFamily="34" charset="0"/>
              </a:rPr>
              <a:t> </a:t>
            </a:r>
            <a:r>
              <a:rPr lang="en-US" sz="1500" dirty="0">
                <a:solidFill>
                  <a:prstClr val="black"/>
                </a:solidFill>
                <a:latin typeface="Segoe UI" panose="020B0502040204020203" pitchFamily="34" charset="0"/>
                <a:cs typeface="Segoe UI" panose="020B0502040204020203" pitchFamily="34" charset="0"/>
              </a:rPr>
              <a:t>a dental imaging service, was looking for a strategic marketing partner to help take their business from a small start-up to a recognized leader in the industry. </a:t>
            </a:r>
          </a:p>
          <a:p>
            <a:pPr defTabSz="976845">
              <a:lnSpc>
                <a:spcPct val="120000"/>
              </a:lnSpc>
            </a:pPr>
            <a:endParaRPr lang="en-US" sz="1500" dirty="0">
              <a:solidFill>
                <a:prstClr val="black"/>
              </a:solidFill>
              <a:latin typeface="Segoe UI" panose="020B0502040204020203" pitchFamily="34" charset="0"/>
              <a:cs typeface="Segoe UI" panose="020B0502040204020203" pitchFamily="34" charset="0"/>
            </a:endParaRPr>
          </a:p>
          <a:p>
            <a:pPr defTabSz="976845">
              <a:lnSpc>
                <a:spcPct val="120000"/>
              </a:lnSpc>
            </a:pPr>
            <a:r>
              <a:rPr lang="en-US" sz="1500" dirty="0">
                <a:solidFill>
                  <a:prstClr val="black"/>
                </a:solidFill>
                <a:latin typeface="Segoe UI" panose="020B0502040204020203" pitchFamily="34" charset="0"/>
                <a:cs typeface="Segoe UI" panose="020B0502040204020203" pitchFamily="34" charset="0"/>
              </a:rPr>
              <a:t>Affirma stepped in to create a strategic marketing plan as well as recommended and implemented HubSpot for CRM/Sales Hub; Marketing Hub for social media and nurture campaigns and Service Hub for customer service.  In addition, Affirma designed and built their new website on HubSpot CMS and custom built portal for their customers to ensure a secure user experience. </a:t>
            </a:r>
          </a:p>
          <a:p>
            <a:pPr defTabSz="976845">
              <a:lnSpc>
                <a:spcPct val="120000"/>
              </a:lnSpc>
            </a:pPr>
            <a:endParaRPr lang="en-US" sz="1500" dirty="0">
              <a:solidFill>
                <a:prstClr val="black"/>
              </a:solidFill>
              <a:latin typeface="Segoe UI" panose="020B0502040204020203" pitchFamily="34" charset="0"/>
              <a:cs typeface="Segoe UI" panose="020B0502040204020203" pitchFamily="34" charset="0"/>
            </a:endParaRPr>
          </a:p>
          <a:p>
            <a:pPr defTabSz="976845">
              <a:lnSpc>
                <a:spcPct val="120000"/>
              </a:lnSpc>
            </a:pPr>
            <a:r>
              <a:rPr lang="en-US" sz="1500" dirty="0">
                <a:solidFill>
                  <a:prstClr val="black"/>
                </a:solidFill>
                <a:latin typeface="Segoe UI" panose="020B0502040204020203" pitchFamily="34" charset="0"/>
                <a:cs typeface="Segoe UI" panose="020B0502040204020203" pitchFamily="34" charset="0"/>
              </a:rPr>
              <a:t>The result was a cohesive plan that took </a:t>
            </a:r>
            <a:r>
              <a:rPr lang="en-US" sz="1500" dirty="0" err="1">
                <a:solidFill>
                  <a:prstClr val="black"/>
                </a:solidFill>
                <a:latin typeface="Segoe UI" panose="020B0502040204020203" pitchFamily="34" charset="0"/>
                <a:cs typeface="Segoe UI" panose="020B0502040204020203" pitchFamily="34" charset="0"/>
              </a:rPr>
              <a:t>BeamReaders</a:t>
            </a:r>
            <a:r>
              <a:rPr lang="en-US" sz="1500" dirty="0">
                <a:solidFill>
                  <a:prstClr val="black"/>
                </a:solidFill>
                <a:latin typeface="Segoe UI" panose="020B0502040204020203" pitchFamily="34" charset="0"/>
                <a:cs typeface="Segoe UI" panose="020B0502040204020203" pitchFamily="34" charset="0"/>
              </a:rPr>
              <a:t> to the next level! Affirma continues to support their marketing efforts on a monthly basis on a wide-range of marketing tactics, such as SEO, social media, email, content and more ultimately increasing leads and driving conversion rates. </a:t>
            </a:r>
          </a:p>
        </p:txBody>
      </p:sp>
      <p:sp>
        <p:nvSpPr>
          <p:cNvPr id="10" name="Title 1"/>
          <p:cNvSpPr txBox="1">
            <a:spLocks/>
          </p:cNvSpPr>
          <p:nvPr/>
        </p:nvSpPr>
        <p:spPr>
          <a:xfrm>
            <a:off x="401061" y="303103"/>
            <a:ext cx="7654738" cy="740284"/>
          </a:xfrm>
          <a:prstGeom prst="rect">
            <a:avLst/>
          </a:prstGeom>
        </p:spPr>
        <p:txBody>
          <a:bodyPr>
            <a:noAutofit/>
          </a:bodyPr>
          <a:lst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a:lstStyle>
          <a:p>
            <a:pPr defTabSz="838166"/>
            <a:r>
              <a:rPr lang="en-US" sz="3333" spc="219" dirty="0" err="1">
                <a:solidFill>
                  <a:prstClr val="white"/>
                </a:solidFill>
                <a:latin typeface="Segoe UI Light" panose="020B0502040204020203" pitchFamily="34" charset="0"/>
                <a:cs typeface="Segoe UI Light" panose="020B0502040204020203" pitchFamily="34" charset="0"/>
              </a:rPr>
              <a:t>BeamReaders</a:t>
            </a:r>
            <a:r>
              <a:rPr lang="en-US" sz="3333" spc="219" dirty="0">
                <a:solidFill>
                  <a:prstClr val="white"/>
                </a:solidFill>
                <a:latin typeface="Segoe UI Light" panose="020B0502040204020203" pitchFamily="34" charset="0"/>
                <a:cs typeface="Segoe UI Light" panose="020B0502040204020203" pitchFamily="34" charset="0"/>
              </a:rPr>
              <a:t>® &amp; HubSpot</a:t>
            </a:r>
          </a:p>
          <a:p>
            <a:pPr defTabSz="838166"/>
            <a:endParaRPr lang="en-US" sz="3530" spc="219" dirty="0">
              <a:solidFill>
                <a:prstClr val="white"/>
              </a:solidFill>
              <a:latin typeface="Segoe UI Light" panose="020B0502040204020203" pitchFamily="34" charset="0"/>
              <a:cs typeface="Segoe UI Light" panose="020B0502040204020203" pitchFamily="34" charset="0"/>
            </a:endParaRPr>
          </a:p>
        </p:txBody>
      </p:sp>
      <p:pic>
        <p:nvPicPr>
          <p:cNvPr id="2" name="Picture 1"/>
          <p:cNvPicPr>
            <a:picLocks noChangeAspect="1"/>
          </p:cNvPicPr>
          <p:nvPr/>
        </p:nvPicPr>
        <p:blipFill>
          <a:blip r:embed="rId3"/>
          <a:stretch>
            <a:fillRect/>
          </a:stretch>
        </p:blipFill>
        <p:spPr>
          <a:xfrm>
            <a:off x="6981401" y="1312707"/>
            <a:ext cx="4829599" cy="2478806"/>
          </a:xfrm>
          <a:prstGeom prst="rect">
            <a:avLst/>
          </a:prstGeom>
        </p:spPr>
      </p:pic>
      <p:pic>
        <p:nvPicPr>
          <p:cNvPr id="4" name="Picture 3"/>
          <p:cNvPicPr>
            <a:picLocks noChangeAspect="1"/>
          </p:cNvPicPr>
          <p:nvPr/>
        </p:nvPicPr>
        <p:blipFill>
          <a:blip r:embed="rId4"/>
          <a:stretch>
            <a:fillRect/>
          </a:stretch>
        </p:blipFill>
        <p:spPr>
          <a:xfrm>
            <a:off x="6981401" y="3742011"/>
            <a:ext cx="4836728" cy="2099395"/>
          </a:xfrm>
          <a:prstGeom prst="rect">
            <a:avLst/>
          </a:prstGeom>
        </p:spPr>
      </p:pic>
      <p:sp>
        <p:nvSpPr>
          <p:cNvPr id="3" name="Slide Number Placeholder 2">
            <a:extLst>
              <a:ext uri="{FF2B5EF4-FFF2-40B4-BE49-F238E27FC236}">
                <a16:creationId xmlns:a16="http://schemas.microsoft.com/office/drawing/2014/main" id="{0BA42BA2-6455-4287-8146-93135484932F}"/>
              </a:ext>
            </a:extLst>
          </p:cNvPr>
          <p:cNvSpPr>
            <a:spLocks noGrp="1"/>
          </p:cNvSpPr>
          <p:nvPr>
            <p:ph type="sldNum" sz="quarter" idx="12"/>
          </p:nvPr>
        </p:nvSpPr>
        <p:spPr/>
        <p:txBody>
          <a:bodyPr/>
          <a:lstStyle/>
          <a:p>
            <a:pPr defTabSz="976845"/>
            <a:fld id="{49A40DB5-B054-4B52-B27D-446721D6CC27}" type="slidenum">
              <a:rPr lang="en-US">
                <a:solidFill>
                  <a:prstClr val="black">
                    <a:tint val="75000"/>
                  </a:prstClr>
                </a:solidFill>
              </a:rPr>
              <a:pPr defTabSz="976845"/>
              <a:t>1</a:t>
            </a:fld>
            <a:endParaRPr lang="en-US">
              <a:solidFill>
                <a:prstClr val="black">
                  <a:tint val="75000"/>
                </a:prstClr>
              </a:solidFill>
            </a:endParaRPr>
          </a:p>
        </p:txBody>
      </p:sp>
      <p:sp>
        <p:nvSpPr>
          <p:cNvPr id="5" name="Rectangle 4">
            <a:extLst>
              <a:ext uri="{FF2B5EF4-FFF2-40B4-BE49-F238E27FC236}">
                <a16:creationId xmlns:a16="http://schemas.microsoft.com/office/drawing/2014/main" id="{AC9F8B28-FEC9-4D7E-9E9E-789D9C87E1FA}"/>
              </a:ext>
            </a:extLst>
          </p:cNvPr>
          <p:cNvSpPr/>
          <p:nvPr/>
        </p:nvSpPr>
        <p:spPr>
          <a:xfrm>
            <a:off x="401061" y="6016288"/>
            <a:ext cx="6313475" cy="784830"/>
          </a:xfrm>
          <a:prstGeom prst="rect">
            <a:avLst/>
          </a:prstGeom>
        </p:spPr>
        <p:txBody>
          <a:bodyPr wrap="square">
            <a:spAutoFit/>
          </a:bodyPr>
          <a:lstStyle/>
          <a:p>
            <a:pPr defTabSz="976845"/>
            <a:r>
              <a:rPr lang="en-US" sz="1500" dirty="0" err="1">
                <a:solidFill>
                  <a:prstClr val="black"/>
                </a:solidFill>
                <a:latin typeface="Segoe UI"/>
              </a:rPr>
              <a:t>BeamReaders</a:t>
            </a:r>
            <a:r>
              <a:rPr lang="en-US" sz="1500" dirty="0">
                <a:solidFill>
                  <a:prstClr val="black"/>
                </a:solidFill>
                <a:latin typeface="Segoe UI"/>
              </a:rPr>
              <a:t> saw a </a:t>
            </a:r>
            <a:r>
              <a:rPr lang="en-US" sz="1500" b="1" dirty="0">
                <a:solidFill>
                  <a:prstClr val="black"/>
                </a:solidFill>
                <a:latin typeface="Segoe UI"/>
              </a:rPr>
              <a:t>56% decrease in time to close support tickets and over 1,000 tickets resolved each month </a:t>
            </a:r>
            <a:r>
              <a:rPr lang="en-US" sz="1500" dirty="0">
                <a:solidFill>
                  <a:prstClr val="black"/>
                </a:solidFill>
                <a:latin typeface="Segoe UI"/>
              </a:rPr>
              <a:t>with HubSpot Service Hub. </a:t>
            </a:r>
          </a:p>
        </p:txBody>
      </p:sp>
    </p:spTree>
    <p:extLst>
      <p:ext uri="{BB962C8B-B14F-4D97-AF65-F5344CB8AC3E}">
        <p14:creationId xmlns:p14="http://schemas.microsoft.com/office/powerpoint/2010/main" val="2204682964"/>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Marketing Services</Value>
    </BusinessUnit>
    <Solutions xmlns="f0ee8362-fa7e-4bc9-ab88-7dcfb17cb19b">
      <Value>Marketing Strategy</Value>
    </Solutions>
    <Industries xmlns="f0ee8362-fa7e-4bc9-ab88-7dcfb17cb19b">
      <Value>Healthcare</Value>
      <Value>Technology</Value>
    </Industries>
    <Notes0 xmlns="f0ee8362-fa7e-4bc9-ab88-7dcfb17cb19b" xsi:nil="true"/>
    <Named_x0020_Account xmlns="f0ee8362-fa7e-4bc9-ab88-7dcfb17cb19b" xsi:nil="true"/>
    <PlatTech xmlns="f0ee8362-fa7e-4bc9-ab88-7dcfb17cb19b" xsi:nil="true"/>
    <ProjectCompletionDate xmlns="f0ee8362-fa7e-4bc9-ab88-7dcfb17cb19b" xsi:nil="true"/>
    <ApprovedByClient xmlns="f0ee8362-fa7e-4bc9-ab88-7dcfb17cb19b">false</ApprovedByClien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customXsn xmlns="http://schemas.microsoft.com/office/2006/metadata/customXsn">
  <xsnLocation/>
  <cached>True</cached>
  <openByDefault>False</openByDefault>
  <xsnScope/>
</customXsn>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14A5747-C26A-4B9A-9D73-DB6CDD4286EC}">
  <ds:schemaRefs>
    <ds:schemaRef ds:uri="http://schemas.openxmlformats.org/package/2006/metadata/core-properties"/>
    <ds:schemaRef ds:uri="71857362-e859-42cd-ad67-04a31c75c61a"/>
    <ds:schemaRef ds:uri="http://www.w3.org/XML/1998/namespace"/>
    <ds:schemaRef ds:uri="http://schemas.microsoft.com/office/infopath/2007/PartnerControls"/>
    <ds:schemaRef ds:uri="http://purl.org/dc/terms/"/>
    <ds:schemaRef ds:uri="a9c1caf8-ba89-4b3a-8920-418e9c808c28"/>
    <ds:schemaRef ds:uri="http://schemas.microsoft.com/office/2006/metadata/properties"/>
    <ds:schemaRef ds:uri="http://purl.org/dc/elements/1.1/"/>
    <ds:schemaRef ds:uri="http://schemas.microsoft.com/office/2006/documentManagement/types"/>
    <ds:schemaRef ds:uri="http://purl.org/dc/dcmitype/"/>
    <ds:schemaRef ds:uri="54243e05-8da7-404c-85e0-0480aaa26276"/>
    <ds:schemaRef ds:uri="357972b2-b7ed-48bc-bbb4-0804bacba9d2"/>
    <ds:schemaRef ds:uri="f0ee8362-fa7e-4bc9-ab88-7dcfb17cb19b"/>
  </ds:schemaRefs>
</ds:datastoreItem>
</file>

<file path=customXml/itemProps2.xml><?xml version="1.0" encoding="utf-8"?>
<ds:datastoreItem xmlns:ds="http://schemas.openxmlformats.org/officeDocument/2006/customXml" ds:itemID="{510FD57A-CE35-4B34-8069-836CB23DE78D}"/>
</file>

<file path=customXml/itemProps3.xml><?xml version="1.0" encoding="utf-8"?>
<ds:datastoreItem xmlns:ds="http://schemas.openxmlformats.org/officeDocument/2006/customXml" ds:itemID="{40411071-A47B-4C08-A04D-ABE32AF41590}">
  <ds:schemaRefs>
    <ds:schemaRef ds:uri="http://schemas.microsoft.com/office/2006/metadata/customXsn"/>
  </ds:schemaRefs>
</ds:datastoreItem>
</file>

<file path=customXml/itemProps4.xml><?xml version="1.0" encoding="utf-8"?>
<ds:datastoreItem xmlns:ds="http://schemas.openxmlformats.org/officeDocument/2006/customXml" ds:itemID="{109838AC-E5A1-46CA-9149-58F4648592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177</Words>
  <Application>Microsoft Office PowerPoint</Application>
  <PresentationFormat>Widescreen</PresentationFormat>
  <Paragraphs>9</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Alyson Knox-Meade</dc:creator>
  <cp:lastModifiedBy>Alyssa Gordon</cp:lastModifiedBy>
  <cp:revision>11</cp:revision>
  <dcterms:created xsi:type="dcterms:W3CDTF">2020-05-07T15:20:04Z</dcterms:created>
  <dcterms:modified xsi:type="dcterms:W3CDTF">2025-05-29T20:21:13Z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xd_Signature">
    <vt:bool>false</vt:bool>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Business Unit">
    <vt:lpwstr/>
  </property>
  <property fmtid="{D5CDD505-2E9C-101B-9397-08002B2CF9AE}" pid="10" name="Industry">
    <vt:lpwstr>51;#Healthcare|a26bc4ad-14b0-4fca-9fdf-0cbc9e43340d</vt:lpwstr>
  </property>
  <property fmtid="{D5CDD505-2E9C-101B-9397-08002B2CF9AE}" pid="11" name="Service_x0020_Offering">
    <vt:lpwstr/>
  </property>
  <property fmtid="{D5CDD505-2E9C-101B-9397-08002B2CF9AE}" pid="12" name="Business_x0020_Unit">
    <vt:lpwstr/>
  </property>
  <property fmtid="{D5CDD505-2E9C-101B-9397-08002B2CF9AE}" pid="13" name="_ExtendedDescription">
    <vt:lpwstr/>
  </property>
  <property fmtid="{D5CDD505-2E9C-101B-9397-08002B2CF9AE}" pid="14" name="Service Offering">
    <vt:lpwstr/>
  </property>
  <property fmtid="{D5CDD505-2E9C-101B-9397-08002B2CF9AE}" pid="15" name="Category">
    <vt:lpwstr>6;#Case Study|8faa0ad1-25f0-4f56-8e38-f60e20c455d6</vt:lpwstr>
  </property>
  <property fmtid="{D5CDD505-2E9C-101B-9397-08002B2CF9AE}" pid="16" name="Order">
    <vt:r8>38400</vt:r8>
  </property>
  <property fmtid="{D5CDD505-2E9C-101B-9397-08002B2CF9AE}" pid="17" name="SO">
    <vt:lpwstr>19;#;#20;#;#21;#</vt:lpwstr>
  </property>
  <property fmtid="{D5CDD505-2E9C-101B-9397-08002B2CF9AE}" pid="18" name="TriggerFlowInfo">
    <vt:lpwstr/>
  </property>
</Properties>
</file>