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1111"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10" Type="http://schemas.openxmlformats.org/officeDocument/2006/relationships/customXml" Target="../customXml/item4.xml"/><Relationship Id="rId4" Type="http://schemas.openxmlformats.org/officeDocument/2006/relationships/viewProps" Target="viewProps.xml"/><Relationship Id="rId9"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EF0D6-5306-4AC5-A6CD-606442892D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39B65E-54B4-415C-BD8B-E0DCE2DD9C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6FC818-5B0A-4C58-BC42-493497C1A456}"/>
              </a:ext>
            </a:extLst>
          </p:cNvPr>
          <p:cNvSpPr>
            <a:spLocks noGrp="1"/>
          </p:cNvSpPr>
          <p:nvPr>
            <p:ph type="dt" sz="half" idx="10"/>
          </p:nvPr>
        </p:nvSpPr>
        <p:spPr/>
        <p:txBody>
          <a:bodyPr/>
          <a:lstStyle/>
          <a:p>
            <a:fld id="{383E4D57-7DC2-4C3A-AF88-3D95FDE3995A}" type="datetimeFigureOut">
              <a:rPr lang="en-US" smtClean="0"/>
              <a:t>10/23/2025</a:t>
            </a:fld>
            <a:endParaRPr lang="en-US"/>
          </a:p>
        </p:txBody>
      </p:sp>
      <p:sp>
        <p:nvSpPr>
          <p:cNvPr id="5" name="Footer Placeholder 4">
            <a:extLst>
              <a:ext uri="{FF2B5EF4-FFF2-40B4-BE49-F238E27FC236}">
                <a16:creationId xmlns:a16="http://schemas.microsoft.com/office/drawing/2014/main" id="{87D2910E-40CF-4257-98CD-066B159766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C425FA-0A5F-49F5-BB4B-117AF6848F72}"/>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1620013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3460E-9625-4DD4-9AAF-6C5EDA6369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838866-2102-42A6-9B58-232DB42C3F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D04D5D-2D7B-4F91-B910-C49F6E19A246}"/>
              </a:ext>
            </a:extLst>
          </p:cNvPr>
          <p:cNvSpPr>
            <a:spLocks noGrp="1"/>
          </p:cNvSpPr>
          <p:nvPr>
            <p:ph type="dt" sz="half" idx="10"/>
          </p:nvPr>
        </p:nvSpPr>
        <p:spPr/>
        <p:txBody>
          <a:bodyPr/>
          <a:lstStyle/>
          <a:p>
            <a:fld id="{383E4D57-7DC2-4C3A-AF88-3D95FDE3995A}" type="datetimeFigureOut">
              <a:rPr lang="en-US" smtClean="0"/>
              <a:t>10/23/2025</a:t>
            </a:fld>
            <a:endParaRPr lang="en-US"/>
          </a:p>
        </p:txBody>
      </p:sp>
      <p:sp>
        <p:nvSpPr>
          <p:cNvPr id="5" name="Footer Placeholder 4">
            <a:extLst>
              <a:ext uri="{FF2B5EF4-FFF2-40B4-BE49-F238E27FC236}">
                <a16:creationId xmlns:a16="http://schemas.microsoft.com/office/drawing/2014/main" id="{1C53EB0A-3CE7-456B-8666-3A7B8F3113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F1EBB7-3EB9-4D01-932D-2DA6CFE7BF00}"/>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365903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2683-AB13-4CBF-8D15-314069F2C5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196D35-2E37-4B6D-B90F-D77128FDD3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F2FB49-5DB8-4278-9749-3B1B45FDC974}"/>
              </a:ext>
            </a:extLst>
          </p:cNvPr>
          <p:cNvSpPr>
            <a:spLocks noGrp="1"/>
          </p:cNvSpPr>
          <p:nvPr>
            <p:ph type="dt" sz="half" idx="10"/>
          </p:nvPr>
        </p:nvSpPr>
        <p:spPr/>
        <p:txBody>
          <a:bodyPr/>
          <a:lstStyle/>
          <a:p>
            <a:fld id="{383E4D57-7DC2-4C3A-AF88-3D95FDE3995A}" type="datetimeFigureOut">
              <a:rPr lang="en-US" smtClean="0"/>
              <a:t>10/23/2025</a:t>
            </a:fld>
            <a:endParaRPr lang="en-US"/>
          </a:p>
        </p:txBody>
      </p:sp>
      <p:sp>
        <p:nvSpPr>
          <p:cNvPr id="5" name="Footer Placeholder 4">
            <a:extLst>
              <a:ext uri="{FF2B5EF4-FFF2-40B4-BE49-F238E27FC236}">
                <a16:creationId xmlns:a16="http://schemas.microsoft.com/office/drawing/2014/main" id="{D55CA11C-4AFF-43E9-937B-30F143508E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B8618-8B47-4109-8859-AB22B4062B58}"/>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72071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30665-589C-4B00-AE7C-165575FBC5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A6CAB7-F0AD-4D88-89C8-79825E5525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72A13A-6B03-4509-9C15-8610C73BA1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C0C2A6-6B19-429D-BFAA-F19C0D2F538B}"/>
              </a:ext>
            </a:extLst>
          </p:cNvPr>
          <p:cNvSpPr>
            <a:spLocks noGrp="1"/>
          </p:cNvSpPr>
          <p:nvPr>
            <p:ph type="dt" sz="half" idx="10"/>
          </p:nvPr>
        </p:nvSpPr>
        <p:spPr/>
        <p:txBody>
          <a:bodyPr/>
          <a:lstStyle/>
          <a:p>
            <a:fld id="{383E4D57-7DC2-4C3A-AF88-3D95FDE3995A}" type="datetimeFigureOut">
              <a:rPr lang="en-US" smtClean="0"/>
              <a:t>10/23/2025</a:t>
            </a:fld>
            <a:endParaRPr lang="en-US"/>
          </a:p>
        </p:txBody>
      </p:sp>
      <p:sp>
        <p:nvSpPr>
          <p:cNvPr id="6" name="Footer Placeholder 5">
            <a:extLst>
              <a:ext uri="{FF2B5EF4-FFF2-40B4-BE49-F238E27FC236}">
                <a16:creationId xmlns:a16="http://schemas.microsoft.com/office/drawing/2014/main" id="{7C7AE127-03B3-44D3-9989-5895012F8B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B80765-0F4E-4DDD-B744-9D86D7B4F020}"/>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2397415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C9FF4-EA4F-4BE5-83BA-093797F112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CD7E6F-D1A7-4EC4-A798-6515E5F7F4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3106AB-8357-4C0D-B9D5-DB9FC483F9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61582-8C96-4E8D-BC06-EE11120342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C3A6B5-AFB3-46BE-BDE8-D9EAC38AA7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1EF17-830E-424E-95F9-84846DEA3968}"/>
              </a:ext>
            </a:extLst>
          </p:cNvPr>
          <p:cNvSpPr>
            <a:spLocks noGrp="1"/>
          </p:cNvSpPr>
          <p:nvPr>
            <p:ph type="dt" sz="half" idx="10"/>
          </p:nvPr>
        </p:nvSpPr>
        <p:spPr/>
        <p:txBody>
          <a:bodyPr/>
          <a:lstStyle/>
          <a:p>
            <a:fld id="{383E4D57-7DC2-4C3A-AF88-3D95FDE3995A}" type="datetimeFigureOut">
              <a:rPr lang="en-US" smtClean="0"/>
              <a:t>10/23/2025</a:t>
            </a:fld>
            <a:endParaRPr lang="en-US"/>
          </a:p>
        </p:txBody>
      </p:sp>
      <p:sp>
        <p:nvSpPr>
          <p:cNvPr id="8" name="Footer Placeholder 7">
            <a:extLst>
              <a:ext uri="{FF2B5EF4-FFF2-40B4-BE49-F238E27FC236}">
                <a16:creationId xmlns:a16="http://schemas.microsoft.com/office/drawing/2014/main" id="{BB7AA3F5-18C3-4B3B-B1AF-7944BE808D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78D959D-E126-4442-8869-C6676F7C1100}"/>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2462272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0C7BE-C48D-4760-9EED-87B743272B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2AD6DB-3465-4EE6-B38E-A07A70579D1E}"/>
              </a:ext>
            </a:extLst>
          </p:cNvPr>
          <p:cNvSpPr>
            <a:spLocks noGrp="1"/>
          </p:cNvSpPr>
          <p:nvPr>
            <p:ph type="dt" sz="half" idx="10"/>
          </p:nvPr>
        </p:nvSpPr>
        <p:spPr/>
        <p:txBody>
          <a:bodyPr/>
          <a:lstStyle/>
          <a:p>
            <a:fld id="{383E4D57-7DC2-4C3A-AF88-3D95FDE3995A}" type="datetimeFigureOut">
              <a:rPr lang="en-US" smtClean="0"/>
              <a:t>10/23/2025</a:t>
            </a:fld>
            <a:endParaRPr lang="en-US"/>
          </a:p>
        </p:txBody>
      </p:sp>
      <p:sp>
        <p:nvSpPr>
          <p:cNvPr id="4" name="Footer Placeholder 3">
            <a:extLst>
              <a:ext uri="{FF2B5EF4-FFF2-40B4-BE49-F238E27FC236}">
                <a16:creationId xmlns:a16="http://schemas.microsoft.com/office/drawing/2014/main" id="{478E646D-A9D7-4A38-A9BF-9679DC43FA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6265F8-4BAB-474A-9C93-7DE9B95E5A72}"/>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3062452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D24569-DBBD-4F79-BDB4-2BDD26F7DFAA}"/>
              </a:ext>
            </a:extLst>
          </p:cNvPr>
          <p:cNvSpPr>
            <a:spLocks noGrp="1"/>
          </p:cNvSpPr>
          <p:nvPr>
            <p:ph type="dt" sz="half" idx="10"/>
          </p:nvPr>
        </p:nvSpPr>
        <p:spPr/>
        <p:txBody>
          <a:bodyPr/>
          <a:lstStyle/>
          <a:p>
            <a:fld id="{383E4D57-7DC2-4C3A-AF88-3D95FDE3995A}" type="datetimeFigureOut">
              <a:rPr lang="en-US" smtClean="0"/>
              <a:t>10/23/2025</a:t>
            </a:fld>
            <a:endParaRPr lang="en-US"/>
          </a:p>
        </p:txBody>
      </p:sp>
      <p:sp>
        <p:nvSpPr>
          <p:cNvPr id="3" name="Footer Placeholder 2">
            <a:extLst>
              <a:ext uri="{FF2B5EF4-FFF2-40B4-BE49-F238E27FC236}">
                <a16:creationId xmlns:a16="http://schemas.microsoft.com/office/drawing/2014/main" id="{8FD5A5BE-59CC-4189-9380-0D8FC7BDDC4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D76A7B-490B-4CF0-AFF0-CA48AF014791}"/>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4044528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C882C-FF98-4459-9067-31D84C5BB3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AD226B-CA09-44AF-87C7-5EDFF4777E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1AD8B3-23E2-4EEE-B069-D87579AC38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A2539C-9900-4E98-8F93-1C6A40F7BB5B}"/>
              </a:ext>
            </a:extLst>
          </p:cNvPr>
          <p:cNvSpPr>
            <a:spLocks noGrp="1"/>
          </p:cNvSpPr>
          <p:nvPr>
            <p:ph type="dt" sz="half" idx="10"/>
          </p:nvPr>
        </p:nvSpPr>
        <p:spPr/>
        <p:txBody>
          <a:bodyPr/>
          <a:lstStyle/>
          <a:p>
            <a:fld id="{383E4D57-7DC2-4C3A-AF88-3D95FDE3995A}" type="datetimeFigureOut">
              <a:rPr lang="en-US" smtClean="0"/>
              <a:t>10/23/2025</a:t>
            </a:fld>
            <a:endParaRPr lang="en-US"/>
          </a:p>
        </p:txBody>
      </p:sp>
      <p:sp>
        <p:nvSpPr>
          <p:cNvPr id="6" name="Footer Placeholder 5">
            <a:extLst>
              <a:ext uri="{FF2B5EF4-FFF2-40B4-BE49-F238E27FC236}">
                <a16:creationId xmlns:a16="http://schemas.microsoft.com/office/drawing/2014/main" id="{765F89F6-5988-41E6-A1B9-DBE423A103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6E51EE-2244-4744-8A63-3F5DBBFB329D}"/>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3326157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60233-605C-4FB3-9102-70C4B3CA6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534E09-17CF-40E7-994C-65F7EB727F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978C32-3DC4-4B0E-9992-4A1336385C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1AFB2-1054-4F94-BF33-C896A73A2D4B}"/>
              </a:ext>
            </a:extLst>
          </p:cNvPr>
          <p:cNvSpPr>
            <a:spLocks noGrp="1"/>
          </p:cNvSpPr>
          <p:nvPr>
            <p:ph type="dt" sz="half" idx="10"/>
          </p:nvPr>
        </p:nvSpPr>
        <p:spPr/>
        <p:txBody>
          <a:bodyPr/>
          <a:lstStyle/>
          <a:p>
            <a:fld id="{383E4D57-7DC2-4C3A-AF88-3D95FDE3995A}" type="datetimeFigureOut">
              <a:rPr lang="en-US" smtClean="0"/>
              <a:t>10/23/2025</a:t>
            </a:fld>
            <a:endParaRPr lang="en-US"/>
          </a:p>
        </p:txBody>
      </p:sp>
      <p:sp>
        <p:nvSpPr>
          <p:cNvPr id="6" name="Footer Placeholder 5">
            <a:extLst>
              <a:ext uri="{FF2B5EF4-FFF2-40B4-BE49-F238E27FC236}">
                <a16:creationId xmlns:a16="http://schemas.microsoft.com/office/drawing/2014/main" id="{7BE5D8B1-9E34-40E1-902A-F5947BA55C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B4D4A8-89B9-41A6-8BFD-CBFFE8B441D6}"/>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1903052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05347-BCC4-4A6B-B1B5-AA327C7BDA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4A9707-54C3-4826-A37C-7BFD3C69C7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23BA22-0214-497C-B20B-81A8523082C8}"/>
              </a:ext>
            </a:extLst>
          </p:cNvPr>
          <p:cNvSpPr>
            <a:spLocks noGrp="1"/>
          </p:cNvSpPr>
          <p:nvPr>
            <p:ph type="dt" sz="half" idx="10"/>
          </p:nvPr>
        </p:nvSpPr>
        <p:spPr/>
        <p:txBody>
          <a:bodyPr/>
          <a:lstStyle/>
          <a:p>
            <a:fld id="{383E4D57-7DC2-4C3A-AF88-3D95FDE3995A}" type="datetimeFigureOut">
              <a:rPr lang="en-US" smtClean="0"/>
              <a:t>10/23/2025</a:t>
            </a:fld>
            <a:endParaRPr lang="en-US"/>
          </a:p>
        </p:txBody>
      </p:sp>
      <p:sp>
        <p:nvSpPr>
          <p:cNvPr id="5" name="Footer Placeholder 4">
            <a:extLst>
              <a:ext uri="{FF2B5EF4-FFF2-40B4-BE49-F238E27FC236}">
                <a16:creationId xmlns:a16="http://schemas.microsoft.com/office/drawing/2014/main" id="{D587DF59-DCB0-45ED-BF11-E6E9145D20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F21485-88E9-450A-A1E9-34D08CCF1570}"/>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254855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591674-1002-4C87-82FA-C8F42D304E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08704C-F88B-4869-B2EF-568C49DFFB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26AFF6-4B45-47DD-B91E-59B10FD504DC}"/>
              </a:ext>
            </a:extLst>
          </p:cNvPr>
          <p:cNvSpPr>
            <a:spLocks noGrp="1"/>
          </p:cNvSpPr>
          <p:nvPr>
            <p:ph type="dt" sz="half" idx="10"/>
          </p:nvPr>
        </p:nvSpPr>
        <p:spPr/>
        <p:txBody>
          <a:bodyPr/>
          <a:lstStyle/>
          <a:p>
            <a:fld id="{383E4D57-7DC2-4C3A-AF88-3D95FDE3995A}" type="datetimeFigureOut">
              <a:rPr lang="en-US" smtClean="0"/>
              <a:t>10/23/2025</a:t>
            </a:fld>
            <a:endParaRPr lang="en-US"/>
          </a:p>
        </p:txBody>
      </p:sp>
      <p:sp>
        <p:nvSpPr>
          <p:cNvPr id="5" name="Footer Placeholder 4">
            <a:extLst>
              <a:ext uri="{FF2B5EF4-FFF2-40B4-BE49-F238E27FC236}">
                <a16:creationId xmlns:a16="http://schemas.microsoft.com/office/drawing/2014/main" id="{9F50C32C-77DB-4F72-9C63-5D82E50A33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84368A-4E24-4292-8F20-42F825930274}"/>
              </a:ext>
            </a:extLst>
          </p:cNvPr>
          <p:cNvSpPr>
            <a:spLocks noGrp="1"/>
          </p:cNvSpPr>
          <p:nvPr>
            <p:ph type="sldNum" sz="quarter" idx="12"/>
          </p:nvPr>
        </p:nvSpPr>
        <p:spPr/>
        <p:txBody>
          <a:bodyPr/>
          <a:lstStyle/>
          <a:p>
            <a:fld id="{3C83D0DA-FA43-4589-B418-BF12C8079A85}" type="slidenum">
              <a:rPr lang="en-US" smtClean="0"/>
              <a:t>‹#›</a:t>
            </a:fld>
            <a:endParaRPr lang="en-US"/>
          </a:p>
        </p:txBody>
      </p:sp>
    </p:spTree>
    <p:extLst>
      <p:ext uri="{BB962C8B-B14F-4D97-AF65-F5344CB8AC3E}">
        <p14:creationId xmlns:p14="http://schemas.microsoft.com/office/powerpoint/2010/main" val="3191189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2FA0E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962457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BC5F76-E21D-46DF-9BDB-A86829D518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5D42D8-68D5-496C-8954-AAD092654A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3599ED-AEF2-4BB8-A771-F3A9E2FCD2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3E4D57-7DC2-4C3A-AF88-3D95FDE3995A}" type="datetimeFigureOut">
              <a:rPr lang="en-US" smtClean="0"/>
              <a:t>10/23/2025</a:t>
            </a:fld>
            <a:endParaRPr lang="en-US"/>
          </a:p>
        </p:txBody>
      </p:sp>
      <p:sp>
        <p:nvSpPr>
          <p:cNvPr id="5" name="Footer Placeholder 4">
            <a:extLst>
              <a:ext uri="{FF2B5EF4-FFF2-40B4-BE49-F238E27FC236}">
                <a16:creationId xmlns:a16="http://schemas.microsoft.com/office/drawing/2014/main" id="{4B39011D-4DCE-415A-B2C1-EDC04B581E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CA5B462-5896-4BB3-BF1B-FA7DEA6417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83D0DA-FA43-4589-B418-BF12C8079A85}" type="slidenum">
              <a:rPr lang="en-US" smtClean="0"/>
              <a:t>‹#›</a:t>
            </a:fld>
            <a:endParaRPr lang="en-US"/>
          </a:p>
        </p:txBody>
      </p:sp>
    </p:spTree>
    <p:extLst>
      <p:ext uri="{BB962C8B-B14F-4D97-AF65-F5344CB8AC3E}">
        <p14:creationId xmlns:p14="http://schemas.microsoft.com/office/powerpoint/2010/main" val="21592348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47873C-F375-1C3C-4DD7-5F20FFEBC4E4}"/>
              </a:ext>
            </a:extLst>
          </p:cNvPr>
          <p:cNvSpPr txBox="1"/>
          <p:nvPr/>
        </p:nvSpPr>
        <p:spPr>
          <a:xfrm>
            <a:off x="6577865" y="4203711"/>
            <a:ext cx="5327080" cy="1754326"/>
          </a:xfrm>
          <a:prstGeom prst="rect">
            <a:avLst/>
          </a:prstGeom>
          <a:solidFill>
            <a:srgbClr val="002060"/>
          </a:solidFill>
          <a:ln>
            <a:noFill/>
          </a:ln>
          <a:effectLst>
            <a:outerShdw blurRad="50800" dist="50800" dir="6840000" algn="ctr" rotWithShape="0">
              <a:srgbClr val="000000">
                <a:alpha val="43137"/>
              </a:srgbClr>
            </a:outerShdw>
          </a:effectLst>
        </p:spPr>
        <p:style>
          <a:lnRef idx="0">
            <a:scrgbClr r="0" g="0" b="0"/>
          </a:lnRef>
          <a:fillRef idx="0">
            <a:scrgbClr r="0" g="0" b="0"/>
          </a:fillRef>
          <a:effectRef idx="0">
            <a:scrgbClr r="0" g="0" b="0"/>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E4DCE00-DBB2-41BB-8766-14D2DB07B1E1}"/>
              </a:ext>
            </a:extLst>
          </p:cNvPr>
          <p:cNvSpPr>
            <a:spLocks noGrp="1"/>
          </p:cNvSpPr>
          <p:nvPr>
            <p:ph type="title"/>
          </p:nvPr>
        </p:nvSpPr>
        <p:spPr>
          <a:xfrm>
            <a:off x="380999" y="228600"/>
            <a:ext cx="9070649" cy="533400"/>
          </a:xfrm>
        </p:spPr>
        <p:txBody>
          <a:bodyPr>
            <a:normAutofit fontScale="90000"/>
          </a:bodyPr>
          <a:lstStyle/>
          <a:p>
            <a:r>
              <a:rPr lang="en-US" sz="3600" dirty="0" err="1">
                <a:latin typeface="Poppins" panose="00000500000000000000" pitchFamily="2" charset="0"/>
                <a:cs typeface="Poppins" panose="00000500000000000000" pitchFamily="2" charset="0"/>
              </a:rPr>
              <a:t>HighRes</a:t>
            </a:r>
            <a:r>
              <a:rPr lang="en-US" sz="3600" dirty="0">
                <a:latin typeface="Poppins" panose="00000500000000000000" pitchFamily="2" charset="0"/>
                <a:cs typeface="Poppins" panose="00000500000000000000" pitchFamily="2" charset="0"/>
              </a:rPr>
              <a:t> </a:t>
            </a:r>
            <a:r>
              <a:rPr lang="en-US" sz="3600" dirty="0" err="1">
                <a:latin typeface="Poppins" panose="00000500000000000000" pitchFamily="2" charset="0"/>
                <a:cs typeface="Poppins" panose="00000500000000000000" pitchFamily="2" charset="0"/>
              </a:rPr>
              <a:t>Biosolutions</a:t>
            </a:r>
            <a:r>
              <a:rPr lang="en-US" sz="3600" dirty="0">
                <a:latin typeface="Poppins" panose="00000500000000000000" pitchFamily="2" charset="0"/>
                <a:cs typeface="Poppins" panose="00000500000000000000" pitchFamily="2" charset="0"/>
              </a:rPr>
              <a:t>: Platform Support</a:t>
            </a:r>
          </a:p>
        </p:txBody>
      </p:sp>
      <p:sp>
        <p:nvSpPr>
          <p:cNvPr id="5" name="Rectangle 4">
            <a:extLst>
              <a:ext uri="{FF2B5EF4-FFF2-40B4-BE49-F238E27FC236}">
                <a16:creationId xmlns:a16="http://schemas.microsoft.com/office/drawing/2014/main" id="{92151E7E-EE34-4643-B5C7-9E353C625BA6}"/>
              </a:ext>
            </a:extLst>
          </p:cNvPr>
          <p:cNvSpPr/>
          <p:nvPr/>
        </p:nvSpPr>
        <p:spPr>
          <a:xfrm>
            <a:off x="287055" y="1177672"/>
            <a:ext cx="11523945" cy="1348061"/>
          </a:xfrm>
          <a:prstGeom prst="rect">
            <a:avLst/>
          </a:prstGeom>
        </p:spPr>
        <p:txBody>
          <a:bodyPr wrap="square">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8AD9"/>
                </a:solidFill>
                <a:effectLst/>
                <a:uLnTx/>
                <a:uFillTx/>
                <a:latin typeface="Poppins" panose="00000500000000000000" pitchFamily="2" charset="0"/>
                <a:ea typeface="MS Mincho" panose="02020609040205080304" pitchFamily="49" charset="-128"/>
                <a:cs typeface="Poppins" panose="00000500000000000000" pitchFamily="2" charset="0"/>
              </a:rPr>
              <a:t>Client</a:t>
            </a:r>
            <a:r>
              <a:rPr kumimoji="0" lang="en-US" sz="1600" b="1" i="0" u="none" strike="noStrike" kern="1200" cap="none" spc="0" normalizeH="0" baseline="0" noProof="0" dirty="0">
                <a:ln>
                  <a:noFill/>
                </a:ln>
                <a:solidFill>
                  <a:srgbClr val="008AD9"/>
                </a:solidFill>
                <a:effectLst/>
                <a:uLnTx/>
                <a:uFillTx/>
                <a:latin typeface="Poppins" panose="00000500000000000000" pitchFamily="2" charset="0"/>
                <a:ea typeface="+mn-ea"/>
                <a:cs typeface="Poppins" panose="00000500000000000000" pitchFamily="2" charset="0"/>
              </a:rPr>
              <a:t> Background &amp; </a:t>
            </a:r>
            <a:r>
              <a:rPr kumimoji="0" lang="en-US" sz="1600" b="1" i="0" u="none" strike="noStrike" kern="1200" cap="none" spc="0" normalizeH="0" baseline="0" noProof="0" dirty="0">
                <a:ln>
                  <a:noFill/>
                </a:ln>
                <a:solidFill>
                  <a:srgbClr val="008AD9"/>
                </a:solidFill>
                <a:effectLst/>
                <a:uLnTx/>
                <a:uFillTx/>
                <a:latin typeface="Poppins" panose="00000500000000000000" pitchFamily="2" charset="0"/>
                <a:ea typeface="MS Mincho" panose="02020609040205080304" pitchFamily="49" charset="-128"/>
                <a:cs typeface="Poppins" panose="00000500000000000000" pitchFamily="2" charset="0"/>
              </a:rPr>
              <a:t>Need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HighRes</a:t>
            </a: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 </a:t>
            </a:r>
            <a:r>
              <a:rPr kumimoji="0" lang="en-US" sz="1600" b="0" i="0" u="none" strike="noStrike" kern="1200" cap="none" spc="0" normalizeH="0" baseline="0" noProof="0" dirty="0" err="1">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Biosolutions</a:t>
            </a: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 believes in a future where scientists and robots work together to improve human health. As the technology leader in lab automation, </a:t>
            </a:r>
            <a:r>
              <a:rPr kumimoji="0" lang="en-US" sz="1600" b="0" i="0" u="none" strike="noStrike" kern="1200" cap="none" spc="0" normalizeH="0" baseline="0" noProof="0" dirty="0" err="1">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HighRes</a:t>
            </a: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 utilized Salesforce &amp; Salesforce Marketing Cloud Account Engagement (formerly Pardot) for CRM and marketing automation. They were not fully satisfied with Pardot and were looking for an alternate platform.</a:t>
            </a:r>
            <a:endPar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S Mincho" panose="02020609040205080304" pitchFamily="49" charset="-128"/>
              <a:cs typeface="Poppins" panose="00000500000000000000" pitchFamily="2" charset="0"/>
            </a:endParaRPr>
          </a:p>
        </p:txBody>
      </p:sp>
      <p:sp>
        <p:nvSpPr>
          <p:cNvPr id="7" name="Rectangle 6">
            <a:extLst>
              <a:ext uri="{FF2B5EF4-FFF2-40B4-BE49-F238E27FC236}">
                <a16:creationId xmlns:a16="http://schemas.microsoft.com/office/drawing/2014/main" id="{18B0CBF5-424C-4AAE-8C3D-098A83D2C8B6}"/>
              </a:ext>
            </a:extLst>
          </p:cNvPr>
          <p:cNvSpPr/>
          <p:nvPr/>
        </p:nvSpPr>
        <p:spPr>
          <a:xfrm>
            <a:off x="287054" y="2793830"/>
            <a:ext cx="11617891" cy="3588675"/>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8AD9"/>
                </a:solidFill>
                <a:effectLst/>
                <a:uLnTx/>
                <a:uFillTx/>
                <a:latin typeface="Poppins" panose="00000500000000000000" pitchFamily="2" charset="0"/>
                <a:ea typeface="MS Mincho" panose="02020609040205080304" pitchFamily="49" charset="-128"/>
                <a:cs typeface="Poppins" panose="00000500000000000000" pitchFamily="2" charset="0"/>
              </a:rPr>
              <a:t>Affirma Support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The Affirma team initially went through a vigorous marketing platform evaluation process with the </a:t>
            </a:r>
            <a:r>
              <a:rPr kumimoji="0" lang="en-US" sz="1600" b="0" i="0" u="none" strike="noStrike" kern="1200" cap="none" spc="0" normalizeH="0" baseline="0" noProof="0" dirty="0" err="1">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HighRes</a:t>
            </a: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 team, looking at over 25 factors, such as cost, features, ease of use, ability to integrate with Salesforce and more.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After selecting HubSpot, the Affirma team supported with:</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Full HubSpot Marketing Hub configuration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Data cleansing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Migration from Pardot to HubSpot, including:</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Lead scoring</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All active campaigns and workflows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Email and landing page templates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Salesforce integration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Training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lumMod val="65000"/>
                    <a:lumOff val="35000"/>
                  </a:prstClr>
                </a:solidFill>
                <a:effectLst/>
                <a:uLnTx/>
                <a:uFillTx/>
                <a:latin typeface="Poppins" panose="00000500000000000000" pitchFamily="2" charset="0"/>
                <a:ea typeface="+mn-ea"/>
                <a:cs typeface="Poppins" panose="00000500000000000000" pitchFamily="2" charset="0"/>
              </a:rPr>
              <a:t>Marketing support to leverage the platform</a:t>
            </a:r>
          </a:p>
        </p:txBody>
      </p:sp>
      <p:sp>
        <p:nvSpPr>
          <p:cNvPr id="8" name="Rectangle 7">
            <a:extLst>
              <a:ext uri="{FF2B5EF4-FFF2-40B4-BE49-F238E27FC236}">
                <a16:creationId xmlns:a16="http://schemas.microsoft.com/office/drawing/2014/main" id="{5B514433-8F06-468B-AC0E-8A2C85C0A51C}"/>
              </a:ext>
            </a:extLst>
          </p:cNvPr>
          <p:cNvSpPr/>
          <p:nvPr/>
        </p:nvSpPr>
        <p:spPr>
          <a:xfrm>
            <a:off x="6807799" y="4280655"/>
            <a:ext cx="4867212" cy="160043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white"/>
                </a:solidFill>
                <a:effectLst/>
                <a:uLnTx/>
                <a:uFillTx/>
                <a:latin typeface="Poppins" panose="00000500000000000000" pitchFamily="2" charset="0"/>
                <a:ea typeface="+mn-ea"/>
                <a:cs typeface="Poppins" panose="00000500000000000000" pitchFamily="2" charset="0"/>
              </a:rPr>
              <a:t>“The Affirma team knocked it out of the park! For us to get the most competitive pricing with HubSpot and not have to renew our Pardot contract for another year, the team worked overtime over the November and December holidays to get HubSpot configured and integrated. All without issue.”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anose="00000500000000000000" pitchFamily="2" charset="0"/>
                <a:ea typeface="+mn-ea"/>
                <a:cs typeface="Poppins" panose="00000500000000000000" pitchFamily="2" charset="0"/>
              </a:rPr>
              <a:t>Kevin Miller, Director of Marketing</a:t>
            </a:r>
          </a:p>
        </p:txBody>
      </p:sp>
      <p:pic>
        <p:nvPicPr>
          <p:cNvPr id="1030" name="Picture 6" descr="HighRes Biosolutions and Novo Nordisk Partner to Transform Drug Discovery  in Automated Lab of the Future - HighRes Biosolutions">
            <a:extLst>
              <a:ext uri="{FF2B5EF4-FFF2-40B4-BE49-F238E27FC236}">
                <a16:creationId xmlns:a16="http://schemas.microsoft.com/office/drawing/2014/main" id="{88BF1B7D-FB9D-4C09-A1C1-5D2A91339D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5316" y="81311"/>
            <a:ext cx="2535684" cy="827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558966"/>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False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 xsi:nil="true"/>
    <Industries xmlns="f0ee8362-fa7e-4bc9-ab88-7dcfb17cb19b">
      <Value>Life Sciences</Value>
    </Industries>
    <PlatTech xmlns="f0ee8362-fa7e-4bc9-ab88-7dcfb17cb19b">
      <Value>HubSpot</Value>
      <Value>Salesforce</Value>
      <Value>Salesforce Pardot</Value>
    </PlatTech>
    <ProjectCompletionDate xmlns="f0ee8362-fa7e-4bc9-ab88-7dcfb17cb19b">2025-07-01T07:00:00+00:00</ProjectCompletionDate>
    <BusinessUnit xmlns="f0ee8362-fa7e-4bc9-ab88-7dcfb17cb19b">
      <Value>Marketing Services</Value>
    </BusinessUnit>
    <Solutions xmlns="f0ee8362-fa7e-4bc9-ab88-7dcfb17cb19b">
      <Value>Marketing Technology</Value>
      <Value>Migrations</Value>
      <Value>Integrations</Value>
    </Solutions>
    <ApprovedByClient xmlns="f0ee8362-fa7e-4bc9-ab88-7dcfb17cb19b">false</ApprovedByClient>
  </documentManagement>
</p:properties>
</file>

<file path=customXml/itemProps1.xml><?xml version="1.0" encoding="utf-8"?>
<ds:datastoreItem xmlns:ds="http://schemas.openxmlformats.org/officeDocument/2006/customXml" ds:itemID="{ED4439DE-0C26-429F-8713-9EE74D1D32A7}"/>
</file>

<file path=customXml/itemProps2.xml><?xml version="1.0" encoding="utf-8"?>
<ds:datastoreItem xmlns:ds="http://schemas.openxmlformats.org/officeDocument/2006/customXml" ds:itemID="{EB3D7133-EBFA-495B-94B1-B7964DA7991C}"/>
</file>

<file path=customXml/itemProps3.xml><?xml version="1.0" encoding="utf-8"?>
<ds:datastoreItem xmlns:ds="http://schemas.openxmlformats.org/officeDocument/2006/customXml" ds:itemID="{7BEDB938-D435-4C75-9A67-AB694D1D38D5}"/>
</file>

<file path=customXml/itemProps4.xml><?xml version="1.0" encoding="utf-8"?>
<ds:datastoreItem xmlns:ds="http://schemas.openxmlformats.org/officeDocument/2006/customXml" ds:itemID="{33B708A2-0CF3-44C2-8C5F-8A77F199B54A}"/>
</file>

<file path=docProps/app.xml><?xml version="1.0" encoding="utf-8"?>
<Properties xmlns="http://schemas.openxmlformats.org/officeDocument/2006/extended-properties" xmlns:vt="http://schemas.openxmlformats.org/officeDocument/2006/docPropsVTypes">
  <TotalTime>0</TotalTime>
  <Words>217</Words>
  <Application>Microsoft Office PowerPoint</Application>
  <PresentationFormat>Widescreen</PresentationFormat>
  <Paragraphs>22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Poppins</vt:lpstr>
      <vt:lpstr>Segoe UI</vt:lpstr>
      <vt:lpstr>2_Office Theme</vt:lpstr>
      <vt:lpstr>HighRes Biosolutions: Platform Support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Alyson Knox-Meade</dc:creator>
  <cp:lastModifiedBy>Alyson Knox-Meade</cp:lastModifiedBy>
  <cp:revision>1</cp:revision>
  <dcterms:created xsi:type="dcterms:W3CDTF">2025-10-23T21:09:01Z</dcterms:created>
  <dcterms:modified xsi:type="dcterms:W3CDTF">2025-10-23T21:09:49Z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