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110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9922B-4E81-412C-BC4D-FB7B41004CD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EB4A5-168C-4A4F-B053-2654E4E5C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5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55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5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9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3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5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2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1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2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0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0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5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65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61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95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00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30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92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71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5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06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13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11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34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6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997830-EF50-B643-B994-D997482F2707}"/>
              </a:ext>
            </a:extLst>
          </p:cNvPr>
          <p:cNvSpPr/>
          <p:nvPr userDrawn="1"/>
        </p:nvSpPr>
        <p:spPr>
          <a:xfrm>
            <a:off x="6085837" y="0"/>
            <a:ext cx="6106163" cy="6857999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855A5-7553-0742-89D9-7FDDEAC122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2804" y="3046804"/>
            <a:ext cx="4415756" cy="1911276"/>
          </a:xfrm>
        </p:spPr>
        <p:txBody>
          <a:bodyPr anchor="t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Placeholder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06EB43-50DE-5C43-AAC6-9C2DB54E88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9" t="2727" r="40534" b="23812"/>
          <a:stretch/>
        </p:blipFill>
        <p:spPr>
          <a:xfrm rot="5400000">
            <a:off x="7580032" y="2995634"/>
            <a:ext cx="3127936" cy="6096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42920-A5B1-934D-ADB8-26E82483F9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41818" y="1945416"/>
            <a:ext cx="4396742" cy="769915"/>
          </a:xfrm>
        </p:spPr>
        <p:txBody>
          <a:bodyPr/>
          <a:lstStyle>
            <a:lvl1pPr marL="0" indent="0">
              <a:buNone/>
              <a:defRPr sz="5600" b="0" i="0" spc="600">
                <a:solidFill>
                  <a:srgbClr val="FFD8A5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2421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4951" y="1082696"/>
            <a:ext cx="7737235" cy="5219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>
              <a:lnSpc>
                <a:spcPct val="120000"/>
              </a:lnSpc>
            </a:pPr>
            <a:r>
              <a:rPr lang="en-US" sz="2117" b="1">
                <a:solidFill>
                  <a:srgbClr val="0096A9"/>
                </a:solidFill>
                <a:latin typeface="Segoe UI"/>
                <a:ea typeface="MS Mincho" panose="02020609040205080304" pitchFamily="49" charset="-128"/>
                <a:cs typeface="Segoe UI Light" panose="020B0502040204020203" pitchFamily="34" charset="0"/>
              </a:rPr>
              <a:t>Business Need</a:t>
            </a:r>
            <a:endParaRPr lang="en-US" altLang="ja-JP" sz="2117" b="1">
              <a:solidFill>
                <a:srgbClr val="0096A9"/>
              </a:solidFill>
              <a:latin typeface="Segoe UI"/>
              <a:ea typeface="MS Mincho" panose="02020609040205080304" pitchFamily="49" charset="-128"/>
              <a:cs typeface="Segoe UI Light" panose="020B0502040204020203" pitchFamily="34" charset="0"/>
            </a:endParaRPr>
          </a:p>
          <a:p>
            <a:pPr defTabSz="976845"/>
            <a:r>
              <a:rPr lang="en-US" altLang="ja-JP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INAP, a global leader in providing high-performance IT infrastructure services, was looking for assistance with the development, implementation and support of a long-term marketing plan to expand brand awareness and customer engagement as well as increase lead generation via solid inbound and outbound marketing tactics. </a:t>
            </a:r>
          </a:p>
          <a:p>
            <a:pPr defTabSz="976845"/>
            <a:endParaRPr lang="en-US" altLang="ja-JP" sz="1500">
              <a:solidFill>
                <a:prstClr val="black"/>
              </a:solidFill>
              <a:latin typeface="Segoe UI" pitchFamily="34" charset="0"/>
              <a:cs typeface="Segoe UI" pitchFamily="34" charset="0"/>
            </a:endParaRPr>
          </a:p>
          <a:p>
            <a:pPr defTabSz="976845"/>
            <a:r>
              <a:rPr lang="en-US" altLang="ja-JP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Although INAP has an internal marketing team, they wanted to leverage a strategic partner that could assist with a multitude of marketing tasks as needed, offer best practices and recommendations based on experience working with a variety of clients and execute work in a timely fashion. </a:t>
            </a:r>
          </a:p>
          <a:p>
            <a:pPr defTabSz="976845"/>
            <a:endParaRPr lang="en-US" sz="1235">
              <a:solidFill>
                <a:prstClr val="black"/>
              </a:solidFill>
              <a:latin typeface="Segoe UI" pitchFamily="34" charset="0"/>
              <a:cs typeface="Segoe UI" pitchFamily="34" charset="0"/>
            </a:endParaRPr>
          </a:p>
          <a:p>
            <a:pPr defTabSz="976845">
              <a:lnSpc>
                <a:spcPct val="120000"/>
              </a:lnSpc>
            </a:pPr>
            <a:r>
              <a:rPr lang="en-US" sz="2117" b="1">
                <a:solidFill>
                  <a:srgbClr val="0096A9"/>
                </a:solidFill>
                <a:latin typeface="Segoe UI"/>
                <a:ea typeface="MS Mincho" panose="02020609040205080304" pitchFamily="49" charset="-128"/>
                <a:cs typeface="Segoe UI Light" panose="020B0502040204020203" pitchFamily="34" charset="0"/>
              </a:rPr>
              <a:t>What We Did</a:t>
            </a: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Affirma worked with INAP to fully understand their business and sales/marketing goals as well as performed document reviews and audits to define, set and prioritize marketing objectives, strategies and tactics. Deliverables during the initial start-up phase included specific recommendations regarding tactics, such as SEO, AdWords, social media and marketing automation as well as process improvements, such as governance and lead management.</a:t>
            </a:r>
          </a:p>
          <a:p>
            <a:pPr defTabSz="976845"/>
            <a:endParaRPr lang="en-US" sz="1500">
              <a:solidFill>
                <a:prstClr val="black"/>
              </a:solidFill>
              <a:latin typeface="Segoe UI" pitchFamily="34" charset="0"/>
              <a:cs typeface="Segoe UI" pitchFamily="34" charset="0"/>
            </a:endParaRP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Affirma continues to support INAP’s team through an ongoing monthly managed service agreement.</a:t>
            </a:r>
            <a:endParaRPr lang="en-US" sz="1500">
              <a:solidFill>
                <a:prstClr val="black"/>
              </a:solidFill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74951" y="271634"/>
            <a:ext cx="8200060" cy="740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38166"/>
            <a:r>
              <a:rPr lang="en-US" sz="3167" dirty="0">
                <a:solidFill>
                  <a:prstClr val="white"/>
                </a:solidFill>
                <a:latin typeface="Segoe UI Light"/>
              </a:rPr>
              <a:t>INAP – Marketing Managed Service</a:t>
            </a:r>
          </a:p>
          <a:p>
            <a:pPr defTabSz="838166"/>
            <a:endParaRPr lang="en-US" sz="3529" spc="219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CB4DB-1B36-49E5-B740-35F53291E9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2" b="23281"/>
          <a:stretch/>
        </p:blipFill>
        <p:spPr>
          <a:xfrm>
            <a:off x="10248029" y="1082696"/>
            <a:ext cx="1843855" cy="683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37D4A-CBCD-478B-BF7B-B775115F2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021" y="1766140"/>
            <a:ext cx="2590845" cy="4927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9218A6E-8542-458D-B1F2-798F29AF6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922" y="3684717"/>
            <a:ext cx="2214962" cy="1923436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2590225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Marketing Services</Value>
    </BusinessUnit>
    <Solutions xmlns="f0ee8362-fa7e-4bc9-ab88-7dcfb17cb19b" xsi:nil="true"/>
    <Industries xmlns="f0ee8362-fa7e-4bc9-ab88-7dcfb17cb19b">
      <Value>Technology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383CB607-FA3E-49B2-BBE8-883885A3D919}"/>
</file>

<file path=customXml/itemProps2.xml><?xml version="1.0" encoding="utf-8"?>
<ds:datastoreItem xmlns:ds="http://schemas.openxmlformats.org/officeDocument/2006/customXml" ds:itemID="{EC749F0E-6A86-4343-91C3-98EB772570EC}"/>
</file>

<file path=customXml/itemProps3.xml><?xml version="1.0" encoding="utf-8"?>
<ds:datastoreItem xmlns:ds="http://schemas.openxmlformats.org/officeDocument/2006/customXml" ds:itemID="{529BF030-21C0-4B2E-87EC-8754098458A8}"/>
</file>

<file path=customXml/itemProps4.xml><?xml version="1.0" encoding="utf-8"?>
<ds:datastoreItem xmlns:ds="http://schemas.openxmlformats.org/officeDocument/2006/customXml" ds:itemID="{88063D8B-52C9-4E4D-B1B5-4DAB1F98EB58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194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Segoe UI</vt:lpstr>
      <vt:lpstr>Segoe UI Light</vt:lpstr>
      <vt:lpstr>Segoe UI Semilight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lastModifiedBy>Brendan Murphy</cp:lastModifiedBy>
  <cp:revision>3</cp:revision>
  <dcterms:created xsi:type="dcterms:W3CDTF">2024-03-12T20:53:18Z</dcterms:created>
  <dcterms:modified xsi:type="dcterms:W3CDTF">2024-03-12T20:59:40Z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