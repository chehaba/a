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111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9922B-4E81-412C-BC4D-FB7B41004CD1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EB4A5-168C-4A4F-B053-2654E4E5C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5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42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5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9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3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5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2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1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23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0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0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5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65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61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95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0039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30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92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771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5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06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13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11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34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6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997830-EF50-B643-B994-D997482F2707}"/>
              </a:ext>
            </a:extLst>
          </p:cNvPr>
          <p:cNvSpPr/>
          <p:nvPr userDrawn="1"/>
        </p:nvSpPr>
        <p:spPr>
          <a:xfrm>
            <a:off x="6085837" y="0"/>
            <a:ext cx="6106163" cy="6857999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855A5-7553-0742-89D9-7FDDEAC122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2804" y="3046804"/>
            <a:ext cx="4415756" cy="1911276"/>
          </a:xfrm>
        </p:spPr>
        <p:txBody>
          <a:bodyPr anchor="t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Placeholder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06EB43-50DE-5C43-AAC6-9C2DB54E88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9" t="2727" r="40534" b="23812"/>
          <a:stretch/>
        </p:blipFill>
        <p:spPr>
          <a:xfrm rot="5400000">
            <a:off x="7580032" y="2995634"/>
            <a:ext cx="3127936" cy="6096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42920-A5B1-934D-ADB8-26E82483F9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41818" y="1945416"/>
            <a:ext cx="4396742" cy="769915"/>
          </a:xfrm>
        </p:spPr>
        <p:txBody>
          <a:bodyPr/>
          <a:lstStyle>
            <a:lvl1pPr marL="0" indent="0">
              <a:buNone/>
              <a:defRPr sz="5600" b="0" i="0" spc="600">
                <a:solidFill>
                  <a:srgbClr val="FFD8A5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2421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7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3735" y="1184415"/>
            <a:ext cx="8405995" cy="428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>
              <a:lnSpc>
                <a:spcPct val="120000"/>
              </a:lnSpc>
            </a:pPr>
            <a:r>
              <a:rPr lang="en-US" sz="2117" b="1">
                <a:solidFill>
                  <a:srgbClr val="0096A9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Business Need</a:t>
            </a:r>
            <a:endParaRPr lang="en-US" altLang="ja-JP" sz="2117" b="1">
              <a:solidFill>
                <a:srgbClr val="0096A9"/>
              </a:solidFill>
              <a:latin typeface="Segoe UI" panose="020B0502040204020203" pitchFamily="34" charset="0"/>
              <a:ea typeface="MS Mincho" panose="02020609040205080304" pitchFamily="49" charset="-128"/>
              <a:cs typeface="Segoe UI" panose="020B0502040204020203" pitchFamily="34" charset="0"/>
            </a:endParaRPr>
          </a:p>
          <a:p>
            <a:pPr defTabSz="976845"/>
            <a:r>
              <a:rPr lang="en-US" altLang="ja-JP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INAP recently transitioned from </a:t>
            </a:r>
            <a:r>
              <a:rPr lang="en-US" altLang="ja-JP" sz="1500" err="1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Internap</a:t>
            </a:r>
            <a:r>
              <a:rPr lang="en-US" altLang="ja-JP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 to INAP, so one of the first tasks involved re-establishing brand awareness, improving brand reputation and formerly documenting marketing fundamentals. This work would involve updating their style guide, redesigning their main website; evaluating and revising buyer personas and implementing governance</a:t>
            </a:r>
            <a:r>
              <a:rPr lang="en-US" altLang="ja-JP" sz="1235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. </a:t>
            </a:r>
          </a:p>
          <a:p>
            <a:pPr defTabSz="976845"/>
            <a:endParaRPr lang="en-US" altLang="ja-JP" sz="1199">
              <a:solidFill>
                <a:prstClr val="black"/>
              </a:solidFill>
              <a:latin typeface="Segoe UI" pitchFamily="34" charset="0"/>
              <a:cs typeface="Segoe UI" pitchFamily="34" charset="0"/>
            </a:endParaRPr>
          </a:p>
          <a:p>
            <a:pPr defTabSz="976845">
              <a:lnSpc>
                <a:spcPts val="530"/>
              </a:lnSpc>
            </a:pPr>
            <a:endParaRPr lang="en-US" sz="600">
              <a:solidFill>
                <a:srgbClr val="C64E18"/>
              </a:solidFill>
              <a:latin typeface="Segoe UI" pitchFamily="34" charset="0"/>
              <a:cs typeface="Segoe UI" pitchFamily="34" charset="0"/>
            </a:endParaRPr>
          </a:p>
          <a:p>
            <a:pPr defTabSz="976845"/>
            <a:r>
              <a:rPr lang="en-US" sz="2117" b="1">
                <a:solidFill>
                  <a:srgbClr val="0096A9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What We Did</a:t>
            </a: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Affirma performed an extensive heuristic evaluation of INAP’s website, including competitor analysis, in order to provide detailed findings and recommendations for improved site-wide navigation and header/footer UX. Design comps were provided as well.</a:t>
            </a:r>
          </a:p>
          <a:p>
            <a:pPr defTabSz="976845"/>
            <a:endParaRPr lang="en-US" sz="1500">
              <a:solidFill>
                <a:prstClr val="black"/>
              </a:solidFill>
              <a:latin typeface="Segoe UI" pitchFamily="34" charset="0"/>
              <a:cs typeface="Segoe UI" pitchFamily="34" charset="0"/>
            </a:endParaRPr>
          </a:p>
          <a:p>
            <a:pPr defTabSz="976845"/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In addition, Affirma provided the following: </a:t>
            </a:r>
          </a:p>
          <a:p>
            <a:pPr marL="655503" lvl="1" indent="-252117" defTabSz="976845">
              <a:buFont typeface="Arial" panose="020B0604020202020204" pitchFamily="34" charset="0"/>
              <a:buChar char="•"/>
            </a:pPr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Governance Strategic Framework</a:t>
            </a:r>
          </a:p>
          <a:p>
            <a:pPr marL="655503" lvl="1" indent="-252117" defTabSz="976845">
              <a:buFont typeface="Arial" panose="020B0604020202020204" pitchFamily="34" charset="0"/>
              <a:buChar char="•"/>
            </a:pPr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Naming Convention Specification</a:t>
            </a:r>
          </a:p>
          <a:p>
            <a:pPr marL="655503" lvl="1" indent="-252117" defTabSz="976845">
              <a:buFont typeface="Arial" panose="020B0604020202020204" pitchFamily="34" charset="0"/>
              <a:buChar char="•"/>
            </a:pPr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Lead Management Procedure and process documents</a:t>
            </a:r>
          </a:p>
          <a:p>
            <a:pPr marL="655503" lvl="1" indent="-252117" defTabSz="976845">
              <a:buFont typeface="Arial" panose="020B0604020202020204" pitchFamily="34" charset="0"/>
              <a:buChar char="•"/>
            </a:pPr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Style Guide best practices</a:t>
            </a:r>
          </a:p>
          <a:p>
            <a:pPr marL="655503" lvl="1" indent="-252117" defTabSz="976845">
              <a:buFont typeface="Arial" panose="020B0604020202020204" pitchFamily="34" charset="0"/>
              <a:buChar char="•"/>
            </a:pPr>
            <a:r>
              <a:rPr lang="en-US" sz="1500">
                <a:solidFill>
                  <a:prstClr val="black"/>
                </a:solidFill>
                <a:latin typeface="Segoe UI" pitchFamily="34" charset="0"/>
                <a:cs typeface="Segoe UI" pitchFamily="34" charset="0"/>
              </a:rPr>
              <a:t>Buyer Persona workshops and recommendations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43736" y="281566"/>
            <a:ext cx="10147935" cy="740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38166"/>
            <a:r>
              <a:rPr lang="en-US" sz="3167">
                <a:solidFill>
                  <a:prstClr val="white"/>
                </a:solidFill>
                <a:latin typeface="Segoe UI Light"/>
              </a:rPr>
              <a:t>INAP – Company Rebrand &amp; Marketing Fundamentals </a:t>
            </a:r>
          </a:p>
          <a:p>
            <a:pPr defTabSz="838166"/>
            <a:endParaRPr lang="en-US" sz="3529" spc="219">
              <a:solidFill>
                <a:prstClr val="white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CB4DB-1B36-49E5-B740-35F53291E9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583" y="1021850"/>
            <a:ext cx="2263025" cy="14364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92FC29F-8B3D-4E7F-A3C0-86CAC0A40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146" y="2458308"/>
            <a:ext cx="3737839" cy="293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2228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Marketing Services</Value>
      <Value>Creative</Value>
    </BusinessUnit>
    <Solutions xmlns="f0ee8362-fa7e-4bc9-ab88-7dcfb17cb19b">
      <Value>Websites</Value>
    </Solutions>
    <Industries xmlns="f0ee8362-fa7e-4bc9-ab88-7dcfb17cb19b">
      <Value>Technology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16513248-B4D0-4815-B5B3-E0A08B6D863A}"/>
</file>

<file path=customXml/itemProps2.xml><?xml version="1.0" encoding="utf-8"?>
<ds:datastoreItem xmlns:ds="http://schemas.openxmlformats.org/officeDocument/2006/customXml" ds:itemID="{8E4C3589-0645-46AA-B11F-30802AC74224}"/>
</file>

<file path=customXml/itemProps3.xml><?xml version="1.0" encoding="utf-8"?>
<ds:datastoreItem xmlns:ds="http://schemas.openxmlformats.org/officeDocument/2006/customXml" ds:itemID="{FA4F9614-A69F-4D12-87BD-752080F68922}"/>
</file>

<file path=customXml/itemProps4.xml><?xml version="1.0" encoding="utf-8"?>
<ds:datastoreItem xmlns:ds="http://schemas.openxmlformats.org/officeDocument/2006/customXml" ds:itemID="{6143CE9B-F375-4629-89C3-B66B3FE8E1BB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Segoe UI</vt:lpstr>
      <vt:lpstr>Segoe UI Light</vt:lpstr>
      <vt:lpstr>Segoe UI Semilight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lastModifiedBy>Brendan Murphy</cp:lastModifiedBy>
  <cp:revision>4</cp:revision>
  <dcterms:created xsi:type="dcterms:W3CDTF">2024-03-12T20:53:18Z</dcterms:created>
  <dcterms:modified xsi:type="dcterms:W3CDTF">2024-03-12T21:00:11Z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