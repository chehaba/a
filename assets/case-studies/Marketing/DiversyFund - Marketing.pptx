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 Reynolds" userId="S::sreynolds@affirma.com::903d64bd-b34e-4ce6-8a97-f00125fca1ea" providerId="AD" clId="Web-{37CB1B34-7CCD-CD84-1FDF-5B1BB5B7AFBB}"/>
    <pc:docChg chg="modSld">
      <pc:chgData name="Scot Reynolds" userId="S::sreynolds@affirma.com::903d64bd-b34e-4ce6-8a97-f00125fca1ea" providerId="AD" clId="Web-{37CB1B34-7CCD-CD84-1FDF-5B1BB5B7AFBB}" dt="2019-06-28T18:06:53.434" v="136" actId="14100"/>
      <pc:docMkLst>
        <pc:docMk/>
      </pc:docMkLst>
      <pc:sldChg chg="modSp">
        <pc:chgData name="Scot Reynolds" userId="S::sreynolds@affirma.com::903d64bd-b34e-4ce6-8a97-f00125fca1ea" providerId="AD" clId="Web-{37CB1B34-7CCD-CD84-1FDF-5B1BB5B7AFBB}" dt="2019-06-28T18:06:53.434" v="136" actId="14100"/>
        <pc:sldMkLst>
          <pc:docMk/>
          <pc:sldMk cId="2582825011" sldId="300"/>
        </pc:sldMkLst>
        <pc:spChg chg="mod">
          <ac:chgData name="Scot Reynolds" userId="S::sreynolds@affirma.com::903d64bd-b34e-4ce6-8a97-f00125fca1ea" providerId="AD" clId="Web-{37CB1B34-7CCD-CD84-1FDF-5B1BB5B7AFBB}" dt="2019-06-28T18:06:40.481" v="133" actId="1076"/>
          <ac:spMkLst>
            <pc:docMk/>
            <pc:sldMk cId="2582825011" sldId="300"/>
            <ac:spMk id="31" creationId="{EC9A7433-5BCD-4EA6-924A-53FDBF0CAAA6}"/>
          </ac:spMkLst>
        </pc:spChg>
        <pc:spChg chg="mod">
          <ac:chgData name="Scot Reynolds" userId="S::sreynolds@affirma.com::903d64bd-b34e-4ce6-8a97-f00125fca1ea" providerId="AD" clId="Web-{37CB1B34-7CCD-CD84-1FDF-5B1BB5B7AFBB}" dt="2019-06-28T18:06:35.277" v="132" actId="1076"/>
          <ac:spMkLst>
            <pc:docMk/>
            <pc:sldMk cId="2582825011" sldId="300"/>
            <ac:spMk id="32" creationId="{E1C0119A-9047-4290-917B-405E19FFDA31}"/>
          </ac:spMkLst>
        </pc:spChg>
        <pc:spChg chg="mod">
          <ac:chgData name="Scot Reynolds" userId="S::sreynolds@affirma.com::903d64bd-b34e-4ce6-8a97-f00125fca1ea" providerId="AD" clId="Web-{37CB1B34-7CCD-CD84-1FDF-5B1BB5B7AFBB}" dt="2019-06-28T18:04:13.247" v="22" actId="14100"/>
          <ac:spMkLst>
            <pc:docMk/>
            <pc:sldMk cId="2582825011" sldId="300"/>
            <ac:spMk id="33" creationId="{A2CD0AFB-BBEB-434B-985F-3ACF7BE51454}"/>
          </ac:spMkLst>
        </pc:spChg>
        <pc:spChg chg="mod">
          <ac:chgData name="Scot Reynolds" userId="S::sreynolds@affirma.com::903d64bd-b34e-4ce6-8a97-f00125fca1ea" providerId="AD" clId="Web-{37CB1B34-7CCD-CD84-1FDF-5B1BB5B7AFBB}" dt="2019-06-28T18:06:53.434" v="136" actId="14100"/>
          <ac:spMkLst>
            <pc:docMk/>
            <pc:sldMk cId="2582825011" sldId="300"/>
            <ac:spMk id="34" creationId="{EC17F625-2EC2-4F28-895B-03B104D7945A}"/>
          </ac:spMkLst>
        </pc:spChg>
        <pc:spChg chg="mod">
          <ac:chgData name="Scot Reynolds" userId="S::sreynolds@affirma.com::903d64bd-b34e-4ce6-8a97-f00125fca1ea" providerId="AD" clId="Web-{37CB1B34-7CCD-CD84-1FDF-5B1BB5B7AFBB}" dt="2019-06-28T18:06:25.184" v="131" actId="1076"/>
          <ac:spMkLst>
            <pc:docMk/>
            <pc:sldMk cId="2582825011" sldId="300"/>
            <ac:spMk id="35" creationId="{127A5A2A-6A75-46BB-A872-3D435F9C8C26}"/>
          </ac:spMkLst>
        </pc:spChg>
        <pc:spChg chg="mod">
          <ac:chgData name="Scot Reynolds" userId="S::sreynolds@affirma.com::903d64bd-b34e-4ce6-8a97-f00125fca1ea" providerId="AD" clId="Web-{37CB1B34-7CCD-CD84-1FDF-5B1BB5B7AFBB}" dt="2019-06-28T18:06:12.246" v="129" actId="1076"/>
          <ac:spMkLst>
            <pc:docMk/>
            <pc:sldMk cId="2582825011" sldId="300"/>
            <ac:spMk id="36" creationId="{4651924A-7907-4360-9ED8-B533D803C21B}"/>
          </ac:spMkLst>
        </pc:spChg>
      </pc:sldChg>
    </pc:docChg>
  </pc:docChgLst>
  <pc:docChgLst>
    <pc:chgData name="Scot Reynolds" userId="S::sreynolds@affirma.com::903d64bd-b34e-4ce6-8a97-f00125fca1ea" providerId="AD" clId="Web-{F57CD81B-CC3C-D854-4D2A-467A2A474720}"/>
    <pc:docChg chg="modSld">
      <pc:chgData name="Scot Reynolds" userId="S::sreynolds@affirma.com::903d64bd-b34e-4ce6-8a97-f00125fca1ea" providerId="AD" clId="Web-{F57CD81B-CC3C-D854-4D2A-467A2A474720}" dt="2019-06-28T17:42:00.315" v="33" actId="20577"/>
      <pc:docMkLst>
        <pc:docMk/>
      </pc:docMkLst>
      <pc:sldChg chg="modSp">
        <pc:chgData name="Scot Reynolds" userId="S::sreynolds@affirma.com::903d64bd-b34e-4ce6-8a97-f00125fca1ea" providerId="AD" clId="Web-{F57CD81B-CC3C-D854-4D2A-467A2A474720}" dt="2019-06-28T17:42:00.315" v="32" actId="20577"/>
        <pc:sldMkLst>
          <pc:docMk/>
          <pc:sldMk cId="2582825011" sldId="300"/>
        </pc:sldMkLst>
        <pc:spChg chg="mod">
          <ac:chgData name="Scot Reynolds" userId="S::sreynolds@affirma.com::903d64bd-b34e-4ce6-8a97-f00125fca1ea" providerId="AD" clId="Web-{F57CD81B-CC3C-D854-4D2A-467A2A474720}" dt="2019-06-28T17:36:29.926" v="8" actId="20577"/>
          <ac:spMkLst>
            <pc:docMk/>
            <pc:sldMk cId="2582825011" sldId="300"/>
            <ac:spMk id="31" creationId="{EC9A7433-5BCD-4EA6-924A-53FDBF0CAAA6}"/>
          </ac:spMkLst>
        </pc:spChg>
        <pc:spChg chg="mod">
          <ac:chgData name="Scot Reynolds" userId="S::sreynolds@affirma.com::903d64bd-b34e-4ce6-8a97-f00125fca1ea" providerId="AD" clId="Web-{F57CD81B-CC3C-D854-4D2A-467A2A474720}" dt="2019-06-28T17:42:00.315" v="32" actId="20577"/>
          <ac:spMkLst>
            <pc:docMk/>
            <pc:sldMk cId="2582825011" sldId="300"/>
            <ac:spMk id="33" creationId="{A2CD0AFB-BBEB-434B-985F-3ACF7BE51454}"/>
          </ac:spMkLst>
        </pc:spChg>
        <pc:spChg chg="mod">
          <ac:chgData name="Scot Reynolds" userId="S::sreynolds@affirma.com::903d64bd-b34e-4ce6-8a97-f00125fca1ea" providerId="AD" clId="Web-{F57CD81B-CC3C-D854-4D2A-467A2A474720}" dt="2019-06-28T17:36:17.801" v="3" actId="1076"/>
          <ac:spMkLst>
            <pc:docMk/>
            <pc:sldMk cId="2582825011" sldId="300"/>
            <ac:spMk id="34" creationId="{EC17F625-2EC2-4F28-895B-03B104D794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DiversyFund – Pardot Marketing Support</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72505" y="1562466"/>
            <a:ext cx="5533147" cy="1330364"/>
          </a:xfrm>
          <a:prstGeom prst="rect">
            <a:avLst/>
          </a:prstGeom>
          <a:noFill/>
        </p:spPr>
        <p:txBody>
          <a:bodyPr wrap="square" rtlCol="0" anchor="t">
            <a:spAutoFit/>
          </a:bodyPr>
          <a:lstStyle/>
          <a:p>
            <a:pPr>
              <a:lnSpc>
                <a:spcPct val="150000"/>
              </a:lnSpc>
            </a:pPr>
            <a:r>
              <a:rPr lang="en-US" sz="1100" b="0" i="0" kern="1200" dirty="0">
                <a:effectLst/>
                <a:latin typeface="Open Sans"/>
                <a:ea typeface="+mn-ea"/>
                <a:cs typeface="+mn-cs"/>
              </a:rPr>
              <a:t>DiversyFund, a leader in online crowdfunding real estate investments, was looking for assistance tracking lead source properly, mapping fields between their marketing automation platform (Pardot) and their CRM (Salesforce) as well as building reports within Pardot</a:t>
            </a:r>
            <a:r>
              <a:rPr lang="en-US" sz="1100" dirty="0">
                <a:latin typeface="Open Sans"/>
              </a:rPr>
              <a:t>.</a:t>
            </a:r>
            <a:r>
              <a:rPr lang="en-US" sz="1100" b="0" i="0" kern="1200" dirty="0">
                <a:effectLst/>
                <a:latin typeface="Open Sans"/>
                <a:ea typeface="+mn-ea"/>
                <a:cs typeface="+mn-cs"/>
              </a:rPr>
              <a: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178558"/>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151671"/>
            <a:ext cx="5547524" cy="2853858"/>
          </a:xfrm>
          <a:prstGeom prst="rect">
            <a:avLst/>
          </a:prstGeom>
          <a:noFill/>
        </p:spPr>
        <p:txBody>
          <a:bodyPr wrap="square" rtlCol="0" anchor="t">
            <a:spAutoFit/>
          </a:bodyPr>
          <a:lstStyle/>
          <a:p>
            <a:pPr>
              <a:lnSpc>
                <a:spcPct val="150000"/>
              </a:lnSpc>
            </a:pPr>
            <a:r>
              <a:rPr lang="en-US" sz="1100" dirty="0">
                <a:latin typeface="Open Sans"/>
              </a:rPr>
              <a:t>Affirma</a:t>
            </a:r>
            <a:r>
              <a:rPr lang="en-US" sz="1100" b="0" i="0" kern="1200" dirty="0">
                <a:effectLst/>
                <a:latin typeface="Open Sans"/>
                <a:ea typeface="+mn-ea"/>
                <a:cs typeface="+mn-cs"/>
              </a:rPr>
              <a:t> reviewed </a:t>
            </a:r>
            <a:r>
              <a:rPr lang="en-US" sz="1100" noProof="1">
                <a:latin typeface="Open Sans"/>
              </a:rPr>
              <a:t>DiversyFund'</a:t>
            </a:r>
            <a:r>
              <a:rPr lang="en-US" sz="1100" dirty="0">
                <a:latin typeface="Open Sans"/>
              </a:rPr>
              <a:t>s</a:t>
            </a:r>
            <a:r>
              <a:rPr lang="en-US" sz="1100" b="0" i="0" kern="1200" dirty="0">
                <a:effectLst/>
                <a:latin typeface="Open Sans"/>
                <a:ea typeface="+mn-ea"/>
                <a:cs typeface="+mn-cs"/>
              </a:rPr>
              <a:t> current tracking process and provided a findings and recommendations document to improve their lead source tracking. In addition, </a:t>
            </a:r>
            <a:r>
              <a:rPr lang="en-US" sz="1100" b="0" i="0" kern="1200" noProof="1">
                <a:effectLst/>
                <a:latin typeface="Open Sans"/>
                <a:ea typeface="+mn-ea"/>
                <a:cs typeface="+mn-cs"/>
              </a:rPr>
              <a:t>Affirma</a:t>
            </a:r>
            <a:r>
              <a:rPr lang="en-US" sz="1100" b="0" i="0" kern="1200" dirty="0">
                <a:effectLst/>
                <a:latin typeface="Open Sans"/>
                <a:ea typeface="+mn-ea"/>
                <a:cs typeface="+mn-cs"/>
              </a:rPr>
              <a:t> implemented the use of form handlers, created custom UTM Parameter fields in Pardot and Salesforce to track campaign lead source information from various channels. This involved extensive Q/A testing and coordination with IT teams to implement specific code on forms and landing pages. Affirma also created several reports within Pardot and Salesforce, including new opportunities, closed-won opportunities and subscribers</a:t>
            </a:r>
            <a:r>
              <a:rPr lang="en-US" sz="1100" dirty="0">
                <a:latin typeface="Open Sans"/>
              </a:rPr>
              <a:t>.</a:t>
            </a:r>
            <a:r>
              <a:rPr lang="en-US" sz="1100" b="0" i="0" kern="1200" dirty="0">
                <a:effectLst/>
                <a:latin typeface="Open Sans"/>
                <a:ea typeface="+mn-ea"/>
                <a:cs typeface="+mn-cs"/>
              </a:rPr>
              <a:t>
</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72506" y="2739008"/>
            <a:ext cx="1774650" cy="369332"/>
          </a:xfrm>
          <a:prstGeom prst="rect">
            <a:avLst/>
          </a:prstGeom>
          <a:noFill/>
        </p:spPr>
        <p:txBody>
          <a:bodyPr wrap="squar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626178"/>
            <a:ext cx="5532049" cy="1330364"/>
          </a:xfrm>
          <a:prstGeom prst="rect">
            <a:avLst/>
          </a:prstGeom>
          <a:noFill/>
        </p:spPr>
        <p:txBody>
          <a:bodyPr wrap="square" rtlCol="0" anchor="t">
            <a:spAutoFit/>
          </a:bodyPr>
          <a:lstStyle/>
          <a:p>
            <a:pPr>
              <a:lnSpc>
                <a:spcPct val="150000"/>
              </a:lnSpc>
            </a:pPr>
            <a:r>
              <a:rPr lang="en-US" sz="1100" dirty="0">
                <a:latin typeface="Open Sans"/>
              </a:rPr>
              <a:t>"The</a:t>
            </a:r>
            <a:r>
              <a:rPr lang="en-US" sz="1100" b="0" i="0" kern="1200" dirty="0">
                <a:effectLst/>
                <a:latin typeface="Open Sans"/>
                <a:ea typeface="+mn-ea"/>
                <a:cs typeface="+mn-cs"/>
              </a:rPr>
              <a:t> Affirma team exceeded my expectations in the value they brought to our company. They collaborated seamlessly, shared their expertise generously and demonstrated a sense of urgency to meet our needs. They are excellent partners</a:t>
            </a:r>
            <a:r>
              <a:rPr lang="en-US" sz="1100" dirty="0">
                <a:latin typeface="Open Sans"/>
              </a:rPr>
              <a:t>."</a:t>
            </a:r>
            <a:r>
              <a:rPr lang="en-US" sz="1100" b="0" i="0" kern="1200" dirty="0">
                <a:effectLst/>
                <a:latin typeface="Open Sans"/>
                <a:ea typeface="+mn-ea"/>
                <a:cs typeface="+mn-cs"/>
              </a:rPr>
              <a:t>
Vanessa Allen, DiversyFund
</a:t>
            </a: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9913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Value>Data Analytics</Value>
      <Value>Marketing Strategy</Value>
      <Value>Marketing Technology</Value>
      <Value>Marketing Automation</Value>
    </Solutions>
    <Industries xmlns="f0ee8362-fa7e-4bc9-ab88-7dcfb17cb19b">
      <Value>Financial Services</Value>
      <Value>Technology</Value>
    </Industries>
    <Notes0 xmlns="f0ee8362-fa7e-4bc9-ab88-7dcfb17cb19b" xsi:nil="true"/>
    <Named_x0020_Account xmlns="f0ee8362-fa7e-4bc9-ab88-7dcfb17cb19b" xsi:nil="true"/>
    <PlatTech xmlns="f0ee8362-fa7e-4bc9-ab88-7dcfb17cb19b">
      <Value>Salesforce</Value>
    </PlatTech>
    <ApprovedByClient xmlns="f0ee8362-fa7e-4bc9-ab88-7dcfb17cb19b">false</ApprovedByClient>
    <ProjectCompletionDate xmlns="f0ee8362-fa7e-4bc9-ab88-7dcfb17cb19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CE7E5F16-66EC-4BD9-9DD8-C64A545163C9}">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8C278A2F-C92F-4522-9BE4-070664ACE7E3}"/>
</file>

<file path=customXml/itemProps3.xml><?xml version="1.0" encoding="utf-8"?>
<ds:datastoreItem xmlns:ds="http://schemas.openxmlformats.org/officeDocument/2006/customXml" ds:itemID="{B92E7CE2-FE0C-4700-9555-0EC337A60001}">
  <ds:schemaRefs>
    <ds:schemaRef ds:uri="http://schemas.microsoft.com/sharepoint/v3/contenttype/forms"/>
  </ds:schemaRefs>
</ds:datastoreItem>
</file>

<file path=customXml/itemProps4.xml><?xml version="1.0" encoding="utf-8"?>
<ds:datastoreItem xmlns:ds="http://schemas.openxmlformats.org/officeDocument/2006/customXml" ds:itemID="{E603519A-E2F9-43B5-931C-059412C60E69}"/>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DiversyFund – Pardot Marketing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628</cp:revision>
  <dcterms:created xsi:type="dcterms:W3CDTF">2017-10-09T12:47:23Z</dcterms:created>
  <dcterms:modified xsi:type="dcterms:W3CDTF">2019-06-28T18:06:56Z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50;#Financial Services|380dfaa8-d53c-462e-bba8-940c98746c25;#49;#Technology|9fd4705e-a3c7-4085-9147-cb1125b68f2c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18200</vt:r8>
  </property>
  <property fmtid="{D5CDD505-2E9C-101B-9397-08002B2CF9AE}" pid="11" name="xd_Signature">
    <vt:bool>false</vt:bool>
  </property>
  <property fmtid="{D5CDD505-2E9C-101B-9397-08002B2CF9AE}" pid="12" name="SO">
    <vt:lpwstr>8;#;#19;#;#20;#;#21;#;#33;#</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