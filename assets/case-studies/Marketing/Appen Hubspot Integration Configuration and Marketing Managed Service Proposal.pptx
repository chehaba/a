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3.xml" ContentType="application/vnd.openxmlformats-officedocument.customXml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584" r:id="rId5"/>
    <p:sldId id="585" r:id="rId6"/>
    <p:sldId id="586" r:id="rId7"/>
    <p:sldId id="587" r:id="rId8"/>
    <p:sldId id="295" r:id="rId9"/>
  </p:sldIdLst>
  <p:sldSz cx="10058400" cy="777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94FB978-F02D-4323-9015-5BD352A2E5FF}">
          <p14:sldIdLst>
            <p14:sldId id="584"/>
            <p14:sldId id="585"/>
            <p14:sldId id="586"/>
            <p14:sldId id="587"/>
            <p14:sldId id="295"/>
          </p14:sldIdLst>
        </p14:section>
        <p14:section name="To Add" id="{9CFABE91-1CD7-43F3-9B6D-2D204EB0B66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remy Cooper (Affirma Consulting)" initials="JC(C" lastIdx="23" clrIdx="0">
    <p:extLst/>
  </p:cmAuthor>
  <p:cmAuthor id="2" name="Drew Michaels" initials="DM" lastIdx="18" clrIdx="1">
    <p:extLst/>
  </p:cmAuthor>
  <p:cmAuthor id="3" name="Jann Skotdal" initials="JS" lastIdx="7" clrIdx="2">
    <p:extLst/>
  </p:cmAuthor>
  <p:cmAuthor id="4" name="Enrique Rivero" initials="" lastIdx="0" clrIdx="3"/>
  <p:cmAuthor id="5" name="Brett Campbell" initials="BC" lastIdx="17" clrIdx="4">
    <p:extLst/>
  </p:cmAuthor>
  <p:cmAuthor id="6" name="Ross Chapman" initials="RC" lastIdx="1" clrIdx="5">
    <p:extLst>
      <p:ext uri="{19B8F6BF-5375-455C-9EA6-DF929625EA0E}">
        <p15:presenceInfo xmlns:p15="http://schemas.microsoft.com/office/powerpoint/2012/main" userId="Ross Chapm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060"/>
    <a:srgbClr val="1F4E79"/>
    <a:srgbClr val="488FD0"/>
    <a:srgbClr val="0172BE"/>
    <a:srgbClr val="009CDB"/>
    <a:srgbClr val="3584CB"/>
    <a:srgbClr val="5899D4"/>
    <a:srgbClr val="2E75B6"/>
    <a:srgbClr val="2F5597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43" autoAdjust="0"/>
    <p:restoredTop sz="77630" autoAdjust="0"/>
  </p:normalViewPr>
  <p:slideViewPr>
    <p:cSldViewPr snapToGrid="0">
      <p:cViewPr varScale="1">
        <p:scale>
          <a:sx n="60" d="100"/>
          <a:sy n="60" d="100"/>
        </p:scale>
        <p:origin x="1412" y="56"/>
      </p:cViewPr>
      <p:guideLst>
        <p:guide orient="horz" pos="2448"/>
        <p:guide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openxmlformats.org/officeDocument/2006/relationships/customXml" Target="../customXml/item4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BF2F9-4DF4-4C8D-A5EC-65378DB32725}" type="datetimeFigureOut">
              <a:rPr lang="en-US" smtClean="0"/>
              <a:t>12/21/2017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3F6CF-073A-4B4F-A2B7-08B9C7DBC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77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31925" y="1143000"/>
            <a:ext cx="3994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001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71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415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95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31925" y="1143000"/>
            <a:ext cx="3994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99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2F78-385B-4BEF-81B8-028BC708DF72}" type="datetimeFigureOut">
              <a:rPr lang="en-US" smtClean="0"/>
              <a:t>12/21/2017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0DB5-B054-4B52-B27D-446721D6C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040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2F78-385B-4BEF-81B8-028BC708DF72}" type="datetimeFigureOut">
              <a:rPr lang="en-US" smtClean="0"/>
              <a:t>12/21/2017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0DB5-B054-4B52-B27D-446721D6C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5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2F78-385B-4BEF-81B8-028BC708DF72}" type="datetimeFigureOut">
              <a:rPr lang="en-US" smtClean="0"/>
              <a:t>12/21/2017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0DB5-B054-4B52-B27D-446721D6C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272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2F78-385B-4BEF-81B8-028BC708DF72}" type="datetimeFigureOut">
              <a:rPr lang="en-US" smtClean="0"/>
              <a:t>12/21/2017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0DB5-B054-4B52-B27D-446721D6C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2F78-385B-4BEF-81B8-028BC708DF72}" type="datetimeFigureOut">
              <a:rPr lang="en-US" smtClean="0"/>
              <a:t>12/21/2017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0DB5-B054-4B52-B27D-446721D6C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00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2F78-385B-4BEF-81B8-028BC708DF72}" type="datetimeFigureOut">
              <a:rPr lang="en-US" smtClean="0"/>
              <a:t>12/21/2017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0DB5-B054-4B52-B27D-446721D6C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01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2F78-385B-4BEF-81B8-028BC708DF72}" type="datetimeFigureOut">
              <a:rPr lang="en-US" smtClean="0"/>
              <a:t>12/21/2017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0DB5-B054-4B52-B27D-446721D6C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001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2F78-385B-4BEF-81B8-028BC708DF72}" type="datetimeFigureOut">
              <a:rPr lang="en-US" smtClean="0"/>
              <a:t>12/21/2017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0DB5-B054-4B52-B27D-446721D6C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28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2F78-385B-4BEF-81B8-028BC708DF72}" type="datetimeFigureOut">
              <a:rPr lang="en-US" smtClean="0"/>
              <a:t>12/21/2017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0DB5-B054-4B52-B27D-446721D6C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3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2F78-385B-4BEF-81B8-028BC708DF72}" type="datetimeFigureOut">
              <a:rPr lang="en-US" smtClean="0"/>
              <a:t>12/21/2017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0DB5-B054-4B52-B27D-446721D6C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95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2F78-385B-4BEF-81B8-028BC708DF72}" type="datetimeFigureOut">
              <a:rPr lang="en-US" smtClean="0"/>
              <a:t>12/21/2017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0DB5-B054-4B52-B27D-446721D6C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86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B2F78-385B-4BEF-81B8-028BC708DF72}" type="datetimeFigureOut">
              <a:rPr lang="en-US" smtClean="0"/>
              <a:t>12/21/2017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40DB5-B054-4B52-B27D-446721D6C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675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0058401" cy="77724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183" y="2470862"/>
            <a:ext cx="8231613" cy="2432003"/>
          </a:xfrm>
        </p:spPr>
        <p:txBody>
          <a:bodyPr>
            <a:normAutofit/>
          </a:bodyPr>
          <a:lstStyle/>
          <a:p>
            <a:pPr algn="ctr"/>
            <a:r>
              <a:rPr lang="en-US" sz="4800" dirty="0" err="1">
                <a:solidFill>
                  <a:schemeClr val="bg1"/>
                </a:solidFill>
                <a:latin typeface="Segoe UI Light" panose="020B0502040204020203" pitchFamily="34" charset="0"/>
                <a:ea typeface="Segoe UI Symbol" panose="020B0502040204020203" pitchFamily="34" charset="0"/>
                <a:cs typeface="Segoe UI Light" panose="020B0502040204020203" pitchFamily="34" charset="0"/>
              </a:rPr>
              <a:t>Hubspot</a:t>
            </a:r>
            <a:r>
              <a:rPr lang="en-US" sz="4800" dirty="0">
                <a:solidFill>
                  <a:schemeClr val="bg1"/>
                </a:solidFill>
                <a:latin typeface="Segoe UI Light" panose="020B0502040204020203" pitchFamily="34" charset="0"/>
                <a:ea typeface="Segoe UI Symbol" panose="020B0502040204020203" pitchFamily="34" charset="0"/>
                <a:cs typeface="Segoe UI Light" panose="020B0502040204020203" pitchFamily="34" charset="0"/>
              </a:rPr>
              <a:t> Integration and Managed Service</a:t>
            </a:r>
            <a:endParaRPr lang="en-US" sz="4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 rot="16200000">
            <a:off x="205187" y="3618726"/>
            <a:ext cx="1188720" cy="109728"/>
          </a:xfrm>
          <a:prstGeom prst="rect">
            <a:avLst/>
          </a:prstGeom>
          <a:solidFill>
            <a:srgbClr val="F06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19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-3025"/>
            <a:ext cx="10058400" cy="16312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62061" y="776870"/>
            <a:ext cx="8675370" cy="838988"/>
          </a:xfrm>
          <a:prstGeom prst="rect">
            <a:avLst/>
          </a:prstGeom>
        </p:spPr>
        <p:txBody>
          <a:bodyPr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spc="248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Hubspot</a:t>
            </a:r>
            <a:r>
              <a:rPr lang="en-US" sz="3600" spc="248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Configuration &amp;Integration  </a:t>
            </a:r>
          </a:p>
          <a:p>
            <a:endParaRPr lang="en-US" sz="3600" spc="248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8536186" y="7136086"/>
            <a:ext cx="1202490" cy="38721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62061" y="1842329"/>
            <a:ext cx="8507236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D5E29"/>
                </a:solidFill>
                <a:latin typeface="Segoe UI Light" panose="020B0502040204020203" pitchFamily="34" charset="0"/>
                <a:ea typeface="MS Gothic" panose="020B0609070205080204" pitchFamily="49" charset="-128"/>
                <a:cs typeface="Segoe UI Light" panose="020B0502040204020203" pitchFamily="34" charset="0"/>
              </a:rPr>
              <a:t>Planning: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Marketing Discovery Session with the Client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 Marketing Automation Platform Implementation Document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 Project Plan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r>
              <a:rPr lang="en-US" b="1" dirty="0">
                <a:solidFill>
                  <a:srgbClr val="ED5E29"/>
                </a:solidFill>
                <a:latin typeface="Segoe UI Light" panose="020B0502040204020203" pitchFamily="34" charset="0"/>
                <a:ea typeface="MS Gothic" panose="020B0609070205080204" pitchFamily="49" charset="-128"/>
                <a:cs typeface="Segoe UI Light" panose="020B0502040204020203" pitchFamily="34" charset="0"/>
              </a:rPr>
              <a:t>Implementation: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Functional Development: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Configure Marketing Automation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Integrate Marketing Automation Platform with Salesforce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Load Creative Assets (includes logo suite)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Form Creation (includes up to 3 forms)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Create Email and Landing Page Templates (includes up to 2 emails, 3 landing pages and relevant CTAs)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Create Email and Landing Page Templates (includes up to 2 emails, 3 landing pages and relevant CTAs)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Bug Fixing and Testing</a:t>
            </a:r>
          </a:p>
          <a:p>
            <a:endParaRPr lang="en-US" dirty="0">
              <a:solidFill>
                <a:srgbClr val="ED5E29"/>
              </a:solidFill>
              <a:latin typeface="Segoe UI Light" panose="020B0502040204020203" pitchFamily="34" charset="0"/>
              <a:ea typeface="MS Gothic" panose="020B0609070205080204" pitchFamily="49" charset="-128"/>
              <a:cs typeface="Segoe UI Light" panose="020B0502040204020203" pitchFamily="34" charset="0"/>
            </a:endParaRPr>
          </a:p>
          <a:p>
            <a:r>
              <a:rPr lang="en-US" b="1" dirty="0">
                <a:solidFill>
                  <a:srgbClr val="ED5E29"/>
                </a:solidFill>
                <a:latin typeface="Segoe UI Light" panose="020B0502040204020203" pitchFamily="34" charset="0"/>
                <a:ea typeface="MS Gothic" panose="020B0609070205080204" pitchFamily="49" charset="-128"/>
                <a:cs typeface="Segoe UI Light" panose="020B0502040204020203" pitchFamily="34" charset="0"/>
              </a:rPr>
              <a:t>Deployment: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Deployment to Production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Client Review Sessions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Testing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Training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73905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-15424"/>
            <a:ext cx="10058400" cy="16312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62061" y="776870"/>
            <a:ext cx="8675370" cy="838988"/>
          </a:xfrm>
          <a:prstGeom prst="rect">
            <a:avLst/>
          </a:prstGeom>
        </p:spPr>
        <p:txBody>
          <a:bodyPr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spc="248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Cost based on a T&amp;M Contract </a:t>
            </a:r>
          </a:p>
          <a:p>
            <a:endParaRPr lang="en-US" sz="4000" spc="248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8536186" y="7136086"/>
            <a:ext cx="1202490" cy="3872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63" y="1998526"/>
            <a:ext cx="8704204" cy="459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575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-3025"/>
            <a:ext cx="10058400" cy="16312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62061" y="776870"/>
            <a:ext cx="8675370" cy="838988"/>
          </a:xfrm>
          <a:prstGeom prst="rect">
            <a:avLst/>
          </a:prstGeom>
        </p:spPr>
        <p:txBody>
          <a:bodyPr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spc="248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Marketing Managed Service </a:t>
            </a:r>
          </a:p>
          <a:p>
            <a:endParaRPr lang="en-US" sz="4000" spc="248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8536186" y="7136086"/>
            <a:ext cx="1202490" cy="3872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2061" y="1890585"/>
            <a:ext cx="746348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Monthly marketing support based on client’s needs. Here are some areas where we can help: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Marketing Content Development &amp; Content Calendar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Campaign creation and deployment as needed, which can include emails, forms, landing pages, automation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Design Support - Create assets as needed for campaigns, website updates, ads etc.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SEO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Drip Marketing Campaign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Social Media Marketing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Webinar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Google AdWords monitoring</a:t>
            </a:r>
          </a:p>
          <a:p>
            <a:r>
              <a:rPr lang="en-US" dirty="0"/>
              <a:t>We are suggesting starting with a monthly retainer of $4,220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034" y="5827973"/>
            <a:ext cx="9244025" cy="128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05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0058401" cy="77724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183" y="2470862"/>
            <a:ext cx="8231613" cy="2432003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Segoe UI Light" panose="020B0502040204020203" pitchFamily="34" charset="0"/>
                <a:ea typeface="Segoe UI Symbol" panose="020B0502040204020203" pitchFamily="34" charset="0"/>
                <a:cs typeface="Segoe UI Light" panose="020B0502040204020203" pitchFamily="34" charset="0"/>
              </a:rPr>
              <a:t>Thank you</a:t>
            </a:r>
            <a:r>
              <a:rPr lang="en-US" sz="48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	</a:t>
            </a:r>
          </a:p>
        </p:txBody>
      </p:sp>
      <p:sp>
        <p:nvSpPr>
          <p:cNvPr id="11" name="Rectangle 10"/>
          <p:cNvSpPr/>
          <p:nvPr/>
        </p:nvSpPr>
        <p:spPr>
          <a:xfrm rot="16200000">
            <a:off x="205187" y="3618726"/>
            <a:ext cx="1188720" cy="109728"/>
          </a:xfrm>
          <a:prstGeom prst="rect">
            <a:avLst/>
          </a:prstGeom>
          <a:solidFill>
            <a:srgbClr val="F06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22" name="Picture 21" descr="affirmastudioslogo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3079" y="6931678"/>
            <a:ext cx="2429524" cy="6206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95568" y="7056353"/>
            <a:ext cx="30247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Teal Peterson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Customer Engagement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3394" y="7056353"/>
            <a:ext cx="22250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406-855-3215</a:t>
            </a:r>
          </a:p>
          <a:p>
            <a:r>
              <a:rPr lang="en-US" sz="140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tpeterson@affirma.com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776188" y="7056353"/>
            <a:ext cx="1290" cy="452746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030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Marketing Services</Value>
    </BusinessUnit>
    <Solutions xmlns="f0ee8362-fa7e-4bc9-ab88-7dcfb17cb19b">
      <Value>Marketing Automation</Value>
    </Solutions>
    <Industries xmlns="f0ee8362-fa7e-4bc9-ab88-7dcfb17cb19b">
      <Value>B2B</Value>
      <Value>AI / AI Models</Value>
    </Industries>
    <Notes0 xmlns="f0ee8362-fa7e-4bc9-ab88-7dcfb17cb19b" xsi:nil="true"/>
    <Named_x0020_Account xmlns="f0ee8362-fa7e-4bc9-ab88-7dcfb17cb19b" xsi:nil="true"/>
    <PlatTech xmlns="f0ee8362-fa7e-4bc9-ab88-7dcfb17cb19b">
      <Value>Marketo / Adobe</Value>
      <Value>HubSpot</Value>
    </PlatTech>
    <ProjectCompletionDate xmlns="f0ee8362-fa7e-4bc9-ab88-7dcfb17cb19b">2020-01-01T08:00:00+00:00</ProjectCompletionDate>
    <ApprovedByClient xmlns="f0ee8362-fa7e-4bc9-ab88-7dcfb17cb19b">false</ApprovedByClient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D6ED2471-C0D2-48AF-8C82-8EA403FA2F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94E4A4-1B32-4A3C-847A-E2AB390C5201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DDF318D-BB8F-4DA7-B39D-13C6B22E36BC}"/>
</file>

<file path=customXml/itemProps4.xml><?xml version="1.0" encoding="utf-8"?>
<ds:datastoreItem xmlns:ds="http://schemas.openxmlformats.org/officeDocument/2006/customXml" ds:itemID="{3B07EB24-CA7F-4047-9F0C-0F03E2007A6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40734</TotalTime>
  <Words>224</Words>
  <Application>Microsoft Office PowerPoint</Application>
  <PresentationFormat>Custom</PresentationFormat>
  <Paragraphs>44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MS Gothic</vt:lpstr>
      <vt:lpstr>Arial</vt:lpstr>
      <vt:lpstr>Calibri</vt:lpstr>
      <vt:lpstr>Calibri Light</vt:lpstr>
      <vt:lpstr>Segoe UI Light</vt:lpstr>
      <vt:lpstr>Segoe UI Semilight</vt:lpstr>
      <vt:lpstr>Segoe UI Symbol</vt:lpstr>
      <vt:lpstr>Office Theme</vt:lpstr>
      <vt:lpstr>Hubspot Integration and Managed Service</vt:lpstr>
      <vt:lpstr>PowerPoint Presentation</vt:lpstr>
      <vt:lpstr>PowerPoint Presentation</vt:lpstr>
      <vt:lpstr>PowerPoint Presentation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Hopkins</dc:creator>
  <cp:lastModifiedBy>Kelsey Hurter</cp:lastModifiedBy>
  <cp:revision>1993</cp:revision>
  <dcterms:created xsi:type="dcterms:W3CDTF">2013-12-05T17:26:23Z</dcterms:created>
  <dcterms:modified xsi:type="dcterms:W3CDTF">2017-12-21T23:32:05Z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Order">
    <vt:r8>306300</vt:r8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Business Unit">
    <vt:lpwstr/>
  </property>
  <property fmtid="{D5CDD505-2E9C-101B-9397-08002B2CF9AE}" pid="8" name="Industry">
    <vt:lpwstr>49;#Technology|9fd4705e-a3c7-4085-9147-cb1125b68f2c</vt:lpwstr>
  </property>
  <property fmtid="{D5CDD505-2E9C-101B-9397-08002B2CF9AE}" pid="9" name="Service_x0020_Offering">
    <vt:lpwstr/>
  </property>
  <property fmtid="{D5CDD505-2E9C-101B-9397-08002B2CF9AE}" pid="10" name="Business_x0020_Unit">
    <vt:lpwstr/>
  </property>
  <property fmtid="{D5CDD505-2E9C-101B-9397-08002B2CF9AE}" pid="11" name="_ExtendedDescription">
    <vt:lpwstr/>
  </property>
  <property fmtid="{D5CDD505-2E9C-101B-9397-08002B2CF9AE}" pid="12" name="Service Offering">
    <vt:lpwstr/>
  </property>
  <property fmtid="{D5CDD505-2E9C-101B-9397-08002B2CF9AE}" pid="13" name="Category">
    <vt:lpwstr>6;#Case Study|8faa0ad1-25f0-4f56-8e38-f60e20c455d6</vt:lpwstr>
  </property>
  <property fmtid="{D5CDD505-2E9C-101B-9397-08002B2CF9AE}" pid="14" name="xd_Signature">
    <vt:bool>false</vt:bool>
  </property>
  <property fmtid="{D5CDD505-2E9C-101B-9397-08002B2CF9AE}" pid="15" name="SO">
    <vt:lpwstr>18;#;#19;#</vt:lpwstr>
  </property>
  <property fmtid="{D5CDD505-2E9C-101B-9397-08002B2CF9AE}" pid="16" name="xd_ProgID">
    <vt:lpwstr/>
  </property>
  <property fmtid="{D5CDD505-2E9C-101B-9397-08002B2CF9AE}" pid="17" name="TemplateUrl">
    <vt:lpwstr/>
  </property>
  <property fmtid="{D5CDD505-2E9C-101B-9397-08002B2CF9AE}" pid="18" name="TriggerFlowInfo">
    <vt:lpwstr/>
  </property>
</Properties>
</file>