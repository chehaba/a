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4.xml" ContentType="application/vnd.openxmlformats-officedocument.presentationml.slide+xml"/>
  <Override PartName="/ppt/slides/slide5.xml" ContentType="application/vnd.openxmlformats-officedocument.presentationml.slide+xml"/>
  <Override PartName="/ppt/presentation.xml" ContentType="application/vnd.openxmlformats-officedocument.presentationml.presentation.main+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547" r:id="rId5"/>
    <p:sldId id="545" r:id="rId6"/>
    <p:sldId id="550" r:id="rId7"/>
    <p:sldId id="546" r:id="rId8"/>
    <p:sldId id="548" r:id="rId9"/>
  </p:sldIdLst>
  <p:sldSz cx="100584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remy Cooper (Affirma Consulting)" initials="JC(C" lastIdx="23" clrIdx="0">
    <p:extLst/>
  </p:cmAuthor>
  <p:cmAuthor id="2" name="Drew Michaels" initials="DM" lastIdx="18" clrIdx="1">
    <p:extLst/>
  </p:cmAuthor>
  <p:cmAuthor id="3" name="Jann Skotdal" initials="JS" lastIdx="7" clrIdx="2">
    <p:extLst/>
  </p:cmAuthor>
  <p:cmAuthor id="4" name="Enrique Rivero" initials="" lastIdx="0" clrIdx="3"/>
  <p:cmAuthor id="5" name="Brett Campbell" initials="BC" lastIdx="17" clrIdx="4">
    <p:extLst/>
  </p:cmAuthor>
  <p:cmAuthor id="6" name="Ross Chapman" initials="RC" lastIdx="1" clrIdx="5">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0F446D"/>
    <a:srgbClr val="F8BFA9"/>
    <a:srgbClr val="488FD0"/>
    <a:srgbClr val="0172BE"/>
    <a:srgbClr val="1F4E79"/>
    <a:srgbClr val="009CDB"/>
    <a:srgbClr val="3584CB"/>
    <a:srgbClr val="5899D4"/>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41" autoAdjust="0"/>
    <p:restoredTop sz="77630" autoAdjust="0"/>
  </p:normalViewPr>
  <p:slideViewPr>
    <p:cSldViewPr snapToGrid="0">
      <p:cViewPr varScale="1">
        <p:scale>
          <a:sx n="60" d="100"/>
          <a:sy n="60" d="100"/>
        </p:scale>
        <p:origin x="1548" y="56"/>
      </p:cViewPr>
      <p:guideLst>
        <p:guide orient="horz" pos="2448"/>
        <p:guide pos="3168"/>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openxmlformats.org/officeDocument/2006/relationships/customXml" Target="../customXml/item4.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BF2F9-4DF4-4C8D-A5EC-65378DB32725}" type="datetimeFigureOut">
              <a:rPr lang="en-US" smtClean="0"/>
              <a:t>4/16/2018</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3F6CF-073A-4B4F-A2B7-08B9C7DBCB96}" type="slidenum">
              <a:rPr lang="en-US" smtClean="0"/>
              <a:t>‹#›</a:t>
            </a:fld>
            <a:endParaRPr lang="en-US"/>
          </a:p>
        </p:txBody>
      </p:sp>
    </p:spTree>
    <p:extLst>
      <p:ext uri="{BB962C8B-B14F-4D97-AF65-F5344CB8AC3E}">
        <p14:creationId xmlns:p14="http://schemas.microsoft.com/office/powerpoint/2010/main" val="13437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125917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2</a:t>
            </a:fld>
            <a:endParaRPr lang="en-US"/>
          </a:p>
        </p:txBody>
      </p:sp>
    </p:spTree>
    <p:extLst>
      <p:ext uri="{BB962C8B-B14F-4D97-AF65-F5344CB8AC3E}">
        <p14:creationId xmlns:p14="http://schemas.microsoft.com/office/powerpoint/2010/main" val="2408858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3</a:t>
            </a:fld>
            <a:endParaRPr lang="en-US"/>
          </a:p>
        </p:txBody>
      </p:sp>
    </p:spTree>
    <p:extLst>
      <p:ext uri="{BB962C8B-B14F-4D97-AF65-F5344CB8AC3E}">
        <p14:creationId xmlns:p14="http://schemas.microsoft.com/office/powerpoint/2010/main" val="4122966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4</a:t>
            </a:fld>
            <a:endParaRPr lang="en-US"/>
          </a:p>
        </p:txBody>
      </p:sp>
    </p:spTree>
    <p:extLst>
      <p:ext uri="{BB962C8B-B14F-4D97-AF65-F5344CB8AC3E}">
        <p14:creationId xmlns:p14="http://schemas.microsoft.com/office/powerpoint/2010/main" val="1545522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5</a:t>
            </a:fld>
            <a:endParaRPr lang="en-US"/>
          </a:p>
        </p:txBody>
      </p:sp>
    </p:spTree>
    <p:extLst>
      <p:ext uri="{BB962C8B-B14F-4D97-AF65-F5344CB8AC3E}">
        <p14:creationId xmlns:p14="http://schemas.microsoft.com/office/powerpoint/2010/main" val="630476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1"/>
            <a:ext cx="8549640" cy="2705947"/>
          </a:xfrm>
        </p:spPr>
        <p:txBody>
          <a:bodyPr anchor="b"/>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CB2F78-385B-4BEF-81B8-028BC708DF72}" type="datetimeFigureOut">
              <a:rPr lang="en-US" smtClean="0"/>
              <a:t>4/16/2018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3887040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B2F78-385B-4BEF-81B8-028BC708DF72}" type="datetimeFigureOut">
              <a:rPr lang="en-US" smtClean="0"/>
              <a:t>4/16/2018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414635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600"/>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B2F78-385B-4BEF-81B8-028BC708DF72}" type="datetimeFigureOut">
              <a:rPr lang="en-US" smtClean="0"/>
              <a:t>4/16/2018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545272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CB2F78-385B-4BEF-81B8-028BC708DF72}" type="datetimeFigureOut">
              <a:rPr lang="en-US" smtClean="0"/>
              <a:t>4/16/2018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15853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18"/>
            <a:ext cx="4255174"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B2F78-385B-4BEF-81B8-028BC708DF72}" type="datetimeFigureOut">
              <a:rPr lang="en-US" smtClean="0"/>
              <a:t>4/16/2018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740800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CB2F78-385B-4BEF-81B8-028BC708DF72}" type="datetimeFigureOut">
              <a:rPr lang="en-US" smtClean="0"/>
              <a:t>4/16/2018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214330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CB2F78-385B-4BEF-81B8-028BC708DF72}" type="datetimeFigureOut">
              <a:rPr lang="en-US" smtClean="0"/>
              <a:t>4/16/2018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1620001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CFCB2F78-385B-4BEF-81B8-028BC708DF72}" type="datetimeFigureOut">
              <a:rPr lang="en-US" smtClean="0"/>
              <a:t>4/16/2018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2891028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CFCB2F78-385B-4BEF-81B8-028BC708DF72}" type="datetimeFigureOut">
              <a:rPr lang="en-US" smtClean="0"/>
              <a:t>4/16/2018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345413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B2F78-385B-4BEF-81B8-028BC708DF72}" type="datetimeFigureOut">
              <a:rPr lang="en-US" smtClean="0"/>
              <a:t>4/16/2018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149829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B2F78-385B-4BEF-81B8-028BC708DF72}" type="datetimeFigureOut">
              <a:rPr lang="en-US" smtClean="0"/>
              <a:t>4/16/2018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40DB5-B054-4B52-B27D-446721D6CC27}" type="slidenum">
              <a:rPr lang="en-US" smtClean="0"/>
              <a:t>‹#›</a:t>
            </a:fld>
            <a:endParaRPr lang="en-US"/>
          </a:p>
        </p:txBody>
      </p:sp>
    </p:spTree>
    <p:extLst>
      <p:ext uri="{BB962C8B-B14F-4D97-AF65-F5344CB8AC3E}">
        <p14:creationId xmlns:p14="http://schemas.microsoft.com/office/powerpoint/2010/main" val="133048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CFCB2F78-385B-4BEF-81B8-028BC708DF72}" type="datetimeFigureOut">
              <a:rPr lang="en-US" smtClean="0"/>
              <a:t>4/16/2018</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49A40DB5-B054-4B52-B27D-446721D6CC27}" type="slidenum">
              <a:rPr lang="en-US" smtClean="0"/>
              <a:t>‹#›</a:t>
            </a:fld>
            <a:endParaRPr lang="en-US"/>
          </a:p>
        </p:txBody>
      </p:sp>
    </p:spTree>
    <p:extLst>
      <p:ext uri="{BB962C8B-B14F-4D97-AF65-F5344CB8AC3E}">
        <p14:creationId xmlns:p14="http://schemas.microsoft.com/office/powerpoint/2010/main" val="3658675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7483" y="1628257"/>
            <a:ext cx="5075791" cy="6001643"/>
          </a:xfrm>
          <a:prstGeom prst="rect">
            <a:avLst/>
          </a:prstGeom>
          <a:noFill/>
        </p:spPr>
        <p:txBody>
          <a:bodyPr wrap="square" rtlCol="0">
            <a:spAutoFit/>
          </a:bodyPr>
          <a:lstStyle/>
          <a:p>
            <a:pPr lvl="0">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Business Need</a:t>
            </a:r>
            <a:endParaRPr lang="en-US" altLang="ja-JP" sz="2000" dirty="0">
              <a:solidFill>
                <a:schemeClr val="tx1">
                  <a:lumMod val="75000"/>
                  <a:lumOff val="25000"/>
                </a:schemeClr>
              </a:solidFill>
              <a:latin typeface="Segoe UI" pitchFamily="34" charset="0"/>
              <a:cs typeface="Segoe UI" pitchFamily="34" charset="0"/>
            </a:endParaRPr>
          </a:p>
          <a:p>
            <a:r>
              <a:rPr lang="en-US" altLang="ja-JP" sz="1400" dirty="0">
                <a:latin typeface="Segoe UI" pitchFamily="34" charset="0"/>
                <a:cs typeface="Segoe UI" pitchFamily="34" charset="0"/>
              </a:rPr>
              <a:t>INAP, a global leader in providing high-performance IT infrastructure services, was looking for assistance with the development, implementation and support of a long-term marketing plan to expand brand awareness and customer engagement as well as increase lead generation via solid inbound and outbound marketing tactics. </a:t>
            </a:r>
          </a:p>
          <a:p>
            <a:endParaRPr lang="en-US" altLang="ja-JP" sz="1400" dirty="0">
              <a:latin typeface="Segoe UI" pitchFamily="34" charset="0"/>
              <a:cs typeface="Segoe UI" pitchFamily="34" charset="0"/>
            </a:endParaRPr>
          </a:p>
          <a:p>
            <a:r>
              <a:rPr lang="en-US" altLang="ja-JP" sz="1400" dirty="0">
                <a:latin typeface="Segoe UI" pitchFamily="34" charset="0"/>
                <a:cs typeface="Segoe UI" pitchFamily="34" charset="0"/>
              </a:rPr>
              <a:t>Although INAP has an internal marketing team, they wanted to leverage a strategic partner that could assist with a multitude of marketing tasks as needed, offer best practices and recommendations based on experience working with a variety of clients and execute work in a timely fashion. </a:t>
            </a:r>
          </a:p>
          <a:p>
            <a:endParaRPr lang="en-US" sz="1400" dirty="0">
              <a:latin typeface="Segoe UI" pitchFamily="34" charset="0"/>
              <a:cs typeface="Segoe UI" pitchFamily="34" charset="0"/>
            </a:endParaRPr>
          </a:p>
          <a:p>
            <a:pPr>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What We Did</a:t>
            </a:r>
            <a:endParaRPr lang="en-US" sz="2000" dirty="0">
              <a:latin typeface="Segoe UI" pitchFamily="34" charset="0"/>
              <a:cs typeface="Segoe UI" pitchFamily="34" charset="0"/>
            </a:endParaRPr>
          </a:p>
          <a:p>
            <a:r>
              <a:rPr lang="en-US" sz="1400" dirty="0">
                <a:latin typeface="Segoe UI" pitchFamily="34" charset="0"/>
                <a:cs typeface="Segoe UI" pitchFamily="34" charset="0"/>
              </a:rPr>
              <a:t>Affirma worked with INAP to fully understand their business and sales/marketing goals as well as performed document reviews and audits to define, set and prioritize marketing objectives, strategies and tactics. Deliverables during the initial start-up phase included specific recommendations regarding tactics, such as SEO, AdWords, social media and marketing automation as well as process improvements, such as governance and lead management.</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Affirma continues to support INAP’s team through an ongoing monthly managed service agreement.</a:t>
            </a:r>
            <a:endParaRPr lang="en-US" sz="1400" dirty="0">
              <a:latin typeface="Segoe UI" panose="020B0502040204020203" pitchFamily="34" charset="0"/>
              <a:ea typeface="MS Mincho" panose="02020609040205080304" pitchFamily="49" charset="-128"/>
              <a:cs typeface="Segoe UI" panose="020B0502040204020203" pitchFamily="34" charset="0"/>
            </a:endParaRPr>
          </a:p>
        </p:txBody>
      </p:sp>
      <p:sp>
        <p:nvSpPr>
          <p:cNvPr id="7" name="Rectangle 6"/>
          <p:cNvSpPr/>
          <p:nvPr/>
        </p:nvSpPr>
        <p:spPr>
          <a:xfrm>
            <a:off x="0" y="-3025"/>
            <a:ext cx="10058400" cy="163128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 name="Title 1"/>
          <p:cNvSpPr txBox="1">
            <a:spLocks/>
          </p:cNvSpPr>
          <p:nvPr/>
        </p:nvSpPr>
        <p:spPr>
          <a:xfrm>
            <a:off x="437007" y="261171"/>
            <a:ext cx="9293401" cy="838988"/>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600" spc="248" dirty="0">
                <a:solidFill>
                  <a:schemeClr val="bg1"/>
                </a:solidFill>
                <a:latin typeface="Segoe UI Light" panose="020B0502040204020203" pitchFamily="34" charset="0"/>
                <a:cs typeface="Segoe UI Light" panose="020B0502040204020203" pitchFamily="34" charset="0"/>
              </a:rPr>
              <a:t>INAP – Marketing Managed Service</a:t>
            </a:r>
          </a:p>
          <a:p>
            <a:endParaRPr lang="en-US" sz="4000" spc="248" dirty="0">
              <a:solidFill>
                <a:schemeClr val="bg1"/>
              </a:solidFill>
              <a:latin typeface="Segoe UI Light" panose="020B0502040204020203" pitchFamily="34" charset="0"/>
              <a:cs typeface="Segoe UI Light" panose="020B0502040204020203" pitchFamily="34" charset="0"/>
            </a:endParaRP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8433040" y="7019029"/>
            <a:ext cx="1167123" cy="375827"/>
          </a:xfrm>
          <a:prstGeom prst="rect">
            <a:avLst/>
          </a:prstGeom>
        </p:spPr>
      </p:pic>
      <p:pic>
        <p:nvPicPr>
          <p:cNvPr id="3" name="Picture 2">
            <a:extLst>
              <a:ext uri="{FF2B5EF4-FFF2-40B4-BE49-F238E27FC236}">
                <a16:creationId xmlns:a16="http://schemas.microsoft.com/office/drawing/2014/main" id="{733CB4DB-1B36-49E5-B740-35F53291E9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698" y="1947667"/>
            <a:ext cx="2089702" cy="1326442"/>
          </a:xfrm>
          <a:prstGeom prst="rect">
            <a:avLst/>
          </a:prstGeom>
        </p:spPr>
      </p:pic>
      <p:pic>
        <p:nvPicPr>
          <p:cNvPr id="9" name="Picture 8">
            <a:extLst>
              <a:ext uri="{FF2B5EF4-FFF2-40B4-BE49-F238E27FC236}">
                <a16:creationId xmlns:a16="http://schemas.microsoft.com/office/drawing/2014/main" id="{1BE37D4A-CBCD-478B-BF7B-B775115F2004}"/>
              </a:ext>
            </a:extLst>
          </p:cNvPr>
          <p:cNvPicPr>
            <a:picLocks noChangeAspect="1"/>
          </p:cNvPicPr>
          <p:nvPr/>
        </p:nvPicPr>
        <p:blipFill>
          <a:blip r:embed="rId5"/>
          <a:stretch>
            <a:fillRect/>
          </a:stretch>
        </p:blipFill>
        <p:spPr>
          <a:xfrm>
            <a:off x="5601019" y="1892453"/>
            <a:ext cx="2367679" cy="4503017"/>
          </a:xfrm>
          <a:prstGeom prst="rect">
            <a:avLst/>
          </a:prstGeom>
        </p:spPr>
      </p:pic>
      <p:pic>
        <p:nvPicPr>
          <p:cNvPr id="2" name="Picture 1">
            <a:extLst>
              <a:ext uri="{FF2B5EF4-FFF2-40B4-BE49-F238E27FC236}">
                <a16:creationId xmlns:a16="http://schemas.microsoft.com/office/drawing/2014/main" id="{A9218A6E-8542-458D-B1F2-798F29AF6CC0}"/>
              </a:ext>
            </a:extLst>
          </p:cNvPr>
          <p:cNvPicPr>
            <a:picLocks noChangeAspect="1"/>
          </p:cNvPicPr>
          <p:nvPr/>
        </p:nvPicPr>
        <p:blipFill>
          <a:blip r:embed="rId6"/>
          <a:stretch>
            <a:fillRect/>
          </a:stretch>
        </p:blipFill>
        <p:spPr>
          <a:xfrm>
            <a:off x="7403168" y="3134967"/>
            <a:ext cx="2510290" cy="2179894"/>
          </a:xfrm>
          <a:prstGeom prst="rect">
            <a:avLst/>
          </a:prstGeom>
          <a:ln>
            <a:solidFill>
              <a:schemeClr val="accent2"/>
            </a:solidFill>
          </a:ln>
        </p:spPr>
      </p:pic>
    </p:spTree>
    <p:extLst>
      <p:ext uri="{BB962C8B-B14F-4D97-AF65-F5344CB8AC3E}">
        <p14:creationId xmlns:p14="http://schemas.microsoft.com/office/powerpoint/2010/main" val="4259022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2822" y="1937522"/>
            <a:ext cx="5183761" cy="4994444"/>
          </a:xfrm>
          <a:prstGeom prst="rect">
            <a:avLst/>
          </a:prstGeom>
          <a:noFill/>
        </p:spPr>
        <p:txBody>
          <a:bodyPr wrap="square" rtlCol="0">
            <a:spAutoFit/>
          </a:bodyPr>
          <a:lstStyle/>
          <a:p>
            <a:pPr lvl="0">
              <a:lnSpc>
                <a:spcPct val="120000"/>
              </a:lnSpc>
            </a:pPr>
            <a:r>
              <a:rPr lang="en-US" sz="233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Business </a:t>
            </a: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Need</a:t>
            </a:r>
            <a:endParaRPr lang="en-US" altLang="ja-JP" sz="2000" dirty="0">
              <a:solidFill>
                <a:schemeClr val="tx1">
                  <a:lumMod val="75000"/>
                  <a:lumOff val="25000"/>
                </a:schemeClr>
              </a:solidFill>
              <a:latin typeface="Segoe UI" pitchFamily="34" charset="0"/>
              <a:cs typeface="Segoe UI" pitchFamily="34" charset="0"/>
            </a:endParaRPr>
          </a:p>
          <a:p>
            <a:r>
              <a:rPr lang="en-US" altLang="ja-JP" sz="1400" dirty="0">
                <a:latin typeface="Segoe UI" pitchFamily="34" charset="0"/>
                <a:cs typeface="Segoe UI" pitchFamily="34" charset="0"/>
              </a:rPr>
              <a:t>INAP recently transitioned from </a:t>
            </a:r>
            <a:r>
              <a:rPr lang="en-US" altLang="ja-JP" sz="1400" dirty="0" err="1">
                <a:latin typeface="Segoe UI" pitchFamily="34" charset="0"/>
                <a:cs typeface="Segoe UI" pitchFamily="34" charset="0"/>
              </a:rPr>
              <a:t>Internap</a:t>
            </a:r>
            <a:r>
              <a:rPr lang="en-US" altLang="ja-JP" sz="1400" dirty="0">
                <a:latin typeface="Segoe UI" pitchFamily="34" charset="0"/>
                <a:cs typeface="Segoe UI" pitchFamily="34" charset="0"/>
              </a:rPr>
              <a:t> to INAP, so one of the first tasks involved re-establishing brand awareness, improving brand reputation and formerly documenting marketing fundamentals. This work would involve updating their style guide, redesigning their main website; evaluating and revising buyer personas and implementing governance. </a:t>
            </a:r>
          </a:p>
          <a:p>
            <a:endParaRPr lang="en-US" altLang="ja-JP" sz="1359" dirty="0">
              <a:latin typeface="Segoe UI" pitchFamily="34" charset="0"/>
              <a:cs typeface="Segoe UI" pitchFamily="34" charset="0"/>
            </a:endParaRPr>
          </a:p>
          <a:p>
            <a:pPr>
              <a:lnSpc>
                <a:spcPts val="601"/>
              </a:lnSpc>
            </a:pPr>
            <a:endParaRPr lang="en-US" sz="680" dirty="0">
              <a:solidFill>
                <a:srgbClr val="C64E18"/>
              </a:solidFill>
              <a:latin typeface="Segoe UI" pitchFamily="34" charset="0"/>
              <a:cs typeface="Segoe UI" pitchFamily="34" charset="0"/>
            </a:endParaRPr>
          </a:p>
          <a:p>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What We Did</a:t>
            </a:r>
          </a:p>
          <a:p>
            <a:r>
              <a:rPr lang="en-US" sz="1400" dirty="0">
                <a:latin typeface="Segoe UI" pitchFamily="34" charset="0"/>
                <a:cs typeface="Segoe UI" pitchFamily="34" charset="0"/>
              </a:rPr>
              <a:t>Affirma performed an extensive heuristic evaluation of INAP’s website, including competitor analysis, in order to provide detailed findings and recommendations for improved site-wide navigation and header/footer UX. Design comps were provided as well.</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In addition, Affirma provided the following: </a:t>
            </a:r>
          </a:p>
          <a:p>
            <a:pPr marL="742950" lvl="1" indent="-285750">
              <a:buFont typeface="Arial" panose="020B0604020202020204" pitchFamily="34" charset="0"/>
              <a:buChar char="•"/>
            </a:pPr>
            <a:r>
              <a:rPr lang="en-US" sz="1400" dirty="0">
                <a:latin typeface="Segoe UI" pitchFamily="34" charset="0"/>
                <a:cs typeface="Segoe UI" pitchFamily="34" charset="0"/>
              </a:rPr>
              <a:t>Governance Strategic Framework</a:t>
            </a:r>
          </a:p>
          <a:p>
            <a:pPr marL="742950" lvl="1" indent="-285750">
              <a:buFont typeface="Arial" panose="020B0604020202020204" pitchFamily="34" charset="0"/>
              <a:buChar char="•"/>
            </a:pPr>
            <a:r>
              <a:rPr lang="en-US" sz="1400" dirty="0">
                <a:latin typeface="Segoe UI" pitchFamily="34" charset="0"/>
                <a:cs typeface="Segoe UI" pitchFamily="34" charset="0"/>
              </a:rPr>
              <a:t>Naming Convention Specification</a:t>
            </a:r>
          </a:p>
          <a:p>
            <a:pPr marL="742950" lvl="1" indent="-285750">
              <a:buFont typeface="Arial" panose="020B0604020202020204" pitchFamily="34" charset="0"/>
              <a:buChar char="•"/>
            </a:pPr>
            <a:r>
              <a:rPr lang="en-US" sz="1400" dirty="0">
                <a:latin typeface="Segoe UI" pitchFamily="34" charset="0"/>
                <a:cs typeface="Segoe UI" pitchFamily="34" charset="0"/>
              </a:rPr>
              <a:t>Lead Management Procedure and process documents</a:t>
            </a:r>
          </a:p>
          <a:p>
            <a:pPr marL="742950" lvl="1" indent="-285750">
              <a:buFont typeface="Arial" panose="020B0604020202020204" pitchFamily="34" charset="0"/>
              <a:buChar char="•"/>
            </a:pPr>
            <a:r>
              <a:rPr lang="en-US" sz="1400" dirty="0">
                <a:latin typeface="Segoe UI" pitchFamily="34" charset="0"/>
                <a:cs typeface="Segoe UI" pitchFamily="34" charset="0"/>
              </a:rPr>
              <a:t>Style Guide best practices</a:t>
            </a:r>
          </a:p>
          <a:p>
            <a:pPr marL="742950" lvl="1" indent="-285750">
              <a:buFont typeface="Arial" panose="020B0604020202020204" pitchFamily="34" charset="0"/>
              <a:buChar char="•"/>
            </a:pPr>
            <a:r>
              <a:rPr lang="en-US" sz="1400" dirty="0">
                <a:latin typeface="Segoe UI" pitchFamily="34" charset="0"/>
                <a:cs typeface="Segoe UI" pitchFamily="34" charset="0"/>
              </a:rPr>
              <a:t>Buyer Persona workshops and recommendations</a:t>
            </a:r>
          </a:p>
        </p:txBody>
      </p:sp>
      <p:sp>
        <p:nvSpPr>
          <p:cNvPr id="7" name="Rectangle 6"/>
          <p:cNvSpPr/>
          <p:nvPr/>
        </p:nvSpPr>
        <p:spPr>
          <a:xfrm>
            <a:off x="0" y="-3025"/>
            <a:ext cx="10058400" cy="163128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 name="Title 1"/>
          <p:cNvSpPr txBox="1">
            <a:spLocks/>
          </p:cNvSpPr>
          <p:nvPr/>
        </p:nvSpPr>
        <p:spPr>
          <a:xfrm>
            <a:off x="437007" y="261171"/>
            <a:ext cx="9293401" cy="838988"/>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600" spc="248" dirty="0">
                <a:solidFill>
                  <a:schemeClr val="bg1"/>
                </a:solidFill>
                <a:latin typeface="Segoe UI Light" panose="020B0502040204020203" pitchFamily="34" charset="0"/>
                <a:cs typeface="Segoe UI Light" panose="020B0502040204020203" pitchFamily="34" charset="0"/>
              </a:rPr>
              <a:t>INAP – Company Rebrand &amp; Marketing Fundamentals </a:t>
            </a:r>
          </a:p>
          <a:p>
            <a:endParaRPr lang="en-US" sz="4000" spc="248" dirty="0">
              <a:solidFill>
                <a:schemeClr val="bg1"/>
              </a:solidFill>
              <a:latin typeface="Segoe UI Light" panose="020B0502040204020203" pitchFamily="34" charset="0"/>
              <a:cs typeface="Segoe UI Light" panose="020B0502040204020203" pitchFamily="34" charset="0"/>
            </a:endParaRP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8433040" y="7019029"/>
            <a:ext cx="1167123" cy="375827"/>
          </a:xfrm>
          <a:prstGeom prst="rect">
            <a:avLst/>
          </a:prstGeom>
        </p:spPr>
      </p:pic>
      <p:pic>
        <p:nvPicPr>
          <p:cNvPr id="3" name="Picture 2">
            <a:extLst>
              <a:ext uri="{FF2B5EF4-FFF2-40B4-BE49-F238E27FC236}">
                <a16:creationId xmlns:a16="http://schemas.microsoft.com/office/drawing/2014/main" id="{733CB4DB-1B36-49E5-B740-35F53291E9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839" y="1738441"/>
            <a:ext cx="2564762" cy="1627987"/>
          </a:xfrm>
          <a:prstGeom prst="rect">
            <a:avLst/>
          </a:prstGeom>
        </p:spPr>
      </p:pic>
      <p:pic>
        <p:nvPicPr>
          <p:cNvPr id="2" name="Picture 1">
            <a:extLst>
              <a:ext uri="{FF2B5EF4-FFF2-40B4-BE49-F238E27FC236}">
                <a16:creationId xmlns:a16="http://schemas.microsoft.com/office/drawing/2014/main" id="{092FC29F-8B3D-4E7F-A3C0-86CAC0A4011B}"/>
              </a:ext>
            </a:extLst>
          </p:cNvPr>
          <p:cNvPicPr>
            <a:picLocks noChangeAspect="1"/>
          </p:cNvPicPr>
          <p:nvPr/>
        </p:nvPicPr>
        <p:blipFill>
          <a:blip r:embed="rId5"/>
          <a:stretch>
            <a:fillRect/>
          </a:stretch>
        </p:blipFill>
        <p:spPr>
          <a:xfrm>
            <a:off x="5661409" y="3366428"/>
            <a:ext cx="4236218" cy="3330897"/>
          </a:xfrm>
          <a:prstGeom prst="rect">
            <a:avLst/>
          </a:prstGeom>
        </p:spPr>
      </p:pic>
    </p:spTree>
    <p:extLst>
      <p:ext uri="{BB962C8B-B14F-4D97-AF65-F5344CB8AC3E}">
        <p14:creationId xmlns:p14="http://schemas.microsoft.com/office/powerpoint/2010/main" val="3106922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37007" y="1799226"/>
            <a:ext cx="5075791" cy="5786199"/>
          </a:xfrm>
          <a:prstGeom prst="rect">
            <a:avLst/>
          </a:prstGeom>
          <a:noFill/>
        </p:spPr>
        <p:txBody>
          <a:bodyPr wrap="square" rtlCol="0">
            <a:spAutoFit/>
          </a:bodyPr>
          <a:lstStyle/>
          <a:p>
            <a:pPr lvl="0">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Business Need</a:t>
            </a:r>
            <a:endParaRPr lang="en-US" altLang="ja-JP" sz="2000" dirty="0">
              <a:solidFill>
                <a:schemeClr val="tx1">
                  <a:lumMod val="75000"/>
                  <a:lumOff val="25000"/>
                </a:schemeClr>
              </a:solidFill>
              <a:latin typeface="Segoe UI" pitchFamily="34" charset="0"/>
              <a:cs typeface="Segoe UI" pitchFamily="34" charset="0"/>
            </a:endParaRPr>
          </a:p>
          <a:p>
            <a:r>
              <a:rPr lang="en-US" altLang="ja-JP" sz="1400" dirty="0">
                <a:latin typeface="Segoe UI" pitchFamily="34" charset="0"/>
                <a:cs typeface="Segoe UI" pitchFamily="34" charset="0"/>
              </a:rPr>
              <a:t>INAP was looking to maintain their SEO value while transitioning their domain name from internap.com to inap.com as well as increase lead generation. As such, they needed a detailed process for the domain change and support with their search engine marketing (SEM) tactics.  </a:t>
            </a:r>
          </a:p>
          <a:p>
            <a:endParaRPr lang="en-US" altLang="ja-JP" sz="1400" dirty="0">
              <a:latin typeface="Segoe UI" pitchFamily="34" charset="0"/>
              <a:cs typeface="Segoe UI" pitchFamily="34" charset="0"/>
            </a:endParaRPr>
          </a:p>
          <a:p>
            <a:pPr>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What We Did</a:t>
            </a:r>
            <a:endParaRPr lang="en-US" sz="2000" dirty="0">
              <a:latin typeface="Segoe UI Light" panose="020B0502040204020203" pitchFamily="34" charset="0"/>
              <a:cs typeface="Segoe UI Light" panose="020B0502040204020203" pitchFamily="34" charset="0"/>
            </a:endParaRPr>
          </a:p>
          <a:p>
            <a:r>
              <a:rPr lang="en-US" sz="1400" dirty="0">
                <a:latin typeface="Segoe UI" pitchFamily="34" charset="0"/>
                <a:cs typeface="Segoe UI" pitchFamily="34" charset="0"/>
              </a:rPr>
              <a:t>Affirma provided a step-by-step domain change strategy for INAP’s web development team, specifically how to minimize the impact to SEO. The Affirma team also performed a full SEO audit and then implemented best practices and recommendations, including meta description updates, back link management and set up of the Google Search Console for indexing. In addition, local SEO was set up for Google and Bing maps. </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Affirma performed a keyword and competitor analysis to develop a comprehensive Pay-Per-Click (PPC) Google and Bing AdWords strategy well as retargeting strategy. Implementation included creating campaigns and landing pages as well as setting up appropriate tracking code.</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Affirma continues to support INAP’s team with their SEO/SEM efforts.</a:t>
            </a:r>
          </a:p>
        </p:txBody>
      </p:sp>
      <p:sp>
        <p:nvSpPr>
          <p:cNvPr id="7" name="Rectangle 6"/>
          <p:cNvSpPr/>
          <p:nvPr/>
        </p:nvSpPr>
        <p:spPr>
          <a:xfrm>
            <a:off x="0" y="-3025"/>
            <a:ext cx="10058400" cy="163128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 name="Title 1"/>
          <p:cNvSpPr txBox="1">
            <a:spLocks/>
          </p:cNvSpPr>
          <p:nvPr/>
        </p:nvSpPr>
        <p:spPr>
          <a:xfrm>
            <a:off x="437007" y="261171"/>
            <a:ext cx="9293401" cy="838988"/>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600" spc="248" dirty="0">
                <a:solidFill>
                  <a:schemeClr val="bg1"/>
                </a:solidFill>
                <a:latin typeface="Segoe UI Light" panose="020B0502040204020203" pitchFamily="34" charset="0"/>
                <a:cs typeface="Segoe UI Light" panose="020B0502040204020203" pitchFamily="34" charset="0"/>
              </a:rPr>
              <a:t>INAP – Demand Gen: SEO/SEM</a:t>
            </a:r>
            <a:endParaRPr lang="en-US" sz="4000" spc="248" dirty="0">
              <a:solidFill>
                <a:schemeClr val="bg1"/>
              </a:solidFill>
              <a:latin typeface="Segoe UI Light" panose="020B0502040204020203" pitchFamily="34" charset="0"/>
              <a:cs typeface="Segoe UI Light" panose="020B0502040204020203" pitchFamily="34" charset="0"/>
            </a:endParaRP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8433040" y="7019029"/>
            <a:ext cx="1167123" cy="375827"/>
          </a:xfrm>
          <a:prstGeom prst="rect">
            <a:avLst/>
          </a:prstGeom>
        </p:spPr>
      </p:pic>
      <p:pic>
        <p:nvPicPr>
          <p:cNvPr id="3" name="Picture 2">
            <a:extLst>
              <a:ext uri="{FF2B5EF4-FFF2-40B4-BE49-F238E27FC236}">
                <a16:creationId xmlns:a16="http://schemas.microsoft.com/office/drawing/2014/main" id="{733CB4DB-1B36-49E5-B740-35F53291E9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698" y="1947667"/>
            <a:ext cx="2089702" cy="1326442"/>
          </a:xfrm>
          <a:prstGeom prst="rect">
            <a:avLst/>
          </a:prstGeom>
        </p:spPr>
      </p:pic>
      <p:pic>
        <p:nvPicPr>
          <p:cNvPr id="9" name="Picture 8">
            <a:extLst>
              <a:ext uri="{FF2B5EF4-FFF2-40B4-BE49-F238E27FC236}">
                <a16:creationId xmlns:a16="http://schemas.microsoft.com/office/drawing/2014/main" id="{1BE37D4A-CBCD-478B-BF7B-B775115F2004}"/>
              </a:ext>
            </a:extLst>
          </p:cNvPr>
          <p:cNvPicPr>
            <a:picLocks noChangeAspect="1"/>
          </p:cNvPicPr>
          <p:nvPr/>
        </p:nvPicPr>
        <p:blipFill>
          <a:blip r:embed="rId5"/>
          <a:stretch>
            <a:fillRect/>
          </a:stretch>
        </p:blipFill>
        <p:spPr>
          <a:xfrm>
            <a:off x="5601019" y="1892453"/>
            <a:ext cx="2367679" cy="4503017"/>
          </a:xfrm>
          <a:prstGeom prst="rect">
            <a:avLst/>
          </a:prstGeom>
        </p:spPr>
      </p:pic>
      <p:pic>
        <p:nvPicPr>
          <p:cNvPr id="2" name="Picture 1">
            <a:extLst>
              <a:ext uri="{FF2B5EF4-FFF2-40B4-BE49-F238E27FC236}">
                <a16:creationId xmlns:a16="http://schemas.microsoft.com/office/drawing/2014/main" id="{A9218A6E-8542-458D-B1F2-798F29AF6CC0}"/>
              </a:ext>
            </a:extLst>
          </p:cNvPr>
          <p:cNvPicPr>
            <a:picLocks noChangeAspect="1"/>
          </p:cNvPicPr>
          <p:nvPr/>
        </p:nvPicPr>
        <p:blipFill>
          <a:blip r:embed="rId6"/>
          <a:stretch>
            <a:fillRect/>
          </a:stretch>
        </p:blipFill>
        <p:spPr>
          <a:xfrm>
            <a:off x="7403168" y="3538305"/>
            <a:ext cx="2510290" cy="2179894"/>
          </a:xfrm>
          <a:prstGeom prst="rect">
            <a:avLst/>
          </a:prstGeom>
          <a:ln>
            <a:solidFill>
              <a:schemeClr val="accent2"/>
            </a:solidFill>
          </a:ln>
        </p:spPr>
      </p:pic>
    </p:spTree>
    <p:extLst>
      <p:ext uri="{BB962C8B-B14F-4D97-AF65-F5344CB8AC3E}">
        <p14:creationId xmlns:p14="http://schemas.microsoft.com/office/powerpoint/2010/main" val="313498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37007" y="1799226"/>
            <a:ext cx="9382854" cy="2985433"/>
          </a:xfrm>
          <a:prstGeom prst="rect">
            <a:avLst/>
          </a:prstGeom>
          <a:noFill/>
        </p:spPr>
        <p:txBody>
          <a:bodyPr wrap="square" rtlCol="0">
            <a:spAutoFit/>
          </a:bodyPr>
          <a:lstStyle/>
          <a:p>
            <a:pPr lvl="0">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Business Need</a:t>
            </a:r>
            <a:endParaRPr lang="en-US" altLang="ja-JP" sz="2000" dirty="0">
              <a:solidFill>
                <a:schemeClr val="tx1">
                  <a:lumMod val="75000"/>
                  <a:lumOff val="25000"/>
                </a:schemeClr>
              </a:solidFill>
              <a:latin typeface="Segoe UI" pitchFamily="34" charset="0"/>
              <a:cs typeface="Segoe UI" pitchFamily="34" charset="0"/>
            </a:endParaRPr>
          </a:p>
          <a:p>
            <a:r>
              <a:rPr lang="en-US" altLang="ja-JP" sz="1400" dirty="0">
                <a:latin typeface="Segoe UI" pitchFamily="34" charset="0"/>
                <a:cs typeface="Segoe UI" pitchFamily="34" charset="0"/>
              </a:rPr>
              <a:t>In addition to SEO/SEM to further demand gen activities, INAP also wanted more efficient social media management and an increase in value-added blog content to generate more leads. </a:t>
            </a:r>
          </a:p>
          <a:p>
            <a:endParaRPr lang="en-US" altLang="ja-JP" sz="1400" dirty="0">
              <a:latin typeface="Segoe UI" pitchFamily="34" charset="0"/>
              <a:cs typeface="Segoe UI" pitchFamily="34" charset="0"/>
            </a:endParaRPr>
          </a:p>
          <a:p>
            <a:pPr>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What We Did</a:t>
            </a:r>
            <a:endParaRPr lang="en-US" sz="2000" dirty="0">
              <a:latin typeface="Segoe UI Light" panose="020B0502040204020203" pitchFamily="34" charset="0"/>
              <a:cs typeface="Segoe UI Light" panose="020B0502040204020203" pitchFamily="34" charset="0"/>
            </a:endParaRPr>
          </a:p>
          <a:p>
            <a:r>
              <a:rPr lang="en-US" sz="1400" dirty="0">
                <a:latin typeface="Segoe UI" pitchFamily="34" charset="0"/>
                <a:cs typeface="Segoe UI" pitchFamily="34" charset="0"/>
              </a:rPr>
              <a:t>Affirma developed a detailed social media action plan, which called out specific recommendations for INAP’s Facebook, Twitter, Pinterest, LinkedIn, YouTube and Google+ accounts. Affirma also identified a social media management platform, Buffer, to simplify management and reporting of social accounts. </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Finally, based on topics provided by INAP, Affirma researches and writes approximately two articles per month for their blog.</a:t>
            </a:r>
          </a:p>
          <a:p>
            <a:endParaRPr lang="en-US" sz="1400" dirty="0">
              <a:latin typeface="Segoe UI" pitchFamily="34" charset="0"/>
              <a:cs typeface="Segoe UI" pitchFamily="34" charset="0"/>
            </a:endParaRPr>
          </a:p>
        </p:txBody>
      </p:sp>
      <p:sp>
        <p:nvSpPr>
          <p:cNvPr id="7" name="Rectangle 6"/>
          <p:cNvSpPr/>
          <p:nvPr/>
        </p:nvSpPr>
        <p:spPr>
          <a:xfrm>
            <a:off x="0" y="-3025"/>
            <a:ext cx="10058400" cy="163128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 name="Title 1"/>
          <p:cNvSpPr txBox="1">
            <a:spLocks/>
          </p:cNvSpPr>
          <p:nvPr/>
        </p:nvSpPr>
        <p:spPr>
          <a:xfrm>
            <a:off x="437007" y="261171"/>
            <a:ext cx="9293401" cy="838988"/>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600" spc="248" dirty="0">
                <a:solidFill>
                  <a:schemeClr val="bg1"/>
                </a:solidFill>
                <a:latin typeface="Segoe UI Light" panose="020B0502040204020203" pitchFamily="34" charset="0"/>
                <a:cs typeface="Segoe UI Light" panose="020B0502040204020203" pitchFamily="34" charset="0"/>
              </a:rPr>
              <a:t>INAP – Demand Gen: Social Media &amp; Content Creation</a:t>
            </a:r>
          </a:p>
          <a:p>
            <a:endParaRPr lang="en-US" sz="4000" spc="248" dirty="0">
              <a:solidFill>
                <a:schemeClr val="bg1"/>
              </a:solidFill>
              <a:latin typeface="Segoe UI Light" panose="020B0502040204020203" pitchFamily="34" charset="0"/>
              <a:cs typeface="Segoe UI Light" panose="020B0502040204020203" pitchFamily="34" charset="0"/>
            </a:endParaRP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8433040" y="7019029"/>
            <a:ext cx="1167123" cy="375827"/>
          </a:xfrm>
          <a:prstGeom prst="rect">
            <a:avLst/>
          </a:prstGeom>
        </p:spPr>
      </p:pic>
      <p:pic>
        <p:nvPicPr>
          <p:cNvPr id="4" name="Picture 3">
            <a:extLst>
              <a:ext uri="{FF2B5EF4-FFF2-40B4-BE49-F238E27FC236}">
                <a16:creationId xmlns:a16="http://schemas.microsoft.com/office/drawing/2014/main" id="{DBE157F4-DDE5-4C63-9C74-4F71B52EE930}"/>
              </a:ext>
            </a:extLst>
          </p:cNvPr>
          <p:cNvPicPr>
            <a:picLocks noChangeAspect="1"/>
          </p:cNvPicPr>
          <p:nvPr/>
        </p:nvPicPr>
        <p:blipFill>
          <a:blip r:embed="rId4"/>
          <a:stretch>
            <a:fillRect/>
          </a:stretch>
        </p:blipFill>
        <p:spPr>
          <a:xfrm>
            <a:off x="922683" y="4884753"/>
            <a:ext cx="6680752" cy="2586574"/>
          </a:xfrm>
          <a:prstGeom prst="rect">
            <a:avLst/>
          </a:prstGeom>
        </p:spPr>
      </p:pic>
    </p:spTree>
    <p:extLst>
      <p:ext uri="{BB962C8B-B14F-4D97-AF65-F5344CB8AC3E}">
        <p14:creationId xmlns:p14="http://schemas.microsoft.com/office/powerpoint/2010/main" val="70392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37007" y="1628257"/>
            <a:ext cx="6083064" cy="6001643"/>
          </a:xfrm>
          <a:prstGeom prst="rect">
            <a:avLst/>
          </a:prstGeom>
          <a:noFill/>
        </p:spPr>
        <p:txBody>
          <a:bodyPr wrap="square" rtlCol="0">
            <a:spAutoFit/>
          </a:bodyPr>
          <a:lstStyle/>
          <a:p>
            <a:pPr lvl="0">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Business Need</a:t>
            </a:r>
            <a:endParaRPr lang="en-US" altLang="ja-JP" sz="1200" dirty="0">
              <a:solidFill>
                <a:schemeClr val="tx1">
                  <a:lumMod val="75000"/>
                  <a:lumOff val="25000"/>
                </a:schemeClr>
              </a:solidFill>
              <a:latin typeface="Segoe UI" pitchFamily="34" charset="0"/>
              <a:cs typeface="Segoe UI" pitchFamily="34" charset="0"/>
            </a:endParaRPr>
          </a:p>
          <a:p>
            <a:r>
              <a:rPr lang="en-US" altLang="ja-JP" sz="1400" dirty="0">
                <a:latin typeface="Segoe UI" pitchFamily="34" charset="0"/>
                <a:cs typeface="Segoe UI" pitchFamily="34" charset="0"/>
              </a:rPr>
              <a:t>INAP utilizes Pardot for their marketing automation cloud-based service and didn’t feel they were getting the most out of the platform. They wanted an evaluation of their current usage and ongoing support to better leverage the tool.</a:t>
            </a:r>
          </a:p>
          <a:p>
            <a:endParaRPr lang="en-US" sz="1400" dirty="0">
              <a:latin typeface="Segoe UI" pitchFamily="34" charset="0"/>
              <a:cs typeface="Segoe UI" pitchFamily="34" charset="0"/>
            </a:endParaRPr>
          </a:p>
          <a:p>
            <a:pPr>
              <a:lnSpc>
                <a:spcPct val="120000"/>
              </a:lnSpc>
            </a:pPr>
            <a:r>
              <a:rPr lang="en-US" sz="2000" dirty="0">
                <a:solidFill>
                  <a:srgbClr val="ED5E29"/>
                </a:solidFill>
                <a:latin typeface="Segoe UI Light" panose="020B0502040204020203" pitchFamily="34" charset="0"/>
                <a:ea typeface="MS Gothic" panose="020B0609070205080204" pitchFamily="49" charset="-128"/>
                <a:cs typeface="Segoe UI Light" panose="020B0502040204020203" pitchFamily="34" charset="0"/>
              </a:rPr>
              <a:t>What We Did</a:t>
            </a:r>
            <a:endParaRPr lang="en-US" sz="700" dirty="0">
              <a:latin typeface="Segoe UI" pitchFamily="34" charset="0"/>
              <a:cs typeface="Segoe UI" pitchFamily="34" charset="0"/>
            </a:endParaRPr>
          </a:p>
          <a:p>
            <a:r>
              <a:rPr lang="en-US" sz="1400" dirty="0">
                <a:latin typeface="Segoe UI" pitchFamily="34" charset="0"/>
                <a:cs typeface="Segoe UI" pitchFamily="34" charset="0"/>
              </a:rPr>
              <a:t>Affirma performed an in-depth audit of the platform, and provided best practices and recommendations for configuration and usage.  </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The Affirma creative and development team designed and built new templates within Pardot, including landing page, thank you page, email and newsletter templates. The aim was to preserve as much of the ‘drag and drop’ Pardot functionality as possible to make editing easier and more efficient. Upon building, Affirma updated all the autoresponder emails with the new template.</a:t>
            </a:r>
          </a:p>
          <a:p>
            <a:endParaRPr lang="en-US" sz="1400" dirty="0">
              <a:latin typeface="Segoe UI" pitchFamily="34" charset="0"/>
              <a:cs typeface="Segoe UI" pitchFamily="34" charset="0"/>
            </a:endParaRPr>
          </a:p>
          <a:p>
            <a:r>
              <a:rPr lang="en-US" sz="1400" dirty="0" err="1">
                <a:latin typeface="Segoe UI" pitchFamily="34" charset="0"/>
                <a:cs typeface="Segoe UI" pitchFamily="34" charset="0"/>
              </a:rPr>
              <a:t>Affirma’s</a:t>
            </a:r>
            <a:r>
              <a:rPr lang="en-US" sz="1400" dirty="0">
                <a:latin typeface="Segoe UI" pitchFamily="34" charset="0"/>
                <a:cs typeface="Segoe UI" pitchFamily="34" charset="0"/>
              </a:rPr>
              <a:t> custom development team also created a two-column form, which is not native Pardot functionality that INAP can now use on landing/website pages. </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Finally, Affirma prepared an email deliverability and bounce management document pertaining to Pardot to improve sending and reduce bounces.</a:t>
            </a:r>
          </a:p>
          <a:p>
            <a:endParaRPr lang="en-US" sz="1400" dirty="0">
              <a:latin typeface="Segoe UI" pitchFamily="34" charset="0"/>
              <a:cs typeface="Segoe UI" pitchFamily="34" charset="0"/>
            </a:endParaRPr>
          </a:p>
          <a:p>
            <a:r>
              <a:rPr lang="en-US" sz="1400" dirty="0">
                <a:latin typeface="Segoe UI" pitchFamily="34" charset="0"/>
                <a:cs typeface="Segoe UI" pitchFamily="34" charset="0"/>
              </a:rPr>
              <a:t>Affirma continues to support INAP’s team with Pardot and will be implementing Engagement Studio and nurture campaigns.</a:t>
            </a:r>
          </a:p>
        </p:txBody>
      </p:sp>
      <p:sp>
        <p:nvSpPr>
          <p:cNvPr id="7" name="Rectangle 6"/>
          <p:cNvSpPr/>
          <p:nvPr/>
        </p:nvSpPr>
        <p:spPr>
          <a:xfrm>
            <a:off x="0" y="-3025"/>
            <a:ext cx="10058400" cy="163128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 name="Title 1"/>
          <p:cNvSpPr txBox="1">
            <a:spLocks/>
          </p:cNvSpPr>
          <p:nvPr/>
        </p:nvSpPr>
        <p:spPr>
          <a:xfrm>
            <a:off x="437007" y="261171"/>
            <a:ext cx="9293401" cy="838988"/>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600" spc="248" dirty="0">
                <a:solidFill>
                  <a:schemeClr val="bg1"/>
                </a:solidFill>
                <a:latin typeface="Segoe UI Light" panose="020B0502040204020203" pitchFamily="34" charset="0"/>
                <a:cs typeface="Segoe UI Light" panose="020B0502040204020203" pitchFamily="34" charset="0"/>
              </a:rPr>
              <a:t>INAP – Marketing Automation: Pardot</a:t>
            </a:r>
          </a:p>
          <a:p>
            <a:endParaRPr lang="en-US" sz="4000" spc="248" dirty="0">
              <a:solidFill>
                <a:schemeClr val="bg1"/>
              </a:solidFill>
              <a:latin typeface="Segoe UI Light" panose="020B0502040204020203" pitchFamily="34" charset="0"/>
              <a:cs typeface="Segoe UI Light" panose="020B0502040204020203" pitchFamily="34" charset="0"/>
            </a:endParaRP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r="4077"/>
          <a:stretch/>
        </p:blipFill>
        <p:spPr>
          <a:xfrm>
            <a:off x="8433040" y="7019029"/>
            <a:ext cx="1167123" cy="375827"/>
          </a:xfrm>
          <a:prstGeom prst="rect">
            <a:avLst/>
          </a:prstGeom>
        </p:spPr>
      </p:pic>
      <p:pic>
        <p:nvPicPr>
          <p:cNvPr id="4" name="Picture 3">
            <a:extLst>
              <a:ext uri="{FF2B5EF4-FFF2-40B4-BE49-F238E27FC236}">
                <a16:creationId xmlns:a16="http://schemas.microsoft.com/office/drawing/2014/main" id="{DAEE2F3F-D79D-4F0F-932B-2A93B5EE5430}"/>
              </a:ext>
            </a:extLst>
          </p:cNvPr>
          <p:cNvPicPr>
            <a:picLocks noChangeAspect="1"/>
          </p:cNvPicPr>
          <p:nvPr/>
        </p:nvPicPr>
        <p:blipFill>
          <a:blip r:embed="rId4"/>
          <a:stretch>
            <a:fillRect/>
          </a:stretch>
        </p:blipFill>
        <p:spPr>
          <a:xfrm>
            <a:off x="6765103" y="2707461"/>
            <a:ext cx="3048264" cy="1194920"/>
          </a:xfrm>
          <a:prstGeom prst="rect">
            <a:avLst/>
          </a:prstGeom>
        </p:spPr>
      </p:pic>
    </p:spTree>
    <p:extLst>
      <p:ext uri="{BB962C8B-B14F-4D97-AF65-F5344CB8AC3E}">
        <p14:creationId xmlns:p14="http://schemas.microsoft.com/office/powerpoint/2010/main" val="30559242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Value>Marketing Strategy</Value>
      <Value>Marketing Technology</Value>
    </Solutions>
    <Industries xmlns="f0ee8362-fa7e-4bc9-ab88-7dcfb17cb19b">
      <Value>Technology</Value>
      <Value>Services</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07D4A508-EEEA-4AFE-820F-8CBA486AFDF7}"/>
</file>

<file path=customXml/itemProps2.xml><?xml version="1.0" encoding="utf-8"?>
<ds:datastoreItem xmlns:ds="http://schemas.openxmlformats.org/officeDocument/2006/customXml" ds:itemID="{D6ED2471-C0D2-48AF-8C82-8EA403FA2F5A}">
  <ds:schemaRefs>
    <ds:schemaRef ds:uri="http://schemas.microsoft.com/sharepoint/v3/contenttype/forms"/>
  </ds:schemaRefs>
</ds:datastoreItem>
</file>

<file path=customXml/itemProps3.xml><?xml version="1.0" encoding="utf-8"?>
<ds:datastoreItem xmlns:ds="http://schemas.openxmlformats.org/officeDocument/2006/customXml" ds:itemID="{2A94E4A4-1B32-4A3C-847A-E2AB390C5201}">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4.xml><?xml version="1.0" encoding="utf-8"?>
<ds:datastoreItem xmlns:ds="http://schemas.openxmlformats.org/officeDocument/2006/customXml" ds:itemID="{70F8E63B-6E87-4408-B0E0-C81F6AFBD918}"/>
</file>

<file path=docProps/app.xml><?xml version="1.0" encoding="utf-8"?>
<Properties xmlns="http://schemas.openxmlformats.org/officeDocument/2006/extended-properties" xmlns:vt="http://schemas.openxmlformats.org/officeDocument/2006/docPropsVTypes">
  <Template/>
  <TotalTime>29522</TotalTime>
  <Words>842</Words>
  <Application>Microsoft Office PowerPoint</Application>
  <PresentationFormat>Custom</PresentationFormat>
  <Paragraphs>61</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MS Gothic</vt:lpstr>
      <vt:lpstr>MS Mincho</vt:lpstr>
      <vt:lpstr>ＭＳ Ｐゴシック</vt:lpstr>
      <vt:lpstr>Arial</vt:lpstr>
      <vt:lpstr>Calibri</vt:lpstr>
      <vt:lpstr>Calibri Light</vt:lpstr>
      <vt:lpstr>Segoe UI</vt:lpstr>
      <vt:lpstr>Segoe UI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Hopkins</dc:creator>
  <cp:lastModifiedBy>Kelsey Hurter</cp:lastModifiedBy>
  <cp:revision>1553</cp:revision>
  <dcterms:created xsi:type="dcterms:W3CDTF">2013-12-05T17:26:23Z</dcterms:created>
  <dcterms:modified xsi:type="dcterms:W3CDTF">2018-04-16T19:04:34Z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Order">
    <vt:r8>304800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Business Unit">
    <vt:lpwstr/>
  </property>
  <property fmtid="{D5CDD505-2E9C-101B-9397-08002B2CF9AE}" pid="8" name="Industry">
    <vt:lpwstr>49;#Technology|9fd4705e-a3c7-4085-9147-cb1125b68f2c</vt:lpwstr>
  </property>
  <property fmtid="{D5CDD505-2E9C-101B-9397-08002B2CF9AE}" pid="9" name="Service_x0020_Offering">
    <vt:lpwstr/>
  </property>
  <property fmtid="{D5CDD505-2E9C-101B-9397-08002B2CF9AE}" pid="10" name="Business_x0020_Unit">
    <vt:lpwstr/>
  </property>
  <property fmtid="{D5CDD505-2E9C-101B-9397-08002B2CF9AE}" pid="11" name="_ExtendedDescription">
    <vt:lpwstr/>
  </property>
  <property fmtid="{D5CDD505-2E9C-101B-9397-08002B2CF9AE}" pid="12" name="Service Offering">
    <vt:lpwstr/>
  </property>
  <property fmtid="{D5CDD505-2E9C-101B-9397-08002B2CF9AE}" pid="13" name="Category">
    <vt:lpwstr>6;#Case Study|8faa0ad1-25f0-4f56-8e38-f60e20c455d6</vt:lpwstr>
  </property>
  <property fmtid="{D5CDD505-2E9C-101B-9397-08002B2CF9AE}" pid="14" name="xd_Signature">
    <vt:bool>false</vt:bool>
  </property>
  <property fmtid="{D5CDD505-2E9C-101B-9397-08002B2CF9AE}" pid="15" name="SO">
    <vt:lpwstr>19;#;#18;#</vt:lpwstr>
  </property>
  <property fmtid="{D5CDD505-2E9C-101B-9397-08002B2CF9AE}" pid="16" name="xd_ProgID">
    <vt:lpwstr/>
  </property>
  <property fmtid="{D5CDD505-2E9C-101B-9397-08002B2CF9AE}" pid="17" name="TemplateUrl">
    <vt:lpwstr/>
  </property>
  <property fmtid="{D5CDD505-2E9C-101B-9397-08002B2CF9AE}" pid="18" name="TriggerFlowInfo">
    <vt:lpwstr/>
  </property>
</Properties>
</file>