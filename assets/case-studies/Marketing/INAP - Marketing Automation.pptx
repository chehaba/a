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103"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39922B-4E81-412C-BC4D-FB7B41004CD1}"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EB4A5-168C-4A4F-B053-2654E4E5CE59}" type="slidenum">
              <a:rPr lang="en-US" smtClean="0"/>
              <a:t>‹#›</a:t>
            </a:fld>
            <a:endParaRPr lang="en-US"/>
          </a:p>
        </p:txBody>
      </p:sp>
    </p:spTree>
    <p:extLst>
      <p:ext uri="{BB962C8B-B14F-4D97-AF65-F5344CB8AC3E}">
        <p14:creationId xmlns:p14="http://schemas.microsoft.com/office/powerpoint/2010/main" val="1554551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519549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9645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29792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16638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3652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96324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29031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34023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308907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68008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35650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35565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2370612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767976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0495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0003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6579306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3/12/2024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18192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297717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198254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248106717"/>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19613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839111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4213234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167976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ection Title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97830-EF50-B643-B994-D997482F2707}"/>
              </a:ext>
            </a:extLst>
          </p:cNvPr>
          <p:cNvSpPr/>
          <p:nvPr userDrawn="1"/>
        </p:nvSpPr>
        <p:spPr>
          <a:xfrm>
            <a:off x="6085837" y="0"/>
            <a:ext cx="6106163" cy="6857999"/>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922804" y="3046804"/>
            <a:ext cx="4415756" cy="1911276"/>
          </a:xfrm>
        </p:spPr>
        <p:txBody>
          <a:bodyPr anchor="t">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Title Placeholder</a:t>
            </a:r>
          </a:p>
        </p:txBody>
      </p:sp>
      <p:pic>
        <p:nvPicPr>
          <p:cNvPr id="13" name="Picture 12">
            <a:extLst>
              <a:ext uri="{FF2B5EF4-FFF2-40B4-BE49-F238E27FC236}">
                <a16:creationId xmlns:a16="http://schemas.microsoft.com/office/drawing/2014/main" id="{EA06EB43-50DE-5C43-AAC6-9C2DB54E885C}"/>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7949" t="2727" r="40534" b="23812"/>
          <a:stretch/>
        </p:blipFill>
        <p:spPr>
          <a:xfrm rot="5400000">
            <a:off x="7580032" y="2995634"/>
            <a:ext cx="3127936" cy="6096000"/>
          </a:xfrm>
          <a:prstGeom prst="rect">
            <a:avLst/>
          </a:prstGeom>
        </p:spPr>
      </p:pic>
      <p:sp>
        <p:nvSpPr>
          <p:cNvPr id="5" name="Text Placeholder 4">
            <a:extLst>
              <a:ext uri="{FF2B5EF4-FFF2-40B4-BE49-F238E27FC236}">
                <a16:creationId xmlns:a16="http://schemas.microsoft.com/office/drawing/2014/main" id="{A7342920-A5B1-934D-ADB8-26E82483F9D4}"/>
              </a:ext>
            </a:extLst>
          </p:cNvPr>
          <p:cNvSpPr>
            <a:spLocks noGrp="1"/>
          </p:cNvSpPr>
          <p:nvPr>
            <p:ph type="body" sz="quarter" idx="10" hasCustomPrompt="1"/>
          </p:nvPr>
        </p:nvSpPr>
        <p:spPr>
          <a:xfrm>
            <a:off x="6941818" y="1945416"/>
            <a:ext cx="4396742" cy="769915"/>
          </a:xfrm>
        </p:spPr>
        <p:txBody>
          <a:bodyPr/>
          <a:lstStyle>
            <a:lvl1pPr marL="0" indent="0">
              <a:buNone/>
              <a:defRPr sz="5600" b="0" i="0" spc="600">
                <a:solidFill>
                  <a:srgbClr val="FFD8A5"/>
                </a:solidFill>
                <a:latin typeface="Arial Narrow" panose="020B0604020202020204" pitchFamily="34" charset="0"/>
                <a:cs typeface="Arial Narrow" panose="020B0604020202020204" pitchFamily="34" charset="0"/>
              </a:defRPr>
            </a:lvl1pPr>
          </a:lstStyle>
          <a:p>
            <a:pPr lvl="0"/>
            <a:r>
              <a:rPr lang="en-US"/>
              <a:t>01</a:t>
            </a:r>
          </a:p>
        </p:txBody>
      </p:sp>
    </p:spTree>
    <p:extLst>
      <p:ext uri="{BB962C8B-B14F-4D97-AF65-F5344CB8AC3E}">
        <p14:creationId xmlns:p14="http://schemas.microsoft.com/office/powerpoint/2010/main" val="3924213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3/12/2024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4826753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0574" y="1250453"/>
            <a:ext cx="11707263" cy="4988417"/>
          </a:xfrm>
          <a:prstGeom prst="rect">
            <a:avLst/>
          </a:prstGeom>
          <a:noFill/>
        </p:spPr>
        <p:txBody>
          <a:bodyPr wrap="square" rtlCol="0">
            <a:spAutoFit/>
          </a:bodyPr>
          <a:lstStyle/>
          <a:p>
            <a:pPr defTabSz="976845">
              <a:lnSpc>
                <a:spcPct val="120000"/>
              </a:lnSpc>
            </a:pPr>
            <a:r>
              <a:rPr lang="en-US" sz="2117" b="1">
                <a:solidFill>
                  <a:srgbClr val="0096A9"/>
                </a:solidFill>
                <a:latin typeface="Segoe UI" panose="020B0502040204020203" pitchFamily="34" charset="0"/>
                <a:ea typeface="MS Mincho" panose="02020609040205080304" pitchFamily="49" charset="-128"/>
                <a:cs typeface="Segoe UI" panose="020B0502040204020203" pitchFamily="34" charset="0"/>
              </a:rPr>
              <a:t>Business Need</a:t>
            </a:r>
            <a:endParaRPr lang="en-US" altLang="ja-JP" sz="2117" b="1">
              <a:solidFill>
                <a:srgbClr val="0096A9"/>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altLang="ja-JP" sz="1500">
                <a:solidFill>
                  <a:srgbClr val="2B2B2B"/>
                </a:solidFill>
                <a:latin typeface="Segoe UI" panose="020B0502040204020203" pitchFamily="34" charset="0"/>
                <a:ea typeface="MS Mincho" panose="02020609040205080304" pitchFamily="49" charset="-128"/>
                <a:cs typeface="Segoe UI" panose="020B0502040204020203" pitchFamily="34" charset="0"/>
              </a:rPr>
              <a:t>INAP utilizes Pardot for their marketing automation cloud-based service and didn’t feel they were getting </a:t>
            </a:r>
          </a:p>
          <a:p>
            <a:pPr defTabSz="976845"/>
            <a:r>
              <a:rPr lang="en-US" altLang="ja-JP" sz="1500">
                <a:solidFill>
                  <a:srgbClr val="2B2B2B"/>
                </a:solidFill>
                <a:latin typeface="Segoe UI" panose="020B0502040204020203" pitchFamily="34" charset="0"/>
                <a:ea typeface="MS Mincho" panose="02020609040205080304" pitchFamily="49" charset="-128"/>
                <a:cs typeface="Segoe UI" panose="020B0502040204020203" pitchFamily="34" charset="0"/>
              </a:rPr>
              <a:t>the most out of the platform. They wanted an evaluation of their current usage and ongoing support</a:t>
            </a:r>
          </a:p>
          <a:p>
            <a:pPr defTabSz="976845"/>
            <a:r>
              <a:rPr lang="en-US" altLang="ja-JP" sz="1500">
                <a:solidFill>
                  <a:srgbClr val="2B2B2B"/>
                </a:solidFill>
                <a:latin typeface="Segoe UI" panose="020B0502040204020203" pitchFamily="34" charset="0"/>
                <a:ea typeface="MS Mincho" panose="02020609040205080304" pitchFamily="49" charset="-128"/>
                <a:cs typeface="Segoe UI" panose="020B0502040204020203" pitchFamily="34" charset="0"/>
              </a:rPr>
              <a:t>to better leverage the tool.</a:t>
            </a:r>
          </a:p>
          <a:p>
            <a:pPr defTabSz="976845"/>
            <a:endParaRPr lang="en-US" sz="1235">
              <a:solidFill>
                <a:prstClr val="black"/>
              </a:solidFill>
              <a:latin typeface="Segoe UI" pitchFamily="34" charset="0"/>
              <a:cs typeface="Segoe UI" pitchFamily="34" charset="0"/>
            </a:endParaRPr>
          </a:p>
          <a:p>
            <a:pPr defTabSz="976845">
              <a:lnSpc>
                <a:spcPct val="120000"/>
              </a:lnSpc>
            </a:pPr>
            <a:r>
              <a:rPr lang="en-US" sz="2117" b="1">
                <a:solidFill>
                  <a:srgbClr val="0096A9"/>
                </a:solidFill>
                <a:latin typeface="Segoe UI"/>
                <a:ea typeface="MS Mincho" panose="02020609040205080304" pitchFamily="49" charset="-128"/>
                <a:cs typeface="Segoe UI Light" panose="020B0502040204020203" pitchFamily="34" charset="0"/>
              </a:rPr>
              <a:t>What We Did</a:t>
            </a: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Affirma performed an in-depth audit of the platform, and provided best practices and recommendations</a:t>
            </a: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for configuration and usage.  </a:t>
            </a:r>
          </a:p>
          <a:p>
            <a:pPr defTabSz="976845"/>
            <a:endPar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The Affirma creative and development team designed and built new templates within Pardot, including landing page, thank you page, email and newsletter templates. The aim was to preserve as much of the ‘drag and drop’ Pardot functionality as possible to make editing easier and more efficient. Upon building, Affirma updated all the autoresponder emails with the new template.</a:t>
            </a:r>
          </a:p>
          <a:p>
            <a:pPr defTabSz="976845"/>
            <a:endPar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Affirma’s custom development team also created a two-column form, which is not native Pardot functionality that INAP can now use on landing/website pages. </a:t>
            </a:r>
          </a:p>
          <a:p>
            <a:pPr defTabSz="976845"/>
            <a:endPar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Finally, Affirma prepared an email deliverability and bounce management document pertaining to Pardot to improve sending and reduce bounces.</a:t>
            </a:r>
          </a:p>
          <a:p>
            <a:pPr defTabSz="976845"/>
            <a:endPar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endParaRPr>
          </a:p>
          <a:p>
            <a:pPr defTabSz="976845"/>
            <a:r>
              <a:rPr lang="en-US" sz="1500">
                <a:solidFill>
                  <a:srgbClr val="2B2B2B"/>
                </a:solidFill>
                <a:latin typeface="Segoe UI" panose="020B0502040204020203" pitchFamily="34" charset="0"/>
                <a:ea typeface="MS Mincho" panose="02020609040205080304" pitchFamily="49" charset="-128"/>
                <a:cs typeface="Segoe UI" panose="020B0502040204020203" pitchFamily="34" charset="0"/>
              </a:rPr>
              <a:t>Affirma continues to support INAP’s team with Pardot and will be implementing Engagement Studio and nurture campaigns.</a:t>
            </a:r>
          </a:p>
        </p:txBody>
      </p:sp>
      <p:sp>
        <p:nvSpPr>
          <p:cNvPr id="8" name="Title 1"/>
          <p:cNvSpPr txBox="1">
            <a:spLocks/>
          </p:cNvSpPr>
          <p:nvPr/>
        </p:nvSpPr>
        <p:spPr>
          <a:xfrm>
            <a:off x="340574" y="230781"/>
            <a:ext cx="8200060" cy="740283"/>
          </a:xfrm>
          <a:prstGeom prst="rect">
            <a:avLst/>
          </a:prstGeom>
        </p:spPr>
        <p:txBody>
          <a:bodyPr>
            <a:noAutofit/>
          </a:bodyPr>
          <a:lstStyle>
            <a:lvl1pPr algn="l" defTabSz="1005840" rtl="0" eaLnBrk="1" latinLnBrk="0" hangingPunct="1">
              <a:lnSpc>
                <a:spcPct val="90000"/>
              </a:lnSpc>
              <a:spcBef>
                <a:spcPct val="0"/>
              </a:spcBef>
              <a:buNone/>
              <a:defRPr sz="4840" kern="1200">
                <a:solidFill>
                  <a:schemeClr val="tx1"/>
                </a:solidFill>
                <a:latin typeface="+mj-lt"/>
                <a:ea typeface="+mj-ea"/>
                <a:cs typeface="+mj-cs"/>
              </a:defRPr>
            </a:lvl1pPr>
          </a:lstStyle>
          <a:p>
            <a:pPr defTabSz="838166"/>
            <a:r>
              <a:rPr lang="en-US" sz="3167">
                <a:solidFill>
                  <a:prstClr val="white"/>
                </a:solidFill>
                <a:latin typeface="Segoe UI Light"/>
              </a:rPr>
              <a:t>INAP – Marketing Automation</a:t>
            </a:r>
          </a:p>
          <a:p>
            <a:pPr defTabSz="838166"/>
            <a:endParaRPr lang="en-US" sz="3529" spc="219">
              <a:solidFill>
                <a:prstClr val="white"/>
              </a:solidFill>
              <a:latin typeface="Segoe UI Light" panose="020B0502040204020203" pitchFamily="34" charset="0"/>
              <a:cs typeface="Segoe UI Light" panose="020B0502040204020203" pitchFamily="34" charset="0"/>
            </a:endParaRPr>
          </a:p>
        </p:txBody>
      </p:sp>
      <p:pic>
        <p:nvPicPr>
          <p:cNvPr id="9" name="Picture 8">
            <a:extLst>
              <a:ext uri="{FF2B5EF4-FFF2-40B4-BE49-F238E27FC236}">
                <a16:creationId xmlns:a16="http://schemas.microsoft.com/office/drawing/2014/main" id="{A4444D82-38B4-4CBC-BD17-58C7718900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0" y="1250453"/>
            <a:ext cx="2396351" cy="1521088"/>
          </a:xfrm>
          <a:prstGeom prst="rect">
            <a:avLst/>
          </a:prstGeom>
        </p:spPr>
      </p:pic>
    </p:spTree>
    <p:extLst>
      <p:ext uri="{BB962C8B-B14F-4D97-AF65-F5344CB8AC3E}">
        <p14:creationId xmlns:p14="http://schemas.microsoft.com/office/powerpoint/2010/main" val="3055924279"/>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Marketing Services</Value>
    </BusinessUnit>
    <Solutions xmlns="f0ee8362-fa7e-4bc9-ab88-7dcfb17cb19b" xsi:nil="true"/>
    <Industries xmlns="f0ee8362-fa7e-4bc9-ab88-7dcfb17cb19b">
      <Value>Technology</Value>
    </Industries>
    <Notes0 xmlns="f0ee8362-fa7e-4bc9-ab88-7dcfb17cb19b" xsi:nil="true"/>
    <Named_x0020_Account xmlns="f0ee8362-fa7e-4bc9-ab88-7dcfb17cb19b" xsi:nil="true"/>
    <PlatTech xmlns="f0ee8362-fa7e-4bc9-ab88-7dcfb17cb19b" xsi:nil="true"/>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7EC8F6C-2918-48B7-8FAF-F09CDE376609}"/>
</file>

<file path=customXml/itemProps2.xml><?xml version="1.0" encoding="utf-8"?>
<ds:datastoreItem xmlns:ds="http://schemas.openxmlformats.org/officeDocument/2006/customXml" ds:itemID="{E2F28B15-0812-4A61-93F4-13408A31B8CF}"/>
</file>

<file path=customXml/itemProps3.xml><?xml version="1.0" encoding="utf-8"?>
<ds:datastoreItem xmlns:ds="http://schemas.openxmlformats.org/officeDocument/2006/customXml" ds:itemID="{C8D6941A-7226-493B-86D0-D761C9AB08A4}"/>
</file>

<file path=customXml/itemProps4.xml><?xml version="1.0" encoding="utf-8"?>
<ds:datastoreItem xmlns:ds="http://schemas.openxmlformats.org/officeDocument/2006/customXml" ds:itemID="{4E3E32C1-3AC7-485A-A2DF-AFA3AD9DEFA9}"/>
</file>

<file path=docProps/app.xml><?xml version="1.0" encoding="utf-8"?>
<Properties xmlns="http://schemas.openxmlformats.org/officeDocument/2006/extended-properties" xmlns:vt="http://schemas.openxmlformats.org/officeDocument/2006/docPropsVTypes">
  <TotalTime>5</TotalTime>
  <Words>202</Words>
  <Application>Microsoft Office PowerPoint</Application>
  <PresentationFormat>Widescreen</PresentationFormat>
  <Paragraphs>18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Segoe UI</vt:lpstr>
      <vt:lpstr>Segoe UI Light</vt:lpstr>
      <vt:lpstr>Segoe UI Semilight</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Brendan Murphy</dc:creator>
  <cp:lastModifiedBy>Brendan Murphy</cp:lastModifiedBy>
  <cp:revision>2</cp:revision>
  <dcterms:created xsi:type="dcterms:W3CDTF">2024-03-12T20:53:18Z</dcterms:created>
  <dcterms:modified xsi:type="dcterms:W3CDTF">2024-03-12T20:59:17Z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