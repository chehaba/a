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BBE59A-BF58-55A3-57FD-66427A788D8B}" v="71" dt="2024-06-03T16:10:43.813"/>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11BBE59A-BF58-55A3-57FD-66427A788D8B}"/>
    <pc:docChg chg="modSld">
      <pc:chgData name="Brendan Murphy" userId="S::bmurphy@affirma.com::e9f923b6-6d89-4d4e-a3b7-d9304b9d44ba" providerId="AD" clId="Web-{11BBE59A-BF58-55A3-57FD-66427A788D8B}" dt="2024-06-03T16:10:43.813" v="46" actId="20577"/>
      <pc:docMkLst>
        <pc:docMk/>
      </pc:docMkLst>
      <pc:sldChg chg="modSp">
        <pc:chgData name="Brendan Murphy" userId="S::bmurphy@affirma.com::e9f923b6-6d89-4d4e-a3b7-d9304b9d44ba" providerId="AD" clId="Web-{11BBE59A-BF58-55A3-57FD-66427A788D8B}" dt="2024-06-03T16:10:43.813" v="46" actId="20577"/>
        <pc:sldMkLst>
          <pc:docMk/>
          <pc:sldMk cId="2582825011" sldId="300"/>
        </pc:sldMkLst>
        <pc:spChg chg="mod">
          <ac:chgData name="Brendan Murphy" userId="S::bmurphy@affirma.com::e9f923b6-6d89-4d4e-a3b7-d9304b9d44ba" providerId="AD" clId="Web-{11BBE59A-BF58-55A3-57FD-66427A788D8B}" dt="2024-06-03T16:10:12.969" v="28" actId="1076"/>
          <ac:spMkLst>
            <pc:docMk/>
            <pc:sldMk cId="2582825011" sldId="300"/>
            <ac:spMk id="31" creationId="{EC9A7433-5BCD-4EA6-924A-53FDBF0CAAA6}"/>
          </ac:spMkLst>
        </pc:spChg>
        <pc:spChg chg="mod">
          <ac:chgData name="Brendan Murphy" userId="S::bmurphy@affirma.com::e9f923b6-6d89-4d4e-a3b7-d9304b9d44ba" providerId="AD" clId="Web-{11BBE59A-BF58-55A3-57FD-66427A788D8B}" dt="2024-06-03T16:09:44.030" v="22" actId="1076"/>
          <ac:spMkLst>
            <pc:docMk/>
            <pc:sldMk cId="2582825011" sldId="300"/>
            <ac:spMk id="32" creationId="{E1C0119A-9047-4290-917B-405E19FFDA31}"/>
          </ac:spMkLst>
        </pc:spChg>
        <pc:spChg chg="mod">
          <ac:chgData name="Brendan Murphy" userId="S::bmurphy@affirma.com::e9f923b6-6d89-4d4e-a3b7-d9304b9d44ba" providerId="AD" clId="Web-{11BBE59A-BF58-55A3-57FD-66427A788D8B}" dt="2024-06-03T16:10:34.673" v="43" actId="20577"/>
          <ac:spMkLst>
            <pc:docMk/>
            <pc:sldMk cId="2582825011" sldId="300"/>
            <ac:spMk id="33" creationId="{A2CD0AFB-BBEB-434B-985F-3ACF7BE51454}"/>
          </ac:spMkLst>
        </pc:spChg>
        <pc:spChg chg="mod">
          <ac:chgData name="Brendan Murphy" userId="S::bmurphy@affirma.com::e9f923b6-6d89-4d4e-a3b7-d9304b9d44ba" providerId="AD" clId="Web-{11BBE59A-BF58-55A3-57FD-66427A788D8B}" dt="2024-06-03T16:09:49.640" v="24" actId="1076"/>
          <ac:spMkLst>
            <pc:docMk/>
            <pc:sldMk cId="2582825011" sldId="300"/>
            <ac:spMk id="34" creationId="{EC17F625-2EC2-4F28-895B-03B104D7945A}"/>
          </ac:spMkLst>
        </pc:spChg>
        <pc:spChg chg="mod">
          <ac:chgData name="Brendan Murphy" userId="S::bmurphy@affirma.com::e9f923b6-6d89-4d4e-a3b7-d9304b9d44ba" providerId="AD" clId="Web-{11BBE59A-BF58-55A3-57FD-66427A788D8B}" dt="2024-06-03T16:10:43.813" v="46" actId="20577"/>
          <ac:spMkLst>
            <pc:docMk/>
            <pc:sldMk cId="2582825011" sldId="300"/>
            <ac:spMk id="35" creationId="{127A5A2A-6A75-46BB-A872-3D435F9C8C26}"/>
          </ac:spMkLst>
        </pc:spChg>
        <pc:spChg chg="mod">
          <ac:chgData name="Brendan Murphy" userId="S::bmurphy@affirma.com::e9f923b6-6d89-4d4e-a3b7-d9304b9d44ba" providerId="AD" clId="Web-{11BBE59A-BF58-55A3-57FD-66427A788D8B}" dt="2024-06-03T16:09:30.092" v="16" actId="1076"/>
          <ac:spMkLst>
            <pc:docMk/>
            <pc:sldMk cId="2582825011" sldId="300"/>
            <ac:spMk id="36" creationId="{4651924A-7907-4360-9ED8-B533D803C2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Enterprise Social Media Client – OneDrive Migration</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710166" y="1564280"/>
            <a:ext cx="5533147" cy="2462213"/>
          </a:xfrm>
          <a:prstGeom prst="rect">
            <a:avLst/>
          </a:prstGeom>
          <a:noFill/>
        </p:spPr>
        <p:txBody>
          <a:bodyPr wrap="square" lIns="91440" tIns="45720" rIns="91440" bIns="45720" rtlCol="0" anchor="t">
            <a:spAutoFit/>
          </a:bodyPr>
          <a:lstStyle/>
          <a:p>
            <a:r>
              <a:rPr lang="en-US" sz="1100" b="0" i="0" kern="1200" dirty="0">
                <a:effectLst/>
                <a:latin typeface="Open Sans"/>
                <a:ea typeface="+mn-ea"/>
                <a:cs typeface="+mn-cs"/>
              </a:rPr>
              <a:t>In a company-wide initiative to increase file security and improve organizational collaboration, a leading social media enterprise sought the assistance of </a:t>
            </a:r>
            <a:r>
              <a:rPr lang="en-US" sz="1100" b="0" i="0" kern="1200" err="1">
                <a:effectLst/>
                <a:latin typeface="Open Sans"/>
                <a:ea typeface="+mn-ea"/>
                <a:cs typeface="+mn-cs"/>
              </a:rPr>
              <a:t>Affirma</a:t>
            </a:r>
            <a:r>
              <a:rPr lang="en-US" sz="1100" b="0" i="0" kern="1200" dirty="0">
                <a:effectLst/>
                <a:latin typeface="Open Sans"/>
                <a:ea typeface="+mn-ea"/>
                <a:cs typeface="+mn-cs"/>
              </a:rPr>
              <a:t> to develop and execute a time-critical plan to migrate from Zoho to OneDrive for Business. The OneDrive solution was determined as a way to easily integrate with their existing Microsoft stack</a:t>
            </a:r>
            <a:r>
              <a:rPr lang="en-US" sz="1100" dirty="0">
                <a:latin typeface="Open Sans"/>
              </a:rPr>
              <a:t>.</a:t>
            </a:r>
            <a:r>
              <a:rPr lang="en-US" sz="1100" b="0" i="0" kern="1200" dirty="0">
                <a:effectLst/>
                <a:latin typeface="Open Sans"/>
                <a:ea typeface="+mn-ea"/>
                <a:cs typeface="+mn-cs"/>
              </a:rPr>
              <a:t>
The </a:t>
            </a:r>
            <a:r>
              <a:rPr lang="en-US" sz="1100" dirty="0">
                <a:latin typeface="Open Sans"/>
              </a:rPr>
              <a:t>client's</a:t>
            </a:r>
            <a:r>
              <a:rPr lang="en-US" sz="1100" b="0" i="0" kern="1200" dirty="0">
                <a:effectLst/>
                <a:latin typeface="Open Sans"/>
                <a:ea typeface="+mn-ea"/>
                <a:cs typeface="+mn-cs"/>
              </a:rPr>
              <a:t> existing Zoho system had been poorly managed over time and led to corrupted files, empty documents, and legacy user data scattered throughout</a:t>
            </a:r>
            <a:r>
              <a:rPr lang="en-US" sz="1100" dirty="0">
                <a:latin typeface="Open Sans"/>
              </a:rPr>
              <a:t>.</a:t>
            </a:r>
            <a:r>
              <a:rPr lang="en-US" sz="1100" b="0" i="0" kern="1200" dirty="0">
                <a:effectLst/>
                <a:latin typeface="Open Sans"/>
                <a:ea typeface="+mn-ea"/>
                <a:cs typeface="+mn-cs"/>
              </a:rPr>
              <a:t>
In addition to working with the disparate structure, the migration plan had to consider limitations by the Zoho server, client-server, and take place with minimal disruption to users. With the client facing a costly contract renewal, </a:t>
            </a:r>
            <a:r>
              <a:rPr lang="en-US" sz="1100" b="0" i="0" kern="1200" err="1">
                <a:effectLst/>
                <a:latin typeface="Open Sans"/>
                <a:ea typeface="+mn-ea"/>
                <a:cs typeface="+mn-cs"/>
              </a:rPr>
              <a:t>Affirma</a:t>
            </a:r>
            <a:r>
              <a:rPr lang="en-US" sz="1100" b="0" i="0" kern="1200" dirty="0">
                <a:effectLst/>
                <a:latin typeface="Open Sans"/>
                <a:ea typeface="+mn-ea"/>
                <a:cs typeface="+mn-cs"/>
              </a:rPr>
              <a:t> had to act quickly</a:t>
            </a:r>
            <a:r>
              <a:rPr lang="en-US" sz="1100" dirty="0">
                <a:latin typeface="Open Sans"/>
              </a:rPr>
              <a:t>.</a:t>
            </a:r>
            <a:r>
              <a:rPr lang="en-US" sz="1100" b="0" i="0" kern="1200" dirty="0">
                <a:effectLst/>
                <a:latin typeface="Open Sans"/>
                <a:ea typeface="+mn-ea"/>
                <a:cs typeface="+mn-cs"/>
              </a:rPr>
              <a:t>
</a:t>
            </a:r>
            <a:endParaRPr lang="en-U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710168" y="1181629"/>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636186" y="4716569"/>
            <a:ext cx="5533147" cy="2123658"/>
          </a:xfrm>
          <a:prstGeom prst="rect">
            <a:avLst/>
          </a:prstGeom>
          <a:noFill/>
        </p:spPr>
        <p:txBody>
          <a:bodyPr wrap="square" lIns="91440" tIns="45720" rIns="91440" bIns="45720" rtlCol="0" anchor="t">
            <a:spAutoFit/>
          </a:bodyPr>
          <a:lstStyle/>
          <a:p>
            <a:r>
              <a:rPr lang="en-US" sz="1100" b="0" i="0" kern="1200" dirty="0">
                <a:effectLst/>
                <a:latin typeface="Open Sans"/>
                <a:ea typeface="+mn-ea"/>
                <a:cs typeface="+mn-cs"/>
              </a:rPr>
              <a:t>After carefully taking inventory of their existing files and architecture, </a:t>
            </a:r>
            <a:r>
              <a:rPr lang="en-US" sz="1100" b="0" i="0" kern="1200" err="1">
                <a:effectLst/>
                <a:latin typeface="Open Sans"/>
                <a:ea typeface="+mn-ea"/>
                <a:cs typeface="+mn-cs"/>
              </a:rPr>
              <a:t>Affirma</a:t>
            </a:r>
            <a:r>
              <a:rPr lang="en-US" sz="1100" b="0" i="0" kern="1200" dirty="0">
                <a:effectLst/>
                <a:latin typeface="Open Sans"/>
                <a:ea typeface="+mn-ea"/>
                <a:cs typeface="+mn-cs"/>
              </a:rPr>
              <a:t> determined that an existing tool would not be able to successfully undertake such a vital migration. </a:t>
            </a:r>
            <a:r>
              <a:rPr lang="en-US" sz="1100" err="1">
                <a:latin typeface="Open Sans"/>
              </a:rPr>
              <a:t>Affirma's</a:t>
            </a:r>
            <a:r>
              <a:rPr lang="en-US" sz="1100" b="0" i="0" kern="1200" dirty="0">
                <a:effectLst/>
                <a:latin typeface="Open Sans"/>
                <a:ea typeface="+mn-ea"/>
                <a:cs typeface="+mn-cs"/>
              </a:rPr>
              <a:t> Custom Software Development team stepped in to develop a unique tool that would programmatically power the migration. This provided the client the time and cost savings of using an automated tool, but with robust quality assurance tailored for their existing system</a:t>
            </a:r>
            <a:r>
              <a:rPr lang="en-US" sz="1100" dirty="0">
                <a:latin typeface="Open Sans"/>
              </a:rPr>
              <a:t>.</a:t>
            </a:r>
            <a:r>
              <a:rPr lang="en-US" sz="1100" b="0" i="0" kern="1200" dirty="0">
                <a:effectLst/>
                <a:latin typeface="Open Sans"/>
                <a:ea typeface="+mn-ea"/>
                <a:cs typeface="+mn-cs"/>
              </a:rPr>
              <a:t>
</a:t>
            </a:r>
            <a:r>
              <a:rPr lang="en-US" sz="1100" dirty="0">
                <a:latin typeface="Open Sans"/>
              </a:rPr>
              <a:t>
</a:t>
            </a:r>
            <a:r>
              <a:rPr lang="en-US" sz="1100" b="0" i="0" kern="1200" dirty="0">
                <a:effectLst/>
                <a:latin typeface="Open Sans"/>
                <a:ea typeface="+mn-ea"/>
                <a:cs typeface="+mn-cs"/>
              </a:rPr>
              <a:t>The tool not only migrated everything from recycle bins to searchable document data, but kept the active-user architecture in place while creating an archive for inactive user data. In addition, rigorous file validation and logs ensured that </a:t>
            </a:r>
            <a:r>
              <a:rPr lang="en-US" sz="1100" b="0" i="0" kern="1200">
                <a:effectLst/>
                <a:latin typeface="Open Sans"/>
                <a:ea typeface="+mn-ea"/>
                <a:cs typeface="+mn-cs"/>
              </a:rPr>
              <a:t>missing files were addressed and sharing rules were also carried over</a:t>
            </a:r>
            <a:r>
              <a:rPr lang="en-US" sz="1100">
                <a:latin typeface="Open Sans"/>
              </a:rPr>
              <a:t>.</a:t>
            </a:r>
            <a:r>
              <a:rPr lang="en-US" sz="1100" b="0" i="0" kern="1200" dirty="0">
                <a:effectLst/>
                <a:latin typeface="Open Sans"/>
                <a:ea typeface="+mn-ea"/>
                <a:cs typeface="+mn-cs"/>
              </a:rPr>
              <a:t>
</a:t>
            </a:r>
            <a:endParaRPr lang="en-U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636187" y="4289529"/>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7524457" y="1706882"/>
            <a:ext cx="4504139" cy="1277273"/>
          </a:xfrm>
          <a:prstGeom prst="rect">
            <a:avLst/>
          </a:prstGeom>
          <a:noFill/>
        </p:spPr>
        <p:txBody>
          <a:bodyPr wrap="square" lIns="91440" tIns="45720" rIns="91440" bIns="45720" rtlCol="0" anchor="t">
            <a:spAutoFit/>
          </a:bodyPr>
          <a:lstStyle/>
          <a:p>
            <a:r>
              <a:rPr lang="en-US" sz="1100" b="0" i="0" kern="1200" dirty="0">
                <a:effectLst/>
                <a:latin typeface="Open Sans"/>
                <a:ea typeface="+mn-ea"/>
                <a:cs typeface="+mn-cs"/>
              </a:rPr>
              <a:t>The OneDrive migration went seamlessly. The client was emphatically satisfied with our solutions and execution, and is planning to migrate other systems. Best of all, the project was completed under budget and within the proposed timeline, saving the client the cost of their contract renewal and reducing end-user impact</a:t>
            </a:r>
            <a:r>
              <a:rPr lang="en-US" sz="1100" dirty="0">
                <a:latin typeface="Open Sans"/>
              </a:rPr>
              <a:t>.</a:t>
            </a:r>
            <a:r>
              <a:rPr lang="en-US" sz="1100" b="0" i="0" kern="1200" dirty="0">
                <a:effectLst/>
                <a:latin typeface="Open Sans"/>
                <a:ea typeface="+mn-ea"/>
                <a:cs typeface="+mn-cs"/>
              </a:rPr>
              <a:t>
</a:t>
            </a:r>
            <a:endParaRPr lang="en-U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7524457" y="1265045"/>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Migrations</Value>
    </Solutions>
    <Industries xmlns="f0ee8362-fa7e-4bc9-ab88-7dcfb17cb19b">
      <Value>Telecommunications</Value>
      <Value>Media</Value>
    </Industries>
    <Notes0 xmlns="f0ee8362-fa7e-4bc9-ab88-7dcfb17cb19b" xsi:nil="true"/>
    <Named_x0020_Account xmlns="f0ee8362-fa7e-4bc9-ab88-7dcfb17cb19b" xsi:nil="true"/>
    <PlatTech xmlns="f0ee8362-fa7e-4bc9-ab88-7dcfb17cb19b">
      <Value>OneDrive</Value>
      <Value>Zoho</Value>
    </PlatTech>
    <ProjectCompletionDate xmlns="f0ee8362-fa7e-4bc9-ab88-7dcfb17cb19b" xsi:nil="true"/>
    <ApprovedByClient xmlns="f0ee8362-fa7e-4bc9-ab88-7dcfb17cb19b">false</ApprovedByClient>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148A5E-A31C-4E34-8FAE-F12488B15A30}">
  <ds:schemaRefs>
    <ds:schemaRef ds:uri="http://schemas.microsoft.com/office/2006/metadata/customXsn"/>
  </ds:schemaRefs>
</ds:datastoreItem>
</file>

<file path=customXml/itemProps2.xml><?xml version="1.0" encoding="utf-8"?>
<ds:datastoreItem xmlns:ds="http://schemas.openxmlformats.org/officeDocument/2006/customXml" ds:itemID="{863868FF-F905-4CF4-9923-84DFDABAD35B}">
  <ds:schemaRefs>
    <ds:schemaRef ds:uri="http://schemas.microsoft.com/office/2006/metadata/properties"/>
    <ds:schemaRef ds:uri="http://schemas.microsoft.com/office/infopath/2007/PartnerControls"/>
    <ds:schemaRef ds:uri="f205c2cf-faee-43e7-95df-8aa62e5feae0"/>
  </ds:schemaRefs>
</ds:datastoreItem>
</file>

<file path=customXml/itemProps3.xml><?xml version="1.0" encoding="utf-8"?>
<ds:datastoreItem xmlns:ds="http://schemas.openxmlformats.org/officeDocument/2006/customXml" ds:itemID="{C8C22DC2-9F0D-4540-A8EF-9438A0619264}">
  <ds:schemaRefs>
    <ds:schemaRef ds:uri="http://schemas.microsoft.com/sharepoint/v3/contenttype/forms"/>
  </ds:schemaRefs>
</ds:datastoreItem>
</file>

<file path=customXml/itemProps4.xml><?xml version="1.0" encoding="utf-8"?>
<ds:datastoreItem xmlns:ds="http://schemas.openxmlformats.org/officeDocument/2006/customXml" ds:itemID="{1F4FF9E5-B1DB-46A4-8D9B-EF4F28EC271C}"/>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Enterprise Social Media Client – OneDrive Migration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595</cp:revision>
  <dcterms:created xsi:type="dcterms:W3CDTF">2017-10-09T12:47:23Z</dcterms:created>
  <dcterms:modified xsi:type="dcterms:W3CDTF">2024-06-03T16:10:44Z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45;#Entertainment|164e48a0-3a66-4c7e-b4d6-c588e429c0bc;#57;#Telecommunications|51d6e24d-6ea4-4d24-9fbe-9a4513e3088e</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19000</vt:r8>
  </property>
  <property fmtid="{D5CDD505-2E9C-101B-9397-08002B2CF9AE}" pid="11" name="xd_Signature">
    <vt:bool>false</vt:bool>
  </property>
  <property fmtid="{D5CDD505-2E9C-101B-9397-08002B2CF9AE}" pid="12" name="SO">
    <vt:lpwstr>26;#</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