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customXml/itemProps4.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5"/>
  </p:sldMasterIdLst>
  <p:notesMasterIdLst>
    <p:notesMasterId r:id="rId7"/>
  </p:notesMasterIdLst>
  <p:sldIdLst>
    <p:sldId id="300" r:id="rId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16"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D812A"/>
    <a:srgbClr val="182D4C"/>
    <a:srgbClr val="2F2F2F"/>
    <a:srgbClr val="6C86B8"/>
    <a:srgbClr val="D87724"/>
    <a:srgbClr val="6A93D0"/>
    <a:srgbClr val="192943"/>
    <a:srgbClr val="1C375C"/>
    <a:srgbClr val="2F4E7F"/>
    <a:srgbClr val="2D558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7F7A1F6D-B7C5-C760-BE7D-F9AE71BB63B5}" v="84" dt="2024-04-17T09:58:14.195"/>
  </p1510:revLst>
</p1510:revInfo>
</file>

<file path=ppt/tableStyles.xml><?xml version="1.0" encoding="utf-8"?>
<a:tblStyleLst xmlns:a="http://schemas.openxmlformats.org/drawingml/2006/main" def="{5C22544A-7EE6-4342-B048-85BDC9FD1C3A}">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569" autoAdjust="0"/>
    <p:restoredTop sz="94608"/>
  </p:normalViewPr>
  <p:slideViewPr>
    <p:cSldViewPr snapToGrid="0" snapToObjects="1">
      <p:cViewPr varScale="1">
        <p:scale>
          <a:sx n="56" d="100"/>
          <a:sy n="56" d="100"/>
        </p:scale>
        <p:origin x="918" y="78"/>
      </p:cViewPr>
      <p:guideLst>
        <p:guide orient="horz" pos="2160"/>
        <p:guide pos="3816"/>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13" Type="http://schemas.microsoft.com/office/2015/10/relationships/revisionInfo" Target="revisionInfo.xml"/><Relationship Id="rId3" Type="http://schemas.openxmlformats.org/officeDocument/2006/relationships/customXml" Target="../customXml/item3.xml"/><Relationship Id="rId7" Type="http://schemas.openxmlformats.org/officeDocument/2006/relationships/notesMaster" Target="notesMasters/notesMaster1.xml"/><Relationship Id="rId12" Type="http://schemas.microsoft.com/office/2016/11/relationships/changesInfo" Target="changesInfos/changesInfo1.xml"/><Relationship Id="rId2" Type="http://schemas.openxmlformats.org/officeDocument/2006/relationships/customXml" Target="../customXml/item2.xml"/><Relationship Id="rId1" Type="http://schemas.openxmlformats.org/officeDocument/2006/relationships/customXml" Target="../customXml/item1.xml"/><Relationship Id="rId6" Type="http://schemas.openxmlformats.org/officeDocument/2006/relationships/slide" Target="slides/slide1.xml"/><Relationship Id="rId11" Type="http://schemas.openxmlformats.org/officeDocument/2006/relationships/tableStyles" Target="tableStyles.xml"/><Relationship Id="rId5" Type="http://schemas.openxmlformats.org/officeDocument/2006/relationships/slideMaster" Target="slideMasters/slideMaster1.xml"/><Relationship Id="rId10" Type="http://schemas.openxmlformats.org/officeDocument/2006/relationships/theme" Target="theme/theme1.xml"/><Relationship Id="rId4" Type="http://schemas.openxmlformats.org/officeDocument/2006/relationships/customXml" Target="../customXml/item4.xml"/><Relationship Id="rId9"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Pooja Atkotiya" userId="S::patkotiya@affirma.com::8f424ac3-6f38-4fa3-8ec7-d8540700ae0d" providerId="AD" clId="Web-{7F7A1F6D-B7C5-C760-BE7D-F9AE71BB63B5}"/>
    <pc:docChg chg="modSld">
      <pc:chgData name="Pooja Atkotiya" userId="S::patkotiya@affirma.com::8f424ac3-6f38-4fa3-8ec7-d8540700ae0d" providerId="AD" clId="Web-{7F7A1F6D-B7C5-C760-BE7D-F9AE71BB63B5}" dt="2024-04-17T09:58:14.195" v="47" actId="1076"/>
      <pc:docMkLst>
        <pc:docMk/>
      </pc:docMkLst>
      <pc:sldChg chg="modSp">
        <pc:chgData name="Pooja Atkotiya" userId="S::patkotiya@affirma.com::8f424ac3-6f38-4fa3-8ec7-d8540700ae0d" providerId="AD" clId="Web-{7F7A1F6D-B7C5-C760-BE7D-F9AE71BB63B5}" dt="2024-04-17T09:58:14.195" v="47" actId="1076"/>
        <pc:sldMkLst>
          <pc:docMk/>
          <pc:sldMk cId="2582825011" sldId="300"/>
        </pc:sldMkLst>
        <pc:spChg chg="mod">
          <ac:chgData name="Pooja Atkotiya" userId="S::patkotiya@affirma.com::8f424ac3-6f38-4fa3-8ec7-d8540700ae0d" providerId="AD" clId="Web-{7F7A1F6D-B7C5-C760-BE7D-F9AE71BB63B5}" dt="2024-04-17T09:57:52.804" v="44" actId="20577"/>
          <ac:spMkLst>
            <pc:docMk/>
            <pc:sldMk cId="2582825011" sldId="300"/>
            <ac:spMk id="31" creationId="{EC9A7433-5BCD-4EA6-924A-53FDBF0CAAA6}"/>
          </ac:spMkLst>
        </pc:spChg>
        <pc:spChg chg="mod">
          <ac:chgData name="Pooja Atkotiya" userId="S::patkotiya@affirma.com::8f424ac3-6f38-4fa3-8ec7-d8540700ae0d" providerId="AD" clId="Web-{7F7A1F6D-B7C5-C760-BE7D-F9AE71BB63B5}" dt="2024-04-17T09:57:37.960" v="40" actId="20577"/>
          <ac:spMkLst>
            <pc:docMk/>
            <pc:sldMk cId="2582825011" sldId="300"/>
            <ac:spMk id="33" creationId="{A2CD0AFB-BBEB-434B-985F-3ACF7BE51454}"/>
          </ac:spMkLst>
        </pc:spChg>
        <pc:spChg chg="mod">
          <ac:chgData name="Pooja Atkotiya" userId="S::patkotiya@affirma.com::8f424ac3-6f38-4fa3-8ec7-d8540700ae0d" providerId="AD" clId="Web-{7F7A1F6D-B7C5-C760-BE7D-F9AE71BB63B5}" dt="2024-04-17T09:57:58.554" v="45" actId="1076"/>
          <ac:spMkLst>
            <pc:docMk/>
            <pc:sldMk cId="2582825011" sldId="300"/>
            <ac:spMk id="34" creationId="{EC17F625-2EC2-4F28-895B-03B104D7945A}"/>
          </ac:spMkLst>
        </pc:spChg>
        <pc:spChg chg="mod">
          <ac:chgData name="Pooja Atkotiya" userId="S::patkotiya@affirma.com::8f424ac3-6f38-4fa3-8ec7-d8540700ae0d" providerId="AD" clId="Web-{7F7A1F6D-B7C5-C760-BE7D-F9AE71BB63B5}" dt="2024-04-17T09:58:06.101" v="46" actId="1076"/>
          <ac:spMkLst>
            <pc:docMk/>
            <pc:sldMk cId="2582825011" sldId="300"/>
            <ac:spMk id="35" creationId="{127A5A2A-6A75-46BB-A872-3D435F9C8C26}"/>
          </ac:spMkLst>
        </pc:spChg>
        <pc:spChg chg="mod">
          <ac:chgData name="Pooja Atkotiya" userId="S::patkotiya@affirma.com::8f424ac3-6f38-4fa3-8ec7-d8540700ae0d" providerId="AD" clId="Web-{7F7A1F6D-B7C5-C760-BE7D-F9AE71BB63B5}" dt="2024-04-17T09:58:14.195" v="47" actId="1076"/>
          <ac:spMkLst>
            <pc:docMk/>
            <pc:sldMk cId="2582825011" sldId="300"/>
            <ac:spMk id="36" creationId="{4651924A-7907-4360-9ED8-B533D803C21B}"/>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FBC89A5-BE3E-2441-87C0-54B69ED90FC7}" type="datetimeFigureOut">
              <a:t>4/17/2024</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2022639-76C9-2740-BE4D-A4E2B1985EBA}" type="slidenum">
              <a:t>‹#›</a:t>
            </a:fld>
            <a:endParaRPr lang="en-US"/>
          </a:p>
        </p:txBody>
      </p:sp>
    </p:spTree>
    <p:extLst>
      <p:ext uri="{BB962C8B-B14F-4D97-AF65-F5344CB8AC3E}">
        <p14:creationId xmlns:p14="http://schemas.microsoft.com/office/powerpoint/2010/main" val="141613015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6" name="Picture Placeholder 7"/>
          <p:cNvSpPr>
            <a:spLocks noGrp="1"/>
          </p:cNvSpPr>
          <p:nvPr>
            <p:ph type="pic" sz="quarter" idx="10"/>
          </p:nvPr>
        </p:nvSpPr>
        <p:spPr>
          <a:xfrm>
            <a:off x="0" y="0"/>
            <a:ext cx="12192001" cy="6858000"/>
          </a:xfrm>
          <a:pattFill prst="divot">
            <a:fgClr>
              <a:schemeClr val="bg1">
                <a:lumMod val="85000"/>
              </a:schemeClr>
            </a:fgClr>
            <a:bgClr>
              <a:schemeClr val="bg1"/>
            </a:bgClr>
          </a:pattFill>
        </p:spPr>
        <p:txBody>
          <a:bodyPr anchor="ctr">
            <a:normAutofit/>
          </a:bodyPr>
          <a:lstStyle>
            <a:lvl1pPr marL="0" indent="0" algn="ctr">
              <a:buNone/>
              <a:defRPr sz="1800"/>
            </a:lvl1pPr>
          </a:lstStyle>
          <a:p>
            <a:endParaRPr lang="en-US"/>
          </a:p>
        </p:txBody>
      </p:sp>
    </p:spTree>
    <p:extLst>
      <p:ext uri="{BB962C8B-B14F-4D97-AF65-F5344CB8AC3E}">
        <p14:creationId xmlns:p14="http://schemas.microsoft.com/office/powerpoint/2010/main" val="180298249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1_Custom Layout">
    <p:spTree>
      <p:nvGrpSpPr>
        <p:cNvPr id="1" name=""/>
        <p:cNvGrpSpPr/>
        <p:nvPr/>
      </p:nvGrpSpPr>
      <p:grpSpPr>
        <a:xfrm>
          <a:off x="0" y="0"/>
          <a:ext cx="0" cy="0"/>
          <a:chOff x="0" y="0"/>
          <a:chExt cx="0" cy="0"/>
        </a:xfrm>
      </p:grpSpPr>
      <p:sp>
        <p:nvSpPr>
          <p:cNvPr id="3" name="Picture Placeholder 2"/>
          <p:cNvSpPr>
            <a:spLocks noGrp="1"/>
          </p:cNvSpPr>
          <p:nvPr>
            <p:ph type="pic" sz="quarter" idx="11"/>
          </p:nvPr>
        </p:nvSpPr>
        <p:spPr>
          <a:xfrm>
            <a:off x="1405468" y="1418121"/>
            <a:ext cx="3782286" cy="3782286"/>
          </a:xfrm>
          <a:custGeom>
            <a:avLst/>
            <a:gdLst>
              <a:gd name="connsiteX0" fmla="*/ 1891143 w 3782286"/>
              <a:gd name="connsiteY0" fmla="*/ 0 h 3782286"/>
              <a:gd name="connsiteX1" fmla="*/ 3782286 w 3782286"/>
              <a:gd name="connsiteY1" fmla="*/ 1891143 h 3782286"/>
              <a:gd name="connsiteX2" fmla="*/ 1891143 w 3782286"/>
              <a:gd name="connsiteY2" fmla="*/ 3782286 h 3782286"/>
              <a:gd name="connsiteX3" fmla="*/ 0 w 3782286"/>
              <a:gd name="connsiteY3" fmla="*/ 1891143 h 3782286"/>
              <a:gd name="connsiteX4" fmla="*/ 1891143 w 3782286"/>
              <a:gd name="connsiteY4" fmla="*/ 0 h 378228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82286" h="3782286">
                <a:moveTo>
                  <a:pt x="1891143" y="0"/>
                </a:moveTo>
                <a:cubicBezTo>
                  <a:pt x="2935592" y="0"/>
                  <a:pt x="3782286" y="846694"/>
                  <a:pt x="3782286" y="1891143"/>
                </a:cubicBezTo>
                <a:cubicBezTo>
                  <a:pt x="3782286" y="2935592"/>
                  <a:pt x="2935592" y="3782286"/>
                  <a:pt x="1891143" y="3782286"/>
                </a:cubicBezTo>
                <a:cubicBezTo>
                  <a:pt x="846694" y="3782286"/>
                  <a:pt x="0" y="2935592"/>
                  <a:pt x="0" y="1891143"/>
                </a:cubicBezTo>
                <a:cubicBezTo>
                  <a:pt x="0" y="846694"/>
                  <a:pt x="846694" y="0"/>
                  <a:pt x="1891143" y="0"/>
                </a:cubicBezTo>
                <a:close/>
              </a:path>
            </a:pathLst>
          </a:custGeom>
          <a:pattFill prst="divot">
            <a:fgClr>
              <a:schemeClr val="bg1">
                <a:lumMod val="85000"/>
              </a:schemeClr>
            </a:fgClr>
            <a:bgClr>
              <a:schemeClr val="bg1"/>
            </a:bgClr>
          </a:pattFill>
        </p:spPr>
        <p:txBody>
          <a:bodyPr wrap="square" anchor="ctr">
            <a:noAutofit/>
          </a:bodyPr>
          <a:lstStyle>
            <a:lvl1pPr marL="0" indent="0" algn="ctr">
              <a:buNone/>
              <a:defRPr sz="1800"/>
            </a:lvl1pPr>
          </a:lstStyle>
          <a:p>
            <a:endParaRPr lang="en-US"/>
          </a:p>
        </p:txBody>
      </p:sp>
    </p:spTree>
    <p:extLst>
      <p:ext uri="{BB962C8B-B14F-4D97-AF65-F5344CB8AC3E}">
        <p14:creationId xmlns:p14="http://schemas.microsoft.com/office/powerpoint/2010/main" val="141359016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8_Custom Layout">
    <p:spTree>
      <p:nvGrpSpPr>
        <p:cNvPr id="1" name=""/>
        <p:cNvGrpSpPr/>
        <p:nvPr/>
      </p:nvGrpSpPr>
      <p:grpSpPr>
        <a:xfrm>
          <a:off x="0" y="0"/>
          <a:ext cx="0" cy="0"/>
          <a:chOff x="0" y="0"/>
          <a:chExt cx="0" cy="0"/>
        </a:xfrm>
      </p:grpSpPr>
      <p:sp>
        <p:nvSpPr>
          <p:cNvPr id="10" name="Picture Placeholder 9"/>
          <p:cNvSpPr>
            <a:spLocks noGrp="1"/>
          </p:cNvSpPr>
          <p:nvPr>
            <p:ph type="pic" sz="quarter" idx="10"/>
          </p:nvPr>
        </p:nvSpPr>
        <p:spPr>
          <a:xfrm>
            <a:off x="8763000" y="0"/>
            <a:ext cx="3429000" cy="6858000"/>
          </a:xfrm>
          <a:custGeom>
            <a:avLst/>
            <a:gdLst>
              <a:gd name="connsiteX0" fmla="*/ 3429000 w 3429000"/>
              <a:gd name="connsiteY0" fmla="*/ 0 h 6858000"/>
              <a:gd name="connsiteX1" fmla="*/ 3429000 w 3429000"/>
              <a:gd name="connsiteY1" fmla="*/ 6858000 h 6858000"/>
              <a:gd name="connsiteX2" fmla="*/ 0 w 3429000"/>
              <a:gd name="connsiteY2" fmla="*/ 3429000 h 6858000"/>
              <a:gd name="connsiteX3" fmla="*/ 3429000 w 3429000"/>
              <a:gd name="connsiteY3" fmla="*/ 0 h 6858000"/>
            </a:gdLst>
            <a:ahLst/>
            <a:cxnLst>
              <a:cxn ang="0">
                <a:pos x="connsiteX0" y="connsiteY0"/>
              </a:cxn>
              <a:cxn ang="0">
                <a:pos x="connsiteX1" y="connsiteY1"/>
              </a:cxn>
              <a:cxn ang="0">
                <a:pos x="connsiteX2" y="connsiteY2"/>
              </a:cxn>
              <a:cxn ang="0">
                <a:pos x="connsiteX3" y="connsiteY3"/>
              </a:cxn>
            </a:cxnLst>
            <a:rect l="l" t="t" r="r" b="b"/>
            <a:pathLst>
              <a:path w="3429000" h="6858000">
                <a:moveTo>
                  <a:pt x="3429000" y="0"/>
                </a:moveTo>
                <a:lnTo>
                  <a:pt x="3429000" y="6858000"/>
                </a:lnTo>
                <a:cubicBezTo>
                  <a:pt x="1535216" y="6858000"/>
                  <a:pt x="0" y="5322784"/>
                  <a:pt x="0" y="3429000"/>
                </a:cubicBezTo>
                <a:cubicBezTo>
                  <a:pt x="0" y="1535217"/>
                  <a:pt x="1535216" y="0"/>
                  <a:pt x="3429000" y="0"/>
                </a:cubicBezTo>
                <a:close/>
              </a:path>
            </a:pathLst>
          </a:custGeom>
          <a:pattFill prst="divot">
            <a:fgClr>
              <a:schemeClr val="bg1">
                <a:lumMod val="85000"/>
              </a:schemeClr>
            </a:fgClr>
            <a:bgClr>
              <a:schemeClr val="bg1"/>
            </a:bgClr>
          </a:pattFill>
          <a:ln>
            <a:noFill/>
          </a:ln>
        </p:spPr>
        <p:txBody>
          <a:bodyPr wrap="square" anchor="ctr">
            <a:noAutofit/>
          </a:bodyPr>
          <a:lstStyle>
            <a:lvl1pPr marL="0" indent="0" algn="ctr">
              <a:buNone/>
              <a:defRPr sz="1800"/>
            </a:lvl1pPr>
          </a:lstStyle>
          <a:p>
            <a:endParaRPr lang="en-US"/>
          </a:p>
        </p:txBody>
      </p:sp>
    </p:spTree>
    <p:extLst>
      <p:ext uri="{BB962C8B-B14F-4D97-AF65-F5344CB8AC3E}">
        <p14:creationId xmlns:p14="http://schemas.microsoft.com/office/powerpoint/2010/main" val="117406393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Case (Lef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38F97E55-68B0-4E78-8819-96463181F0E0}"/>
              </a:ext>
            </a:extLst>
          </p:cNvPr>
          <p:cNvSpPr/>
          <p:nvPr userDrawn="1"/>
        </p:nvSpPr>
        <p:spPr>
          <a:xfrm>
            <a:off x="2" y="0"/>
            <a:ext cx="12192000" cy="990600"/>
          </a:xfrm>
          <a:prstGeom prst="rect">
            <a:avLst/>
          </a:prstGeom>
          <a:solidFill>
            <a:srgbClr val="182D4C"/>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endParaRPr lang="en-US" sz="1765" dirty="0">
              <a:solidFill>
                <a:schemeClr val="bg1"/>
              </a:solidFill>
              <a:latin typeface="Segoe UI" panose="020B0502040204020203" pitchFamily="34" charset="0"/>
            </a:endParaRPr>
          </a:p>
        </p:txBody>
      </p:sp>
      <p:sp>
        <p:nvSpPr>
          <p:cNvPr id="2" name="Title 1"/>
          <p:cNvSpPr>
            <a:spLocks noGrp="1"/>
          </p:cNvSpPr>
          <p:nvPr>
            <p:ph type="title" hasCustomPrompt="1"/>
          </p:nvPr>
        </p:nvSpPr>
        <p:spPr>
          <a:xfrm>
            <a:off x="381000" y="228600"/>
            <a:ext cx="11430000" cy="533400"/>
          </a:xfrm>
        </p:spPr>
        <p:txBody>
          <a:bodyPr tIns="91440" bIns="91440"/>
          <a:lstStyle>
            <a:lvl1pPr>
              <a:defRPr b="0">
                <a:solidFill>
                  <a:schemeClr val="bg1"/>
                </a:solidFill>
                <a:latin typeface="Montserrat"/>
              </a:defRPr>
            </a:lvl1pPr>
          </a:lstStyle>
          <a:p>
            <a:r>
              <a:rPr lang="en-US" dirty="0"/>
              <a:t>title</a:t>
            </a:r>
          </a:p>
        </p:txBody>
      </p:sp>
      <p:grpSp>
        <p:nvGrpSpPr>
          <p:cNvPr id="10" name="Group 9">
            <a:extLst>
              <a:ext uri="{FF2B5EF4-FFF2-40B4-BE49-F238E27FC236}">
                <a16:creationId xmlns:a16="http://schemas.microsoft.com/office/drawing/2014/main" id="{13883256-DDF5-46AA-B364-D5E565E8F2E8}"/>
              </a:ext>
            </a:extLst>
          </p:cNvPr>
          <p:cNvGrpSpPr/>
          <p:nvPr userDrawn="1"/>
        </p:nvGrpSpPr>
        <p:grpSpPr>
          <a:xfrm>
            <a:off x="11251602" y="157052"/>
            <a:ext cx="772469" cy="709254"/>
            <a:chOff x="10255378" y="484095"/>
            <a:chExt cx="1281303" cy="1176448"/>
          </a:xfrm>
          <a:solidFill>
            <a:schemeClr val="bg1"/>
          </a:solidFill>
        </p:grpSpPr>
        <p:sp>
          <p:nvSpPr>
            <p:cNvPr id="13" name="Right Triangle 12">
              <a:extLst>
                <a:ext uri="{FF2B5EF4-FFF2-40B4-BE49-F238E27FC236}">
                  <a16:creationId xmlns:a16="http://schemas.microsoft.com/office/drawing/2014/main" id="{E04258D0-0979-4874-8131-C85BFBF0EBB7}"/>
                </a:ext>
              </a:extLst>
            </p:cNvPr>
            <p:cNvSpPr/>
            <p:nvPr/>
          </p:nvSpPr>
          <p:spPr>
            <a:xfrm rot="10800000">
              <a:off x="10404999" y="484095"/>
              <a:ext cx="1131682" cy="1131682"/>
            </a:xfrm>
            <a:prstGeom prst="rtTriangle">
              <a:avLst/>
            </a:prstGeom>
            <a:solidFill>
              <a:srgbClr val="DD812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14" name="Group 13">
              <a:extLst>
                <a:ext uri="{FF2B5EF4-FFF2-40B4-BE49-F238E27FC236}">
                  <a16:creationId xmlns:a16="http://schemas.microsoft.com/office/drawing/2014/main" id="{B07A057C-BA43-40B3-9FAD-B92F71670524}"/>
                </a:ext>
              </a:extLst>
            </p:cNvPr>
            <p:cNvGrpSpPr/>
            <p:nvPr/>
          </p:nvGrpSpPr>
          <p:grpSpPr>
            <a:xfrm rot="10800000">
              <a:off x="10255378" y="708872"/>
              <a:ext cx="1007690" cy="951671"/>
              <a:chOff x="7625694" y="1771958"/>
              <a:chExt cx="3025379" cy="2857192"/>
            </a:xfrm>
            <a:grpFill/>
          </p:grpSpPr>
          <p:sp>
            <p:nvSpPr>
              <p:cNvPr id="15" name="Oval 14">
                <a:extLst>
                  <a:ext uri="{FF2B5EF4-FFF2-40B4-BE49-F238E27FC236}">
                    <a16:creationId xmlns:a16="http://schemas.microsoft.com/office/drawing/2014/main" id="{822D3E89-D469-424A-A98C-AF9147A63662}"/>
                  </a:ext>
                </a:extLst>
              </p:cNvPr>
              <p:cNvSpPr/>
              <p:nvPr/>
            </p:nvSpPr>
            <p:spPr>
              <a:xfrm>
                <a:off x="7632372" y="443895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Oval 15">
                <a:extLst>
                  <a:ext uri="{FF2B5EF4-FFF2-40B4-BE49-F238E27FC236}">
                    <a16:creationId xmlns:a16="http://schemas.microsoft.com/office/drawing/2014/main" id="{9BADCFF3-8AD6-42F9-AB8C-375C23E132C8}"/>
                  </a:ext>
                </a:extLst>
              </p:cNvPr>
              <p:cNvSpPr/>
              <p:nvPr/>
            </p:nvSpPr>
            <p:spPr>
              <a:xfrm>
                <a:off x="7648083" y="377220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Oval 16">
                <a:extLst>
                  <a:ext uri="{FF2B5EF4-FFF2-40B4-BE49-F238E27FC236}">
                    <a16:creationId xmlns:a16="http://schemas.microsoft.com/office/drawing/2014/main" id="{146CF906-92B7-45FE-A1E0-5AF6E9C4869B}"/>
                  </a:ext>
                </a:extLst>
              </p:cNvPr>
              <p:cNvSpPr/>
              <p:nvPr/>
            </p:nvSpPr>
            <p:spPr>
              <a:xfrm>
                <a:off x="7629033" y="310545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Oval 17">
                <a:extLst>
                  <a:ext uri="{FF2B5EF4-FFF2-40B4-BE49-F238E27FC236}">
                    <a16:creationId xmlns:a16="http://schemas.microsoft.com/office/drawing/2014/main" id="{B449BE01-15C6-4A0D-9AF6-4786CA4E9637}"/>
                  </a:ext>
                </a:extLst>
              </p:cNvPr>
              <p:cNvSpPr/>
              <p:nvPr/>
            </p:nvSpPr>
            <p:spPr>
              <a:xfrm>
                <a:off x="7625694" y="243870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Oval 18">
                <a:extLst>
                  <a:ext uri="{FF2B5EF4-FFF2-40B4-BE49-F238E27FC236}">
                    <a16:creationId xmlns:a16="http://schemas.microsoft.com/office/drawing/2014/main" id="{3E205D10-1D5E-4D0D-8531-85D8D7946B95}"/>
                  </a:ext>
                </a:extLst>
              </p:cNvPr>
              <p:cNvSpPr/>
              <p:nvPr/>
            </p:nvSpPr>
            <p:spPr>
              <a:xfrm>
                <a:off x="7629033" y="177195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Oval 19">
                <a:extLst>
                  <a:ext uri="{FF2B5EF4-FFF2-40B4-BE49-F238E27FC236}">
                    <a16:creationId xmlns:a16="http://schemas.microsoft.com/office/drawing/2014/main" id="{DE2C8FD6-081D-49F6-921D-A381A767C163}"/>
                  </a:ext>
                </a:extLst>
              </p:cNvPr>
              <p:cNvSpPr/>
              <p:nvPr/>
            </p:nvSpPr>
            <p:spPr>
              <a:xfrm>
                <a:off x="8338576" y="4423007"/>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Oval 20">
                <a:extLst>
                  <a:ext uri="{FF2B5EF4-FFF2-40B4-BE49-F238E27FC236}">
                    <a16:creationId xmlns:a16="http://schemas.microsoft.com/office/drawing/2014/main" id="{FF9994E3-F742-477B-85AD-302966D65BD7}"/>
                  </a:ext>
                </a:extLst>
              </p:cNvPr>
              <p:cNvSpPr/>
              <p:nvPr/>
            </p:nvSpPr>
            <p:spPr>
              <a:xfrm>
                <a:off x="8354287" y="3756257"/>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Oval 21">
                <a:extLst>
                  <a:ext uri="{FF2B5EF4-FFF2-40B4-BE49-F238E27FC236}">
                    <a16:creationId xmlns:a16="http://schemas.microsoft.com/office/drawing/2014/main" id="{1A814A4E-18CD-488A-8AC5-D8D62E7F96F9}"/>
                  </a:ext>
                </a:extLst>
              </p:cNvPr>
              <p:cNvSpPr/>
              <p:nvPr/>
            </p:nvSpPr>
            <p:spPr>
              <a:xfrm>
                <a:off x="8335237" y="3089507"/>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Oval 22">
                <a:extLst>
                  <a:ext uri="{FF2B5EF4-FFF2-40B4-BE49-F238E27FC236}">
                    <a16:creationId xmlns:a16="http://schemas.microsoft.com/office/drawing/2014/main" id="{B3949535-A9FF-471C-BF8D-F3C9FB103940}"/>
                  </a:ext>
                </a:extLst>
              </p:cNvPr>
              <p:cNvSpPr/>
              <p:nvPr/>
            </p:nvSpPr>
            <p:spPr>
              <a:xfrm>
                <a:off x="8331898" y="2422757"/>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Oval 23">
                <a:extLst>
                  <a:ext uri="{FF2B5EF4-FFF2-40B4-BE49-F238E27FC236}">
                    <a16:creationId xmlns:a16="http://schemas.microsoft.com/office/drawing/2014/main" id="{BA711CF7-5013-4280-856D-919CDF2AA910}"/>
                  </a:ext>
                </a:extLst>
              </p:cNvPr>
              <p:cNvSpPr/>
              <p:nvPr/>
            </p:nvSpPr>
            <p:spPr>
              <a:xfrm>
                <a:off x="9036117" y="443895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Oval 24">
                <a:extLst>
                  <a:ext uri="{FF2B5EF4-FFF2-40B4-BE49-F238E27FC236}">
                    <a16:creationId xmlns:a16="http://schemas.microsoft.com/office/drawing/2014/main" id="{BD2D7A54-8F84-484D-8489-7F2DF9C00BCC}"/>
                  </a:ext>
                </a:extLst>
              </p:cNvPr>
              <p:cNvSpPr/>
              <p:nvPr/>
            </p:nvSpPr>
            <p:spPr>
              <a:xfrm>
                <a:off x="9051828" y="377220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Oval 25">
                <a:extLst>
                  <a:ext uri="{FF2B5EF4-FFF2-40B4-BE49-F238E27FC236}">
                    <a16:creationId xmlns:a16="http://schemas.microsoft.com/office/drawing/2014/main" id="{43920531-84F3-4DCA-A4C7-1E45B62398A0}"/>
                  </a:ext>
                </a:extLst>
              </p:cNvPr>
              <p:cNvSpPr/>
              <p:nvPr/>
            </p:nvSpPr>
            <p:spPr>
              <a:xfrm>
                <a:off x="9032778" y="310545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Oval 26">
                <a:extLst>
                  <a:ext uri="{FF2B5EF4-FFF2-40B4-BE49-F238E27FC236}">
                    <a16:creationId xmlns:a16="http://schemas.microsoft.com/office/drawing/2014/main" id="{8EA3990F-0363-4A77-BABA-C5915D801F32}"/>
                  </a:ext>
                </a:extLst>
              </p:cNvPr>
              <p:cNvSpPr/>
              <p:nvPr/>
            </p:nvSpPr>
            <p:spPr>
              <a:xfrm>
                <a:off x="9755375" y="443895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Oval 27">
                <a:extLst>
                  <a:ext uri="{FF2B5EF4-FFF2-40B4-BE49-F238E27FC236}">
                    <a16:creationId xmlns:a16="http://schemas.microsoft.com/office/drawing/2014/main" id="{FDE1E5EB-D396-42F9-9256-14D087571DC3}"/>
                  </a:ext>
                </a:extLst>
              </p:cNvPr>
              <p:cNvSpPr/>
              <p:nvPr/>
            </p:nvSpPr>
            <p:spPr>
              <a:xfrm>
                <a:off x="9771086" y="377220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Oval 28">
                <a:extLst>
                  <a:ext uri="{FF2B5EF4-FFF2-40B4-BE49-F238E27FC236}">
                    <a16:creationId xmlns:a16="http://schemas.microsoft.com/office/drawing/2014/main" id="{496CFD1D-C58B-40A8-A745-B76F50F83965}"/>
                  </a:ext>
                </a:extLst>
              </p:cNvPr>
              <p:cNvSpPr/>
              <p:nvPr/>
            </p:nvSpPr>
            <p:spPr>
              <a:xfrm>
                <a:off x="10470714" y="4448791"/>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sp>
        <p:nvSpPr>
          <p:cNvPr id="30" name="Rectangle 29">
            <a:extLst>
              <a:ext uri="{FF2B5EF4-FFF2-40B4-BE49-F238E27FC236}">
                <a16:creationId xmlns:a16="http://schemas.microsoft.com/office/drawing/2014/main" id="{9665E9BF-B954-4AC7-821E-2E0CD116D915}"/>
              </a:ext>
            </a:extLst>
          </p:cNvPr>
          <p:cNvSpPr/>
          <p:nvPr userDrawn="1"/>
        </p:nvSpPr>
        <p:spPr>
          <a:xfrm>
            <a:off x="0" y="994299"/>
            <a:ext cx="7239000" cy="5865808"/>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TextBox 30">
            <a:extLst>
              <a:ext uri="{FF2B5EF4-FFF2-40B4-BE49-F238E27FC236}">
                <a16:creationId xmlns:a16="http://schemas.microsoft.com/office/drawing/2014/main" id="{EC9A7433-5BCD-4EA6-924A-53FDBF0CAAA6}"/>
              </a:ext>
            </a:extLst>
          </p:cNvPr>
          <p:cNvSpPr txBox="1"/>
          <p:nvPr userDrawn="1"/>
        </p:nvSpPr>
        <p:spPr>
          <a:xfrm>
            <a:off x="858128" y="2008164"/>
            <a:ext cx="5533147" cy="314702"/>
          </a:xfrm>
          <a:prstGeom prst="rect">
            <a:avLst/>
          </a:prstGeom>
          <a:noFill/>
        </p:spPr>
        <p:txBody>
          <a:bodyPr wrap="square" rtlCol="0">
            <a:spAutoFit/>
          </a:bodyPr>
          <a:lstStyle/>
          <a:p>
            <a:pPr>
              <a:lnSpc>
                <a:spcPct val="150000"/>
              </a:lnSpc>
            </a:pPr>
            <a:r>
              <a:rPr lang="en-US" sz="1100" b="0" i="0" kern="1200" dirty="0" err="1">
                <a:solidFill>
                  <a:schemeClr val="tx1"/>
                </a:solidFill>
                <a:effectLst/>
                <a:latin typeface="Open Sans"/>
                <a:ea typeface="+mn-ea"/>
                <a:cs typeface="+mn-cs"/>
              </a:rPr>
              <a:t>challengereplace</a:t>
            </a:r>
            <a:endParaRPr lang="en-US" sz="1100" b="0" i="0" kern="1200" dirty="0">
              <a:solidFill>
                <a:schemeClr val="tx1"/>
              </a:solidFill>
              <a:effectLst/>
              <a:latin typeface="Open Sans"/>
              <a:ea typeface="+mn-ea"/>
              <a:cs typeface="+mn-cs"/>
            </a:endParaRPr>
          </a:p>
        </p:txBody>
      </p:sp>
      <p:sp>
        <p:nvSpPr>
          <p:cNvPr id="32" name="TextBox 31">
            <a:extLst>
              <a:ext uri="{FF2B5EF4-FFF2-40B4-BE49-F238E27FC236}">
                <a16:creationId xmlns:a16="http://schemas.microsoft.com/office/drawing/2014/main" id="{E1C0119A-9047-4290-917B-405E19FFDA31}"/>
              </a:ext>
            </a:extLst>
          </p:cNvPr>
          <p:cNvSpPr txBox="1"/>
          <p:nvPr userDrawn="1"/>
        </p:nvSpPr>
        <p:spPr>
          <a:xfrm>
            <a:off x="858129" y="1581124"/>
            <a:ext cx="1603901" cy="384721"/>
          </a:xfrm>
          <a:prstGeom prst="rect">
            <a:avLst/>
          </a:prstGeom>
          <a:noFill/>
        </p:spPr>
        <p:txBody>
          <a:bodyPr wrap="none" rtlCol="0">
            <a:spAutoFit/>
          </a:bodyPr>
          <a:lstStyle/>
          <a:p>
            <a:r>
              <a:rPr lang="en-US" sz="1900" b="1" dirty="0">
                <a:solidFill>
                  <a:srgbClr val="6C86B8"/>
                </a:solidFill>
                <a:latin typeface="Montserrat" charset="0"/>
                <a:ea typeface="Montserrat" charset="0"/>
                <a:cs typeface="Montserrat" charset="0"/>
              </a:rPr>
              <a:t>The Challenge</a:t>
            </a:r>
          </a:p>
        </p:txBody>
      </p:sp>
      <p:sp>
        <p:nvSpPr>
          <p:cNvPr id="33" name="TextBox 32">
            <a:extLst>
              <a:ext uri="{FF2B5EF4-FFF2-40B4-BE49-F238E27FC236}">
                <a16:creationId xmlns:a16="http://schemas.microsoft.com/office/drawing/2014/main" id="{A2CD0AFB-BBEB-434B-985F-3ACF7BE51454}"/>
              </a:ext>
            </a:extLst>
          </p:cNvPr>
          <p:cNvSpPr txBox="1"/>
          <p:nvPr userDrawn="1"/>
        </p:nvSpPr>
        <p:spPr>
          <a:xfrm>
            <a:off x="858128" y="3525482"/>
            <a:ext cx="5533147" cy="314702"/>
          </a:xfrm>
          <a:prstGeom prst="rect">
            <a:avLst/>
          </a:prstGeom>
          <a:noFill/>
        </p:spPr>
        <p:txBody>
          <a:bodyPr wrap="square" rtlCol="0">
            <a:spAutoFit/>
          </a:bodyPr>
          <a:lstStyle/>
          <a:p>
            <a:pPr>
              <a:lnSpc>
                <a:spcPct val="150000"/>
              </a:lnSpc>
            </a:pPr>
            <a:r>
              <a:rPr lang="en-US" sz="1100" b="0" i="0" kern="1200" dirty="0" err="1">
                <a:solidFill>
                  <a:schemeClr val="tx1"/>
                </a:solidFill>
                <a:effectLst/>
                <a:latin typeface="Open Sans"/>
                <a:ea typeface="+mn-ea"/>
                <a:cs typeface="+mn-cs"/>
              </a:rPr>
              <a:t>ourworkreplace</a:t>
            </a:r>
            <a:endParaRPr lang="en-US" sz="1100" b="0" i="0" kern="1200" dirty="0">
              <a:solidFill>
                <a:schemeClr val="tx1"/>
              </a:solidFill>
              <a:effectLst/>
              <a:latin typeface="Open Sans"/>
              <a:ea typeface="+mn-ea"/>
              <a:cs typeface="+mn-cs"/>
            </a:endParaRPr>
          </a:p>
        </p:txBody>
      </p:sp>
      <p:sp>
        <p:nvSpPr>
          <p:cNvPr id="34" name="TextBox 33">
            <a:extLst>
              <a:ext uri="{FF2B5EF4-FFF2-40B4-BE49-F238E27FC236}">
                <a16:creationId xmlns:a16="http://schemas.microsoft.com/office/drawing/2014/main" id="{EC17F625-2EC2-4F28-895B-03B104D7945A}"/>
              </a:ext>
            </a:extLst>
          </p:cNvPr>
          <p:cNvSpPr txBox="1"/>
          <p:nvPr userDrawn="1"/>
        </p:nvSpPr>
        <p:spPr>
          <a:xfrm>
            <a:off x="858129" y="3098442"/>
            <a:ext cx="1458348" cy="369332"/>
          </a:xfrm>
          <a:prstGeom prst="rect">
            <a:avLst/>
          </a:prstGeom>
          <a:noFill/>
        </p:spPr>
        <p:txBody>
          <a:bodyPr wrap="none" rtlCol="0">
            <a:spAutoFit/>
          </a:bodyPr>
          <a:lstStyle/>
          <a:p>
            <a:r>
              <a:rPr lang="en-US" b="1" dirty="0">
                <a:solidFill>
                  <a:srgbClr val="6C86B8"/>
                </a:solidFill>
                <a:latin typeface="Montserrat" charset="0"/>
                <a:ea typeface="Montserrat" charset="0"/>
                <a:cs typeface="Montserrat" charset="0"/>
              </a:rPr>
              <a:t>What We Did</a:t>
            </a:r>
          </a:p>
        </p:txBody>
      </p:sp>
      <p:sp>
        <p:nvSpPr>
          <p:cNvPr id="35" name="TextBox 34">
            <a:extLst>
              <a:ext uri="{FF2B5EF4-FFF2-40B4-BE49-F238E27FC236}">
                <a16:creationId xmlns:a16="http://schemas.microsoft.com/office/drawing/2014/main" id="{127A5A2A-6A75-46BB-A872-3D435F9C8C26}"/>
              </a:ext>
            </a:extLst>
          </p:cNvPr>
          <p:cNvSpPr txBox="1"/>
          <p:nvPr userDrawn="1"/>
        </p:nvSpPr>
        <p:spPr>
          <a:xfrm>
            <a:off x="873603" y="5568668"/>
            <a:ext cx="5517672" cy="314702"/>
          </a:xfrm>
          <a:prstGeom prst="rect">
            <a:avLst/>
          </a:prstGeom>
          <a:noFill/>
        </p:spPr>
        <p:txBody>
          <a:bodyPr wrap="square" rtlCol="0">
            <a:spAutoFit/>
          </a:bodyPr>
          <a:lstStyle/>
          <a:p>
            <a:pPr>
              <a:lnSpc>
                <a:spcPct val="150000"/>
              </a:lnSpc>
            </a:pPr>
            <a:r>
              <a:rPr lang="en-US" sz="1100" b="0" i="0" kern="1200" dirty="0" err="1">
                <a:solidFill>
                  <a:schemeClr val="tx1"/>
                </a:solidFill>
                <a:effectLst/>
                <a:latin typeface="Open Sans"/>
                <a:ea typeface="+mn-ea"/>
                <a:cs typeface="+mn-cs"/>
              </a:rPr>
              <a:t>resultsreplace</a:t>
            </a:r>
            <a:endParaRPr lang="en-US" sz="1100" b="0" i="0" kern="1200" dirty="0">
              <a:solidFill>
                <a:schemeClr val="tx1"/>
              </a:solidFill>
              <a:effectLst/>
              <a:latin typeface="Open Sans"/>
              <a:ea typeface="+mn-ea"/>
              <a:cs typeface="+mn-cs"/>
            </a:endParaRPr>
          </a:p>
        </p:txBody>
      </p:sp>
      <p:sp>
        <p:nvSpPr>
          <p:cNvPr id="36" name="TextBox 35">
            <a:extLst>
              <a:ext uri="{FF2B5EF4-FFF2-40B4-BE49-F238E27FC236}">
                <a16:creationId xmlns:a16="http://schemas.microsoft.com/office/drawing/2014/main" id="{4651924A-7907-4360-9ED8-B533D803C21B}"/>
              </a:ext>
            </a:extLst>
          </p:cNvPr>
          <p:cNvSpPr txBox="1"/>
          <p:nvPr userDrawn="1"/>
        </p:nvSpPr>
        <p:spPr>
          <a:xfrm>
            <a:off x="873603" y="5141628"/>
            <a:ext cx="868956" cy="369332"/>
          </a:xfrm>
          <a:prstGeom prst="rect">
            <a:avLst/>
          </a:prstGeom>
          <a:noFill/>
        </p:spPr>
        <p:txBody>
          <a:bodyPr wrap="none" rtlCol="0">
            <a:spAutoFit/>
          </a:bodyPr>
          <a:lstStyle/>
          <a:p>
            <a:r>
              <a:rPr lang="en-US" b="1" dirty="0">
                <a:solidFill>
                  <a:srgbClr val="6C86B8"/>
                </a:solidFill>
                <a:latin typeface="Montserrat" charset="0"/>
                <a:ea typeface="Montserrat" charset="0"/>
                <a:cs typeface="Montserrat" charset="0"/>
              </a:rPr>
              <a:t>Results</a:t>
            </a:r>
          </a:p>
        </p:txBody>
      </p:sp>
      <p:sp>
        <p:nvSpPr>
          <p:cNvPr id="6" name="Picture Placeholder 5">
            <a:extLst>
              <a:ext uri="{FF2B5EF4-FFF2-40B4-BE49-F238E27FC236}">
                <a16:creationId xmlns:a16="http://schemas.microsoft.com/office/drawing/2014/main" id="{DC946A52-3E8A-4AAA-A1F9-52E5356EACA1}"/>
              </a:ext>
            </a:extLst>
          </p:cNvPr>
          <p:cNvSpPr>
            <a:spLocks noGrp="1"/>
          </p:cNvSpPr>
          <p:nvPr>
            <p:ph type="pic" sz="quarter" idx="11" hasCustomPrompt="1"/>
          </p:nvPr>
        </p:nvSpPr>
        <p:spPr>
          <a:xfrm>
            <a:off x="7604616" y="3578094"/>
            <a:ext cx="4254500" cy="2755900"/>
          </a:xfrm>
        </p:spPr>
        <p:txBody>
          <a:bodyPr/>
          <a:lstStyle>
            <a:lvl1pPr>
              <a:defRPr/>
            </a:lvl1pPr>
          </a:lstStyle>
          <a:p>
            <a:r>
              <a:rPr lang="en-US" dirty="0" err="1"/>
              <a:t>screenshotplace</a:t>
            </a:r>
            <a:endParaRPr lang="en-US" dirty="0"/>
          </a:p>
        </p:txBody>
      </p:sp>
      <p:sp>
        <p:nvSpPr>
          <p:cNvPr id="5" name="Picture Placeholder 4">
            <a:extLst>
              <a:ext uri="{FF2B5EF4-FFF2-40B4-BE49-F238E27FC236}">
                <a16:creationId xmlns:a16="http://schemas.microsoft.com/office/drawing/2014/main" id="{3ECA3D9A-2ED8-4AE0-ACE4-B53CB627B2D7}"/>
              </a:ext>
            </a:extLst>
          </p:cNvPr>
          <p:cNvSpPr>
            <a:spLocks noGrp="1"/>
          </p:cNvSpPr>
          <p:nvPr>
            <p:ph type="pic" sz="quarter" idx="12"/>
          </p:nvPr>
        </p:nvSpPr>
        <p:spPr>
          <a:xfrm>
            <a:off x="8797646" y="1565275"/>
            <a:ext cx="1781175" cy="1770063"/>
          </a:xfrm>
        </p:spPr>
        <p:txBody>
          <a:bodyPr/>
          <a:lstStyle/>
          <a:p>
            <a:endParaRPr lang="en-US"/>
          </a:p>
        </p:txBody>
      </p:sp>
    </p:spTree>
    <p:extLst>
      <p:ext uri="{BB962C8B-B14F-4D97-AF65-F5344CB8AC3E}">
        <p14:creationId xmlns:p14="http://schemas.microsoft.com/office/powerpoint/2010/main" val="2582825011"/>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Case (Righ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38F97E55-68B0-4E78-8819-96463181F0E0}"/>
              </a:ext>
            </a:extLst>
          </p:cNvPr>
          <p:cNvSpPr/>
          <p:nvPr userDrawn="1"/>
        </p:nvSpPr>
        <p:spPr>
          <a:xfrm>
            <a:off x="2" y="0"/>
            <a:ext cx="12192000" cy="990600"/>
          </a:xfrm>
          <a:prstGeom prst="rect">
            <a:avLst/>
          </a:prstGeom>
          <a:solidFill>
            <a:srgbClr val="182D4C"/>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endParaRPr lang="en-US" sz="1765" dirty="0">
              <a:solidFill>
                <a:schemeClr val="bg1"/>
              </a:solidFill>
              <a:latin typeface="Segoe UI" panose="020B0502040204020203" pitchFamily="34" charset="0"/>
            </a:endParaRPr>
          </a:p>
        </p:txBody>
      </p:sp>
      <p:sp>
        <p:nvSpPr>
          <p:cNvPr id="2" name="Title 1"/>
          <p:cNvSpPr>
            <a:spLocks noGrp="1"/>
          </p:cNvSpPr>
          <p:nvPr>
            <p:ph type="title" hasCustomPrompt="1"/>
          </p:nvPr>
        </p:nvSpPr>
        <p:spPr>
          <a:xfrm>
            <a:off x="381000" y="228600"/>
            <a:ext cx="11430000" cy="533400"/>
          </a:xfrm>
        </p:spPr>
        <p:txBody>
          <a:bodyPr tIns="91440" bIns="91440"/>
          <a:lstStyle>
            <a:lvl1pPr>
              <a:defRPr b="0">
                <a:solidFill>
                  <a:schemeClr val="bg1"/>
                </a:solidFill>
                <a:latin typeface="Montserrat"/>
              </a:defRPr>
            </a:lvl1pPr>
          </a:lstStyle>
          <a:p>
            <a:r>
              <a:rPr lang="en-US" dirty="0"/>
              <a:t>title</a:t>
            </a:r>
          </a:p>
        </p:txBody>
      </p:sp>
      <p:grpSp>
        <p:nvGrpSpPr>
          <p:cNvPr id="10" name="Group 9">
            <a:extLst>
              <a:ext uri="{FF2B5EF4-FFF2-40B4-BE49-F238E27FC236}">
                <a16:creationId xmlns:a16="http://schemas.microsoft.com/office/drawing/2014/main" id="{13883256-DDF5-46AA-B364-D5E565E8F2E8}"/>
              </a:ext>
            </a:extLst>
          </p:cNvPr>
          <p:cNvGrpSpPr/>
          <p:nvPr userDrawn="1"/>
        </p:nvGrpSpPr>
        <p:grpSpPr>
          <a:xfrm>
            <a:off x="11251602" y="157052"/>
            <a:ext cx="772469" cy="709254"/>
            <a:chOff x="10255378" y="484095"/>
            <a:chExt cx="1281303" cy="1176448"/>
          </a:xfrm>
          <a:solidFill>
            <a:schemeClr val="bg1"/>
          </a:solidFill>
        </p:grpSpPr>
        <p:sp>
          <p:nvSpPr>
            <p:cNvPr id="13" name="Right Triangle 12">
              <a:extLst>
                <a:ext uri="{FF2B5EF4-FFF2-40B4-BE49-F238E27FC236}">
                  <a16:creationId xmlns:a16="http://schemas.microsoft.com/office/drawing/2014/main" id="{E04258D0-0979-4874-8131-C85BFBF0EBB7}"/>
                </a:ext>
              </a:extLst>
            </p:cNvPr>
            <p:cNvSpPr/>
            <p:nvPr/>
          </p:nvSpPr>
          <p:spPr>
            <a:xfrm rot="10800000">
              <a:off x="10404999" y="484095"/>
              <a:ext cx="1131682" cy="1131682"/>
            </a:xfrm>
            <a:prstGeom prst="rtTriangle">
              <a:avLst/>
            </a:prstGeom>
            <a:solidFill>
              <a:srgbClr val="DD812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14" name="Group 13">
              <a:extLst>
                <a:ext uri="{FF2B5EF4-FFF2-40B4-BE49-F238E27FC236}">
                  <a16:creationId xmlns:a16="http://schemas.microsoft.com/office/drawing/2014/main" id="{B07A057C-BA43-40B3-9FAD-B92F71670524}"/>
                </a:ext>
              </a:extLst>
            </p:cNvPr>
            <p:cNvGrpSpPr/>
            <p:nvPr/>
          </p:nvGrpSpPr>
          <p:grpSpPr>
            <a:xfrm rot="10800000">
              <a:off x="10255378" y="708872"/>
              <a:ext cx="1007690" cy="951671"/>
              <a:chOff x="7625694" y="1771958"/>
              <a:chExt cx="3025379" cy="2857192"/>
            </a:xfrm>
            <a:grpFill/>
          </p:grpSpPr>
          <p:sp>
            <p:nvSpPr>
              <p:cNvPr id="15" name="Oval 14">
                <a:extLst>
                  <a:ext uri="{FF2B5EF4-FFF2-40B4-BE49-F238E27FC236}">
                    <a16:creationId xmlns:a16="http://schemas.microsoft.com/office/drawing/2014/main" id="{822D3E89-D469-424A-A98C-AF9147A63662}"/>
                  </a:ext>
                </a:extLst>
              </p:cNvPr>
              <p:cNvSpPr/>
              <p:nvPr/>
            </p:nvSpPr>
            <p:spPr>
              <a:xfrm>
                <a:off x="7632372" y="443895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Oval 15">
                <a:extLst>
                  <a:ext uri="{FF2B5EF4-FFF2-40B4-BE49-F238E27FC236}">
                    <a16:creationId xmlns:a16="http://schemas.microsoft.com/office/drawing/2014/main" id="{9BADCFF3-8AD6-42F9-AB8C-375C23E132C8}"/>
                  </a:ext>
                </a:extLst>
              </p:cNvPr>
              <p:cNvSpPr/>
              <p:nvPr/>
            </p:nvSpPr>
            <p:spPr>
              <a:xfrm>
                <a:off x="7648083" y="377220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Oval 16">
                <a:extLst>
                  <a:ext uri="{FF2B5EF4-FFF2-40B4-BE49-F238E27FC236}">
                    <a16:creationId xmlns:a16="http://schemas.microsoft.com/office/drawing/2014/main" id="{146CF906-92B7-45FE-A1E0-5AF6E9C4869B}"/>
                  </a:ext>
                </a:extLst>
              </p:cNvPr>
              <p:cNvSpPr/>
              <p:nvPr/>
            </p:nvSpPr>
            <p:spPr>
              <a:xfrm>
                <a:off x="7629033" y="310545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Oval 17">
                <a:extLst>
                  <a:ext uri="{FF2B5EF4-FFF2-40B4-BE49-F238E27FC236}">
                    <a16:creationId xmlns:a16="http://schemas.microsoft.com/office/drawing/2014/main" id="{B449BE01-15C6-4A0D-9AF6-4786CA4E9637}"/>
                  </a:ext>
                </a:extLst>
              </p:cNvPr>
              <p:cNvSpPr/>
              <p:nvPr/>
            </p:nvSpPr>
            <p:spPr>
              <a:xfrm>
                <a:off x="7625694" y="243870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Oval 18">
                <a:extLst>
                  <a:ext uri="{FF2B5EF4-FFF2-40B4-BE49-F238E27FC236}">
                    <a16:creationId xmlns:a16="http://schemas.microsoft.com/office/drawing/2014/main" id="{3E205D10-1D5E-4D0D-8531-85D8D7946B95}"/>
                  </a:ext>
                </a:extLst>
              </p:cNvPr>
              <p:cNvSpPr/>
              <p:nvPr/>
            </p:nvSpPr>
            <p:spPr>
              <a:xfrm>
                <a:off x="7629033" y="177195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Oval 19">
                <a:extLst>
                  <a:ext uri="{FF2B5EF4-FFF2-40B4-BE49-F238E27FC236}">
                    <a16:creationId xmlns:a16="http://schemas.microsoft.com/office/drawing/2014/main" id="{DE2C8FD6-081D-49F6-921D-A381A767C163}"/>
                  </a:ext>
                </a:extLst>
              </p:cNvPr>
              <p:cNvSpPr/>
              <p:nvPr/>
            </p:nvSpPr>
            <p:spPr>
              <a:xfrm>
                <a:off x="8338576" y="4423007"/>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Oval 20">
                <a:extLst>
                  <a:ext uri="{FF2B5EF4-FFF2-40B4-BE49-F238E27FC236}">
                    <a16:creationId xmlns:a16="http://schemas.microsoft.com/office/drawing/2014/main" id="{FF9994E3-F742-477B-85AD-302966D65BD7}"/>
                  </a:ext>
                </a:extLst>
              </p:cNvPr>
              <p:cNvSpPr/>
              <p:nvPr/>
            </p:nvSpPr>
            <p:spPr>
              <a:xfrm>
                <a:off x="8354287" y="3756257"/>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Oval 21">
                <a:extLst>
                  <a:ext uri="{FF2B5EF4-FFF2-40B4-BE49-F238E27FC236}">
                    <a16:creationId xmlns:a16="http://schemas.microsoft.com/office/drawing/2014/main" id="{1A814A4E-18CD-488A-8AC5-D8D62E7F96F9}"/>
                  </a:ext>
                </a:extLst>
              </p:cNvPr>
              <p:cNvSpPr/>
              <p:nvPr/>
            </p:nvSpPr>
            <p:spPr>
              <a:xfrm>
                <a:off x="8335237" y="3089507"/>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Oval 22">
                <a:extLst>
                  <a:ext uri="{FF2B5EF4-FFF2-40B4-BE49-F238E27FC236}">
                    <a16:creationId xmlns:a16="http://schemas.microsoft.com/office/drawing/2014/main" id="{B3949535-A9FF-471C-BF8D-F3C9FB103940}"/>
                  </a:ext>
                </a:extLst>
              </p:cNvPr>
              <p:cNvSpPr/>
              <p:nvPr/>
            </p:nvSpPr>
            <p:spPr>
              <a:xfrm>
                <a:off x="8331898" y="2422757"/>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Oval 23">
                <a:extLst>
                  <a:ext uri="{FF2B5EF4-FFF2-40B4-BE49-F238E27FC236}">
                    <a16:creationId xmlns:a16="http://schemas.microsoft.com/office/drawing/2014/main" id="{BA711CF7-5013-4280-856D-919CDF2AA910}"/>
                  </a:ext>
                </a:extLst>
              </p:cNvPr>
              <p:cNvSpPr/>
              <p:nvPr/>
            </p:nvSpPr>
            <p:spPr>
              <a:xfrm>
                <a:off x="9036117" y="443895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Oval 24">
                <a:extLst>
                  <a:ext uri="{FF2B5EF4-FFF2-40B4-BE49-F238E27FC236}">
                    <a16:creationId xmlns:a16="http://schemas.microsoft.com/office/drawing/2014/main" id="{BD2D7A54-8F84-484D-8489-7F2DF9C00BCC}"/>
                  </a:ext>
                </a:extLst>
              </p:cNvPr>
              <p:cNvSpPr/>
              <p:nvPr/>
            </p:nvSpPr>
            <p:spPr>
              <a:xfrm>
                <a:off x="9051828" y="377220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Oval 25">
                <a:extLst>
                  <a:ext uri="{FF2B5EF4-FFF2-40B4-BE49-F238E27FC236}">
                    <a16:creationId xmlns:a16="http://schemas.microsoft.com/office/drawing/2014/main" id="{43920531-84F3-4DCA-A4C7-1E45B62398A0}"/>
                  </a:ext>
                </a:extLst>
              </p:cNvPr>
              <p:cNvSpPr/>
              <p:nvPr/>
            </p:nvSpPr>
            <p:spPr>
              <a:xfrm>
                <a:off x="9032778" y="310545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Oval 26">
                <a:extLst>
                  <a:ext uri="{FF2B5EF4-FFF2-40B4-BE49-F238E27FC236}">
                    <a16:creationId xmlns:a16="http://schemas.microsoft.com/office/drawing/2014/main" id="{8EA3990F-0363-4A77-BABA-C5915D801F32}"/>
                  </a:ext>
                </a:extLst>
              </p:cNvPr>
              <p:cNvSpPr/>
              <p:nvPr/>
            </p:nvSpPr>
            <p:spPr>
              <a:xfrm>
                <a:off x="9755375" y="443895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Oval 27">
                <a:extLst>
                  <a:ext uri="{FF2B5EF4-FFF2-40B4-BE49-F238E27FC236}">
                    <a16:creationId xmlns:a16="http://schemas.microsoft.com/office/drawing/2014/main" id="{FDE1E5EB-D396-42F9-9256-14D087571DC3}"/>
                  </a:ext>
                </a:extLst>
              </p:cNvPr>
              <p:cNvSpPr/>
              <p:nvPr/>
            </p:nvSpPr>
            <p:spPr>
              <a:xfrm>
                <a:off x="9771086" y="377220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Oval 28">
                <a:extLst>
                  <a:ext uri="{FF2B5EF4-FFF2-40B4-BE49-F238E27FC236}">
                    <a16:creationId xmlns:a16="http://schemas.microsoft.com/office/drawing/2014/main" id="{496CFD1D-C58B-40A8-A745-B76F50F83965}"/>
                  </a:ext>
                </a:extLst>
              </p:cNvPr>
              <p:cNvSpPr/>
              <p:nvPr/>
            </p:nvSpPr>
            <p:spPr>
              <a:xfrm>
                <a:off x="10470714" y="4448791"/>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sp>
        <p:nvSpPr>
          <p:cNvPr id="30" name="Rectangle 29">
            <a:extLst>
              <a:ext uri="{FF2B5EF4-FFF2-40B4-BE49-F238E27FC236}">
                <a16:creationId xmlns:a16="http://schemas.microsoft.com/office/drawing/2014/main" id="{9665E9BF-B954-4AC7-821E-2E0CD116D915}"/>
              </a:ext>
            </a:extLst>
          </p:cNvPr>
          <p:cNvSpPr/>
          <p:nvPr userDrawn="1"/>
        </p:nvSpPr>
        <p:spPr>
          <a:xfrm>
            <a:off x="4953002" y="988395"/>
            <a:ext cx="7239000" cy="5865808"/>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TextBox 30">
            <a:extLst>
              <a:ext uri="{FF2B5EF4-FFF2-40B4-BE49-F238E27FC236}">
                <a16:creationId xmlns:a16="http://schemas.microsoft.com/office/drawing/2014/main" id="{EC9A7433-5BCD-4EA6-924A-53FDBF0CAAA6}"/>
              </a:ext>
            </a:extLst>
          </p:cNvPr>
          <p:cNvSpPr txBox="1"/>
          <p:nvPr userDrawn="1"/>
        </p:nvSpPr>
        <p:spPr>
          <a:xfrm>
            <a:off x="5811130" y="2002260"/>
            <a:ext cx="5533147" cy="314702"/>
          </a:xfrm>
          <a:prstGeom prst="rect">
            <a:avLst/>
          </a:prstGeom>
          <a:noFill/>
        </p:spPr>
        <p:txBody>
          <a:bodyPr wrap="square" rtlCol="0">
            <a:spAutoFit/>
          </a:bodyPr>
          <a:lstStyle/>
          <a:p>
            <a:pPr>
              <a:lnSpc>
                <a:spcPct val="150000"/>
              </a:lnSpc>
            </a:pPr>
            <a:r>
              <a:rPr lang="en-US" sz="1100" b="0" i="0" kern="1200" dirty="0" err="1">
                <a:solidFill>
                  <a:schemeClr val="tx1"/>
                </a:solidFill>
                <a:effectLst/>
                <a:latin typeface="Open Sans"/>
                <a:ea typeface="+mn-ea"/>
                <a:cs typeface="+mn-cs"/>
              </a:rPr>
              <a:t>challengereplace</a:t>
            </a:r>
            <a:endParaRPr lang="en-US" sz="1100" b="0" i="0" kern="1200" dirty="0">
              <a:solidFill>
                <a:schemeClr val="tx1"/>
              </a:solidFill>
              <a:effectLst/>
              <a:latin typeface="Open Sans"/>
              <a:ea typeface="+mn-ea"/>
              <a:cs typeface="+mn-cs"/>
            </a:endParaRPr>
          </a:p>
        </p:txBody>
      </p:sp>
      <p:sp>
        <p:nvSpPr>
          <p:cNvPr id="32" name="TextBox 31">
            <a:extLst>
              <a:ext uri="{FF2B5EF4-FFF2-40B4-BE49-F238E27FC236}">
                <a16:creationId xmlns:a16="http://schemas.microsoft.com/office/drawing/2014/main" id="{E1C0119A-9047-4290-917B-405E19FFDA31}"/>
              </a:ext>
            </a:extLst>
          </p:cNvPr>
          <p:cNvSpPr txBox="1"/>
          <p:nvPr userDrawn="1"/>
        </p:nvSpPr>
        <p:spPr>
          <a:xfrm>
            <a:off x="5811131" y="1575220"/>
            <a:ext cx="1603901" cy="384721"/>
          </a:xfrm>
          <a:prstGeom prst="rect">
            <a:avLst/>
          </a:prstGeom>
          <a:noFill/>
        </p:spPr>
        <p:txBody>
          <a:bodyPr wrap="none" rtlCol="0">
            <a:spAutoFit/>
          </a:bodyPr>
          <a:lstStyle/>
          <a:p>
            <a:r>
              <a:rPr lang="en-US" sz="1900" b="1" dirty="0">
                <a:solidFill>
                  <a:srgbClr val="6C86B8"/>
                </a:solidFill>
                <a:latin typeface="Montserrat" charset="0"/>
                <a:ea typeface="Montserrat" charset="0"/>
                <a:cs typeface="Montserrat" charset="0"/>
              </a:rPr>
              <a:t>The Challenge</a:t>
            </a:r>
          </a:p>
        </p:txBody>
      </p:sp>
      <p:sp>
        <p:nvSpPr>
          <p:cNvPr id="33" name="TextBox 32">
            <a:extLst>
              <a:ext uri="{FF2B5EF4-FFF2-40B4-BE49-F238E27FC236}">
                <a16:creationId xmlns:a16="http://schemas.microsoft.com/office/drawing/2014/main" id="{A2CD0AFB-BBEB-434B-985F-3ACF7BE51454}"/>
              </a:ext>
            </a:extLst>
          </p:cNvPr>
          <p:cNvSpPr txBox="1"/>
          <p:nvPr userDrawn="1"/>
        </p:nvSpPr>
        <p:spPr>
          <a:xfrm>
            <a:off x="5811130" y="3519578"/>
            <a:ext cx="5533147" cy="314702"/>
          </a:xfrm>
          <a:prstGeom prst="rect">
            <a:avLst/>
          </a:prstGeom>
          <a:noFill/>
        </p:spPr>
        <p:txBody>
          <a:bodyPr wrap="square" rtlCol="0">
            <a:spAutoFit/>
          </a:bodyPr>
          <a:lstStyle/>
          <a:p>
            <a:pPr>
              <a:lnSpc>
                <a:spcPct val="150000"/>
              </a:lnSpc>
            </a:pPr>
            <a:r>
              <a:rPr lang="en-US" sz="1100" b="0" i="0" kern="1200" dirty="0" err="1">
                <a:solidFill>
                  <a:schemeClr val="tx1"/>
                </a:solidFill>
                <a:effectLst/>
                <a:latin typeface="Open Sans"/>
                <a:ea typeface="+mn-ea"/>
                <a:cs typeface="+mn-cs"/>
              </a:rPr>
              <a:t>ourworkreplace</a:t>
            </a:r>
            <a:endParaRPr lang="en-US" sz="1100" b="0" i="0" kern="1200" dirty="0">
              <a:solidFill>
                <a:schemeClr val="tx1"/>
              </a:solidFill>
              <a:effectLst/>
              <a:latin typeface="Open Sans"/>
              <a:ea typeface="+mn-ea"/>
              <a:cs typeface="+mn-cs"/>
            </a:endParaRPr>
          </a:p>
        </p:txBody>
      </p:sp>
      <p:sp>
        <p:nvSpPr>
          <p:cNvPr id="34" name="TextBox 33">
            <a:extLst>
              <a:ext uri="{FF2B5EF4-FFF2-40B4-BE49-F238E27FC236}">
                <a16:creationId xmlns:a16="http://schemas.microsoft.com/office/drawing/2014/main" id="{EC17F625-2EC2-4F28-895B-03B104D7945A}"/>
              </a:ext>
            </a:extLst>
          </p:cNvPr>
          <p:cNvSpPr txBox="1"/>
          <p:nvPr userDrawn="1"/>
        </p:nvSpPr>
        <p:spPr>
          <a:xfrm>
            <a:off x="5811131" y="3092538"/>
            <a:ext cx="1458348" cy="369332"/>
          </a:xfrm>
          <a:prstGeom prst="rect">
            <a:avLst/>
          </a:prstGeom>
          <a:noFill/>
        </p:spPr>
        <p:txBody>
          <a:bodyPr wrap="none" rtlCol="0">
            <a:spAutoFit/>
          </a:bodyPr>
          <a:lstStyle/>
          <a:p>
            <a:r>
              <a:rPr lang="en-US" b="1" dirty="0">
                <a:solidFill>
                  <a:srgbClr val="6C86B8"/>
                </a:solidFill>
                <a:latin typeface="Montserrat" charset="0"/>
                <a:ea typeface="Montserrat" charset="0"/>
                <a:cs typeface="Montserrat" charset="0"/>
              </a:rPr>
              <a:t>What We Did</a:t>
            </a:r>
          </a:p>
        </p:txBody>
      </p:sp>
      <p:sp>
        <p:nvSpPr>
          <p:cNvPr id="35" name="TextBox 34">
            <a:extLst>
              <a:ext uri="{FF2B5EF4-FFF2-40B4-BE49-F238E27FC236}">
                <a16:creationId xmlns:a16="http://schemas.microsoft.com/office/drawing/2014/main" id="{127A5A2A-6A75-46BB-A872-3D435F9C8C26}"/>
              </a:ext>
            </a:extLst>
          </p:cNvPr>
          <p:cNvSpPr txBox="1"/>
          <p:nvPr userDrawn="1"/>
        </p:nvSpPr>
        <p:spPr>
          <a:xfrm>
            <a:off x="5826605" y="5562764"/>
            <a:ext cx="5517672" cy="314702"/>
          </a:xfrm>
          <a:prstGeom prst="rect">
            <a:avLst/>
          </a:prstGeom>
          <a:noFill/>
        </p:spPr>
        <p:txBody>
          <a:bodyPr wrap="square" rtlCol="0">
            <a:spAutoFit/>
          </a:bodyPr>
          <a:lstStyle/>
          <a:p>
            <a:pPr>
              <a:lnSpc>
                <a:spcPct val="150000"/>
              </a:lnSpc>
            </a:pPr>
            <a:r>
              <a:rPr lang="en-US" sz="1100" b="0" i="0" kern="1200" dirty="0" err="1">
                <a:solidFill>
                  <a:schemeClr val="tx1"/>
                </a:solidFill>
                <a:effectLst/>
                <a:latin typeface="Open Sans"/>
                <a:ea typeface="+mn-ea"/>
                <a:cs typeface="+mn-cs"/>
              </a:rPr>
              <a:t>resultsreplace</a:t>
            </a:r>
            <a:endParaRPr lang="en-US" sz="1100" b="0" i="0" kern="1200" dirty="0">
              <a:solidFill>
                <a:schemeClr val="tx1"/>
              </a:solidFill>
              <a:effectLst/>
              <a:latin typeface="Open Sans"/>
              <a:ea typeface="+mn-ea"/>
              <a:cs typeface="+mn-cs"/>
            </a:endParaRPr>
          </a:p>
        </p:txBody>
      </p:sp>
      <p:sp>
        <p:nvSpPr>
          <p:cNvPr id="36" name="TextBox 35">
            <a:extLst>
              <a:ext uri="{FF2B5EF4-FFF2-40B4-BE49-F238E27FC236}">
                <a16:creationId xmlns:a16="http://schemas.microsoft.com/office/drawing/2014/main" id="{4651924A-7907-4360-9ED8-B533D803C21B}"/>
              </a:ext>
            </a:extLst>
          </p:cNvPr>
          <p:cNvSpPr txBox="1"/>
          <p:nvPr userDrawn="1"/>
        </p:nvSpPr>
        <p:spPr>
          <a:xfrm>
            <a:off x="5826605" y="5135724"/>
            <a:ext cx="868956" cy="369332"/>
          </a:xfrm>
          <a:prstGeom prst="rect">
            <a:avLst/>
          </a:prstGeom>
          <a:noFill/>
        </p:spPr>
        <p:txBody>
          <a:bodyPr wrap="none" rtlCol="0">
            <a:spAutoFit/>
          </a:bodyPr>
          <a:lstStyle/>
          <a:p>
            <a:r>
              <a:rPr lang="en-US" b="1" dirty="0">
                <a:solidFill>
                  <a:srgbClr val="6C86B8"/>
                </a:solidFill>
                <a:latin typeface="Montserrat" charset="0"/>
                <a:ea typeface="Montserrat" charset="0"/>
                <a:cs typeface="Montserrat" charset="0"/>
              </a:rPr>
              <a:t>Results</a:t>
            </a:r>
          </a:p>
        </p:txBody>
      </p:sp>
      <p:sp>
        <p:nvSpPr>
          <p:cNvPr id="6" name="Picture Placeholder 5">
            <a:extLst>
              <a:ext uri="{FF2B5EF4-FFF2-40B4-BE49-F238E27FC236}">
                <a16:creationId xmlns:a16="http://schemas.microsoft.com/office/drawing/2014/main" id="{DC946A52-3E8A-4AAA-A1F9-52E5356EACA1}"/>
              </a:ext>
            </a:extLst>
          </p:cNvPr>
          <p:cNvSpPr>
            <a:spLocks noGrp="1"/>
          </p:cNvSpPr>
          <p:nvPr>
            <p:ph type="pic" sz="quarter" idx="11" hasCustomPrompt="1"/>
          </p:nvPr>
        </p:nvSpPr>
        <p:spPr>
          <a:xfrm>
            <a:off x="381000" y="3550917"/>
            <a:ext cx="4254500" cy="2755900"/>
          </a:xfrm>
        </p:spPr>
        <p:txBody>
          <a:bodyPr/>
          <a:lstStyle>
            <a:lvl1pPr>
              <a:defRPr/>
            </a:lvl1pPr>
          </a:lstStyle>
          <a:p>
            <a:r>
              <a:rPr lang="en-US" dirty="0" err="1"/>
              <a:t>screenshotplace</a:t>
            </a:r>
            <a:endParaRPr lang="en-US" dirty="0"/>
          </a:p>
        </p:txBody>
      </p:sp>
      <p:sp>
        <p:nvSpPr>
          <p:cNvPr id="37" name="Picture Placeholder 4">
            <a:extLst>
              <a:ext uri="{FF2B5EF4-FFF2-40B4-BE49-F238E27FC236}">
                <a16:creationId xmlns:a16="http://schemas.microsoft.com/office/drawing/2014/main" id="{EB585296-BAA5-41EE-AC7D-F347285C3162}"/>
              </a:ext>
            </a:extLst>
          </p:cNvPr>
          <p:cNvSpPr>
            <a:spLocks noGrp="1"/>
          </p:cNvSpPr>
          <p:nvPr>
            <p:ph type="pic" sz="quarter" idx="12"/>
          </p:nvPr>
        </p:nvSpPr>
        <p:spPr>
          <a:xfrm>
            <a:off x="1615685" y="1531636"/>
            <a:ext cx="1781175" cy="1770063"/>
          </a:xfrm>
        </p:spPr>
        <p:txBody>
          <a:bodyPr/>
          <a:lstStyle/>
          <a:p>
            <a:endParaRPr lang="en-US"/>
          </a:p>
        </p:txBody>
      </p:sp>
    </p:spTree>
    <p:extLst>
      <p:ext uri="{BB962C8B-B14F-4D97-AF65-F5344CB8AC3E}">
        <p14:creationId xmlns:p14="http://schemas.microsoft.com/office/powerpoint/2010/main" val="731290465"/>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85A23AB-5C46-FA4A-BF97-1CB175D11720}" type="datetimeFigureOut">
              <a:t>4/17/2024</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200B42A-9AC8-E54B-B87E-06913CF81F51}" type="slidenum">
              <a:t>‹#›</a:t>
            </a:fld>
            <a:endParaRPr lang="en-US"/>
          </a:p>
        </p:txBody>
      </p:sp>
    </p:spTree>
    <p:extLst>
      <p:ext uri="{BB962C8B-B14F-4D97-AF65-F5344CB8AC3E}">
        <p14:creationId xmlns:p14="http://schemas.microsoft.com/office/powerpoint/2010/main" val="2069889758"/>
      </p:ext>
    </p:extLst>
  </p:cSld>
  <p:clrMap bg1="lt1" tx1="dk1" bg2="lt2" tx2="dk2" accent1="accent1" accent2="accent2" accent3="accent3" accent4="accent4" accent5="accent5" accent6="accent6" hlink="hlink" folHlink="folHlink"/>
  <p:sldLayoutIdLst>
    <p:sldLayoutId id="2147483660" r:id="rId1"/>
    <p:sldLayoutId id="2147483661" r:id="rId2"/>
    <p:sldLayoutId id="2147483668" r:id="rId3"/>
    <p:sldLayoutId id="2147483712" r:id="rId4"/>
    <p:sldLayoutId id="2147483713" r:id="rId5"/>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name="Case (Lef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38F97E55-68B0-4E78-8819-96463181F0E0}"/>
              </a:ext>
            </a:extLst>
          </p:cNvPr>
          <p:cNvSpPr/>
          <p:nvPr userDrawn="1"/>
        </p:nvSpPr>
        <p:spPr>
          <a:xfrm>
            <a:off x="2" y="0"/>
            <a:ext cx="12192000" cy="990600"/>
          </a:xfrm>
          <a:prstGeom prst="rect">
            <a:avLst/>
          </a:prstGeom>
          <a:solidFill>
            <a:srgbClr val="182D4C"/>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endParaRPr lang="en-US" sz="1765" dirty="0">
              <a:solidFill>
                <a:schemeClr val="bg1"/>
              </a:solidFill>
              <a:latin typeface="Segoe UI" panose="020B0502040204020203" pitchFamily="34" charset="0"/>
            </a:endParaRPr>
          </a:p>
        </p:txBody>
      </p:sp>
      <p:sp>
        <p:nvSpPr>
          <p:cNvPr id="2" name="Title 1"/>
          <p:cNvSpPr>
            <a:spLocks noGrp="1"/>
          </p:cNvSpPr>
          <p:nvPr>
            <p:ph type="title" hasCustomPrompt="1"/>
          </p:nvPr>
        </p:nvSpPr>
        <p:spPr>
          <a:xfrm>
            <a:off x="381000" y="228600"/>
            <a:ext cx="11430000" cy="533400"/>
          </a:xfrm>
        </p:spPr>
        <p:txBody>
          <a:bodyPr tIns="91440" bIns="91440"/>
          <a:lstStyle>
            <a:lvl1pPr>
              <a:defRPr b="0">
                <a:solidFill>
                  <a:schemeClr val="bg1"/>
                </a:solidFill>
                <a:latin typeface="Montserrat"/>
              </a:defRPr>
            </a:lvl1pPr>
          </a:lstStyle>
          <a:p>
            <a:r>
              <a:rPr lang="en-US" dirty="0"/>
              <a:t>Blue Nile AWS Hosting</a:t>
            </a:r>
          </a:p>
        </p:txBody>
      </p:sp>
      <p:grpSp>
        <p:nvGrpSpPr>
          <p:cNvPr id="10" name="Group 9">
            <a:extLst>
              <a:ext uri="{FF2B5EF4-FFF2-40B4-BE49-F238E27FC236}">
                <a16:creationId xmlns:a16="http://schemas.microsoft.com/office/drawing/2014/main" id="{13883256-DDF5-46AA-B364-D5E565E8F2E8}"/>
              </a:ext>
            </a:extLst>
          </p:cNvPr>
          <p:cNvGrpSpPr/>
          <p:nvPr userDrawn="1"/>
        </p:nvGrpSpPr>
        <p:grpSpPr>
          <a:xfrm>
            <a:off x="11251602" y="157052"/>
            <a:ext cx="772469" cy="709254"/>
            <a:chOff x="10255378" y="484095"/>
            <a:chExt cx="1281303" cy="1176448"/>
          </a:xfrm>
          <a:solidFill>
            <a:schemeClr val="bg1"/>
          </a:solidFill>
        </p:grpSpPr>
        <p:sp>
          <p:nvSpPr>
            <p:cNvPr id="13" name="Right Triangle 12">
              <a:extLst>
                <a:ext uri="{FF2B5EF4-FFF2-40B4-BE49-F238E27FC236}">
                  <a16:creationId xmlns:a16="http://schemas.microsoft.com/office/drawing/2014/main" id="{E04258D0-0979-4874-8131-C85BFBF0EBB7}"/>
                </a:ext>
              </a:extLst>
            </p:cNvPr>
            <p:cNvSpPr/>
            <p:nvPr/>
          </p:nvSpPr>
          <p:spPr>
            <a:xfrm rot="10800000">
              <a:off x="10404999" y="484095"/>
              <a:ext cx="1131682" cy="1131682"/>
            </a:xfrm>
            <a:prstGeom prst="rtTriangle">
              <a:avLst/>
            </a:prstGeom>
            <a:solidFill>
              <a:srgbClr val="DD812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14" name="Group 13">
              <a:extLst>
                <a:ext uri="{FF2B5EF4-FFF2-40B4-BE49-F238E27FC236}">
                  <a16:creationId xmlns:a16="http://schemas.microsoft.com/office/drawing/2014/main" id="{B07A057C-BA43-40B3-9FAD-B92F71670524}"/>
                </a:ext>
              </a:extLst>
            </p:cNvPr>
            <p:cNvGrpSpPr/>
            <p:nvPr/>
          </p:nvGrpSpPr>
          <p:grpSpPr>
            <a:xfrm rot="10800000">
              <a:off x="10255378" y="708872"/>
              <a:ext cx="1007690" cy="951671"/>
              <a:chOff x="7625694" y="1771958"/>
              <a:chExt cx="3025379" cy="2857192"/>
            </a:xfrm>
            <a:grpFill/>
          </p:grpSpPr>
          <p:sp>
            <p:nvSpPr>
              <p:cNvPr id="15" name="Oval 14">
                <a:extLst>
                  <a:ext uri="{FF2B5EF4-FFF2-40B4-BE49-F238E27FC236}">
                    <a16:creationId xmlns:a16="http://schemas.microsoft.com/office/drawing/2014/main" id="{822D3E89-D469-424A-A98C-AF9147A63662}"/>
                  </a:ext>
                </a:extLst>
              </p:cNvPr>
              <p:cNvSpPr/>
              <p:nvPr/>
            </p:nvSpPr>
            <p:spPr>
              <a:xfrm>
                <a:off x="7632372" y="443895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Oval 15">
                <a:extLst>
                  <a:ext uri="{FF2B5EF4-FFF2-40B4-BE49-F238E27FC236}">
                    <a16:creationId xmlns:a16="http://schemas.microsoft.com/office/drawing/2014/main" id="{9BADCFF3-8AD6-42F9-AB8C-375C23E132C8}"/>
                  </a:ext>
                </a:extLst>
              </p:cNvPr>
              <p:cNvSpPr/>
              <p:nvPr/>
            </p:nvSpPr>
            <p:spPr>
              <a:xfrm>
                <a:off x="7648083" y="377220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Oval 16">
                <a:extLst>
                  <a:ext uri="{FF2B5EF4-FFF2-40B4-BE49-F238E27FC236}">
                    <a16:creationId xmlns:a16="http://schemas.microsoft.com/office/drawing/2014/main" id="{146CF906-92B7-45FE-A1E0-5AF6E9C4869B}"/>
                  </a:ext>
                </a:extLst>
              </p:cNvPr>
              <p:cNvSpPr/>
              <p:nvPr/>
            </p:nvSpPr>
            <p:spPr>
              <a:xfrm>
                <a:off x="7629033" y="310545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Oval 17">
                <a:extLst>
                  <a:ext uri="{FF2B5EF4-FFF2-40B4-BE49-F238E27FC236}">
                    <a16:creationId xmlns:a16="http://schemas.microsoft.com/office/drawing/2014/main" id="{B449BE01-15C6-4A0D-9AF6-4786CA4E9637}"/>
                  </a:ext>
                </a:extLst>
              </p:cNvPr>
              <p:cNvSpPr/>
              <p:nvPr/>
            </p:nvSpPr>
            <p:spPr>
              <a:xfrm>
                <a:off x="7625694" y="243870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Oval 18">
                <a:extLst>
                  <a:ext uri="{FF2B5EF4-FFF2-40B4-BE49-F238E27FC236}">
                    <a16:creationId xmlns:a16="http://schemas.microsoft.com/office/drawing/2014/main" id="{3E205D10-1D5E-4D0D-8531-85D8D7946B95}"/>
                  </a:ext>
                </a:extLst>
              </p:cNvPr>
              <p:cNvSpPr/>
              <p:nvPr/>
            </p:nvSpPr>
            <p:spPr>
              <a:xfrm>
                <a:off x="7629033" y="177195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Oval 19">
                <a:extLst>
                  <a:ext uri="{FF2B5EF4-FFF2-40B4-BE49-F238E27FC236}">
                    <a16:creationId xmlns:a16="http://schemas.microsoft.com/office/drawing/2014/main" id="{DE2C8FD6-081D-49F6-921D-A381A767C163}"/>
                  </a:ext>
                </a:extLst>
              </p:cNvPr>
              <p:cNvSpPr/>
              <p:nvPr/>
            </p:nvSpPr>
            <p:spPr>
              <a:xfrm>
                <a:off x="8338576" y="4423007"/>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Oval 20">
                <a:extLst>
                  <a:ext uri="{FF2B5EF4-FFF2-40B4-BE49-F238E27FC236}">
                    <a16:creationId xmlns:a16="http://schemas.microsoft.com/office/drawing/2014/main" id="{FF9994E3-F742-477B-85AD-302966D65BD7}"/>
                  </a:ext>
                </a:extLst>
              </p:cNvPr>
              <p:cNvSpPr/>
              <p:nvPr/>
            </p:nvSpPr>
            <p:spPr>
              <a:xfrm>
                <a:off x="8354287" y="3756257"/>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Oval 21">
                <a:extLst>
                  <a:ext uri="{FF2B5EF4-FFF2-40B4-BE49-F238E27FC236}">
                    <a16:creationId xmlns:a16="http://schemas.microsoft.com/office/drawing/2014/main" id="{1A814A4E-18CD-488A-8AC5-D8D62E7F96F9}"/>
                  </a:ext>
                </a:extLst>
              </p:cNvPr>
              <p:cNvSpPr/>
              <p:nvPr/>
            </p:nvSpPr>
            <p:spPr>
              <a:xfrm>
                <a:off x="8335237" y="3089507"/>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Oval 22">
                <a:extLst>
                  <a:ext uri="{FF2B5EF4-FFF2-40B4-BE49-F238E27FC236}">
                    <a16:creationId xmlns:a16="http://schemas.microsoft.com/office/drawing/2014/main" id="{B3949535-A9FF-471C-BF8D-F3C9FB103940}"/>
                  </a:ext>
                </a:extLst>
              </p:cNvPr>
              <p:cNvSpPr/>
              <p:nvPr/>
            </p:nvSpPr>
            <p:spPr>
              <a:xfrm>
                <a:off x="8331898" y="2422757"/>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Oval 23">
                <a:extLst>
                  <a:ext uri="{FF2B5EF4-FFF2-40B4-BE49-F238E27FC236}">
                    <a16:creationId xmlns:a16="http://schemas.microsoft.com/office/drawing/2014/main" id="{BA711CF7-5013-4280-856D-919CDF2AA910}"/>
                  </a:ext>
                </a:extLst>
              </p:cNvPr>
              <p:cNvSpPr/>
              <p:nvPr/>
            </p:nvSpPr>
            <p:spPr>
              <a:xfrm>
                <a:off x="9036117" y="443895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Oval 24">
                <a:extLst>
                  <a:ext uri="{FF2B5EF4-FFF2-40B4-BE49-F238E27FC236}">
                    <a16:creationId xmlns:a16="http://schemas.microsoft.com/office/drawing/2014/main" id="{BD2D7A54-8F84-484D-8489-7F2DF9C00BCC}"/>
                  </a:ext>
                </a:extLst>
              </p:cNvPr>
              <p:cNvSpPr/>
              <p:nvPr/>
            </p:nvSpPr>
            <p:spPr>
              <a:xfrm>
                <a:off x="9051828" y="377220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Oval 25">
                <a:extLst>
                  <a:ext uri="{FF2B5EF4-FFF2-40B4-BE49-F238E27FC236}">
                    <a16:creationId xmlns:a16="http://schemas.microsoft.com/office/drawing/2014/main" id="{43920531-84F3-4DCA-A4C7-1E45B62398A0}"/>
                  </a:ext>
                </a:extLst>
              </p:cNvPr>
              <p:cNvSpPr/>
              <p:nvPr/>
            </p:nvSpPr>
            <p:spPr>
              <a:xfrm>
                <a:off x="9032778" y="310545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Oval 26">
                <a:extLst>
                  <a:ext uri="{FF2B5EF4-FFF2-40B4-BE49-F238E27FC236}">
                    <a16:creationId xmlns:a16="http://schemas.microsoft.com/office/drawing/2014/main" id="{8EA3990F-0363-4A77-BABA-C5915D801F32}"/>
                  </a:ext>
                </a:extLst>
              </p:cNvPr>
              <p:cNvSpPr/>
              <p:nvPr/>
            </p:nvSpPr>
            <p:spPr>
              <a:xfrm>
                <a:off x="9755375" y="443895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Oval 27">
                <a:extLst>
                  <a:ext uri="{FF2B5EF4-FFF2-40B4-BE49-F238E27FC236}">
                    <a16:creationId xmlns:a16="http://schemas.microsoft.com/office/drawing/2014/main" id="{FDE1E5EB-D396-42F9-9256-14D087571DC3}"/>
                  </a:ext>
                </a:extLst>
              </p:cNvPr>
              <p:cNvSpPr/>
              <p:nvPr/>
            </p:nvSpPr>
            <p:spPr>
              <a:xfrm>
                <a:off x="9771086" y="377220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Oval 28">
                <a:extLst>
                  <a:ext uri="{FF2B5EF4-FFF2-40B4-BE49-F238E27FC236}">
                    <a16:creationId xmlns:a16="http://schemas.microsoft.com/office/drawing/2014/main" id="{496CFD1D-C58B-40A8-A745-B76F50F83965}"/>
                  </a:ext>
                </a:extLst>
              </p:cNvPr>
              <p:cNvSpPr/>
              <p:nvPr/>
            </p:nvSpPr>
            <p:spPr>
              <a:xfrm>
                <a:off x="10470714" y="4448791"/>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sp>
        <p:nvSpPr>
          <p:cNvPr id="30" name="Rectangle 29">
            <a:extLst>
              <a:ext uri="{FF2B5EF4-FFF2-40B4-BE49-F238E27FC236}">
                <a16:creationId xmlns:a16="http://schemas.microsoft.com/office/drawing/2014/main" id="{9665E9BF-B954-4AC7-821E-2E0CD116D915}"/>
              </a:ext>
            </a:extLst>
          </p:cNvPr>
          <p:cNvSpPr/>
          <p:nvPr userDrawn="1"/>
        </p:nvSpPr>
        <p:spPr>
          <a:xfrm>
            <a:off x="0" y="994299"/>
            <a:ext cx="7239000" cy="5865808"/>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TextBox 30">
            <a:extLst>
              <a:ext uri="{FF2B5EF4-FFF2-40B4-BE49-F238E27FC236}">
                <a16:creationId xmlns:a16="http://schemas.microsoft.com/office/drawing/2014/main" id="{EC9A7433-5BCD-4EA6-924A-53FDBF0CAAA6}"/>
              </a:ext>
            </a:extLst>
          </p:cNvPr>
          <p:cNvSpPr txBox="1"/>
          <p:nvPr userDrawn="1"/>
        </p:nvSpPr>
        <p:spPr>
          <a:xfrm>
            <a:off x="858128" y="2008164"/>
            <a:ext cx="5533147" cy="1588768"/>
          </a:xfrm>
          <a:prstGeom prst="rect">
            <a:avLst/>
          </a:prstGeom>
          <a:noFill/>
        </p:spPr>
        <p:txBody>
          <a:bodyPr wrap="square" lIns="91440" tIns="45720" rIns="91440" bIns="45720" rtlCol="0" anchor="t">
            <a:spAutoFit/>
          </a:bodyPr>
          <a:lstStyle/>
          <a:p>
            <a:pPr>
              <a:lnSpc>
                <a:spcPct val="150000"/>
              </a:lnSpc>
            </a:pPr>
            <a:r>
              <a:rPr lang="en-US" sz="1100" b="0" i="0" kern="1200" dirty="0">
                <a:effectLst/>
                <a:latin typeface="Open Sans"/>
                <a:ea typeface="+mn-ea"/>
                <a:cs typeface="+mn-cs"/>
              </a:rPr>
              <a:t>Blue Nile, an online specialty retailer of fine jewelry, created a Facebook application advertisement and came to </a:t>
            </a:r>
            <a:r>
              <a:rPr lang="en-US" sz="1100" b="0" i="0" kern="1200" err="1">
                <a:effectLst/>
                <a:latin typeface="Open Sans"/>
                <a:ea typeface="+mn-ea"/>
                <a:cs typeface="+mn-cs"/>
              </a:rPr>
              <a:t>Affirma</a:t>
            </a:r>
            <a:r>
              <a:rPr lang="en-US" sz="1100" b="0" i="0" kern="1200" dirty="0">
                <a:effectLst/>
                <a:latin typeface="Open Sans"/>
                <a:ea typeface="+mn-ea"/>
                <a:cs typeface="+mn-cs"/>
              </a:rPr>
              <a:t> to help finish the project. Blue Nile had worked with marketing company Banyan Branch for the concept work on a Facebook campaign they wanted to release for the holidays, and needed us to help them complete the app and host the back end infrastructure.</a:t>
            </a:r>
          </a:p>
          <a:p>
            <a:pPr>
              <a:lnSpc>
                <a:spcPct val="150000"/>
              </a:lnSpc>
            </a:pPr>
            <a:endParaRPr lang="en-US" sz="1100" dirty="0">
              <a:latin typeface="Open Sans"/>
              <a:ea typeface="Open Sans"/>
              <a:cs typeface="Open Sans"/>
            </a:endParaRPr>
          </a:p>
        </p:txBody>
      </p:sp>
      <p:sp>
        <p:nvSpPr>
          <p:cNvPr id="32" name="TextBox 31">
            <a:extLst>
              <a:ext uri="{FF2B5EF4-FFF2-40B4-BE49-F238E27FC236}">
                <a16:creationId xmlns:a16="http://schemas.microsoft.com/office/drawing/2014/main" id="{E1C0119A-9047-4290-917B-405E19FFDA31}"/>
              </a:ext>
            </a:extLst>
          </p:cNvPr>
          <p:cNvSpPr txBox="1"/>
          <p:nvPr userDrawn="1"/>
        </p:nvSpPr>
        <p:spPr>
          <a:xfrm>
            <a:off x="858129" y="1581124"/>
            <a:ext cx="1603901" cy="384721"/>
          </a:xfrm>
          <a:prstGeom prst="rect">
            <a:avLst/>
          </a:prstGeom>
          <a:noFill/>
        </p:spPr>
        <p:txBody>
          <a:bodyPr wrap="none" rtlCol="0">
            <a:spAutoFit/>
          </a:bodyPr>
          <a:lstStyle/>
          <a:p>
            <a:r>
              <a:rPr lang="en-US" sz="1900" b="1" dirty="0">
                <a:solidFill>
                  <a:srgbClr val="6C86B8"/>
                </a:solidFill>
                <a:latin typeface="Montserrat" charset="0"/>
                <a:ea typeface="Montserrat" charset="0"/>
                <a:cs typeface="Montserrat" charset="0"/>
              </a:rPr>
              <a:t>The Challenge</a:t>
            </a:r>
          </a:p>
        </p:txBody>
      </p:sp>
      <p:sp>
        <p:nvSpPr>
          <p:cNvPr id="33" name="TextBox 32">
            <a:extLst>
              <a:ext uri="{FF2B5EF4-FFF2-40B4-BE49-F238E27FC236}">
                <a16:creationId xmlns:a16="http://schemas.microsoft.com/office/drawing/2014/main" id="{A2CD0AFB-BBEB-434B-985F-3ACF7BE51454}"/>
              </a:ext>
            </a:extLst>
          </p:cNvPr>
          <p:cNvSpPr txBox="1"/>
          <p:nvPr userDrawn="1"/>
        </p:nvSpPr>
        <p:spPr>
          <a:xfrm>
            <a:off x="858128" y="3525482"/>
            <a:ext cx="5533147" cy="2858347"/>
          </a:xfrm>
          <a:prstGeom prst="rect">
            <a:avLst/>
          </a:prstGeom>
          <a:noFill/>
        </p:spPr>
        <p:txBody>
          <a:bodyPr wrap="square" lIns="91440" tIns="45720" rIns="91440" bIns="45720" rtlCol="0" anchor="t">
            <a:spAutoFit/>
          </a:bodyPr>
          <a:lstStyle/>
          <a:p>
            <a:pPr>
              <a:lnSpc>
                <a:spcPct val="150000"/>
              </a:lnSpc>
            </a:pPr>
            <a:r>
              <a:rPr lang="en-US" sz="1100" dirty="0">
                <a:latin typeface="Open Sans"/>
              </a:rPr>
              <a:t>The</a:t>
            </a:r>
            <a:r>
              <a:rPr lang="en-US" sz="1100" b="0" i="0" kern="1200" dirty="0">
                <a:effectLst/>
                <a:latin typeface="Open Sans"/>
                <a:ea typeface="+mn-ea"/>
                <a:cs typeface="+mn-cs"/>
              </a:rPr>
              <a:t> challenge with any social media campaign is that the amount of user traffic is unknown in advance, and the infrastructure needs to be able to expand in order to comply with the demand. We chose to host the app on Amazon Web Services, Amazon’s cloud computing platform, so that the infrastructure could be automatically scaled on demand to handle an infinite number of hits.
</a:t>
            </a:r>
            <a:r>
              <a:rPr lang="en-US" sz="1100" dirty="0">
                <a:latin typeface="Open Sans"/>
              </a:rPr>
              <a:t>We</a:t>
            </a:r>
            <a:r>
              <a:rPr lang="en-US" sz="1100" b="0" i="0" kern="1200" dirty="0">
                <a:effectLst/>
                <a:latin typeface="Open Sans"/>
                <a:ea typeface="+mn-ea"/>
                <a:cs typeface="+mn-cs"/>
              </a:rPr>
              <a:t> predicted a baseline of what we thought usage would be and set up the initial structure depending on that, scaling up as needed. 
Empowered Blue Nile to pay only for the service they used, rather than having to build out a physical infrastructure for the biggest use-case scenario.
</a:t>
            </a:r>
            <a:r>
              <a:rPr lang="en-US" sz="1100" dirty="0">
                <a:latin typeface="Open Sans"/>
              </a:rPr>
              <a:t>We</a:t>
            </a:r>
            <a:r>
              <a:rPr lang="en-US" sz="1100" b="0" i="0" kern="1200" dirty="0">
                <a:effectLst/>
                <a:latin typeface="Open Sans"/>
                <a:ea typeface="+mn-ea"/>
                <a:cs typeface="+mn-cs"/>
              </a:rPr>
              <a:t> hosted, monitored, and serviced the app throughout its run-time, which ended after Christmas.</a:t>
            </a:r>
            <a:endParaRPr lang="en-US" sz="1100" b="0" i="0" kern="1200" dirty="0">
              <a:effectLst/>
              <a:latin typeface="Open Sans"/>
              <a:ea typeface="Open Sans"/>
              <a:cs typeface="Open Sans"/>
            </a:endParaRPr>
          </a:p>
        </p:txBody>
      </p:sp>
      <p:sp>
        <p:nvSpPr>
          <p:cNvPr id="34" name="TextBox 33">
            <a:extLst>
              <a:ext uri="{FF2B5EF4-FFF2-40B4-BE49-F238E27FC236}">
                <a16:creationId xmlns:a16="http://schemas.microsoft.com/office/drawing/2014/main" id="{EC17F625-2EC2-4F28-895B-03B104D7945A}"/>
              </a:ext>
            </a:extLst>
          </p:cNvPr>
          <p:cNvSpPr txBox="1"/>
          <p:nvPr userDrawn="1"/>
        </p:nvSpPr>
        <p:spPr>
          <a:xfrm>
            <a:off x="858129" y="3238810"/>
            <a:ext cx="1458348" cy="369332"/>
          </a:xfrm>
          <a:prstGeom prst="rect">
            <a:avLst/>
          </a:prstGeom>
          <a:noFill/>
        </p:spPr>
        <p:txBody>
          <a:bodyPr wrap="none" rtlCol="0">
            <a:spAutoFit/>
          </a:bodyPr>
          <a:lstStyle/>
          <a:p>
            <a:r>
              <a:rPr lang="en-US" b="1" dirty="0">
                <a:solidFill>
                  <a:srgbClr val="6C86B8"/>
                </a:solidFill>
                <a:latin typeface="Montserrat" charset="0"/>
                <a:ea typeface="Montserrat" charset="0"/>
                <a:cs typeface="Montserrat" charset="0"/>
              </a:rPr>
              <a:t>What We Did</a:t>
            </a:r>
          </a:p>
        </p:txBody>
      </p:sp>
      <p:sp>
        <p:nvSpPr>
          <p:cNvPr id="35" name="TextBox 34">
            <a:extLst>
              <a:ext uri="{FF2B5EF4-FFF2-40B4-BE49-F238E27FC236}">
                <a16:creationId xmlns:a16="http://schemas.microsoft.com/office/drawing/2014/main" id="{127A5A2A-6A75-46BB-A872-3D435F9C8C26}"/>
              </a:ext>
            </a:extLst>
          </p:cNvPr>
          <p:cNvSpPr txBox="1"/>
          <p:nvPr userDrawn="1"/>
        </p:nvSpPr>
        <p:spPr>
          <a:xfrm>
            <a:off x="873604" y="6471037"/>
            <a:ext cx="5527698" cy="1080937"/>
          </a:xfrm>
          <a:prstGeom prst="rect">
            <a:avLst/>
          </a:prstGeom>
          <a:noFill/>
        </p:spPr>
        <p:txBody>
          <a:bodyPr wrap="square" rtlCol="0">
            <a:spAutoFit/>
          </a:bodyPr>
          <a:lstStyle/>
          <a:p>
            <a:pPr>
              <a:lnSpc>
                <a:spcPct val="150000"/>
              </a:lnSpc>
            </a:pPr>
            <a:r>
              <a:rPr lang="en-US" sz="1100" b="0" i="0" kern="1200" dirty="0" err="1">
                <a:solidFill>
                  <a:schemeClr val="tx1"/>
                </a:solidFill>
                <a:effectLst/>
                <a:latin typeface="Open Sans"/>
                <a:ea typeface="+mn-ea"/>
                <a:cs typeface="+mn-cs"/>
              </a:rPr>
              <a:t>Blue Nile was extremely happy with the application and amount of money saved with the elasticity of the hosting infrastructure. We were able to scale the app to fit the demands immediately and ensure that it was running 100 percent of the time worldwide.</a:t>
            </a:r>
            <a:endParaRPr lang="en-US" sz="1100" b="0" i="0" kern="1200" dirty="0">
              <a:solidFill>
                <a:schemeClr val="tx1"/>
              </a:solidFill>
              <a:effectLst/>
              <a:latin typeface="Open Sans"/>
              <a:ea typeface="+mn-ea"/>
              <a:cs typeface="+mn-cs"/>
            </a:endParaRPr>
          </a:p>
        </p:txBody>
      </p:sp>
      <p:sp>
        <p:nvSpPr>
          <p:cNvPr id="36" name="TextBox 35">
            <a:extLst>
              <a:ext uri="{FF2B5EF4-FFF2-40B4-BE49-F238E27FC236}">
                <a16:creationId xmlns:a16="http://schemas.microsoft.com/office/drawing/2014/main" id="{4651924A-7907-4360-9ED8-B533D803C21B}"/>
              </a:ext>
            </a:extLst>
          </p:cNvPr>
          <p:cNvSpPr txBox="1"/>
          <p:nvPr userDrawn="1"/>
        </p:nvSpPr>
        <p:spPr>
          <a:xfrm>
            <a:off x="853550" y="6284628"/>
            <a:ext cx="868956" cy="369332"/>
          </a:xfrm>
          <a:prstGeom prst="rect">
            <a:avLst/>
          </a:prstGeom>
          <a:noFill/>
        </p:spPr>
        <p:txBody>
          <a:bodyPr wrap="none" rtlCol="0">
            <a:spAutoFit/>
          </a:bodyPr>
          <a:lstStyle/>
          <a:p>
            <a:r>
              <a:rPr lang="en-US" b="1" dirty="0">
                <a:solidFill>
                  <a:srgbClr val="6C86B8"/>
                </a:solidFill>
                <a:latin typeface="Montserrat" charset="0"/>
                <a:ea typeface="Montserrat" charset="0"/>
                <a:cs typeface="Montserrat" charset="0"/>
              </a:rPr>
              <a:t>Results</a:t>
            </a:r>
          </a:p>
        </p:txBody>
      </p:sp>
    </p:spTree>
    <p:extLst>
      <p:ext uri="{BB962C8B-B14F-4D97-AF65-F5344CB8AC3E}">
        <p14:creationId xmlns:p14="http://schemas.microsoft.com/office/powerpoint/2010/main" val="2582825011"/>
      </p:ext>
    </p:extLst>
  </p:cSld>
  <p:clrMapOvr>
    <a:masterClrMapping/>
  </p:clrMapOvr>
</p:sld>
</file>

<file path=ppt/theme/theme1.xml><?xml version="1.0" encoding="utf-8"?>
<a:theme xmlns:a="http://schemas.openxmlformats.org/drawingml/2006/main" name="Office Theme">
  <a:themeElements>
    <a:clrScheme name="Suavedigital">
      <a:dk1>
        <a:srgbClr val="242527"/>
      </a:dk1>
      <a:lt1>
        <a:srgbClr val="FFFFFF"/>
      </a:lt1>
      <a:dk2>
        <a:srgbClr val="262626"/>
      </a:dk2>
      <a:lt2>
        <a:srgbClr val="FFFFFF"/>
      </a:lt2>
      <a:accent1>
        <a:srgbClr val="FFC017"/>
      </a:accent1>
      <a:accent2>
        <a:srgbClr val="535353"/>
      </a:accent2>
      <a:accent3>
        <a:srgbClr val="A7A7A7"/>
      </a:accent3>
      <a:accent4>
        <a:srgbClr val="D2DDD9"/>
      </a:accent4>
      <a:accent5>
        <a:srgbClr val="3F3F3F"/>
      </a:accent5>
      <a:accent6>
        <a:srgbClr val="2C2C2C"/>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_rels/item4.xml.rels><?xml version="1.0" encoding="UTF-8" standalone="yes"?>
<Relationships xmlns="http://schemas.openxmlformats.org/package/2006/relationships"><Relationship Id="rId1" Type="http://schemas.openxmlformats.org/officeDocument/2006/relationships/customXmlProps" Target="itemProps4.xml"/></Relationships>
</file>

<file path=customXml/item1.xml><?xml version="1.0" encoding="utf-8"?>
<?mso-contentType ?>
<customXsn xmlns="http://schemas.microsoft.com/office/2006/metadata/customXsn">
  <xsnLocation/>
  <cached>True</cached>
  <openByDefault>False</openByDefault>
  <xsnScope/>
</customXsn>
</file>

<file path=customXml/item2.xml><?xml version="1.0" encoding="utf-8"?>
<p:properties xmlns:p="http://schemas.microsoft.com/office/2006/metadata/properties" xmlns:xsi="http://www.w3.org/2001/XMLSchema-instance" xmlns:pc="http://schemas.microsoft.com/office/infopath/2007/PartnerControls">
  <documentManagement>
    <BusinessUnit xmlns="f0ee8362-fa7e-4bc9-ab88-7dcfb17cb19b">
      <Value>Modern Workplace</Value>
    </BusinessUnit>
    <Solutions xmlns="f0ee8362-fa7e-4bc9-ab88-7dcfb17cb19b">
      <Value>Cloud</Value>
      <Value>Custom Development</Value>
    </Solutions>
    <Industries xmlns="f0ee8362-fa7e-4bc9-ab88-7dcfb17cb19b">
      <Value>Beauty</Value>
      <Value>Manufacturing</Value>
    </Industries>
    <Notes0 xmlns="f0ee8362-fa7e-4bc9-ab88-7dcfb17cb19b" xsi:nil="true"/>
    <Named_x0020_Account xmlns="f0ee8362-fa7e-4bc9-ab88-7dcfb17cb19b" xsi:nil="true"/>
    <PlatTech xmlns="f0ee8362-fa7e-4bc9-ab88-7dcfb17cb19b">
      <Value>AWS</Value>
    </PlatTech>
    <ProjectCompletionDate xmlns="f0ee8362-fa7e-4bc9-ab88-7dcfb17cb19b" xsi:nil="true"/>
    <ApprovedByClient xmlns="f0ee8362-fa7e-4bc9-ab88-7dcfb17cb19b">false</ApprovedByClient>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4.xml><?xml version="1.0" encoding="utf-8"?>
<ct:contentTypeSchema xmlns:ct="http://schemas.microsoft.com/office/2006/metadata/contentType" xmlns:ma="http://schemas.microsoft.com/office/2006/metadata/properties/metaAttributes" ct:_="" ma:_="" ma:contentTypeName="Document" ma:contentTypeID="0x0101000D23BCBB7020E34DAE994A365BA94206" ma:contentTypeVersion="12" ma:contentTypeDescription="Create a new document." ma:contentTypeScope="" ma:versionID="40c5edf46ad0243c172d3e6a5f6fa751">
  <xsd:schema xmlns:xsd="http://www.w3.org/2001/XMLSchema" xmlns:xs="http://www.w3.org/2001/XMLSchema" xmlns:p="http://schemas.microsoft.com/office/2006/metadata/properties" xmlns:ns2="f0ee8362-fa7e-4bc9-ab88-7dcfb17cb19b" targetNamespace="http://schemas.microsoft.com/office/2006/metadata/properties" ma:root="true" ma:fieldsID="f48774ae5cf6ccd45b30992fa6c2b457" ns2:_="">
    <xsd:import namespace="f0ee8362-fa7e-4bc9-ab88-7dcfb17cb19b"/>
    <xsd:element name="properties">
      <xsd:complexType>
        <xsd:sequence>
          <xsd:element name="documentManagement">
            <xsd:complexType>
              <xsd:all>
                <xsd:element ref="ns2:BusinessUnit" minOccurs="0"/>
                <xsd:element ref="ns2:Industries" minOccurs="0"/>
                <xsd:element ref="ns2:Solutions" minOccurs="0"/>
                <xsd:element ref="ns2:PlatTech" minOccurs="0"/>
                <xsd:element ref="ns2:Notes0" minOccurs="0"/>
                <xsd:element ref="ns2:Named_x0020_Account" minOccurs="0"/>
                <xsd:element ref="ns2:MediaServiceMetadata" minOccurs="0"/>
                <xsd:element ref="ns2:MediaServiceFastMetadata" minOccurs="0"/>
                <xsd:element ref="ns2:MediaServiceSearchProperties" minOccurs="0"/>
                <xsd:element ref="ns2:MediaServiceObjectDetectorVersions" minOccurs="0"/>
                <xsd:element ref="ns2:ProjectCompletionDate" minOccurs="0"/>
                <xsd:element ref="ns2:ApprovedByClient"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f0ee8362-fa7e-4bc9-ab88-7dcfb17cb19b" elementFormDefault="qualified">
    <xsd:import namespace="http://schemas.microsoft.com/office/2006/documentManagement/types"/>
    <xsd:import namespace="http://schemas.microsoft.com/office/infopath/2007/PartnerControls"/>
    <xsd:element name="BusinessUnit" ma:index="8" nillable="true" ma:displayName="Business Unit" ma:internalName="BusinessUnit">
      <xsd:complexType>
        <xsd:complexContent>
          <xsd:extension base="dms:MultiChoice">
            <xsd:sequence>
              <xsd:element name="Value" maxOccurs="unbounded" minOccurs="0" nillable="true">
                <xsd:simpleType>
                  <xsd:restriction base="dms:Choice">
                    <xsd:enumeration value="Business Process Outsourcing"/>
                    <xsd:enumeration value="Content and Change Management"/>
                    <xsd:enumeration value="Creative"/>
                    <xsd:enumeration value="Custom Development"/>
                    <xsd:enumeration value="Customer Relationship Management"/>
                    <xsd:enumeration value="Data and Analytics"/>
                    <xsd:enumeration value="Engagement Marketing"/>
                    <xsd:enumeration value="Infrastructure"/>
                    <xsd:enumeration value="Marketing Services"/>
                    <xsd:enumeration value="Modern Workplace"/>
                    <xsd:enumeration value="NetSuite"/>
                  </xsd:restriction>
                </xsd:simpleType>
              </xsd:element>
            </xsd:sequence>
          </xsd:extension>
        </xsd:complexContent>
      </xsd:complexType>
    </xsd:element>
    <xsd:element name="Industries" ma:index="9" nillable="true" ma:displayName="Industries" ma:format="Dropdown" ma:internalName="Industries">
      <xsd:complexType>
        <xsd:complexContent>
          <xsd:extension base="dms:MultiChoice">
            <xsd:sequence>
              <xsd:element name="Value" maxOccurs="unbounded" minOccurs="0" nillable="true">
                <xsd:simpleType>
                  <xsd:restriction base="dms:Choice">
                    <xsd:enumeration value="Aerospace"/>
                    <xsd:enumeration value="Agriculture"/>
                    <xsd:enumeration value="Agriculture Food"/>
                    <xsd:enumeration value="AI / AI Models"/>
                    <xsd:enumeration value="B2B"/>
                    <xsd:enumeration value="B2C"/>
                    <xsd:enumeration value="Chemical"/>
                    <xsd:enumeration value="Construction"/>
                    <xsd:enumeration value="Defence"/>
                    <xsd:enumeration value="Education"/>
                    <xsd:enumeration value="Energy"/>
                    <xsd:enumeration value="Engineering"/>
                    <xsd:enumeration value="Entertainment"/>
                    <xsd:enumeration value="Financial Services"/>
                    <xsd:enumeration value="Food"/>
                    <xsd:enumeration value="Government"/>
                    <xsd:enumeration value="Healthcare"/>
                    <xsd:enumeration value="Hospitality"/>
                    <xsd:enumeration value="Legal"/>
                    <xsd:enumeration value="Life Sciences"/>
                    <xsd:enumeration value="Manufacturing"/>
                    <xsd:enumeration value="Media"/>
                    <xsd:enumeration value="Non-Profit"/>
                    <xsd:enumeration value="Real Estate"/>
                    <xsd:enumeration value="Retail"/>
                    <xsd:enumeration value="Services"/>
                    <xsd:enumeration value="Technology"/>
                    <xsd:enumeration value="Telecommunications"/>
                    <xsd:enumeration value="Transportation"/>
                    <xsd:enumeration value="Water"/>
                    <xsd:enumeration value="Wellness"/>
                    <xsd:enumeration value="BPO"/>
                  </xsd:restriction>
                </xsd:simpleType>
              </xsd:element>
            </xsd:sequence>
          </xsd:extension>
        </xsd:complexContent>
      </xsd:complexType>
    </xsd:element>
    <xsd:element name="Solutions" ma:index="10" nillable="true" ma:displayName="Solutions" ma:format="Dropdown" ma:internalName="Solutions">
      <xsd:complexType>
        <xsd:complexContent>
          <xsd:extension base="dms:MultiChoice">
            <xsd:sequence>
              <xsd:element name="Value" maxOccurs="unbounded" minOccurs="0" nillable="true">
                <xsd:simpleType>
                  <xsd:restriction base="dms:Choice">
                    <xsd:enumeration value="ABM Marketing"/>
                    <xsd:enumeration value="AI"/>
                    <xsd:enumeration value="Audit"/>
                    <xsd:enumeration value="Change Management"/>
                    <xsd:enumeration value="Cloud"/>
                    <xsd:enumeration value="Configurations"/>
                    <xsd:enumeration value="Content"/>
                    <xsd:enumeration value="Customer &amp; Partner Support BPO"/>
                    <xsd:enumeration value="Customer / Partner Portal"/>
                    <xsd:enumeration value="Custom Search"/>
                    <xsd:enumeration value="Cybersecurity"/>
                    <xsd:enumeration value="Data Analytics"/>
                    <xsd:enumeration value="Design"/>
                    <xsd:enumeration value="Email Campaigns"/>
                    <xsd:enumeration value="Event support"/>
                    <xsd:enumeration value="HelpDesk Outsourcing BPO"/>
                    <xsd:enumeration value="Integrations"/>
                    <xsd:enumeration value="Intranet / Extranet"/>
                    <xsd:enumeration value="IoT"/>
                    <xsd:enumeration value="Link Building"/>
                    <xsd:enumeration value="Marketing Automation"/>
                    <xsd:enumeration value="Marketing Strategy"/>
                    <xsd:enumeration value="Marketing Technology"/>
                    <xsd:enumeration value="Migrations"/>
                    <xsd:enumeration value="Mobile Application"/>
                    <xsd:enumeration value="Organic Social Media"/>
                    <xsd:enumeration value="PPC"/>
                    <xsd:enumeration value="Personas &amp; Journey Mapping"/>
                    <xsd:enumeration value="Process Automation"/>
                    <xsd:enumeration value="Product Development"/>
                    <xsd:enumeration value="Research"/>
                    <xsd:enumeration value="SEO/ AEO"/>
                    <xsd:enumeration value="SPFx"/>
                    <xsd:enumeration value="Training"/>
                    <xsd:enumeration value="UX/ UI Design"/>
                    <xsd:enumeration value="Video Production"/>
                    <xsd:enumeration value="Webinars"/>
                    <xsd:enumeration value="Websites"/>
                    <xsd:enumeration value="DevOps"/>
                  </xsd:restriction>
                </xsd:simpleType>
              </xsd:element>
            </xsd:sequence>
          </xsd:extension>
        </xsd:complexContent>
      </xsd:complexType>
    </xsd:element>
    <xsd:element name="PlatTech" ma:index="11" nillable="true" ma:displayName="Platform / Technology" ma:format="Dropdown" ma:internalName="PlatTech">
      <xsd:complexType>
        <xsd:complexContent>
          <xsd:extension base="dms:MultiChoice">
            <xsd:sequence>
              <xsd:element name="Value" maxOccurs="unbounded" minOccurs="0" nillable="true">
                <xsd:simpleType>
                  <xsd:restriction base="dms:Choice">
                    <xsd:enumeration value=".NET"/>
                    <xsd:enumeration value="Android App"/>
                    <xsd:enumeration value="AWS"/>
                    <xsd:enumeration value="Angular"/>
                    <xsd:enumeration value="Azure"/>
                    <xsd:enumeration value="Azure DevOps"/>
                    <xsd:enumeration value="Boomi"/>
                    <xsd:enumeration value="Drupal"/>
                    <xsd:enumeration value="Dynamics"/>
                    <xsd:enumeration value="Flutter"/>
                    <xsd:enumeration value="GCP"/>
                    <xsd:enumeration value="Google"/>
                    <xsd:enumeration value="Great Plains"/>
                    <xsd:enumeration value="Hootsuite"/>
                    <xsd:enumeration value="HubSpot"/>
                    <xsd:enumeration value="iOS App"/>
                    <xsd:enumeration value="Java"/>
                    <xsd:enumeration value="Kentico"/>
                    <xsd:enumeration value="Looker Studio"/>
                    <xsd:enumeration value="Mobile App"/>
                    <xsd:enumeration value="Marketo / Adobe"/>
                    <xsd:enumeration value="NetSuite"/>
                    <xsd:enumeration value="O365"/>
                    <xsd:enumeration value="OneDrive"/>
                    <xsd:enumeration value="PowerSuite"/>
                    <xsd:enumeration value="Power BI"/>
                    <xsd:enumeration value="QuickBooks"/>
                    <xsd:enumeration value="React"/>
                    <xsd:enumeration value="React Native"/>
                    <xsd:enumeration value="Sage"/>
                    <xsd:enumeration value="Salesforce"/>
                    <xsd:enumeration value="Salesforce Experience Cloud"/>
                    <xsd:enumeration value="Salesforce Marketing Cloud"/>
                    <xsd:enumeration value="Salesforce CPQ"/>
                    <xsd:enumeration value="Salesforce Pardot"/>
                    <xsd:enumeration value="SharePoint"/>
                    <xsd:enumeration value="Shopify"/>
                    <xsd:enumeration value="Sitecore"/>
                    <xsd:enumeration value="Sitefinity"/>
                    <xsd:enumeration value="Snowflake"/>
                    <xsd:enumeration value="Sprinklr"/>
                    <xsd:enumeration value="SproutSocial"/>
                    <xsd:enumeration value="Tableau"/>
                    <xsd:enumeration value="WP Engine"/>
                    <xsd:enumeration value="Webflow"/>
                    <xsd:enumeration value="WooCommerce"/>
                    <xsd:enumeration value="WordPress"/>
                    <xsd:enumeration value="Zoho"/>
                    <xsd:enumeration value="Power Apps"/>
                    <xsd:enumeration value="Teams"/>
                    <xsd:enumeration value="Azure Data Factory"/>
                    <xsd:enumeration value="Zendesk"/>
                    <xsd:enumeration value="Business Central"/>
                    <xsd:enumeration value="Viva"/>
                  </xsd:restriction>
                </xsd:simpleType>
              </xsd:element>
            </xsd:sequence>
          </xsd:extension>
        </xsd:complexContent>
      </xsd:complexType>
    </xsd:element>
    <xsd:element name="Notes0" ma:index="12" nillable="true" ma:displayName="Notes" ma:internalName="Notes0">
      <xsd:simpleType>
        <xsd:restriction base="dms:Text">
          <xsd:maxLength value="255"/>
        </xsd:restriction>
      </xsd:simpleType>
    </xsd:element>
    <xsd:element name="Named_x0020_Account" ma:index="13" nillable="true" ma:displayName="Named Account" ma:format="Dropdown" ma:internalName="Named_x0020_Account">
      <xsd:simpleType>
        <xsd:restriction base="dms:Choice">
          <xsd:enumeration value="Microsoft"/>
          <xsd:enumeration value="Meta"/>
          <xsd:enumeration value="Amazon"/>
        </xsd:restriction>
      </xsd:simpleType>
    </xsd:element>
    <xsd:element name="MediaServiceMetadata" ma:index="14" nillable="true" ma:displayName="MediaServiceMetadata" ma:hidden="true" ma:internalName="MediaServiceMetadata" ma:readOnly="true">
      <xsd:simpleType>
        <xsd:restriction base="dms:Note"/>
      </xsd:simpleType>
    </xsd:element>
    <xsd:element name="MediaServiceFastMetadata" ma:index="15" nillable="true" ma:displayName="MediaServiceFastMetadata" ma:hidden="true" ma:internalName="MediaServiceFastMetadata" ma:readOnly="true">
      <xsd:simpleType>
        <xsd:restriction base="dms:Note"/>
      </xsd:simpleType>
    </xsd:element>
    <xsd:element name="MediaServiceSearchProperties" ma:index="16" nillable="true" ma:displayName="MediaServiceSearchProperties" ma:hidden="true" ma:internalName="MediaServiceSearchProperties" ma:readOnly="true">
      <xsd:simpleType>
        <xsd:restriction base="dms:Note"/>
      </xsd:simpleType>
    </xsd:element>
    <xsd:element name="MediaServiceObjectDetectorVersions" ma:index="17" nillable="true" ma:displayName="MediaServiceObjectDetectorVersions" ma:hidden="true" ma:indexed="true" ma:internalName="MediaServiceObjectDetectorVersions" ma:readOnly="true">
      <xsd:simpleType>
        <xsd:restriction base="dms:Text"/>
      </xsd:simpleType>
    </xsd:element>
    <xsd:element name="ProjectCompletionDate" ma:index="18" nillable="true" ma:displayName="Project Completion Date" ma:format="DateOnly" ma:internalName="ProjectCompletionDate">
      <xsd:simpleType>
        <xsd:restriction base="dms:DateTime"/>
      </xsd:simpleType>
    </xsd:element>
    <xsd:element name="ApprovedByClient" ma:index="19" nillable="true" ma:displayName="Approved By Client" ma:default="0" ma:format="Dropdown" ma:internalName="ApprovedByClient">
      <xsd:simpleType>
        <xsd:restriction base="dms:Boolea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55745BE2-D50C-4F50-BC1E-424FD60DFAA2}">
  <ds:schemaRefs>
    <ds:schemaRef ds:uri="http://schemas.microsoft.com/office/2006/metadata/customXsn"/>
  </ds:schemaRefs>
</ds:datastoreItem>
</file>

<file path=customXml/itemProps2.xml><?xml version="1.0" encoding="utf-8"?>
<ds:datastoreItem xmlns:ds="http://schemas.openxmlformats.org/officeDocument/2006/customXml" ds:itemID="{B3137D71-D777-43AA-8AA5-6535EC646CDC}">
  <ds:schemaRefs>
    <ds:schemaRef ds:uri="http://schemas.microsoft.com/office/2006/metadata/properties"/>
    <ds:schemaRef ds:uri="http://schemas.microsoft.com/office/infopath/2007/PartnerControls"/>
    <ds:schemaRef ds:uri="f205c2cf-faee-43e7-95df-8aa62e5feae0"/>
  </ds:schemaRefs>
</ds:datastoreItem>
</file>

<file path=customXml/itemProps3.xml><?xml version="1.0" encoding="utf-8"?>
<ds:datastoreItem xmlns:ds="http://schemas.openxmlformats.org/officeDocument/2006/customXml" ds:itemID="{17848533-4F48-4301-862F-FC815E81A97E}">
  <ds:schemaRefs>
    <ds:schemaRef ds:uri="http://schemas.microsoft.com/sharepoint/v3/contenttype/forms"/>
  </ds:schemaRefs>
</ds:datastoreItem>
</file>

<file path=customXml/itemProps4.xml><?xml version="1.0" encoding="utf-8"?>
<ds:datastoreItem xmlns:ds="http://schemas.openxmlformats.org/officeDocument/2006/customXml" ds:itemID="{9E2E37AC-3CAE-455D-BEE9-95F11613D08F}"/>
</file>

<file path=docProps/app.xml><?xml version="1.0" encoding="utf-8"?>
<Properties xmlns="http://schemas.openxmlformats.org/officeDocument/2006/extended-properties" xmlns:vt="http://schemas.openxmlformats.org/officeDocument/2006/docPropsVTypes">
  <TotalTime>4898</TotalTime>
  <Words>68</Words>
  <Application>Microsoft Office PowerPoint</Application>
  <PresentationFormat>Widescreen</PresentationFormat>
  <Paragraphs>2</Paragraphs>
  <Slides>1</Slides>
  <Notes>0</Notes>
  <HiddenSlides>0</HiddenSlides>
  <MMClips>0</MMClips>
  <ScaleCrop>false</ScaleCrop>
  <HeadingPairs>
    <vt:vector size="4" baseType="variant">
      <vt:variant>
        <vt:lpstr>Theme</vt:lpstr>
      </vt:variant>
      <vt:variant>
        <vt:i4>1</vt:i4>
      </vt:variant>
      <vt:variant>
        <vt:lpstr>Slide Titles</vt:lpstr>
      </vt:variant>
      <vt:variant>
        <vt:i4>1</vt:i4>
      </vt:variant>
    </vt:vector>
  </HeadingPairs>
  <TitlesOfParts>
    <vt:vector size="2" baseType="lpstr">
      <vt:lpstr>Office Theme</vt:lpstr>
      <vt:lpstr>Blue Nile AWS Hosting</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Microsoft Office User</dc:creator>
  <cp:lastModifiedBy>Don Hyun</cp:lastModifiedBy>
  <cp:revision>602</cp:revision>
  <dcterms:created xsi:type="dcterms:W3CDTF">2017-10-09T12:47:23Z</dcterms:created>
  <dcterms:modified xsi:type="dcterms:W3CDTF">2024-04-17T09:58:15Z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0x0101000D23BCBB7020E34DAE994A365BA94206</vt:lpwstr>
  </property>
  <property fmtid="{D5CDD505-2E9C-101B-9397-08002B2CF9AE}" pid="3" name="Business Unit">
    <vt:lpwstr/>
  </property>
  <property fmtid="{D5CDD505-2E9C-101B-9397-08002B2CF9AE}" pid="4" name="Industry">
    <vt:lpwstr>45;#Entertainment|164e48a0-3a66-4c7e-b4d6-c588e429c0bc</vt:lpwstr>
  </property>
  <property fmtid="{D5CDD505-2E9C-101B-9397-08002B2CF9AE}" pid="5" name="Service_x0020_Offering">
    <vt:lpwstr/>
  </property>
  <property fmtid="{D5CDD505-2E9C-101B-9397-08002B2CF9AE}" pid="6" name="Business_x0020_Unit">
    <vt:lpwstr/>
  </property>
  <property fmtid="{D5CDD505-2E9C-101B-9397-08002B2CF9AE}" pid="7" name="_ExtendedDescription">
    <vt:lpwstr/>
  </property>
  <property fmtid="{D5CDD505-2E9C-101B-9397-08002B2CF9AE}" pid="8" name="Service Offering">
    <vt:lpwstr/>
  </property>
  <property fmtid="{D5CDD505-2E9C-101B-9397-08002B2CF9AE}" pid="9" name="Category">
    <vt:lpwstr>6;#Case Study|8faa0ad1-25f0-4f56-8e38-f60e20c455d6</vt:lpwstr>
  </property>
  <property fmtid="{D5CDD505-2E9C-101B-9397-08002B2CF9AE}" pid="10" name="Order">
    <vt:r8>17500</vt:r8>
  </property>
  <property fmtid="{D5CDD505-2E9C-101B-9397-08002B2CF9AE}" pid="11" name="xd_Signature">
    <vt:bool>false</vt:bool>
  </property>
  <property fmtid="{D5CDD505-2E9C-101B-9397-08002B2CF9AE}" pid="12" name="SO">
    <vt:lpwstr>7;#;#19;#;#21;#;#22;#</vt:lpwstr>
  </property>
  <property fmtid="{D5CDD505-2E9C-101B-9397-08002B2CF9AE}" pid="13" name="xd_ProgID">
    <vt:lpwstr/>
  </property>
  <property fmtid="{D5CDD505-2E9C-101B-9397-08002B2CF9AE}" pid="14" name="_SourceUrl">
    <vt:lpwstr/>
  </property>
  <property fmtid="{D5CDD505-2E9C-101B-9397-08002B2CF9AE}" pid="15" name="_SharedFileIndex">
    <vt:lpwstr/>
  </property>
  <property fmtid="{D5CDD505-2E9C-101B-9397-08002B2CF9AE}" pid="16" name="ComplianceAssetId">
    <vt:lpwstr/>
  </property>
  <property fmtid="{D5CDD505-2E9C-101B-9397-08002B2CF9AE}" pid="17" name="TemplateUrl">
    <vt:lpwstr/>
  </property>
  <property fmtid="{D5CDD505-2E9C-101B-9397-08002B2CF9AE}" pid="18" name="TriggerFlowInfo">
    <vt:lpwstr/>
  </property>
</Properties>
</file>