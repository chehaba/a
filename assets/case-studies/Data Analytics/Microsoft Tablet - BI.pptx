
<file path=[Content_Types].xml><?xml version="1.0" encoding="utf-8"?>
<Types xmlns="http://schemas.openxmlformats.org/package/2006/content-types">
  <Default Extension="bin" ContentType="image/jp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300" r:id="R704c0883b50749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704c0883b5074934" Type="http://schemas.openxmlformats.org/officeDocument/2006/relationships/slide" Target="/pp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4.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5/11/2019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5/11/2019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bfbbe9ac6c514406" /><Relationship Type="http://schemas.openxmlformats.org/officeDocument/2006/relationships/image" Target="/ppt/media/image.bin" Id="rId20"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539CB4E-3F35-4158-BFA8-81B24C9008B2}"/>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p:pic>
      <p:sp>
        <p:nvSpPr>
          <p:cNvPr id="5" name="Rectangle 4"/>
          <p:cNvSpPr/>
          <p:nvPr/>
        </p:nvSpPr>
        <p:spPr>
          <a:xfrm>
            <a:off x="-8878" y="0"/>
            <a:ext cx="12192000"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ffirmastudioslogo.png">
            <a:extLst>
              <a:ext uri="{FF2B5EF4-FFF2-40B4-BE49-F238E27FC236}">
                <a16:creationId xmlns:a16="http://schemas.microsoft.com/office/drawing/2014/main" id="{3C26C536-9D94-4335-80FB-B04CD1BFE8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42284" y="2464040"/>
            <a:ext cx="3061315" cy="782003"/>
          </a:xfrm>
          <a:prstGeom prst="rect">
            <a:avLst/>
          </a:prstGeom>
        </p:spPr>
      </p:pic>
      <p:sp>
        <p:nvSpPr>
          <p:cNvPr id="10" name="TextBox 9"/>
          <p:cNvSpPr txBox="1"/>
          <p:nvPr/>
        </p:nvSpPr>
        <p:spPr>
          <a:xfrm>
            <a:off x="2700859" y="4137250"/>
            <a:ext cx="6158753" cy="1217834"/>
          </a:xfrm>
          <a:prstGeom prst="rect">
            <a:avLst/>
          </a:prstGeom>
          <a:noFill/>
        </p:spPr>
        <p:txBody>
          <a:bodyPr wrap="square" rtlCol="0">
            <a:spAutoFit/>
          </a:bodyPr>
          <a:lstStyle/>
          <a:p>
            <a:pPr algn="ctr">
              <a:lnSpc>
                <a:spcPct val="150000"/>
              </a:lnSpc>
            </a:pPr>
            <a:r>
              <a:rPr lang="en-US" sz="1000" dirty="0">
                <a:solidFill>
                  <a:schemeClr val="tx1">
                    <a:lumMod val="10000"/>
                    <a:lumOff val="90000"/>
                  </a:schemeClr>
                </a:solidFill>
                <a:latin typeface="Open Sans" charset="0"/>
                <a:ea typeface="Open Sans" charset="0"/>
                <a:cs typeface="Open Sans" charset="0"/>
              </a:rPr>
              <a:t>Affirma consulting is the consulting firm that cares. Our strength is in our passionate, knowledgeable and happy team members. We believe and are living proof that when you take care of your employees – they will take care of your customers. Our team members care about your project success – and it shows.</a:t>
            </a:r>
          </a:p>
          <a:p>
            <a:pPr algn="ctr">
              <a:lnSpc>
                <a:spcPct val="150000"/>
              </a:lnSpc>
            </a:pPr>
            <a:r>
              <a:rPr lang="en-US" sz="1000" dirty="0">
                <a:solidFill>
                  <a:schemeClr val="tx1">
                    <a:lumMod val="10000"/>
                    <a:lumOff val="90000"/>
                  </a:schemeClr>
                </a:solidFill>
                <a:latin typeface="Open Sans" charset="0"/>
                <a:ea typeface="Open Sans" charset="0"/>
                <a:cs typeface="Open Sans" charset="0"/>
              </a:rPr>
              <a:t>See how their enthusiasm and knowledge can benefit you!</a:t>
            </a:r>
          </a:p>
          <a:p>
            <a:pPr algn="ctr">
              <a:lnSpc>
                <a:spcPct val="150000"/>
              </a:lnSpc>
            </a:pPr>
            <a:endParaRPr lang="en-US" sz="1000" dirty="0">
              <a:solidFill>
                <a:schemeClr val="tx1">
                  <a:lumMod val="10000"/>
                  <a:lumOff val="90000"/>
                </a:schemeClr>
              </a:solidFill>
              <a:latin typeface="Open Sans" charset="0"/>
              <a:ea typeface="Open Sans" charset="0"/>
              <a:cs typeface="Open Sans" charset="0"/>
            </a:endParaRPr>
          </a:p>
        </p:txBody>
      </p:sp>
      <p:grpSp>
        <p:nvGrpSpPr>
          <p:cNvPr id="2" name="Group 1"/>
          <p:cNvGrpSpPr/>
          <p:nvPr/>
        </p:nvGrpSpPr>
        <p:grpSpPr>
          <a:xfrm>
            <a:off x="10255378" y="484095"/>
            <a:ext cx="1281303" cy="1176448"/>
            <a:chOff x="10255378" y="484095"/>
            <a:chExt cx="1281303" cy="1176448"/>
          </a:xfrm>
          <a:solidFill>
            <a:schemeClr val="bg1"/>
          </a:solidFill>
        </p:grpSpPr>
        <p:sp>
          <p:nvSpPr>
            <p:cNvPr id="14" name="Right Triangle 13"/>
            <p:cNvSpPr/>
            <p:nvPr/>
          </p:nvSpPr>
          <p:spPr>
            <a:xfrm rot="10800000">
              <a:off x="10404999" y="484095"/>
              <a:ext cx="1131682" cy="1131682"/>
            </a:xfrm>
            <a:prstGeom prst="rtTriangle">
              <a:avLst/>
            </a:prstGeom>
            <a:solidFill>
              <a:srgbClr val="D8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p:cNvGrpSpPr/>
            <p:nvPr/>
          </p:nvGrpSpPr>
          <p:grpSpPr>
            <a:xfrm rot="10800000">
              <a:off x="10255378" y="708872"/>
              <a:ext cx="1007690" cy="951671"/>
              <a:chOff x="7625694" y="1771958"/>
              <a:chExt cx="3025379" cy="2857192"/>
            </a:xfrm>
            <a:grpFill/>
          </p:grpSpPr>
          <p:sp>
            <p:nvSpPr>
              <p:cNvPr id="16" name="Oval 15"/>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32" name="Picture 31">
            <a:extLst>
              <a:ext uri="{FF2B5EF4-FFF2-40B4-BE49-F238E27FC236}">
                <a16:creationId xmlns:a16="http://schemas.microsoft.com/office/drawing/2014/main" id="{C2908EAF-8545-47F0-99B6-9D22EB4246D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3107" y="2517866"/>
            <a:ext cx="668132" cy="668132"/>
          </a:xfrm>
          <a:prstGeom prst="rect">
            <a:avLst/>
          </a:prstGeom>
        </p:spPr>
      </p:pic>
      <p:cxnSp>
        <p:nvCxnSpPr>
          <p:cNvPr id="37" name="Straight Connector 36">
            <a:extLst>
              <a:ext uri="{FF2B5EF4-FFF2-40B4-BE49-F238E27FC236}">
                <a16:creationId xmlns:a16="http://schemas.microsoft.com/office/drawing/2014/main" id="{5EEDD629-B4E1-495E-83EA-C5E0BCF8429B}"/>
              </a:ext>
            </a:extLst>
          </p:cNvPr>
          <p:cNvCxnSpPr/>
          <p:nvPr/>
        </p:nvCxnSpPr>
        <p:spPr>
          <a:xfrm>
            <a:off x="5768806" y="2229747"/>
            <a:ext cx="0" cy="12337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8" name="Picture 6" descr="Image result for port of seattle logo">
            <a:extLst>
              <a:ext uri="{FF2B5EF4-FFF2-40B4-BE49-F238E27FC236}">
                <a16:creationId xmlns:a16="http://schemas.microsoft.com/office/drawing/2014/main" id="{7931BA4C-8A45-40AE-913E-024C6ECF9C99}"/>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6534014" y="2114689"/>
            <a:ext cx="3108278" cy="1554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977902"/>
      </p:ext>
    </p:extLst>
  </p:cSld>
  <p:clrMapOvr>
    <a:masterClrMapping/>
  </p:clrMapOvr>
</p:sld>
</file>

<file path=ppt/slides/slide2.xml><?xml version="1.0" encoding="utf-8"?>
<p:sld xmlns:a16="http://schemas.microsoft.com/office/drawing/2014/main" xmlns:a14="http://schemas.microsoft.com/office/drawing/2010/main" xmlns:p14="http://schemas.microsoft.com/office/powerpoint/2010/main" xmlns:p="http://schemas.openxmlformats.org/presentationml/2006/main">
  <p:cSld name="Case (Left)">
    <p:spTree>
      <p:nvGrpSpPr>
        <p:cNvPr id="1" name=""/>
        <p:cNvGrpSpPr/>
        <p:nvPr/>
      </p:nvGrpSpPr>
      <p:grpSpPr>
        <a:xfrm xmlns:a="http://schemas.openxmlformats.org/drawingml/2006/main">
          <a:off x="0" y="0"/>
          <a:ext cx="0" cy="0"/>
          <a:chOff x="0" y="0"/>
          <a:chExt cx="0" cy="0"/>
        </a:xfrm>
      </p:grpSpPr>
      <p:sp>
        <p:nvSpPr>
          <p:cNvPr id="7" name="Rectangle 6">
            <a:extLst xmlns:a="http://schemas.openxmlformats.org/drawingml/2006/main">
              <a:ext uri="{FF2B5EF4-FFF2-40B4-BE49-F238E27FC236}">
                <a16:creationId xmlns:a16="http://schemas.microsoft.com/office/drawing/2014/main" id="{38F97E55-68B0-4E78-8819-96463181F0E0}"/>
              </a:ext>
            </a:extLst>
          </p:cNvPr>
          <p:cNvSpPr/>
          <p:nvPr userDrawn="1"/>
        </p:nvSpPr>
        <p:spPr>
          <a:xfrm xmlns:a="http://schemas.openxmlformats.org/drawingml/2006/main">
            <a:off x="2" y="0"/>
            <a:ext cx="12192000" cy="990600"/>
          </a:xfrm>
          <a:prstGeom xmlns:a="http://schemas.openxmlformats.org/drawingml/2006/main" prst="rect">
            <a:avLst/>
          </a:prstGeom>
          <a:solidFill xmlns:a="http://schemas.openxmlformats.org/drawingml/2006/main">
            <a:srgbClr val="182D4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rIns="0" rtlCol="0" anchor="ctr"/>
          <a:lstStyle xmlns:a="http://schemas.openxmlformats.org/drawingml/2006/main"/>
          <a:p xmlns:a="http://schemas.openxmlformats.org/drawingml/2006/main">
            <a:pPr algn="ctr"/>
            <a:endParaRPr lang="en-US" sz="1765" dirty="0">
              <a:solidFill>
                <a:schemeClr val="bg1"/>
              </a:solidFill>
              <a:latin typeface="Segoe UI" panose="020B0502040204020203" pitchFamily="34" charset="0"/>
            </a:endParaRPr>
          </a:p>
        </p:txBody>
      </p:sp>
      <p:sp>
        <p:nvSpPr>
          <p:cNvPr id="2" name="Title 1"/>
          <p:cNvSpPr>
            <a:spLocks xmlns:a="http://schemas.openxmlformats.org/drawingml/2006/main" noGrp="1"/>
          </p:cNvSpPr>
          <p:nvPr>
            <p:ph type="title" hasCustomPrompt="1"/>
          </p:nvPr>
        </p:nvSpPr>
        <p:spPr>
          <a:xfrm xmlns:a="http://schemas.openxmlformats.org/drawingml/2006/main">
            <a:off x="381000" y="228600"/>
            <a:ext cx="11430000" cy="533400"/>
          </a:xfrm>
        </p:spPr>
        <p:txBody>
          <a:bodyPr xmlns:a="http://schemas.openxmlformats.org/drawingml/2006/main" tIns="91440" bIns="91440"/>
          <a:lstStyle xmlns:a="http://schemas.openxmlformats.org/drawingml/2006/main">
            <a:lvl1pPr>
              <a:defRPr b="0">
                <a:solidFill>
                  <a:schemeClr val="bg1"/>
                </a:solidFill>
                <a:latin typeface="Montserrat"/>
              </a:defRPr>
            </a:lvl1pPr>
          </a:lstStyle>
          <a:p xmlns:a="http://schemas.openxmlformats.org/drawingml/2006/main">
            <a:r>
              <a:rPr lang="en-US" dirty="0"/>
              <a:t>Microsoft Tablet Partner Program BI</a:t>
            </a:r>
          </a:p>
        </p:txBody>
      </p:sp>
      <p:grpSp>
        <p:nvGrpSpPr>
          <p:cNvPr id="10" name="Group 9">
            <a:extLst xmlns:a="http://schemas.openxmlformats.org/drawingml/2006/main">
              <a:ext uri="{FF2B5EF4-FFF2-40B4-BE49-F238E27FC236}">
                <a16:creationId xmlns:a16="http://schemas.microsoft.com/office/drawing/2014/main" id="{13883256-DDF5-46AA-B364-D5E565E8F2E8}"/>
              </a:ext>
            </a:extLst>
          </p:cNvPr>
          <p:cNvGrpSpPr/>
          <p:nvPr userDrawn="1"/>
        </p:nvGrpSpPr>
        <p:grpSpPr>
          <a:xfrm xmlns:a="http://schemas.openxmlformats.org/drawingml/2006/main">
            <a:off x="11251602" y="157052"/>
            <a:ext cx="772469" cy="709254"/>
            <a:chOff x="10255378" y="484095"/>
            <a:chExt cx="1281303" cy="1176448"/>
          </a:xfrm>
          <a:solidFill xmlns:a="http://schemas.openxmlformats.org/drawingml/2006/main">
            <a:schemeClr val="bg1"/>
          </a:solidFill>
        </p:grpSpPr>
        <p:sp>
          <p:nvSpPr>
            <p:cNvPr id="13" name="Right Triangle 12">
              <a:extLst xmlns:a="http://schemas.openxmlformats.org/drawingml/2006/main">
                <a:ext uri="{FF2B5EF4-FFF2-40B4-BE49-F238E27FC236}">
                  <a16:creationId xmlns:a16="http://schemas.microsoft.com/office/drawing/2014/main" id="{E04258D0-0979-4874-8131-C85BFBF0EBB7}"/>
                </a:ext>
              </a:extLst>
            </p:cNvPr>
            <p:cNvSpPr/>
            <p:nvPr/>
          </p:nvSpPr>
          <p:spPr>
            <a:xfrm xmlns:a="http://schemas.openxmlformats.org/drawingml/2006/main" rot="10800000">
              <a:off x="10404999" y="484095"/>
              <a:ext cx="1131682" cy="1131682"/>
            </a:xfrm>
            <a:prstGeom xmlns:a="http://schemas.openxmlformats.org/drawingml/2006/main" prst="rtTriangle">
              <a:avLst/>
            </a:prstGeom>
            <a:solidFill xmlns:a="http://schemas.openxmlformats.org/drawingml/2006/main">
              <a:srgbClr val="DD812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dirty="0"/>
            </a:p>
          </p:txBody>
        </p:sp>
        <p:grpSp>
          <p:nvGrpSpPr>
            <p:cNvPr id="14" name="Group 13">
              <a:extLst xmlns:a="http://schemas.openxmlformats.org/drawingml/2006/main">
                <a:ext uri="{FF2B5EF4-FFF2-40B4-BE49-F238E27FC236}">
                  <a16:creationId xmlns:a16="http://schemas.microsoft.com/office/drawing/2014/main" id="{B07A057C-BA43-40B3-9FAD-B92F71670524}"/>
                </a:ext>
              </a:extLst>
            </p:cNvPr>
            <p:cNvGrpSpPr/>
            <p:nvPr/>
          </p:nvGrpSpPr>
          <p:grpSpPr>
            <a:xfrm xmlns:a="http://schemas.openxmlformats.org/drawingml/2006/main" rot="10800000">
              <a:off x="10255378" y="708872"/>
              <a:ext cx="1007690" cy="951671"/>
              <a:chOff x="7625694" y="1771958"/>
              <a:chExt cx="3025379" cy="2857192"/>
            </a:xfrm>
            <a:grpFill xmlns:a="http://schemas.openxmlformats.org/drawingml/2006/main"/>
          </p:grpSpPr>
          <p:sp>
            <p:nvSpPr>
              <p:cNvPr id="15" name="Oval 14">
                <a:extLst xmlns:a="http://schemas.openxmlformats.org/drawingml/2006/main">
                  <a:ext uri="{FF2B5EF4-FFF2-40B4-BE49-F238E27FC236}">
                    <a16:creationId xmlns:a16="http://schemas.microsoft.com/office/drawing/2014/main" id="{822D3E89-D469-424A-A98C-AF9147A63662}"/>
                  </a:ext>
                </a:extLst>
              </p:cNvPr>
              <p:cNvSpPr/>
              <p:nvPr/>
            </p:nvSpPr>
            <p:spPr>
              <a:xfrm xmlns:a="http://schemas.openxmlformats.org/drawingml/2006/main">
                <a:off x="7632372"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6" name="Oval 15">
                <a:extLst xmlns:a="http://schemas.openxmlformats.org/drawingml/2006/main">
                  <a:ext uri="{FF2B5EF4-FFF2-40B4-BE49-F238E27FC236}">
                    <a16:creationId xmlns:a16="http://schemas.microsoft.com/office/drawing/2014/main" id="{9BADCFF3-8AD6-42F9-AB8C-375C23E132C8}"/>
                  </a:ext>
                </a:extLst>
              </p:cNvPr>
              <p:cNvSpPr/>
              <p:nvPr/>
            </p:nvSpPr>
            <p:spPr>
              <a:xfrm xmlns:a="http://schemas.openxmlformats.org/drawingml/2006/main">
                <a:off x="7648083"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7" name="Oval 16">
                <a:extLst xmlns:a="http://schemas.openxmlformats.org/drawingml/2006/main">
                  <a:ext uri="{FF2B5EF4-FFF2-40B4-BE49-F238E27FC236}">
                    <a16:creationId xmlns:a16="http://schemas.microsoft.com/office/drawing/2014/main" id="{146CF906-92B7-45FE-A1E0-5AF6E9C4869B}"/>
                  </a:ext>
                </a:extLst>
              </p:cNvPr>
              <p:cNvSpPr/>
              <p:nvPr/>
            </p:nvSpPr>
            <p:spPr>
              <a:xfrm xmlns:a="http://schemas.openxmlformats.org/drawingml/2006/main">
                <a:off x="7629033"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8" name="Oval 17">
                <a:extLst xmlns:a="http://schemas.openxmlformats.org/drawingml/2006/main">
                  <a:ext uri="{FF2B5EF4-FFF2-40B4-BE49-F238E27FC236}">
                    <a16:creationId xmlns:a16="http://schemas.microsoft.com/office/drawing/2014/main" id="{B449BE01-15C6-4A0D-9AF6-4786CA4E9637}"/>
                  </a:ext>
                </a:extLst>
              </p:cNvPr>
              <p:cNvSpPr/>
              <p:nvPr/>
            </p:nvSpPr>
            <p:spPr>
              <a:xfrm xmlns:a="http://schemas.openxmlformats.org/drawingml/2006/main">
                <a:off x="7625694" y="24387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9" name="Oval 18">
                <a:extLst xmlns:a="http://schemas.openxmlformats.org/drawingml/2006/main">
                  <a:ext uri="{FF2B5EF4-FFF2-40B4-BE49-F238E27FC236}">
                    <a16:creationId xmlns:a16="http://schemas.microsoft.com/office/drawing/2014/main" id="{3E205D10-1D5E-4D0D-8531-85D8D7946B95}"/>
                  </a:ext>
                </a:extLst>
              </p:cNvPr>
              <p:cNvSpPr/>
              <p:nvPr/>
            </p:nvSpPr>
            <p:spPr>
              <a:xfrm xmlns:a="http://schemas.openxmlformats.org/drawingml/2006/main">
                <a:off x="7629033" y="1771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0" name="Oval 19">
                <a:extLst xmlns:a="http://schemas.openxmlformats.org/drawingml/2006/main">
                  <a:ext uri="{FF2B5EF4-FFF2-40B4-BE49-F238E27FC236}">
                    <a16:creationId xmlns:a16="http://schemas.microsoft.com/office/drawing/2014/main" id="{DE2C8FD6-081D-49F6-921D-A381A767C163}"/>
                  </a:ext>
                </a:extLst>
              </p:cNvPr>
              <p:cNvSpPr/>
              <p:nvPr/>
            </p:nvSpPr>
            <p:spPr>
              <a:xfrm xmlns:a="http://schemas.openxmlformats.org/drawingml/2006/main">
                <a:off x="8338576" y="44230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1" name="Oval 20">
                <a:extLst xmlns:a="http://schemas.openxmlformats.org/drawingml/2006/main">
                  <a:ext uri="{FF2B5EF4-FFF2-40B4-BE49-F238E27FC236}">
                    <a16:creationId xmlns:a16="http://schemas.microsoft.com/office/drawing/2014/main" id="{FF9994E3-F742-477B-85AD-302966D65BD7}"/>
                  </a:ext>
                </a:extLst>
              </p:cNvPr>
              <p:cNvSpPr/>
              <p:nvPr/>
            </p:nvSpPr>
            <p:spPr>
              <a:xfrm xmlns:a="http://schemas.openxmlformats.org/drawingml/2006/main">
                <a:off x="8354287" y="37562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2" name="Oval 21">
                <a:extLst xmlns:a="http://schemas.openxmlformats.org/drawingml/2006/main">
                  <a:ext uri="{FF2B5EF4-FFF2-40B4-BE49-F238E27FC236}">
                    <a16:creationId xmlns:a16="http://schemas.microsoft.com/office/drawing/2014/main" id="{1A814A4E-18CD-488A-8AC5-D8D62E7F96F9}"/>
                  </a:ext>
                </a:extLst>
              </p:cNvPr>
              <p:cNvSpPr/>
              <p:nvPr/>
            </p:nvSpPr>
            <p:spPr>
              <a:xfrm xmlns:a="http://schemas.openxmlformats.org/drawingml/2006/main">
                <a:off x="8335237" y="30895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3" name="Oval 22">
                <a:extLst xmlns:a="http://schemas.openxmlformats.org/drawingml/2006/main">
                  <a:ext uri="{FF2B5EF4-FFF2-40B4-BE49-F238E27FC236}">
                    <a16:creationId xmlns:a16="http://schemas.microsoft.com/office/drawing/2014/main" id="{B3949535-A9FF-471C-BF8D-F3C9FB103940}"/>
                  </a:ext>
                </a:extLst>
              </p:cNvPr>
              <p:cNvSpPr/>
              <p:nvPr/>
            </p:nvSpPr>
            <p:spPr>
              <a:xfrm xmlns:a="http://schemas.openxmlformats.org/drawingml/2006/main">
                <a:off x="8331898" y="24227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4" name="Oval 23">
                <a:extLst xmlns:a="http://schemas.openxmlformats.org/drawingml/2006/main">
                  <a:ext uri="{FF2B5EF4-FFF2-40B4-BE49-F238E27FC236}">
                    <a16:creationId xmlns:a16="http://schemas.microsoft.com/office/drawing/2014/main" id="{BA711CF7-5013-4280-856D-919CDF2AA910}"/>
                  </a:ext>
                </a:extLst>
              </p:cNvPr>
              <p:cNvSpPr/>
              <p:nvPr/>
            </p:nvSpPr>
            <p:spPr>
              <a:xfrm xmlns:a="http://schemas.openxmlformats.org/drawingml/2006/main">
                <a:off x="9036117"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5" name="Oval 24">
                <a:extLst xmlns:a="http://schemas.openxmlformats.org/drawingml/2006/main">
                  <a:ext uri="{FF2B5EF4-FFF2-40B4-BE49-F238E27FC236}">
                    <a16:creationId xmlns:a16="http://schemas.microsoft.com/office/drawing/2014/main" id="{BD2D7A54-8F84-484D-8489-7F2DF9C00BCC}"/>
                  </a:ext>
                </a:extLst>
              </p:cNvPr>
              <p:cNvSpPr/>
              <p:nvPr/>
            </p:nvSpPr>
            <p:spPr>
              <a:xfrm xmlns:a="http://schemas.openxmlformats.org/drawingml/2006/main">
                <a:off x="9051828"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6" name="Oval 25">
                <a:extLst xmlns:a="http://schemas.openxmlformats.org/drawingml/2006/main">
                  <a:ext uri="{FF2B5EF4-FFF2-40B4-BE49-F238E27FC236}">
                    <a16:creationId xmlns:a16="http://schemas.microsoft.com/office/drawing/2014/main" id="{43920531-84F3-4DCA-A4C7-1E45B62398A0}"/>
                  </a:ext>
                </a:extLst>
              </p:cNvPr>
              <p:cNvSpPr/>
              <p:nvPr/>
            </p:nvSpPr>
            <p:spPr>
              <a:xfrm xmlns:a="http://schemas.openxmlformats.org/drawingml/2006/main">
                <a:off x="9032778"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7" name="Oval 26">
                <a:extLst xmlns:a="http://schemas.openxmlformats.org/drawingml/2006/main">
                  <a:ext uri="{FF2B5EF4-FFF2-40B4-BE49-F238E27FC236}">
                    <a16:creationId xmlns:a16="http://schemas.microsoft.com/office/drawing/2014/main" id="{8EA3990F-0363-4A77-BABA-C5915D801F32}"/>
                  </a:ext>
                </a:extLst>
              </p:cNvPr>
              <p:cNvSpPr/>
              <p:nvPr/>
            </p:nvSpPr>
            <p:spPr>
              <a:xfrm xmlns:a="http://schemas.openxmlformats.org/drawingml/2006/main">
                <a:off x="9755375"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8" name="Oval 27">
                <a:extLst xmlns:a="http://schemas.openxmlformats.org/drawingml/2006/main">
                  <a:ext uri="{FF2B5EF4-FFF2-40B4-BE49-F238E27FC236}">
                    <a16:creationId xmlns:a16="http://schemas.microsoft.com/office/drawing/2014/main" id="{FDE1E5EB-D396-42F9-9256-14D087571DC3}"/>
                  </a:ext>
                </a:extLst>
              </p:cNvPr>
              <p:cNvSpPr/>
              <p:nvPr/>
            </p:nvSpPr>
            <p:spPr>
              <a:xfrm xmlns:a="http://schemas.openxmlformats.org/drawingml/2006/main">
                <a:off x="9771086"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9" name="Oval 28">
                <a:extLst xmlns:a="http://schemas.openxmlformats.org/drawingml/2006/main">
                  <a:ext uri="{FF2B5EF4-FFF2-40B4-BE49-F238E27FC236}">
                    <a16:creationId xmlns:a16="http://schemas.microsoft.com/office/drawing/2014/main" id="{496CFD1D-C58B-40A8-A745-B76F50F83965}"/>
                  </a:ext>
                </a:extLst>
              </p:cNvPr>
              <p:cNvSpPr/>
              <p:nvPr/>
            </p:nvSpPr>
            <p:spPr>
              <a:xfrm xmlns:a="http://schemas.openxmlformats.org/drawingml/2006/main">
                <a:off x="10470714" y="4448791"/>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grpSp>
      </p:grpSp>
      <p:sp>
        <p:nvSpPr>
          <p:cNvPr id="30" name="Rectangle 29">
            <a:extLst xmlns:a="http://schemas.openxmlformats.org/drawingml/2006/main">
              <a:ext uri="{FF2B5EF4-FFF2-40B4-BE49-F238E27FC236}">
                <a16:creationId xmlns:a16="http://schemas.microsoft.com/office/drawing/2014/main" id="{9665E9BF-B954-4AC7-821E-2E0CD116D915}"/>
              </a:ext>
            </a:extLst>
          </p:cNvPr>
          <p:cNvSpPr/>
          <p:nvPr userDrawn="1"/>
        </p:nvSpPr>
        <p:spPr>
          <a:xfrm xmlns:a="http://schemas.openxmlformats.org/drawingml/2006/main">
            <a:off x="0" y="994299"/>
            <a:ext cx="7239000" cy="5865808"/>
          </a:xfrm>
          <a:prstGeom xmlns:a="http://schemas.openxmlformats.org/drawingml/2006/main" prst="rect">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31" name="TextBox 30">
            <a:extLst xmlns:a="http://schemas.openxmlformats.org/drawingml/2006/main">
              <a:ext uri="{FF2B5EF4-FFF2-40B4-BE49-F238E27FC236}">
                <a16:creationId xmlns:a16="http://schemas.microsoft.com/office/drawing/2014/main" id="{EC9A7433-5BCD-4EA6-924A-53FDBF0CAAA6}"/>
              </a:ext>
            </a:extLst>
          </p:cNvPr>
          <p:cNvSpPr txBox="1"/>
          <p:nvPr userDrawn="1"/>
        </p:nvSpPr>
        <p:spPr>
          <a:xfrm xmlns:a="http://schemas.openxmlformats.org/drawingml/2006/main">
            <a:off x="858128" y="2008164"/>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Before there was a market for Tablet PC’s, Microsoft needed a way to encourage vendors to build applications for tablets while at the same time convincing consumers to purchase these new devices. </a:t>
            </a:r>
            <a:endParaRPr lang="en-US" sz="1100" b="0" i="0" kern="1200" dirty="0">
              <a:solidFill>
                <a:schemeClr val="tx1"/>
              </a:solidFill>
              <a:effectLst/>
              <a:latin typeface="Open Sans"/>
              <a:ea typeface="+mn-ea"/>
              <a:cs typeface="+mn-cs"/>
            </a:endParaRPr>
          </a:p>
        </p:txBody>
      </p:sp>
      <p:sp>
        <p:nvSpPr>
          <p:cNvPr id="32" name="TextBox 31">
            <a:extLst xmlns:a="http://schemas.openxmlformats.org/drawingml/2006/main">
              <a:ext uri="{FF2B5EF4-FFF2-40B4-BE49-F238E27FC236}">
                <a16:creationId xmlns:a16="http://schemas.microsoft.com/office/drawing/2014/main" id="{E1C0119A-9047-4290-917B-405E19FFDA31}"/>
              </a:ext>
            </a:extLst>
          </p:cNvPr>
          <p:cNvSpPr txBox="1"/>
          <p:nvPr userDrawn="1"/>
        </p:nvSpPr>
        <p:spPr>
          <a:xfrm xmlns:a="http://schemas.openxmlformats.org/drawingml/2006/main">
            <a:off x="858129" y="1581124"/>
            <a:ext cx="1603901" cy="384721"/>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sz="1900" b="1" dirty="0">
                <a:solidFill>
                  <a:srgbClr val="6C86B8"/>
                </a:solidFill>
                <a:latin typeface="Montserrat" charset="0"/>
                <a:ea typeface="Montserrat" charset="0"/>
                <a:cs typeface="Montserrat" charset="0"/>
              </a:rPr>
              <a:t>The Challenge</a:t>
            </a:r>
          </a:p>
        </p:txBody>
      </p:sp>
      <p:sp>
        <p:nvSpPr>
          <p:cNvPr id="33" name="TextBox 32">
            <a:extLst xmlns:a="http://schemas.openxmlformats.org/drawingml/2006/main">
              <a:ext uri="{FF2B5EF4-FFF2-40B4-BE49-F238E27FC236}">
                <a16:creationId xmlns:a16="http://schemas.microsoft.com/office/drawing/2014/main" id="{A2CD0AFB-BBEB-434B-985F-3ACF7BE51454}"/>
              </a:ext>
            </a:extLst>
          </p:cNvPr>
          <p:cNvSpPr txBox="1"/>
          <p:nvPr userDrawn="1"/>
        </p:nvSpPr>
        <p:spPr>
          <a:xfrm xmlns:a="http://schemas.openxmlformats.org/drawingml/2006/main">
            <a:off x="858128" y="3525482"/>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We created a market place for Microsoft to sell more Tablets by encouraging Independent Software Vendors (ISVs) to build applications.  We tracked thousands of ISVs and their product offerings and built an Interactive Software Showcase for users to find the applications they need for their Tablets. The program was so successful, we localized it for the MS Japan Tablet Group.</a:t>
            </a:r>
            <a:endParaRPr lang="en-US" sz="1100" b="0" i="0" kern="1200" dirty="0">
              <a:solidFill>
                <a:schemeClr val="tx1"/>
              </a:solidFill>
              <a:effectLst/>
              <a:latin typeface="Open Sans"/>
              <a:ea typeface="+mn-ea"/>
              <a:cs typeface="+mn-cs"/>
            </a:endParaRPr>
          </a:p>
        </p:txBody>
      </p:sp>
      <p:sp>
        <p:nvSpPr>
          <p:cNvPr id="34" name="TextBox 33">
            <a:extLst xmlns:a="http://schemas.openxmlformats.org/drawingml/2006/main">
              <a:ext uri="{FF2B5EF4-FFF2-40B4-BE49-F238E27FC236}">
                <a16:creationId xmlns:a16="http://schemas.microsoft.com/office/drawing/2014/main" id="{EC17F625-2EC2-4F28-895B-03B104D7945A}"/>
              </a:ext>
            </a:extLst>
          </p:cNvPr>
          <p:cNvSpPr txBox="1"/>
          <p:nvPr userDrawn="1"/>
        </p:nvSpPr>
        <p:spPr>
          <a:xfrm xmlns:a="http://schemas.openxmlformats.org/drawingml/2006/main">
            <a:off x="858129" y="3098442"/>
            <a:ext cx="1458348"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What We Did</a:t>
            </a:r>
          </a:p>
        </p:txBody>
      </p:sp>
      <p:sp>
        <p:nvSpPr>
          <p:cNvPr id="35" name="TextBox 34">
            <a:extLst xmlns:a="http://schemas.openxmlformats.org/drawingml/2006/main">
              <a:ext uri="{FF2B5EF4-FFF2-40B4-BE49-F238E27FC236}">
                <a16:creationId xmlns:a16="http://schemas.microsoft.com/office/drawing/2014/main" id="{127A5A2A-6A75-46BB-A872-3D435F9C8C26}"/>
              </a:ext>
            </a:extLst>
          </p:cNvPr>
          <p:cNvSpPr txBox="1"/>
          <p:nvPr userDrawn="1"/>
        </p:nvSpPr>
        <p:spPr>
          <a:xfrm xmlns:a="http://schemas.openxmlformats.org/drawingml/2006/main">
            <a:off x="873603" y="5568668"/>
            <a:ext cx="5517672"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Microsoft has sold millions of tablets since the creation of the Tablet PC Partner Program and our custom marketplace has generated thousands of leads for ISVs.  The Tablet PC Partner Program was so successful, that it has since been integrated into the Microsoft Umbrella Partner Program.</a:t>
            </a:r>
            <a:endParaRPr lang="en-US" sz="1100" b="0" i="0" kern="1200" dirty="0">
              <a:solidFill>
                <a:schemeClr val="tx1"/>
              </a:solidFill>
              <a:effectLst/>
              <a:latin typeface="Open Sans"/>
              <a:ea typeface="+mn-ea"/>
              <a:cs typeface="+mn-cs"/>
            </a:endParaRPr>
          </a:p>
        </p:txBody>
      </p:sp>
      <p:sp>
        <p:nvSpPr>
          <p:cNvPr id="36" name="TextBox 35">
            <a:extLst xmlns:a="http://schemas.openxmlformats.org/drawingml/2006/main">
              <a:ext uri="{FF2B5EF4-FFF2-40B4-BE49-F238E27FC236}">
                <a16:creationId xmlns:a16="http://schemas.microsoft.com/office/drawing/2014/main" id="{4651924A-7907-4360-9ED8-B533D803C21B}"/>
              </a:ext>
            </a:extLst>
          </p:cNvPr>
          <p:cNvSpPr txBox="1"/>
          <p:nvPr userDrawn="1"/>
        </p:nvSpPr>
        <p:spPr>
          <a:xfrm xmlns:a="http://schemas.openxmlformats.org/drawingml/2006/main">
            <a:off x="873603" y="5141628"/>
            <a:ext cx="868956"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Results</a:t>
            </a:r>
          </a:p>
        </p:txBody>
      </p:sp>
      <p:pic>
        <p:nvPicPr>
          <p:cNvPr id="4" name="Picture0"/>
          <p:cNvPicPr>
            <a:picLocks xmlns:a="http://schemas.openxmlformats.org/drawingml/2006/main" noChangeAspect="1"/>
          </p:cNvPicPr>
          <p:nvPr/>
        </p:nvPicPr>
        <p:blipFill>
          <a:blip xmlns:r="http://schemas.openxmlformats.org/officeDocument/2006/relationships" xmlns:a="http://schemas.openxmlformats.org/drawingml/2006/main" r:embed="rId20">
            <a:extLst>
              <a:ext uri="{28A0092B-C50C-407E-A947-70E740481C1C}">
                <a14:useLocalDpi xmlns:a14="http://schemas.microsoft.com/office/drawing/2010/main" val="0"/>
              </a:ext>
            </a:extLst>
          </a:blip>
          <a:stretch xmlns:a="http://schemas.openxmlformats.org/drawingml/2006/main">
            <a:fillRect/>
          </a:stretch>
        </p:blipFill>
        <p:spPr>
          <a:xfrm xmlns:a="http://schemas.openxmlformats.org/drawingml/2006/main">
            <a:off x="7604616" y="3578094"/>
            <a:ext cx="4254500" cy="2755900"/>
          </a:xfrm>
          <a:prstGeom xmlns:a="http://schemas.openxmlformats.org/drawingml/2006/main" prst="rect">
            <a:avLst/>
          </a:prstGeom>
        </p:spPr>
      </p:pic>
    </p:spTree>
    <p:extLst>
      <p:ext uri="{BB962C8B-B14F-4D97-AF65-F5344CB8AC3E}">
        <p14:creationId xmlns:p14="http://schemas.microsoft.com/office/powerpoint/2010/main" val="2582825011"/>
      </p:ext>
    </p:extLst>
  </p:cSld>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Data and Analytics</Value>
    </BusinessUnit>
    <Solutions xmlns="f0ee8362-fa7e-4bc9-ab88-7dcfb17cb19b" xsi:nil="true"/>
    <Industries xmlns="f0ee8362-fa7e-4bc9-ab88-7dcfb17cb19b">
      <Value>Technology</Value>
    </Industries>
    <Notes0 xmlns="f0ee8362-fa7e-4bc9-ab88-7dcfb17cb19b" xsi:nil="true"/>
    <Named_x0020_Account xmlns="f0ee8362-fa7e-4bc9-ab88-7dcfb17cb19b">Microsoft</Named_x0020_Account>
    <PlatTech xmlns="f0ee8362-fa7e-4bc9-ab88-7dcfb17cb19b" xsi:nil="true"/>
    <ApprovedByClient xmlns="f0ee8362-fa7e-4bc9-ab88-7dcfb17cb19b">false</ApprovedByClient>
    <ProjectCompletionDate xmlns="f0ee8362-fa7e-4bc9-ab88-7dcfb17cb19b" xsi:nil="true"/>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08C7868E-A1CF-4821-AD28-0AB09D11B980}"/>
</file>

<file path=customXml/itemProps2.xml><?xml version="1.0" encoding="utf-8"?>
<ds:datastoreItem xmlns:ds="http://schemas.openxmlformats.org/officeDocument/2006/customXml" ds:itemID="{53AB6BB8-632D-493E-B058-B06A7D047B89}"/>
</file>

<file path=customXml/itemProps3.xml><?xml version="1.0" encoding="utf-8"?>
<ds:datastoreItem xmlns:ds="http://schemas.openxmlformats.org/officeDocument/2006/customXml" ds:itemID="{42B855E4-5A39-49DF-86DA-21C651C79EC1}"/>
</file>

<file path=customXml/itemProps4.xml><?xml version="1.0" encoding="utf-8"?>
<ds:datastoreItem xmlns:ds="http://schemas.openxmlformats.org/officeDocument/2006/customXml" ds:itemID="{E235E3FA-D03A-485A-A484-A205C3BD0B7E}"/>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Montserrat</vt:lpstr>
      <vt:lpstr>Open Sans</vt:lpstr>
      <vt:lpstr>Segoe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571</cp:revision>
  <dcterms:created xsi:type="dcterms:W3CDTF">2017-10-09T12:47:23Z</dcterms:created>
  <dcterms:modified xsi:type="dcterms:W3CDTF">2019-05-11T16:49:10Z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49;#Technology|9fd4705e-a3c7-4085-9147-cb1125b68f2c</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21900</vt:r8>
  </property>
  <property fmtid="{D5CDD505-2E9C-101B-9397-08002B2CF9AE}" pid="11" name="xd_Signature">
    <vt:bool>false</vt:bool>
  </property>
  <property fmtid="{D5CDD505-2E9C-101B-9397-08002B2CF9AE}" pid="12" name="SO">
    <vt:lpwstr>30;#;#43;#</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