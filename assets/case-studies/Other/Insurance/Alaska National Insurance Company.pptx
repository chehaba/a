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402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37349-B659-DF40-5D27-5950D097C895}" v="1" dt="2024-06-06T20:45:02.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61" d="100"/>
          <a:sy n="161" d="100"/>
        </p:scale>
        <p:origin x="12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23737349-B659-DF40-5D27-5950D097C895}"/>
    <pc:docChg chg="modSld">
      <pc:chgData name="Brendan Murphy" userId="S::bmurphy@affirma.com::e9f923b6-6d89-4d4e-a3b7-d9304b9d44ba" providerId="AD" clId="Web-{23737349-B659-DF40-5D27-5950D097C895}" dt="2024-06-06T20:45:02.516" v="0"/>
      <pc:docMkLst>
        <pc:docMk/>
      </pc:docMkLst>
      <pc:sldChg chg="delSp">
        <pc:chgData name="Brendan Murphy" userId="S::bmurphy@affirma.com::e9f923b6-6d89-4d4e-a3b7-d9304b9d44ba" providerId="AD" clId="Web-{23737349-B659-DF40-5D27-5950D097C895}" dt="2024-06-06T20:45:02.516" v="0"/>
        <pc:sldMkLst>
          <pc:docMk/>
          <pc:sldMk cId="1480745627" sldId="4026"/>
        </pc:sldMkLst>
        <pc:spChg chg="del">
          <ac:chgData name="Brendan Murphy" userId="S::bmurphy@affirma.com::e9f923b6-6d89-4d4e-a3b7-d9304b9d44ba" providerId="AD" clId="Web-{23737349-B659-DF40-5D27-5950D097C895}" dt="2024-06-06T20:45:02.516" v="0"/>
          <ac:spMkLst>
            <pc:docMk/>
            <pc:sldMk cId="1480745627" sldId="4026"/>
            <ac:spMk id="15" creationId="{222168FE-57F8-4268-9C30-079CFF38139C}"/>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FAA7C1-C3F5-4197-8E19-5074508A151F}"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85188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CFDDD89-E2D9-493F-AD44-4345B57BD2A0}"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46655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7499F9F-9E84-4603-8810-9671E100DF9C}"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73721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A2391-0ACB-417B-BDB2-7EE86BD34CEA}"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654730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4EEF880-5CE9-41CC-A411-7EC9C6AA3BF2}"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42521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AEA9E00-3739-42E3-8830-2E60F70329D4}"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29500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B5C85A9-61C4-4434-8966-EB3F73BAEE9D}"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2424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83501AD-9C9C-4244-AE21-6A31846E05AA}"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94472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1D24DEDE-F6A3-41EB-8FC4-999989A5260A}"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11769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1FE955F0-5606-413C-B69D-B3F57444670D}"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93909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61B4369-6832-4892-BE79-8192E1F2316D}"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50255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537DD49-2060-4D8A-B398-AD5F4CDD09E0}"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784321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AE31D5E-F81B-49B6-950F-BD89FED6F259}"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098354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80F0FA7-9D34-4DD8-A670-CD37592C43C4}"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42339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B6B03B97-2ED3-473A-A6B5-C8CECAC33066}"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5315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6E7B2A6-4F07-4682-BCBA-4D02173B1F2E}" type="datetime1">
              <a:rPr lang="en-US" smtClean="0"/>
              <a:t>6/6/2024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31483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83671C9-B8AF-4778-9A64-B7D40FCAB6D7}" type="datetime1">
              <a:rPr lang="en-US" smtClean="0"/>
              <a:t>6/6/2024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341206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B0F89DA-FF13-4B7D-AA08-3C5F81465675}"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04507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436BD68-1E86-4C5F-B263-4D813CF8156E}"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251590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308C49A-4D23-4DAD-94AA-52B2AB55BE64}"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6926658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B71612E-1300-4134-8502-69D1691574A5}"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16875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F35ADEB-6349-4B88-8268-13B6CE512C57}"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9157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251D2621-3FA2-4EA3-B22D-3D4C918E1AF9}" type="datetime1">
              <a:rPr lang="en-US" smtClean="0"/>
              <a:t>6/6/2024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38182020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44321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5219DAA9-BAE0-47A6-AA9A-63E08801AA2A}" type="datetime1">
              <a:rPr lang="en-US" smtClean="0"/>
              <a:t>6/6/2024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959090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54DF35-EA3E-4C4C-90E0-29B4F47B4B89}"/>
              </a:ext>
            </a:extLst>
          </p:cNvPr>
          <p:cNvSpPr/>
          <p:nvPr/>
        </p:nvSpPr>
        <p:spPr>
          <a:xfrm>
            <a:off x="0" y="3484"/>
            <a:ext cx="12192000" cy="99123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06"/>
            <a:endParaRPr lang="en-US" sz="1923" dirty="0">
              <a:solidFill>
                <a:prstClr val="white"/>
              </a:solidFill>
              <a:latin typeface="Segoe UI"/>
            </a:endParaRPr>
          </a:p>
        </p:txBody>
      </p:sp>
      <p:sp>
        <p:nvSpPr>
          <p:cNvPr id="2" name="Title 1">
            <a:extLst>
              <a:ext uri="{FF2B5EF4-FFF2-40B4-BE49-F238E27FC236}">
                <a16:creationId xmlns:a16="http://schemas.microsoft.com/office/drawing/2014/main" id="{98315587-2BD8-46A1-A463-CC6D4DA64013}"/>
              </a:ext>
            </a:extLst>
          </p:cNvPr>
          <p:cNvSpPr>
            <a:spLocks noGrp="1"/>
          </p:cNvSpPr>
          <p:nvPr>
            <p:ph type="title"/>
          </p:nvPr>
        </p:nvSpPr>
        <p:spPr/>
        <p:txBody>
          <a:bodyPr>
            <a:normAutofit fontScale="90000"/>
          </a:bodyPr>
          <a:lstStyle/>
          <a:p>
            <a:r>
              <a:rPr lang="en-US" dirty="0"/>
              <a:t>Alaska National Insurance Company</a:t>
            </a:r>
          </a:p>
        </p:txBody>
      </p:sp>
      <p:sp>
        <p:nvSpPr>
          <p:cNvPr id="4" name="TextBox 3">
            <a:extLst>
              <a:ext uri="{FF2B5EF4-FFF2-40B4-BE49-F238E27FC236}">
                <a16:creationId xmlns:a16="http://schemas.microsoft.com/office/drawing/2014/main" id="{218BF729-DD75-444E-8129-27DC633B8D55}"/>
              </a:ext>
            </a:extLst>
          </p:cNvPr>
          <p:cNvSpPr txBox="1"/>
          <p:nvPr/>
        </p:nvSpPr>
        <p:spPr>
          <a:xfrm>
            <a:off x="160766" y="1304801"/>
            <a:ext cx="5935235" cy="5324599"/>
          </a:xfrm>
          <a:prstGeom prst="rect">
            <a:avLst/>
          </a:prstGeom>
          <a:noFill/>
        </p:spPr>
        <p:txBody>
          <a:bodyPr wrap="square" rtlCol="0">
            <a:spAutoFit/>
          </a:bodyPr>
          <a:lstStyle/>
          <a:p>
            <a:pPr defTabSz="976845"/>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Goal </a:t>
            </a: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Goal of the ANIC print project was to create a new workflow for printing insurance policy documents that would require less human intervention for error correction.</a:t>
            </a: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proposed solution gave power to business users to determine what shows up on documents and how that they did have before.</a:t>
            </a: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system depending on multiple vendors working together to create a complete end to end solution. In order for other vendors to integrate well with the software Affirma was building and clearly define the work that was to be done, technical documentation was required.</a:t>
            </a: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Documentation was also important to allow the client’s development team to follow along with development so that they could potentially take over support of the software.</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Deliverables </a:t>
            </a:r>
          </a:p>
          <a:p>
            <a:pPr marL="238105" indent="-238105" defTabSz="976845">
              <a:lnSpc>
                <a:spcPct val="120000"/>
              </a:lnSpc>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Created a printing middleware that formatted XML passed from an insurance policy software and forwarded the formatted XML to a template based printing platform.</a:t>
            </a:r>
          </a:p>
          <a:p>
            <a:pPr marL="238105" indent="-238105" defTabSz="976845">
              <a:lnSpc>
                <a:spcPct val="120000"/>
              </a:lnSpc>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Technical writing had to be detailed enough for dependent software to integrate on both sides of the middleware.</a:t>
            </a:r>
          </a:p>
          <a:p>
            <a:pPr marL="238105" indent="-238105" defTabSz="976845">
              <a:lnSpc>
                <a:spcPct val="120000"/>
              </a:lnSpc>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document produced was a mix of a functional specification and a technical specification.</a:t>
            </a:r>
          </a:p>
          <a:p>
            <a:pPr marL="238105" indent="-238105" defTabSz="976845">
              <a:lnSpc>
                <a:spcPct val="120000"/>
              </a:lnSpc>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238105" indent="-238105" defTabSz="976845">
              <a:lnSpc>
                <a:spcPct val="120000"/>
              </a:lnSpc>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lnSpc>
                <a:spcPct val="120000"/>
              </a:lnSpc>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lnSpc>
                <a:spcPct val="120000"/>
              </a:lnSpc>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p:txBody>
      </p:sp>
      <p:sp>
        <p:nvSpPr>
          <p:cNvPr id="5" name="Rectangle 4">
            <a:extLst>
              <a:ext uri="{FF2B5EF4-FFF2-40B4-BE49-F238E27FC236}">
                <a16:creationId xmlns:a16="http://schemas.microsoft.com/office/drawing/2014/main" id="{EEFEF3B2-51E8-4766-9421-F25614E3A4A1}"/>
              </a:ext>
            </a:extLst>
          </p:cNvPr>
          <p:cNvSpPr/>
          <p:nvPr/>
        </p:nvSpPr>
        <p:spPr>
          <a:xfrm>
            <a:off x="6200825" y="4712830"/>
            <a:ext cx="6096000" cy="1811778"/>
          </a:xfrm>
          <a:prstGeom prst="rect">
            <a:avLst/>
          </a:prstGeom>
        </p:spPr>
        <p:txBody>
          <a:bodyPr>
            <a:spAutoFit/>
          </a:bodyPr>
          <a:lstStyle/>
          <a:p>
            <a:pPr defTabSz="976845"/>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Result </a:t>
            </a:r>
          </a:p>
          <a:p>
            <a:pPr marL="238105" indent="-238105" defTabSz="976845">
              <a:lnSpc>
                <a:spcPct val="120000"/>
              </a:lnSpc>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project has been a success and has allowed the client control over their processes that were not possible before.</a:t>
            </a:r>
          </a:p>
          <a:p>
            <a:pPr marL="238105" indent="-238105" defTabSz="976845">
              <a:lnSpc>
                <a:spcPct val="120000"/>
              </a:lnSpc>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technical documentation allowed for newcomers to the project to ramp up quickly by themselves.</a:t>
            </a:r>
          </a:p>
          <a:p>
            <a:pPr marL="238105" indent="-238105" defTabSz="976845">
              <a:lnSpc>
                <a:spcPct val="120000"/>
              </a:lnSpc>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technical documentation acted as a reference for multiple development teams to understand system integrations.</a:t>
            </a:r>
          </a:p>
        </p:txBody>
      </p:sp>
      <p:pic>
        <p:nvPicPr>
          <p:cNvPr id="13" name="Picture 12">
            <a:extLst>
              <a:ext uri="{FF2B5EF4-FFF2-40B4-BE49-F238E27FC236}">
                <a16:creationId xmlns:a16="http://schemas.microsoft.com/office/drawing/2014/main" id="{FE5180D7-9E9D-4C6D-9C97-2B2985CE2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0723" y="1079122"/>
            <a:ext cx="3810513" cy="977758"/>
          </a:xfrm>
          <a:prstGeom prst="rect">
            <a:avLst/>
          </a:prstGeom>
        </p:spPr>
      </p:pic>
      <p:pic>
        <p:nvPicPr>
          <p:cNvPr id="14" name="Picture 13">
            <a:extLst>
              <a:ext uri="{FF2B5EF4-FFF2-40B4-BE49-F238E27FC236}">
                <a16:creationId xmlns:a16="http://schemas.microsoft.com/office/drawing/2014/main" id="{EC11C654-3811-4E6E-98B5-413F976502B4}"/>
              </a:ext>
            </a:extLst>
          </p:cNvPr>
          <p:cNvPicPr>
            <a:picLocks noChangeAspect="1"/>
          </p:cNvPicPr>
          <p:nvPr/>
        </p:nvPicPr>
        <p:blipFill>
          <a:blip r:embed="rId3"/>
          <a:stretch>
            <a:fillRect/>
          </a:stretch>
        </p:blipFill>
        <p:spPr>
          <a:xfrm>
            <a:off x="6035101" y="1970843"/>
            <a:ext cx="5257295" cy="2729318"/>
          </a:xfrm>
          <a:prstGeom prst="rect">
            <a:avLst/>
          </a:prstGeom>
        </p:spPr>
      </p:pic>
    </p:spTree>
    <p:extLst>
      <p:ext uri="{BB962C8B-B14F-4D97-AF65-F5344CB8AC3E}">
        <p14:creationId xmlns:p14="http://schemas.microsoft.com/office/powerpoint/2010/main" val="1480745627"/>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Integrations</Value>
    </Solutions>
    <Industries xmlns="f0ee8362-fa7e-4bc9-ab88-7dcfb17cb19b">
      <Value>Financial Services</Value>
    </Industries>
    <Notes0 xmlns="f0ee8362-fa7e-4bc9-ab88-7dcfb17cb19b" xsi:nil="true"/>
    <PlatTech xmlns="f0ee8362-fa7e-4bc9-ab88-7dcfb17cb19b">
      <Value>.NET</Value>
      <Value>Angular</Value>
    </PlatTech>
    <Named_x0020_Account xmlns="f0ee8362-fa7e-4bc9-ab88-7dcfb17cb19b" xsi:nil="true"/>
    <ProjectCompletionDate xmlns="f0ee8362-fa7e-4bc9-ab88-7dcfb17cb19b" xsi:nil="true"/>
    <ApprovedByClient xmlns="f0ee8362-fa7e-4bc9-ab88-7dcfb17cb19b">false</ApprovedByClien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15A956-8003-434D-B4F7-D0DCFBB02782}">
  <ds:schemaRefs>
    <ds:schemaRef ds:uri="http://schemas.microsoft.com/office/2006/metadata/customXsn"/>
  </ds:schemaRefs>
</ds:datastoreItem>
</file>

<file path=customXml/itemProps2.xml><?xml version="1.0" encoding="utf-8"?>
<ds:datastoreItem xmlns:ds="http://schemas.openxmlformats.org/officeDocument/2006/customXml" ds:itemID="{15D32872-7D0B-4E5F-A36B-4C2D6ED5A28B}">
  <ds:schemaRefs>
    <ds:schemaRef ds:uri="http://schemas.microsoft.com/office/2006/metadata/properties"/>
    <ds:schemaRef ds:uri="http://schemas.microsoft.com/office/infopath/2007/PartnerControls"/>
    <ds:schemaRef ds:uri="f205c2cf-faee-43e7-95df-8aa62e5feae0"/>
  </ds:schemaRefs>
</ds:datastoreItem>
</file>

<file path=customXml/itemProps3.xml><?xml version="1.0" encoding="utf-8"?>
<ds:datastoreItem xmlns:ds="http://schemas.openxmlformats.org/officeDocument/2006/customXml" ds:itemID="{52E8CF69-B251-4114-A698-67881A656A42}">
  <ds:schemaRefs>
    <ds:schemaRef ds:uri="http://schemas.microsoft.com/sharepoint/v3/contenttype/forms"/>
  </ds:schemaRefs>
</ds:datastoreItem>
</file>

<file path=customXml/itemProps4.xml><?xml version="1.0" encoding="utf-8"?>
<ds:datastoreItem xmlns:ds="http://schemas.openxmlformats.org/officeDocument/2006/customXml" ds:itemID="{41C29796-FD2C-451A-A41F-3CF1FD30464D}"/>
</file>

<file path=docProps/app.xml><?xml version="1.0" encoding="utf-8"?>
<Properties xmlns="http://schemas.openxmlformats.org/officeDocument/2006/extended-properties" xmlns:vt="http://schemas.openxmlformats.org/officeDocument/2006/docPropsVTypes">
  <TotalTime>0</TotalTime>
  <Words>259</Words>
  <Application>Microsoft Office PowerPoint</Application>
  <PresentationFormat>Widescreen</PresentationFormat>
  <Paragraphs>20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 Design</vt:lpstr>
      <vt:lpstr>Alaska National Insurance Company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Alaska National Insurance Company</dc:title>
  <dc:creator>Brendan Murphy</dc:creator>
  <cp:lastModifiedBy>Brendan Murphy</cp:lastModifiedBy>
  <cp:revision>2</cp:revision>
  <dcterms:created xsi:type="dcterms:W3CDTF">2020-09-29T02:40:06Z</dcterms:created>
  <dcterms:modified xsi:type="dcterms:W3CDTF">2024-06-06T20:45:02Z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Platforms">
    <vt:lpwstr>;#.NET;#Custom Built;#</vt:lpwstr>
  </property>
</Properties>
</file>