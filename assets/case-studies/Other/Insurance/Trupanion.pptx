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1"/>
  </p:notesMasterIdLst>
  <p:sldIdLst>
    <p:sldId id="2147481413" r:id="rId6"/>
    <p:sldId id="2147469668" r:id="rId7"/>
    <p:sldId id="2147469715" r:id="rId8"/>
    <p:sldId id="2147469721" r:id="rId9"/>
    <p:sldId id="21474697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5A7D2B37-DDB0-EA3B-1F11-EB83CEEC6D3E}"/>
    <pc:docChg chg="modSld">
      <pc:chgData name="Brendan Murphy" userId="S::bmurphy@affirma.com::e9f923b6-6d89-4d4e-a3b7-d9304b9d44ba" providerId="AD" clId="Web-{5A7D2B37-DDB0-EA3B-1F11-EB83CEEC6D3E}" dt="2025-12-16T19:00:20.640" v="7" actId="20577"/>
      <pc:docMkLst>
        <pc:docMk/>
      </pc:docMkLst>
      <pc:sldChg chg="modSp">
        <pc:chgData name="Brendan Murphy" userId="S::bmurphy@affirma.com::e9f923b6-6d89-4d4e-a3b7-d9304b9d44ba" providerId="AD" clId="Web-{5A7D2B37-DDB0-EA3B-1F11-EB83CEEC6D3E}" dt="2025-12-16T19:00:20.640" v="7" actId="20577"/>
        <pc:sldMkLst>
          <pc:docMk/>
          <pc:sldMk cId="3992110140" sldId="2147469715"/>
        </pc:sldMkLst>
        <pc:spChg chg="mod">
          <ac:chgData name="Brendan Murphy" userId="S::bmurphy@affirma.com::e9f923b6-6d89-4d4e-a3b7-d9304b9d44ba" providerId="AD" clId="Web-{5A7D2B37-DDB0-EA3B-1F11-EB83CEEC6D3E}" dt="2025-12-16T19:00:13.968" v="3" actId="20577"/>
          <ac:spMkLst>
            <pc:docMk/>
            <pc:sldMk cId="3992110140" sldId="2147469715"/>
            <ac:spMk id="9" creationId="{B880E26C-75C9-4ABE-4F94-3C67645995D1}"/>
          </ac:spMkLst>
        </pc:spChg>
        <pc:spChg chg="mod">
          <ac:chgData name="Brendan Murphy" userId="S::bmurphy@affirma.com::e9f923b6-6d89-4d4e-a3b7-d9304b9d44ba" providerId="AD" clId="Web-{5A7D2B37-DDB0-EA3B-1F11-EB83CEEC6D3E}" dt="2025-12-16T19:00:17.530" v="5" actId="20577"/>
          <ac:spMkLst>
            <pc:docMk/>
            <pc:sldMk cId="3992110140" sldId="2147469715"/>
            <ac:spMk id="10" creationId="{B354E570-77E4-8DE2-BB4E-A0896384B563}"/>
          </ac:spMkLst>
        </pc:spChg>
        <pc:spChg chg="mod">
          <ac:chgData name="Brendan Murphy" userId="S::bmurphy@affirma.com::e9f923b6-6d89-4d4e-a3b7-d9304b9d44ba" providerId="AD" clId="Web-{5A7D2B37-DDB0-EA3B-1F11-EB83CEEC6D3E}" dt="2025-12-16T19:00:20.640" v="7" actId="20577"/>
          <ac:spMkLst>
            <pc:docMk/>
            <pc:sldMk cId="3992110140" sldId="2147469715"/>
            <ac:spMk id="12" creationId="{E2D4F408-AC2D-2DD2-17E0-0AB68631F0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8A996-3260-45DA-9438-7988A94A450A}" type="datetimeFigureOut"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10C72-B116-4F9A-BBBF-AE7F6526CD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02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0B3F-AEA8-E48F-7223-8FDA1D67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0420B-35F0-2694-3EB6-013D33D4E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9754F-37AB-AF2C-3DAE-F65A1B7E9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F5018-FC71-A33B-7F86-1FD7DF89D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21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3406-ABE2-E8B7-F549-0BED7FD9F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71F3C-520C-C7C7-7DB0-C26DEEB81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5ECC9-CC9A-A4AE-0857-DBA36E7A2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9214-4913-9BAA-44AC-621F45CA1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5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B2F5-8C05-DB61-B290-D103F4C0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B3A18-3EB7-6E4D-61C7-9442F7150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E6D88-C2BE-FEAB-1271-479DAA86A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9177A-E1A2-F81A-D103-B5B498CE6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7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DC2A-A5A1-174E-6AC5-2B5222800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07446-D7A2-78EB-8A1E-4BB482BC6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603B-F0C2-960B-62D3-FBAC8947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03E6-B49B-5B98-5FDE-33EB25E3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4C223-E4E0-0DAF-23A0-37539458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748E-1DEA-2916-839C-07BDEE3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D80F-26D5-0C1F-96EA-426F6E21E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EE941-20DE-E3EE-7CFA-7488CC3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931F9-C625-03E5-76B4-93B39AA7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A2327-84C6-63DA-8986-C5AEA26C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2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DBF1-E6E0-5365-856A-79FB2967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E6826-7A99-A1D3-5CFB-AE3A48E95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266F1-9CE9-30BD-9920-D86F7024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713BE-C577-F2FC-0874-22F52CEA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42AFA-6BF5-7B69-3218-BB7128B8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3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3DA-D134-1C63-7854-F7403891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EB12F-895A-4AA7-287A-7FC0EC1DD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677F8-6964-7132-2C1E-28B51FEB2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2790C-460D-F1BF-1517-91B922BD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C610C-62DC-12F2-E89E-7BFB8844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CE547-EE43-BA29-DDC5-CF70C71A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BA58-12C5-FB1A-3544-714519E7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08376-A0F5-8B19-36B3-3ACECD60C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80B5D-C1A5-1811-9E5F-C8817EB96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5666E-39FF-22D5-61CA-DAAE670B3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7C86A-90F4-B5C4-F2BA-B84F78AA8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6A8C9-BAF7-B328-3102-85253BB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ACAB6-568A-C0E9-F163-A944E04A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2918B-FC1C-ABE8-784F-34875A0E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8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5E14-4661-1AFF-F582-B9C762E2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2D5D2-1460-2893-0470-9B21B324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93309-0D04-1E8C-E4DB-492E4DAC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B9D58-43B8-C814-871B-0039730A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0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50CF9-B53C-1EDE-4C64-35032730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6931D-DA1B-609A-8C70-0BA35011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CD9B5-4442-AB93-CA0A-4A34CBA7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9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CE0D-E795-051D-3B3D-FA88BC63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AF495-3B05-CE44-16A8-197F89D5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D6030-151A-827E-C16F-31AB5D7CC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C5903-34C7-5CC7-F7F9-DDFCE0C8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08751-7386-AC99-E0F5-A0304FD2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FDAE0-9F19-177E-24D0-C703F8AD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8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389A-C08C-816A-D29C-D89D73E7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B5655-66A6-DEBB-8F6B-3CDC76BB0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8E6C-DBDF-4951-191C-5DDE00F59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85A5D-ADD5-C32D-E36C-0183A1EF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459BF-6922-E6EF-1979-2B453530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0D0E8-B8AB-2545-B9AC-BC2D87D4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1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419D-278C-D3BB-A558-15B55EE4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E70A5-3C92-974B-A1F2-6614A6B4F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93CB-6841-2143-5975-D846997D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F9590-C389-C34B-D9E3-93A07BAC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384C4-931D-68A6-5CCB-C5B1E92F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0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6D44F-20F3-2142-1A73-BC1FD2A0C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B6486-4AC9-D152-9628-1B1662C70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70107-7156-A405-7A39-89D276A8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9298D-C0B3-A33B-F2A2-5F6468AB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023D-64A6-27EE-57EE-DED1025E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36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2FA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59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7C179EF3-84AF-4B42-A726-322932765E3F}"/>
              </a:ext>
            </a:extLst>
          </p:cNvPr>
          <p:cNvSpPr/>
          <p:nvPr userDrawn="1"/>
        </p:nvSpPr>
        <p:spPr>
          <a:xfrm>
            <a:off x="7900406" y="1366187"/>
            <a:ext cx="4291594" cy="5486400"/>
          </a:xfrm>
          <a:prstGeom prst="rect">
            <a:avLst/>
          </a:prstGeom>
          <a:solidFill>
            <a:srgbClr val="CBEC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69BEEA7-F88D-4847-BB1A-3E6E13B9C13B}"/>
              </a:ext>
            </a:extLst>
          </p:cNvPr>
          <p:cNvSpPr/>
          <p:nvPr userDrawn="1"/>
        </p:nvSpPr>
        <p:spPr>
          <a:xfrm>
            <a:off x="1" y="1366185"/>
            <a:ext cx="4291589" cy="5486400"/>
          </a:xfrm>
          <a:prstGeom prst="rect">
            <a:avLst/>
          </a:prstGeom>
          <a:solidFill>
            <a:srgbClr val="CBEC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Placeholder for Title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70A6AF-807C-F74F-B71F-8CD220CE4929}"/>
              </a:ext>
            </a:extLst>
          </p:cNvPr>
          <p:cNvCxnSpPr>
            <a:cxnSpLocks/>
          </p:cNvCxnSpPr>
          <p:nvPr userDrawn="1"/>
        </p:nvCxnSpPr>
        <p:spPr>
          <a:xfrm>
            <a:off x="603284" y="6227596"/>
            <a:ext cx="10985432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9A2973F-6F11-AD4B-84B4-A397A1178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DDED9791-A6F6-2745-A243-DC04C40D00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02" y="3198973"/>
            <a:ext cx="2766222" cy="2062070"/>
          </a:xfr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fer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63C1B90-1119-6242-ADB3-40C684BBD3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1402" y="2805435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333" b="1" i="0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D2F39BAD-B589-8E41-B129-AE60DD904D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2889" y="3198973"/>
            <a:ext cx="2766222" cy="2062070"/>
          </a:xfr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936D419-3C55-FD41-8349-AC0BB51C6D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12889" y="2805435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333" b="1" i="0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EE9314D-F062-DF49-AAC2-78633EB18B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9264" y="3198973"/>
            <a:ext cx="2766222" cy="2062070"/>
          </a:xfr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5D1AA5BB-4440-CE4F-BF2E-7E19378ECF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9264" y="2805435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333" b="1" i="0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2E601D4E-4E80-5A43-BF67-EF9DFB1FE75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92325" y="1838728"/>
            <a:ext cx="692150" cy="69215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5CC719B-EF0C-7443-BB93-159DBAE7A12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49925" y="1838728"/>
            <a:ext cx="692150" cy="69215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4D6721-FC1E-A044-83E8-08A4BBF3DC2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466300" y="1838728"/>
            <a:ext cx="692150" cy="69215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49321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Placeholder for Title</a:t>
            </a:r>
          </a:p>
        </p:txBody>
      </p:sp>
    </p:spTree>
    <p:extLst>
      <p:ext uri="{BB962C8B-B14F-4D97-AF65-F5344CB8AC3E}">
        <p14:creationId xmlns:p14="http://schemas.microsoft.com/office/powerpoint/2010/main" val="37464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87B1D-83DF-E24E-6B48-6BC66BCA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2040F-7505-AB09-6D58-1A9444192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DA882-6BE5-56E4-30AC-1D723EF0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D852B-C496-4B52-A4B7-3C92D57C72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019F-09CA-EEB0-A83A-7582F26A8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9AFBC-D64A-99CE-AA68-A671043AD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83B8B-27A0-49D4-9978-944C2B21C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8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4325-6694-6768-6D20-235040D5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2A065-8F68-5C4D-956C-C61FD136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2A5C1-F97F-5536-80B4-6E70357BB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114" y="382986"/>
            <a:ext cx="10985432" cy="764390"/>
          </a:xfrm>
        </p:spPr>
        <p:txBody>
          <a:bodyPr>
            <a:normAutofit/>
          </a:bodyPr>
          <a:lstStyle/>
          <a:p>
            <a:r>
              <a:rPr lang="en-US" sz="3200" err="1">
                <a:latin typeface="Poppins SemiBold"/>
                <a:cs typeface="Poppins SemiBold"/>
              </a:rPr>
              <a:t>Trupanion</a:t>
            </a:r>
            <a:r>
              <a:rPr lang="en-US" sz="3200" dirty="0">
                <a:latin typeface="Poppins SemiBold"/>
                <a:cs typeface="Poppins SemiBold"/>
              </a:rPr>
              <a:t> – Marketing Website and Enrollment</a:t>
            </a:r>
            <a:endParaRPr lang="en-US" sz="3200">
              <a:latin typeface="Poppins SemiBold"/>
              <a:cs typeface="Poppins Semi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C5BEF1-F17E-4FC1-3EDE-7EC6AA76CBAB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+mn-cs"/>
              </a:rPr>
              <a:t> 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F7781F5-F13A-628A-6B8A-5AC67B8B7558}"/>
              </a:ext>
            </a:extLst>
          </p:cNvPr>
          <p:cNvSpPr txBox="1">
            <a:spLocks/>
          </p:cNvSpPr>
          <p:nvPr/>
        </p:nvSpPr>
        <p:spPr>
          <a:xfrm>
            <a:off x="455114" y="1357531"/>
            <a:ext cx="6530902" cy="109356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8AD9"/>
                </a:solidFill>
              </a:rPr>
              <a:t>Business Need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</a:rPr>
              <a:t>Trupanion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</a:rPr>
              <a:t>, a premium pet insurance company, was looking to revamp their marketing website and completely rebuild their enrollment process to simplify the process and increase enrollment. </a:t>
            </a:r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0143AB-CD72-6CF2-1CB1-B85386B62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232" y="2165562"/>
            <a:ext cx="1886402" cy="351588"/>
          </a:xfrm>
          <a:prstGeom prst="rect">
            <a:avLst/>
          </a:prstGeom>
        </p:spPr>
      </p:pic>
      <p:pic>
        <p:nvPicPr>
          <p:cNvPr id="4" name="Picture 3" descr="A screenshot of a website&#10;&#10;Description automatically generated">
            <a:extLst>
              <a:ext uri="{FF2B5EF4-FFF2-40B4-BE49-F238E27FC236}">
                <a16:creationId xmlns:a16="http://schemas.microsoft.com/office/drawing/2014/main" id="{69CA8150-6522-F6D1-372C-09B4CAEB1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3301379"/>
            <a:ext cx="4914835" cy="2754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D086A1-3F8F-45FF-61B9-9208808F550C}"/>
              </a:ext>
            </a:extLst>
          </p:cNvPr>
          <p:cNvSpPr txBox="1"/>
          <p:nvPr/>
        </p:nvSpPr>
        <p:spPr>
          <a:xfrm>
            <a:off x="455114" y="4121151"/>
            <a:ext cx="6415586" cy="363176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Outcomes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mproved conversion rate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Optimized the mobile user experience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Improved the personalization and effectiveness of enrollment path content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Updated brand assets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Enhanced the overall UX/UI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Improved the efficiency and flexibility in building new pages and updating content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Enabled and scaled personalization across the entire web experience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Improve error reporting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Added localization for multiple countries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Reduced page load times 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Optimized content for discoverability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1D89705-C52B-BA66-A3FE-D37A6AC460AD}"/>
              </a:ext>
            </a:extLst>
          </p:cNvPr>
          <p:cNvSpPr txBox="1">
            <a:spLocks/>
          </p:cNvSpPr>
          <p:nvPr/>
        </p:nvSpPr>
        <p:spPr>
          <a:xfrm>
            <a:off x="397456" y="2451099"/>
            <a:ext cx="6530902" cy="109356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8AD9"/>
                </a:solidFill>
              </a:rPr>
              <a:t>What We Did</a:t>
            </a:r>
            <a:endParaRPr lang="en-US" sz="1200" dirty="0"/>
          </a:p>
          <a:p>
            <a:pPr fontAlgn="base">
              <a:lnSpc>
                <a:spcPct val="150000"/>
              </a:lnSpc>
            </a:pP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</a:rPr>
              <a:t>Affirma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</a:rPr>
              <a:t> migrated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</a:rPr>
              <a:t>Trupanion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</a:rPr>
              <a:t> to new enterprise CMS system that would allow them to meet their goals. A new design and content strategy was implemented and enrollment logic across different policies and locations was greatly simplified for end users and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</a:rPr>
              <a:t>Trupanion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</a:rPr>
              <a:t> admins.</a:t>
            </a:r>
            <a:endParaRPr lang="en-US" sz="1000" b="1" dirty="0">
              <a:solidFill>
                <a:srgbClr val="008AD9"/>
              </a:solidFill>
              <a:highlight>
                <a:srgbClr val="FFFFFF"/>
              </a:highlight>
            </a:endParaRPr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35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720F6D5B-B7E7-9D1E-0CD2-2215B964D548}"/>
              </a:ext>
            </a:extLst>
          </p:cNvPr>
          <p:cNvSpPr txBox="1">
            <a:spLocks/>
          </p:cNvSpPr>
          <p:nvPr/>
        </p:nvSpPr>
        <p:spPr>
          <a:xfrm>
            <a:off x="381000" y="300436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583" b="1" err="1">
                <a:latin typeface="Segoe UI Light"/>
                <a:cs typeface="Segoe UI Light"/>
              </a:rPr>
              <a:t>Trupanion</a:t>
            </a:r>
            <a:r>
              <a:rPr lang="en-US" sz="3583" b="1">
                <a:latin typeface="Segoe UI Light"/>
                <a:cs typeface="Segoe UI Light"/>
              </a:rPr>
              <a:t>- Marketing Website and Enrollment</a:t>
            </a:r>
            <a:endParaRPr lang="en-US" sz="3583" b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AC86A-3D4B-FAF1-A5B8-629471A0B567}"/>
              </a:ext>
            </a:extLst>
          </p:cNvPr>
          <p:cNvSpPr/>
          <p:nvPr/>
        </p:nvSpPr>
        <p:spPr>
          <a:xfrm>
            <a:off x="457403" y="2230540"/>
            <a:ext cx="5684980" cy="15842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n-US" sz="1100" b="1">
                <a:solidFill>
                  <a:srgbClr val="008AD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Did</a:t>
            </a:r>
          </a:p>
          <a:p>
            <a:pPr fontAlgn="base">
              <a:lnSpc>
                <a:spcPct val="150000"/>
              </a:lnSpc>
            </a:pP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Affirma migrated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Trupanion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to new enterprise CMS system that would allow them to meet their goals. A new design and content strategy was implemented and enrollment logic across different policies and locations was greatly simplified for end users and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Trupanion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admins.</a:t>
            </a:r>
            <a:endParaRPr lang="en-US" sz="1100" b="1">
              <a:solidFill>
                <a:srgbClr val="008AD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lnSpc>
                <a:spcPct val="150000"/>
              </a:lnSpc>
            </a:pPr>
            <a:endParaRPr lang="en-US" sz="1100" b="1">
              <a:solidFill>
                <a:srgbClr val="008AD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C5231058-431A-E651-3E81-0E8A807E3236}"/>
              </a:ext>
            </a:extLst>
          </p:cNvPr>
          <p:cNvSpPr txBox="1">
            <a:spLocks/>
          </p:cNvSpPr>
          <p:nvPr/>
        </p:nvSpPr>
        <p:spPr>
          <a:xfrm>
            <a:off x="2950464" y="1629740"/>
            <a:ext cx="11430000" cy="533400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defRPr/>
            </a:pPr>
            <a:endParaRPr lang="en-US" sz="3583" b="1">
              <a:solidFill>
                <a:schemeClr val="accent1">
                  <a:lumMod val="5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CF9CBD-ABAE-3632-718A-72F94359D5A9}"/>
              </a:ext>
            </a:extLst>
          </p:cNvPr>
          <p:cNvSpPr txBox="1"/>
          <p:nvPr/>
        </p:nvSpPr>
        <p:spPr>
          <a:xfrm>
            <a:off x="457404" y="1082491"/>
            <a:ext cx="5790148" cy="108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Need and Project Objective</a:t>
            </a:r>
            <a:br>
              <a:rPr lang="en-US" sz="1100">
                <a:solidFill>
                  <a:srgbClr val="F75714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</a:b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Trupanion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, a premium pet insurance company, was looking to revamp their marketing website and completely rebuild their enrollment process to simplify the process and increase enrollment.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7015A-DADD-0E56-8F0B-D89167D33FF5}"/>
              </a:ext>
            </a:extLst>
          </p:cNvPr>
          <p:cNvSpPr txBox="1"/>
          <p:nvPr/>
        </p:nvSpPr>
        <p:spPr>
          <a:xfrm>
            <a:off x="457403" y="3524669"/>
            <a:ext cx="8925470" cy="33616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n-US" sz="1100" b="1">
                <a:solidFill>
                  <a:srgbClr val="008AD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1100"/>
              <a:t>mproved conversion rate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Optimized the mobile user experience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Improved the personalization and effectiveness of enrollment path content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Updated brand assets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Enhanced the overall UX/UI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Improved the efficiency and flexibility in building new pages and updating content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Enabled and scaled personalization across the entire web experience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Improve error reporting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Added localization for multiple countries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Reduced page load times 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100"/>
              <a:t>Optimized content for discoverability</a:t>
            </a:r>
          </a:p>
          <a:p>
            <a:pPr marL="171443" indent="-171443" defTabSz="914327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100">
              <a:solidFill>
                <a:srgbClr val="000000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066326-52A0-446B-1641-878248BEE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801" y="1562312"/>
            <a:ext cx="1886402" cy="351588"/>
          </a:xfrm>
          <a:prstGeom prst="rect">
            <a:avLst/>
          </a:prstGeom>
        </p:spPr>
      </p:pic>
      <p:pic>
        <p:nvPicPr>
          <p:cNvPr id="23" name="Picture 22" descr="A screenshot of a website&#10;&#10;Description automatically generated">
            <a:extLst>
              <a:ext uri="{FF2B5EF4-FFF2-40B4-BE49-F238E27FC236}">
                <a16:creationId xmlns:a16="http://schemas.microsoft.com/office/drawing/2014/main" id="{2ABD029D-9922-B9AE-28F5-D84A534FA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041" y="2230539"/>
            <a:ext cx="4914835" cy="275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86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098C-ADB9-D979-A059-69395B34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B6DA8-F850-B754-E0DF-1E2A5E0A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defPPr>
              <a:defRPr lang="en-US"/>
            </a:defPPr>
            <a:lvl1pPr marL="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00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4005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100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2801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501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2014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901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602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6F86DB-78DF-EB43-A6BE-40415A3A005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B3A5D3-3448-BCBE-D088-443B30180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10985432" cy="764390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latin typeface="Poppins SemiBold" panose="00000700000000000000" pitchFamily="2" charset="0"/>
                <a:cs typeface="Poppins SemiBold" panose="00000700000000000000" pitchFamily="2" charset="0"/>
              </a:rPr>
              <a:t>Trupanion</a:t>
            </a:r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880E26C-75C9-4ABE-4F94-3C67645995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51402" y="3198973"/>
            <a:ext cx="2766222" cy="2062070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Poppins"/>
                <a:cs typeface="Poppins"/>
              </a:rPr>
              <a:t>Complicated signup process, meant that customers were being lost in the flow</a:t>
            </a:r>
          </a:p>
          <a:p>
            <a:r>
              <a:rPr lang="en-US" sz="1200" dirty="0">
                <a:latin typeface="Poppins"/>
                <a:cs typeface="Poppins"/>
              </a:rPr>
              <a:t>Limited story-telling to back up the product</a:t>
            </a:r>
          </a:p>
          <a:p>
            <a:r>
              <a:rPr lang="en-US" sz="1200" dirty="0">
                <a:latin typeface="Poppins"/>
                <a:cs typeface="Poppins"/>
              </a:rPr>
              <a:t>Technical platform was challenging to update, inflexible, and non-performant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A8DB7D-5DDB-9F47-57CB-DB2803601B8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51402" y="2805435"/>
            <a:ext cx="2766222" cy="368461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Problem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54E570-77E4-8DE2-BB4E-A0896384B5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12229" y="3198813"/>
            <a:ext cx="2898590" cy="2711118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Poppins"/>
                <a:cs typeface="Poppins"/>
              </a:rPr>
              <a:t>Discovery, stakeholder interviews, competitor analysis, and redesign of improved user flows.</a:t>
            </a:r>
          </a:p>
          <a:p>
            <a:r>
              <a:rPr lang="en-US" sz="1200" dirty="0">
                <a:latin typeface="Poppins"/>
                <a:cs typeface="Poppins"/>
              </a:rPr>
              <a:t>Explored </a:t>
            </a:r>
            <a:r>
              <a:rPr lang="en-US" sz="1200" dirty="0" err="1">
                <a:latin typeface="Poppins"/>
                <a:cs typeface="Poppins"/>
              </a:rPr>
              <a:t>Trupanion</a:t>
            </a:r>
            <a:r>
              <a:rPr lang="en-US" sz="1200" dirty="0">
                <a:latin typeface="Poppins"/>
                <a:cs typeface="Poppins"/>
              </a:rPr>
              <a:t> brand to extend into insurance</a:t>
            </a:r>
          </a:p>
          <a:p>
            <a:r>
              <a:rPr lang="en-US" sz="1200" dirty="0">
                <a:latin typeface="Poppins"/>
                <a:cs typeface="Poppins"/>
              </a:rPr>
              <a:t>Technical audit and recommendations on approach for CMS and integrations.</a:t>
            </a:r>
          </a:p>
          <a:p>
            <a:r>
              <a:rPr lang="en-US" sz="1200" dirty="0">
                <a:latin typeface="Poppins"/>
                <a:cs typeface="Poppins"/>
              </a:rPr>
              <a:t>SEO Research + Content Evaluation</a:t>
            </a:r>
          </a:p>
          <a:p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B3C9ED-97F9-D27E-6E29-638F2AC6CB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12889" y="2805435"/>
            <a:ext cx="2766222" cy="368461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Process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D4F408-AC2D-2DD2-17E0-0AB68631F07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29264" y="3198973"/>
            <a:ext cx="2766222" cy="2062070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Poppins"/>
                <a:cs typeface="Poppins"/>
              </a:rPr>
              <a:t>A more defined customer journey </a:t>
            </a:r>
          </a:p>
          <a:p>
            <a:r>
              <a:rPr lang="en-US" sz="1200" dirty="0">
                <a:latin typeface="Poppins"/>
                <a:cs typeface="Poppins"/>
              </a:rPr>
              <a:t>Attainment of SEO goals</a:t>
            </a:r>
          </a:p>
          <a:p>
            <a:r>
              <a:rPr lang="en-US" sz="1200" dirty="0">
                <a:latin typeface="Poppins"/>
                <a:cs typeface="Poppins"/>
              </a:rPr>
              <a:t>Significant decrease in inbound customer service calls related to challenges with online experiences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CAC056-2472-E3A0-8751-455017C8C3C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29264" y="2805435"/>
            <a:ext cx="2766222" cy="368461"/>
          </a:xfr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Outcome</a:t>
            </a:r>
          </a:p>
        </p:txBody>
      </p:sp>
      <p:pic>
        <p:nvPicPr>
          <p:cNvPr id="4" name="Picture Placeholder 3" descr="Rating 1 Star outline">
            <a:extLst>
              <a:ext uri="{FF2B5EF4-FFF2-40B4-BE49-F238E27FC236}">
                <a16:creationId xmlns:a16="http://schemas.microsoft.com/office/drawing/2014/main" id="{9852936D-5384-4EC8-2E4D-F48ED6E84E4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92325" y="1838728"/>
            <a:ext cx="692150" cy="692150"/>
          </a:xfrm>
        </p:spPr>
      </p:pic>
      <p:pic>
        <p:nvPicPr>
          <p:cNvPr id="22" name="Picture Placeholder 21" descr="Flowchart outline">
            <a:extLst>
              <a:ext uri="{FF2B5EF4-FFF2-40B4-BE49-F238E27FC236}">
                <a16:creationId xmlns:a16="http://schemas.microsoft.com/office/drawing/2014/main" id="{DA1E4B84-F0CE-750D-89CC-6779F72A5E30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5" b="95"/>
          <a:stretch/>
        </p:blipFill>
        <p:spPr>
          <a:xfrm>
            <a:off x="5749925" y="1838728"/>
            <a:ext cx="692150" cy="692150"/>
          </a:xfrm>
        </p:spPr>
      </p:pic>
      <p:pic>
        <p:nvPicPr>
          <p:cNvPr id="28" name="Picture Placeholder 19" descr="Business Growth outline">
            <a:extLst>
              <a:ext uri="{FF2B5EF4-FFF2-40B4-BE49-F238E27FC236}">
                <a16:creationId xmlns:a16="http://schemas.microsoft.com/office/drawing/2014/main" id="{F51868D7-FE52-75D8-CC68-867F433912FF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66300" y="1838728"/>
            <a:ext cx="692150" cy="69215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789D27-75EC-F99D-B987-7DD8DE29FA08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9211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4ED7-E2FC-C095-D6A5-41ED87E9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5E155-2886-D6F0-2B8B-AC7CD5D2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defPPr>
              <a:defRPr lang="en-US"/>
            </a:defPPr>
            <a:lvl1pPr marL="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00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4005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100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2801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501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2014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901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602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6F86DB-78DF-EB43-A6BE-40415A3A005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BCF335-C63C-A1F4-E1F9-31E488409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10985432" cy="76439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latin typeface="Poppins SemiBold" panose="00000700000000000000" pitchFamily="2" charset="0"/>
                <a:cs typeface="Poppins SemiBold" panose="00000700000000000000" pitchFamily="2" charset="0"/>
              </a:rPr>
              <a:t>Trupanion</a:t>
            </a:r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6E704-B0D1-8730-9DAF-4C079A953415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8" b="1"/>
              <a:t>  </a:t>
            </a:r>
          </a:p>
        </p:txBody>
      </p:sp>
      <p:pic>
        <p:nvPicPr>
          <p:cNvPr id="6" name="Picture 5" descr="A screenshot of a website&#10;&#10;Description automatically generated">
            <a:extLst>
              <a:ext uri="{FF2B5EF4-FFF2-40B4-BE49-F238E27FC236}">
                <a16:creationId xmlns:a16="http://schemas.microsoft.com/office/drawing/2014/main" id="{6BF9F118-32AF-768D-41BA-3C005A752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50"/>
          <a:stretch/>
        </p:blipFill>
        <p:spPr>
          <a:xfrm>
            <a:off x="3719432" y="270834"/>
            <a:ext cx="7869284" cy="6356478"/>
          </a:xfrm>
          <a:prstGeom prst="rect">
            <a:avLst/>
          </a:prstGeom>
          <a:effectLst>
            <a:outerShdw blurRad="76200" dist="63500" dir="36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20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0666-3786-DF37-7344-C4A4F362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3F65B-45EE-9B31-5D8A-BEFFE717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defPPr>
              <a:defRPr lang="en-US"/>
            </a:defPPr>
            <a:lvl1pPr marL="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00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4005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100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2801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501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2014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901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602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6F86DB-78DF-EB43-A6BE-40415A3A005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D6422B-7CE1-D12E-470F-28F59177C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10985432" cy="76439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latin typeface="Poppins SemiBold" panose="00000700000000000000" pitchFamily="2" charset="0"/>
                <a:cs typeface="Poppins SemiBold" panose="00000700000000000000" pitchFamily="2" charset="0"/>
              </a:rPr>
              <a:t>Trupanion</a:t>
            </a:r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9DFDD8-A8C5-858C-6F6A-1A31F34797E1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8" b="1"/>
              <a:t>  </a:t>
            </a:r>
          </a:p>
        </p:txBody>
      </p:sp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B51E82B8-553E-040B-BFE2-1E22205C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53" y="1266677"/>
            <a:ext cx="7142630" cy="5342913"/>
          </a:xfrm>
          <a:prstGeom prst="rect">
            <a:avLst/>
          </a:prstGeom>
          <a:effectLst>
            <a:outerShdw blurRad="762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32" name="Picture 3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B50596C-4EB0-7A32-D22B-00A552830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3"/>
          <a:stretch/>
        </p:blipFill>
        <p:spPr>
          <a:xfrm>
            <a:off x="8716990" y="2267904"/>
            <a:ext cx="3187602" cy="4341686"/>
          </a:xfrm>
          <a:prstGeom prst="rect">
            <a:avLst/>
          </a:prstGeom>
          <a:effectLst>
            <a:outerShdw blurRad="762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36" name="Picture 35" descr="A diagram of a company&#10;&#10;Description automatically generated">
            <a:extLst>
              <a:ext uri="{FF2B5EF4-FFF2-40B4-BE49-F238E27FC236}">
                <a16:creationId xmlns:a16="http://schemas.microsoft.com/office/drawing/2014/main" id="{6A44E4BE-73F3-0D81-C685-6B30834758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859" y="2267904"/>
            <a:ext cx="924718" cy="4341688"/>
          </a:xfrm>
          <a:prstGeom prst="rect">
            <a:avLst/>
          </a:prstGeom>
          <a:effectLst>
            <a:outerShdw blurRad="762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38" name="Picture 37" descr="A screenshot of a computer&#10;&#10;Description automatically generated">
            <a:extLst>
              <a:ext uri="{FF2B5EF4-FFF2-40B4-BE49-F238E27FC236}">
                <a16:creationId xmlns:a16="http://schemas.microsoft.com/office/drawing/2014/main" id="{3A85EBD3-0D02-570A-E2C9-FC1761D1EC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860" y="1275642"/>
            <a:ext cx="4346778" cy="898707"/>
          </a:xfrm>
          <a:prstGeom prst="rect">
            <a:avLst/>
          </a:prstGeom>
          <a:effectLst>
            <a:outerShdw blurRad="76200" dist="50800" dir="36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877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Financial Services</Value>
    </Industries>
    <PlatTech xmlns="f0ee8362-fa7e-4bc9-ab88-7dcfb17cb19b">
      <Value>Sitefinity</Value>
    </PlatTech>
    <BusinessUnit xmlns="f0ee8362-fa7e-4bc9-ab88-7dcfb17cb19b">
      <Value>Custom Development</Value>
      <Value>Creative</Value>
      <Value>Marketing Services</Value>
    </BusinessUnit>
    <Solutions xmlns="f0ee8362-fa7e-4bc9-ab88-7dcfb17cb19b">
      <Value>Websites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117D3FC7-5D1F-4581-9F8F-FBDDE549EB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619132-F27A-4EDE-9737-35A9BA9C88F8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3ABC594B-2088-4BBD-99F3-93825CCD5A9F}"/>
</file>

<file path=customXml/itemProps4.xml><?xml version="1.0" encoding="utf-8"?>
<ds:datastoreItem xmlns:ds="http://schemas.openxmlformats.org/officeDocument/2006/customXml" ds:itemID="{2A6721C5-E121-4080-B5BA-A6D3F1294D61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16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Trupanion – Marketing Website and Enrollment</vt:lpstr>
      <vt:lpstr>PowerPoint Presentation</vt:lpstr>
      <vt:lpstr>Trupanion</vt:lpstr>
      <vt:lpstr>Trupanion</vt:lpstr>
      <vt:lpstr>Trupanion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14</cp:revision>
  <dcterms:created xsi:type="dcterms:W3CDTF">2024-09-03T21:31:24Z</dcterms:created>
  <dcterms:modified xsi:type="dcterms:W3CDTF">2026-01-13T19:29:31Z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