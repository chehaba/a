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DDF358-1C81-1D7A-062E-9F1FA05DA7FC}" v="3" dt="2024-06-03T15:32:45.11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8DDDF358-1C81-1D7A-062E-9F1FA05DA7FC}"/>
    <pc:docChg chg="modSld">
      <pc:chgData name="Brendan Murphy" userId="S::bmurphy@affirma.com::e9f923b6-6d89-4d4e-a3b7-d9304b9d44ba" providerId="AD" clId="Web-{8DDDF358-1C81-1D7A-062E-9F1FA05DA7FC}" dt="2024-06-03T15:32:45.119" v="2" actId="14100"/>
      <pc:docMkLst>
        <pc:docMk/>
      </pc:docMkLst>
      <pc:sldChg chg="modSp">
        <pc:chgData name="Brendan Murphy" userId="S::bmurphy@affirma.com::e9f923b6-6d89-4d4e-a3b7-d9304b9d44ba" providerId="AD" clId="Web-{8DDDF358-1C81-1D7A-062E-9F1FA05DA7FC}" dt="2024-06-03T15:32:45.119" v="2" actId="14100"/>
        <pc:sldMkLst>
          <pc:docMk/>
          <pc:sldMk cId="2582825011" sldId="300"/>
        </pc:sldMkLst>
        <pc:spChg chg="mod">
          <ac:chgData name="Brendan Murphy" userId="S::bmurphy@affirma.com::e9f923b6-6d89-4d4e-a3b7-d9304b9d44ba" providerId="AD" clId="Web-{8DDDF358-1C81-1D7A-062E-9F1FA05DA7FC}" dt="2024-06-03T15:32:40.837" v="0" actId="14100"/>
          <ac:spMkLst>
            <pc:docMk/>
            <pc:sldMk cId="2582825011" sldId="300"/>
            <ac:spMk id="32" creationId="{E1C0119A-9047-4290-917B-405E19FFDA31}"/>
          </ac:spMkLst>
        </pc:spChg>
        <pc:spChg chg="mod">
          <ac:chgData name="Brendan Murphy" userId="S::bmurphy@affirma.com::e9f923b6-6d89-4d4e-a3b7-d9304b9d44ba" providerId="AD" clId="Web-{8DDDF358-1C81-1D7A-062E-9F1FA05DA7FC}" dt="2024-06-03T15:32:42.462" v="1" actId="14100"/>
          <ac:spMkLst>
            <pc:docMk/>
            <pc:sldMk cId="2582825011" sldId="300"/>
            <ac:spMk id="34" creationId="{EC17F625-2EC2-4F28-895B-03B104D7945A}"/>
          </ac:spMkLst>
        </pc:spChg>
        <pc:spChg chg="mod">
          <ac:chgData name="Brendan Murphy" userId="S::bmurphy@affirma.com::e9f923b6-6d89-4d4e-a3b7-d9304b9d44ba" providerId="AD" clId="Web-{8DDDF358-1C81-1D7A-062E-9F1FA05DA7FC}" dt="2024-06-03T15:32:45.119" v="2" actId="14100"/>
          <ac:spMkLst>
            <pc:docMk/>
            <pc:sldMk cId="2582825011" sldId="300"/>
            <ac:spMk id="36" creationId="{4651924A-7907-4360-9ED8-B533D803C21B}"/>
          </ac:spMkLst>
        </pc:spChg>
      </pc:sldChg>
    </pc:docChg>
  </pc:docChgLst>
  <pc:docChgLst>
    <pc:chgData name="Isaac Vargas" userId="S::ivargas@affirma.com::e6454c0c-8d27-4a40-81f0-c0269fc2c01e" providerId="AD" clId="Web-{C33CBC9F-F027-C000-1182-83382509364C}"/>
    <pc:docChg chg="modSld">
      <pc:chgData name="Isaac Vargas" userId="S::ivargas@affirma.com::e6454c0c-8d27-4a40-81f0-c0269fc2c01e" providerId="AD" clId="Web-{C33CBC9F-F027-C000-1182-83382509364C}" dt="2021-04-08T13:22:15.620" v="56" actId="20577"/>
      <pc:docMkLst>
        <pc:docMk/>
      </pc:docMkLst>
      <pc:sldChg chg="addSp delSp modSp">
        <pc:chgData name="Isaac Vargas" userId="S::ivargas@affirma.com::e6454c0c-8d27-4a40-81f0-c0269fc2c01e" providerId="AD" clId="Web-{C33CBC9F-F027-C000-1182-83382509364C}" dt="2021-04-08T13:22:15.620" v="56" actId="20577"/>
        <pc:sldMkLst>
          <pc:docMk/>
          <pc:sldMk cId="2582825011" sldId="300"/>
        </pc:sldMkLst>
        <pc:spChg chg="mod">
          <ac:chgData name="Isaac Vargas" userId="S::ivargas@affirma.com::e6454c0c-8d27-4a40-81f0-c0269fc2c01e" providerId="AD" clId="Web-{C33CBC9F-F027-C000-1182-83382509364C}" dt="2021-04-08T13:21:36.931" v="40" actId="14100"/>
          <ac:spMkLst>
            <pc:docMk/>
            <pc:sldMk cId="2582825011" sldId="300"/>
            <ac:spMk id="31" creationId="{EC9A7433-5BCD-4EA6-924A-53FDBF0CAAA6}"/>
          </ac:spMkLst>
        </pc:spChg>
        <pc:spChg chg="mod">
          <ac:chgData name="Isaac Vargas" userId="S::ivargas@affirma.com::e6454c0c-8d27-4a40-81f0-c0269fc2c01e" providerId="AD" clId="Web-{C33CBC9F-F027-C000-1182-83382509364C}" dt="2021-04-08T13:15:29.562" v="1" actId="1076"/>
          <ac:spMkLst>
            <pc:docMk/>
            <pc:sldMk cId="2582825011" sldId="300"/>
            <ac:spMk id="32" creationId="{E1C0119A-9047-4290-917B-405E19FFDA31}"/>
          </ac:spMkLst>
        </pc:spChg>
        <pc:spChg chg="add del mod">
          <ac:chgData name="Isaac Vargas" userId="S::ivargas@affirma.com::e6454c0c-8d27-4a40-81f0-c0269fc2c01e" providerId="AD" clId="Web-{C33CBC9F-F027-C000-1182-83382509364C}" dt="2021-04-08T13:21:40.556" v="41" actId="14100"/>
          <ac:spMkLst>
            <pc:docMk/>
            <pc:sldMk cId="2582825011" sldId="300"/>
            <ac:spMk id="33" creationId="{A2CD0AFB-BBEB-434B-985F-3ACF7BE51454}"/>
          </ac:spMkLst>
        </pc:spChg>
        <pc:spChg chg="mod">
          <ac:chgData name="Isaac Vargas" userId="S::ivargas@affirma.com::e6454c0c-8d27-4a40-81f0-c0269fc2c01e" providerId="AD" clId="Web-{C33CBC9F-F027-C000-1182-83382509364C}" dt="2021-04-08T13:20:55.915" v="33" actId="1076"/>
          <ac:spMkLst>
            <pc:docMk/>
            <pc:sldMk cId="2582825011" sldId="300"/>
            <ac:spMk id="34" creationId="{EC17F625-2EC2-4F28-895B-03B104D7945A}"/>
          </ac:spMkLst>
        </pc:spChg>
        <pc:spChg chg="mod">
          <ac:chgData name="Isaac Vargas" userId="S::ivargas@affirma.com::e6454c0c-8d27-4a40-81f0-c0269fc2c01e" providerId="AD" clId="Web-{C33CBC9F-F027-C000-1182-83382509364C}" dt="2021-04-08T13:22:15.620" v="56" actId="20577"/>
          <ac:spMkLst>
            <pc:docMk/>
            <pc:sldMk cId="2582825011" sldId="300"/>
            <ac:spMk id="35" creationId="{127A5A2A-6A75-46BB-A872-3D435F9C8C26}"/>
          </ac:spMkLst>
        </pc:spChg>
        <pc:spChg chg="mod">
          <ac:chgData name="Isaac Vargas" userId="S::ivargas@affirma.com::e6454c0c-8d27-4a40-81f0-c0269fc2c01e" providerId="AD" clId="Web-{C33CBC9F-F027-C000-1182-83382509364C}" dt="2021-04-08T13:21:45.260" v="42" actId="1076"/>
          <ac:spMkLst>
            <pc:docMk/>
            <pc:sldMk cId="2582825011" sldId="300"/>
            <ac:spMk id="36" creationId="{4651924A-7907-4360-9ED8-B533D803C2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MS Executive Dashboard</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78181" y="1516874"/>
            <a:ext cx="6164804" cy="1076449"/>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Microsoft Small and Midmarket Solutions </a:t>
            </a:r>
            <a:r>
              <a:rPr lang="en-US" sz="1100" dirty="0">
                <a:latin typeface="Open Sans"/>
              </a:rPr>
              <a:t>&amp;</a:t>
            </a:r>
            <a:r>
              <a:rPr lang="en-US" sz="1100" b="0" i="0" kern="1200" dirty="0">
                <a:effectLst/>
                <a:latin typeface="Open Sans"/>
                <a:ea typeface="+mn-ea"/>
                <a:cs typeface="+mn-cs"/>
              </a:rPr>
              <a:t> Partners needed a way to create accountability while allowing all levels of the organization to make more insightful decisions with real-time and accurate information.</a:t>
            </a:r>
            <a:r>
              <a:rPr lang="en-US" sz="1100" dirty="0">
                <a:latin typeface="Open Sans"/>
              </a:rPr>
              <a:t> </a:t>
            </a:r>
            <a:r>
              <a:rPr lang="en-US" sz="1100" b="0" i="0" kern="1200" dirty="0">
                <a:effectLst/>
                <a:latin typeface="Open Sans"/>
                <a:ea typeface="+mn-ea"/>
                <a:cs typeface="+mn-cs"/>
              </a:rPr>
              <a:t>SMS&amp;P engaged with </a:t>
            </a:r>
            <a:r>
              <a:rPr lang="en-US" sz="1100" b="0" i="0" kern="1200" dirty="0" err="1">
                <a:effectLst/>
                <a:latin typeface="Open Sans"/>
                <a:ea typeface="+mn-ea"/>
                <a:cs typeface="+mn-cs"/>
              </a:rPr>
              <a:t>Affirma</a:t>
            </a:r>
            <a:r>
              <a:rPr lang="en-US" sz="1100" b="0" i="0" kern="1200" dirty="0">
                <a:effectLst/>
                <a:latin typeface="Open Sans"/>
                <a:ea typeface="+mn-ea"/>
                <a:cs typeface="+mn-cs"/>
              </a:rPr>
              <a:t> to create an intuitive, fast and rich analysis resource for Finance Executives</a:t>
            </a:r>
            <a:r>
              <a:rPr lang="en-US" sz="1100" dirty="0">
                <a:latin typeface="Open Sans"/>
              </a:rPr>
              <a:t>.</a:t>
            </a:r>
            <a:endParaRPr lang="en-US" sz="1100" b="0" i="0" kern="1200" dirty="0">
              <a:effectLst/>
              <a:latin typeface="Open San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78182" y="1069782"/>
            <a:ext cx="2416748" cy="384721"/>
          </a:xfrm>
          <a:prstGeom prst="rect">
            <a:avLst/>
          </a:prstGeom>
          <a:noFill/>
        </p:spPr>
        <p:txBody>
          <a:bodyPr wrap="squar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78181" y="3034193"/>
            <a:ext cx="6164804" cy="1330364"/>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Affirma created a Silverlight-based interactive dashboard that configured all data access from multiple data sources. Geographic KPI interactivity allows Finance Executives to view key performance indicators in new and contextually relevant ways very quickly. Executives can drill data by metric, time and geography, even when offline. The </a:t>
            </a:r>
            <a:r>
              <a:rPr lang="en-US" sz="1100" dirty="0">
                <a:latin typeface="Open Sans"/>
              </a:rPr>
              <a:t>dashboard's</a:t>
            </a:r>
            <a:r>
              <a:rPr lang="en-US" sz="1100" b="0" i="0" kern="1200" dirty="0">
                <a:effectLst/>
                <a:latin typeface="Open Sans"/>
                <a:ea typeface="+mn-ea"/>
                <a:cs typeface="+mn-cs"/>
              </a:rPr>
              <a:t> offline capabilities provide greater windows of time for analysis across the team</a:t>
            </a:r>
            <a:r>
              <a:rPr lang="en-US" sz="1100" dirty="0">
                <a:latin typeface="Open Sans"/>
              </a:rPr>
              <a:t>.</a:t>
            </a:r>
            <a:endParaRPr lang="en-US" sz="1100" b="0" i="0" kern="1200" dirty="0">
              <a:effectLst/>
              <a:latin typeface="Open San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78181" y="2657284"/>
            <a:ext cx="2048110" cy="379358"/>
          </a:xfrm>
          <a:prstGeom prst="rect">
            <a:avLst/>
          </a:prstGeom>
          <a:noFill/>
        </p:spPr>
        <p:txBody>
          <a:bodyPr wrap="squar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4786616"/>
            <a:ext cx="6369909" cy="1584280"/>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The executive dashboard was an overwhelming success. </a:t>
            </a:r>
            <a:r>
              <a:rPr lang="en-US" sz="1100" b="0" i="0" kern="1200" dirty="0" err="1">
                <a:effectLst/>
                <a:latin typeface="Open Sans"/>
                <a:ea typeface="+mn-ea"/>
                <a:cs typeface="+mn-cs"/>
              </a:rPr>
              <a:t>Scorecarding</a:t>
            </a:r>
            <a:r>
              <a:rPr lang="en-US" sz="1100" b="0" i="0" kern="1200" dirty="0">
                <a:effectLst/>
                <a:latin typeface="Open Sans"/>
                <a:ea typeface="+mn-ea"/>
                <a:cs typeface="+mn-cs"/>
              </a:rPr>
              <a:t> allows the organization to track what groups and individuals are performing to target. This creates a strong alignment of accountability that rolls up into the </a:t>
            </a:r>
            <a:r>
              <a:rPr lang="en-US" sz="1100" dirty="0">
                <a:latin typeface="Open Sans"/>
              </a:rPr>
              <a:t>company's</a:t>
            </a:r>
            <a:r>
              <a:rPr lang="en-US" sz="1100" b="0" i="0" kern="1200" dirty="0">
                <a:effectLst/>
                <a:latin typeface="Open Sans"/>
                <a:ea typeface="+mn-ea"/>
                <a:cs typeface="+mn-cs"/>
              </a:rPr>
              <a:t> strategic objectives and goals. With access to real-time, accurate data from a single source, the business is now able to quickly release reporting and make stronger business decisions across all levels of the organization. End users love the SMS</a:t>
            </a:r>
            <a:r>
              <a:rPr lang="en-US" sz="1100" dirty="0">
                <a:latin typeface="Open Sans"/>
              </a:rPr>
              <a:t>&amp;</a:t>
            </a:r>
            <a:r>
              <a:rPr lang="en-US" sz="1100" b="0" i="0" kern="1200" dirty="0">
                <a:effectLst/>
                <a:latin typeface="Open Sans"/>
                <a:ea typeface="+mn-ea"/>
                <a:cs typeface="+mn-cs"/>
              </a:rPr>
              <a:t>P Executive Dashboard and it is currently being socialized around SMS</a:t>
            </a:r>
            <a:r>
              <a:rPr lang="en-US" sz="1100" dirty="0">
                <a:latin typeface="Open Sans"/>
              </a:rPr>
              <a:t>&amp;</a:t>
            </a:r>
            <a:r>
              <a:rPr lang="en-US" sz="1100" b="0" i="0" kern="1200" dirty="0">
                <a:effectLst/>
                <a:latin typeface="Open Sans"/>
                <a:ea typeface="+mn-ea"/>
                <a:cs typeface="+mn-cs"/>
              </a:rPr>
              <a:t>P Finance</a:t>
            </a:r>
            <a:r>
              <a:rPr lang="en-US" sz="1100" dirty="0">
                <a:latin typeface="Open Sans"/>
              </a:rPr>
              <a:t>.</a:t>
            </a:r>
            <a:endParaRPr lang="en-US" sz="1100" b="0" i="0" kern="1200" dirty="0">
              <a:effectLst/>
              <a:latin typeface="Open San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4378912"/>
            <a:ext cx="1319423" cy="369332"/>
          </a:xfrm>
          <a:prstGeom prst="rect">
            <a:avLst/>
          </a:prstGeom>
          <a:noFill/>
        </p:spPr>
        <p:txBody>
          <a:bodyPr wrap="squar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.NET</Value>
    </PlatTech>
    <ApprovedByClient xmlns="f0ee8362-fa7e-4bc9-ab88-7dcfb17cb19b">false</ApprovedByClient>
    <ProjectCompletionDate xmlns="f0ee8362-fa7e-4bc9-ab88-7dcfb17cb19b" xsi:nil="true"/>
  </documentManagement>
</p:properti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69F486-1530-42A0-8813-2553F9F4A840}">
  <ds:schemaRefs>
    <ds:schemaRef ds:uri="http://schemas.microsoft.com/sharepoint/v3/contenttype/forms"/>
  </ds:schemaRefs>
</ds:datastoreItem>
</file>

<file path=customXml/itemProps2.xml><?xml version="1.0" encoding="utf-8"?>
<ds:datastoreItem xmlns:ds="http://schemas.openxmlformats.org/officeDocument/2006/customXml" ds:itemID="{8991D952-8973-4900-9F57-841DCBDC9814}">
  <ds:schemaRefs>
    <ds:schemaRef ds:uri="http://schemas.microsoft.com/office/2006/metadata/properties"/>
    <ds:schemaRef ds:uri="http://schemas.microsoft.com/office/infopath/2007/PartnerControls"/>
    <ds:schemaRef ds:uri="54243e05-8da7-404c-85e0-0480aaa26276"/>
    <ds:schemaRef ds:uri="f205c2cf-faee-43e7-95df-8aa62e5feae0"/>
  </ds:schemaRefs>
</ds:datastoreItem>
</file>

<file path=customXml/itemProps3.xml><?xml version="1.0" encoding="utf-8"?>
<ds:datastoreItem xmlns:ds="http://schemas.openxmlformats.org/officeDocument/2006/customXml" ds:itemID="{847B385F-7619-4705-B3C8-393D176D344F}">
  <ds:schemaRefs>
    <ds:schemaRef ds:uri="http://schemas.microsoft.com/office/2006/metadata/customXsn"/>
  </ds:schemaRefs>
</ds:datastoreItem>
</file>

<file path=customXml/itemProps4.xml><?xml version="1.0" encoding="utf-8"?>
<ds:datastoreItem xmlns:ds="http://schemas.openxmlformats.org/officeDocument/2006/customXml" ds:itemID="{CD3463D5-124E-4E83-826A-5CD123A1E2CD}"/>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MS Executive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600</cp:revision>
  <dcterms:created xsi:type="dcterms:W3CDTF">2017-10-09T12:47:23Z</dcterms:created>
  <dcterms:modified xsi:type="dcterms:W3CDTF">2024-06-03T15:32:48Z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21000</vt:r8>
  </property>
  <property fmtid="{D5CDD505-2E9C-101B-9397-08002B2CF9AE}" pid="11" name="xd_Signature">
    <vt:bool>false</vt:bool>
  </property>
  <property fmtid="{D5CDD505-2E9C-101B-9397-08002B2CF9AE}" pid="12" name="SO">
    <vt:lpwstr>2;#;#7;#;#30;#;#43;#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