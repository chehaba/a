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5"/>
  </p:sldMasterIdLst>
  <p:notesMasterIdLst>
    <p:notesMasterId r:id="rId7"/>
  </p:notesMasterIdLst>
  <p:sldIdLst>
    <p:sldId id="30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1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812A"/>
    <a:srgbClr val="182D4C"/>
    <a:srgbClr val="2F2F2F"/>
    <a:srgbClr val="6C86B8"/>
    <a:srgbClr val="D87724"/>
    <a:srgbClr val="6A93D0"/>
    <a:srgbClr val="192943"/>
    <a:srgbClr val="1C375C"/>
    <a:srgbClr val="2F4E7F"/>
    <a:srgbClr val="2D55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2635AF-7BD3-68B2-125D-4520CC2E8483}" v="16" dt="2024-05-28T16:50:15.204"/>
  </p1510:revLst>
</p1510:revInfo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69" autoAdjust="0"/>
    <p:restoredTop sz="94608"/>
  </p:normalViewPr>
  <p:slideViewPr>
    <p:cSldViewPr snapToGrid="0" snapToObjects="1">
      <p:cViewPr varScale="1">
        <p:scale>
          <a:sx n="87" d="100"/>
          <a:sy n="87" d="100"/>
        </p:scale>
        <p:origin x="-128" y="-232"/>
      </p:cViewPr>
      <p:guideLst>
        <p:guide orient="horz" pos="2160"/>
        <p:guide pos="381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10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endan Murphy" userId="S::bmurphy@affirma.com::e9f923b6-6d89-4d4e-a3b7-d9304b9d44ba" providerId="AD" clId="Web-{2F2635AF-7BD3-68B2-125D-4520CC2E8483}"/>
    <pc:docChg chg="modSld">
      <pc:chgData name="Brendan Murphy" userId="S::bmurphy@affirma.com::e9f923b6-6d89-4d4e-a3b7-d9304b9d44ba" providerId="AD" clId="Web-{2F2635AF-7BD3-68B2-125D-4520CC2E8483}" dt="2024-05-28T16:50:15.204" v="9" actId="1076"/>
      <pc:docMkLst>
        <pc:docMk/>
      </pc:docMkLst>
      <pc:sldChg chg="modSp">
        <pc:chgData name="Brendan Murphy" userId="S::bmurphy@affirma.com::e9f923b6-6d89-4d4e-a3b7-d9304b9d44ba" providerId="AD" clId="Web-{2F2635AF-7BD3-68B2-125D-4520CC2E8483}" dt="2024-05-28T16:50:15.204" v="9" actId="1076"/>
        <pc:sldMkLst>
          <pc:docMk/>
          <pc:sldMk cId="2582825011" sldId="300"/>
        </pc:sldMkLst>
        <pc:spChg chg="mod">
          <ac:chgData name="Brendan Murphy" userId="S::bmurphy@affirma.com::e9f923b6-6d89-4d4e-a3b7-d9304b9d44ba" providerId="AD" clId="Web-{2F2635AF-7BD3-68B2-125D-4520CC2E8483}" dt="2024-05-28T16:50:05.157" v="6" actId="20577"/>
          <ac:spMkLst>
            <pc:docMk/>
            <pc:sldMk cId="2582825011" sldId="300"/>
            <ac:spMk id="31" creationId="{EC9A7433-5BCD-4EA6-924A-53FDBF0CAAA6}"/>
          </ac:spMkLst>
        </pc:spChg>
        <pc:spChg chg="mod">
          <ac:chgData name="Brendan Murphy" userId="S::bmurphy@affirma.com::e9f923b6-6d89-4d4e-a3b7-d9304b9d44ba" providerId="AD" clId="Web-{2F2635AF-7BD3-68B2-125D-4520CC2E8483}" dt="2024-05-28T16:49:55.485" v="3" actId="1076"/>
          <ac:spMkLst>
            <pc:docMk/>
            <pc:sldMk cId="2582825011" sldId="300"/>
            <ac:spMk id="32" creationId="{E1C0119A-9047-4290-917B-405E19FFDA31}"/>
          </ac:spMkLst>
        </pc:spChg>
        <pc:spChg chg="mod">
          <ac:chgData name="Brendan Murphy" userId="S::bmurphy@affirma.com::e9f923b6-6d89-4d4e-a3b7-d9304b9d44ba" providerId="AD" clId="Web-{2F2635AF-7BD3-68B2-125D-4520CC2E8483}" dt="2024-05-28T16:50:12.126" v="7" actId="1076"/>
          <ac:spMkLst>
            <pc:docMk/>
            <pc:sldMk cId="2582825011" sldId="300"/>
            <ac:spMk id="35" creationId="{127A5A2A-6A75-46BB-A872-3D435F9C8C26}"/>
          </ac:spMkLst>
        </pc:spChg>
        <pc:spChg chg="mod">
          <ac:chgData name="Brendan Murphy" userId="S::bmurphy@affirma.com::e9f923b6-6d89-4d4e-a3b7-d9304b9d44ba" providerId="AD" clId="Web-{2F2635AF-7BD3-68B2-125D-4520CC2E8483}" dt="2024-05-28T16:50:12.142" v="8" actId="1076"/>
          <ac:spMkLst>
            <pc:docMk/>
            <pc:sldMk cId="2582825011" sldId="300"/>
            <ac:spMk id="36" creationId="{4651924A-7907-4360-9ED8-B533D803C21B}"/>
          </ac:spMkLst>
        </pc:spChg>
        <pc:picChg chg="mod">
          <ac:chgData name="Brendan Murphy" userId="S::bmurphy@affirma.com::e9f923b6-6d89-4d4e-a3b7-d9304b9d44ba" providerId="AD" clId="Web-{2F2635AF-7BD3-68B2-125D-4520CC2E8483}" dt="2024-05-28T16:50:15.204" v="9" actId="1076"/>
          <ac:picMkLst>
            <pc:docMk/>
            <pc:sldMk cId="2582825011" sldId="300"/>
            <ac:picMk id="3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BC89A5-BE3E-2441-87C0-54B69ED90FC7}" type="datetimeFigureOut">
              <a:rPr lang="en-US"/>
              <a:pPr/>
              <a:t>5/28/2024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022639-76C9-2740-BE4D-A4E2B1985EBA}" type="slidenum">
              <a:rPr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1301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1" cy="6858000"/>
          </a:xfrm>
          <a:pattFill prst="divot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982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1405468" y="1418121"/>
            <a:ext cx="3782286" cy="3782286"/>
          </a:xfrm>
          <a:custGeom>
            <a:avLst/>
            <a:gdLst>
              <a:gd name="connsiteX0" fmla="*/ 1891143 w 3782286"/>
              <a:gd name="connsiteY0" fmla="*/ 0 h 3782286"/>
              <a:gd name="connsiteX1" fmla="*/ 3782286 w 3782286"/>
              <a:gd name="connsiteY1" fmla="*/ 1891143 h 3782286"/>
              <a:gd name="connsiteX2" fmla="*/ 1891143 w 3782286"/>
              <a:gd name="connsiteY2" fmla="*/ 3782286 h 3782286"/>
              <a:gd name="connsiteX3" fmla="*/ 0 w 3782286"/>
              <a:gd name="connsiteY3" fmla="*/ 1891143 h 3782286"/>
              <a:gd name="connsiteX4" fmla="*/ 1891143 w 3782286"/>
              <a:gd name="connsiteY4" fmla="*/ 0 h 3782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82286" h="3782286">
                <a:moveTo>
                  <a:pt x="1891143" y="0"/>
                </a:moveTo>
                <a:cubicBezTo>
                  <a:pt x="2935592" y="0"/>
                  <a:pt x="3782286" y="846694"/>
                  <a:pt x="3782286" y="1891143"/>
                </a:cubicBezTo>
                <a:cubicBezTo>
                  <a:pt x="3782286" y="2935592"/>
                  <a:pt x="2935592" y="3782286"/>
                  <a:pt x="1891143" y="3782286"/>
                </a:cubicBezTo>
                <a:cubicBezTo>
                  <a:pt x="846694" y="3782286"/>
                  <a:pt x="0" y="2935592"/>
                  <a:pt x="0" y="1891143"/>
                </a:cubicBezTo>
                <a:cubicBezTo>
                  <a:pt x="0" y="846694"/>
                  <a:pt x="846694" y="0"/>
                  <a:pt x="1891143" y="0"/>
                </a:cubicBezTo>
                <a:close/>
              </a:path>
            </a:pathLst>
          </a:custGeom>
          <a:pattFill prst="divot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590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/>
          <p:cNvSpPr>
            <a:spLocks noGrp="1"/>
          </p:cNvSpPr>
          <p:nvPr>
            <p:ph type="pic" sz="quarter" idx="10"/>
          </p:nvPr>
        </p:nvSpPr>
        <p:spPr>
          <a:xfrm>
            <a:off x="8763000" y="0"/>
            <a:ext cx="3429000" cy="6858000"/>
          </a:xfrm>
          <a:custGeom>
            <a:avLst/>
            <a:gdLst>
              <a:gd name="connsiteX0" fmla="*/ 3429000 w 3429000"/>
              <a:gd name="connsiteY0" fmla="*/ 0 h 6858000"/>
              <a:gd name="connsiteX1" fmla="*/ 3429000 w 3429000"/>
              <a:gd name="connsiteY1" fmla="*/ 6858000 h 6858000"/>
              <a:gd name="connsiteX2" fmla="*/ 0 w 3429000"/>
              <a:gd name="connsiteY2" fmla="*/ 3429000 h 6858000"/>
              <a:gd name="connsiteX3" fmla="*/ 3429000 w 3429000"/>
              <a:gd name="connsiteY3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29000" h="6858000">
                <a:moveTo>
                  <a:pt x="3429000" y="0"/>
                </a:moveTo>
                <a:lnTo>
                  <a:pt x="3429000" y="6858000"/>
                </a:lnTo>
                <a:cubicBezTo>
                  <a:pt x="1535216" y="6858000"/>
                  <a:pt x="0" y="5322784"/>
                  <a:pt x="0" y="3429000"/>
                </a:cubicBezTo>
                <a:cubicBezTo>
                  <a:pt x="0" y="1535217"/>
                  <a:pt x="1535216" y="0"/>
                  <a:pt x="3429000" y="0"/>
                </a:cubicBezTo>
                <a:close/>
              </a:path>
            </a:pathLst>
          </a:custGeom>
          <a:pattFill prst="divot">
            <a:fgClr>
              <a:schemeClr val="bg1">
                <a:lumMod val="85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0639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(Lef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182D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765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 b="0">
                <a:solidFill>
                  <a:schemeClr val="bg1"/>
                </a:solidFill>
                <a:latin typeface="Montserrat"/>
              </a:defRPr>
            </a:lvl1pPr>
          </a:lstStyle>
          <a:p>
            <a:r>
              <a:rPr lang="en-US" dirty="0"/>
              <a:t>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3883256-DDF5-46AA-B364-D5E565E8F2E8}"/>
              </a:ext>
            </a:extLst>
          </p:cNvPr>
          <p:cNvGrpSpPr/>
          <p:nvPr userDrawn="1"/>
        </p:nvGrpSpPr>
        <p:grpSpPr>
          <a:xfrm>
            <a:off x="11251602" y="157052"/>
            <a:ext cx="772469" cy="709254"/>
            <a:chOff x="10255378" y="484095"/>
            <a:chExt cx="1281303" cy="1176448"/>
          </a:xfrm>
          <a:solidFill>
            <a:schemeClr val="bg1"/>
          </a:solidFill>
        </p:grpSpPr>
        <p:sp>
          <p:nvSpPr>
            <p:cNvPr id="13" name="Right Triangle 12">
              <a:extLst>
                <a:ext uri="{FF2B5EF4-FFF2-40B4-BE49-F238E27FC236}">
                  <a16:creationId xmlns:a16="http://schemas.microsoft.com/office/drawing/2014/main" id="{E04258D0-0979-4874-8131-C85BFBF0EBB7}"/>
                </a:ext>
              </a:extLst>
            </p:cNvPr>
            <p:cNvSpPr/>
            <p:nvPr/>
          </p:nvSpPr>
          <p:spPr>
            <a:xfrm rot="10800000">
              <a:off x="10404999" y="484095"/>
              <a:ext cx="1131682" cy="1131682"/>
            </a:xfrm>
            <a:prstGeom prst="rtTriangle">
              <a:avLst/>
            </a:prstGeom>
            <a:solidFill>
              <a:srgbClr val="DD81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B07A057C-BA43-40B3-9FAD-B92F71670524}"/>
                </a:ext>
              </a:extLst>
            </p:cNvPr>
            <p:cNvGrpSpPr/>
            <p:nvPr/>
          </p:nvGrpSpPr>
          <p:grpSpPr>
            <a:xfrm rot="10800000">
              <a:off x="10255378" y="708872"/>
              <a:ext cx="1007690" cy="951671"/>
              <a:chOff x="7625694" y="1771958"/>
              <a:chExt cx="3025379" cy="2857192"/>
            </a:xfrm>
            <a:grpFill/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822D3E89-D469-424A-A98C-AF9147A63662}"/>
                  </a:ext>
                </a:extLst>
              </p:cNvPr>
              <p:cNvSpPr/>
              <p:nvPr/>
            </p:nvSpPr>
            <p:spPr>
              <a:xfrm>
                <a:off x="7632372" y="44389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9BADCFF3-8AD6-42F9-AB8C-375C23E132C8}"/>
                  </a:ext>
                </a:extLst>
              </p:cNvPr>
              <p:cNvSpPr/>
              <p:nvPr/>
            </p:nvSpPr>
            <p:spPr>
              <a:xfrm>
                <a:off x="7648083" y="377220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146CF906-92B7-45FE-A1E0-5AF6E9C4869B}"/>
                  </a:ext>
                </a:extLst>
              </p:cNvPr>
              <p:cNvSpPr/>
              <p:nvPr/>
            </p:nvSpPr>
            <p:spPr>
              <a:xfrm>
                <a:off x="7629033" y="31054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B449BE01-15C6-4A0D-9AF6-4786CA4E9637}"/>
                  </a:ext>
                </a:extLst>
              </p:cNvPr>
              <p:cNvSpPr/>
              <p:nvPr/>
            </p:nvSpPr>
            <p:spPr>
              <a:xfrm>
                <a:off x="7625694" y="243870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3E205D10-1D5E-4D0D-8531-85D8D7946B95}"/>
                  </a:ext>
                </a:extLst>
              </p:cNvPr>
              <p:cNvSpPr/>
              <p:nvPr/>
            </p:nvSpPr>
            <p:spPr>
              <a:xfrm>
                <a:off x="7629033" y="17719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DE2C8FD6-081D-49F6-921D-A381A767C163}"/>
                  </a:ext>
                </a:extLst>
              </p:cNvPr>
              <p:cNvSpPr/>
              <p:nvPr/>
            </p:nvSpPr>
            <p:spPr>
              <a:xfrm>
                <a:off x="8338576" y="4423007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FF9994E3-F742-477B-85AD-302966D65BD7}"/>
                  </a:ext>
                </a:extLst>
              </p:cNvPr>
              <p:cNvSpPr/>
              <p:nvPr/>
            </p:nvSpPr>
            <p:spPr>
              <a:xfrm>
                <a:off x="8354287" y="3756257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1A814A4E-18CD-488A-8AC5-D8D62E7F96F9}"/>
                  </a:ext>
                </a:extLst>
              </p:cNvPr>
              <p:cNvSpPr/>
              <p:nvPr/>
            </p:nvSpPr>
            <p:spPr>
              <a:xfrm>
                <a:off x="8335237" y="3089507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B3949535-A9FF-471C-BF8D-F3C9FB103940}"/>
                  </a:ext>
                </a:extLst>
              </p:cNvPr>
              <p:cNvSpPr/>
              <p:nvPr/>
            </p:nvSpPr>
            <p:spPr>
              <a:xfrm>
                <a:off x="8331898" y="2422757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BA711CF7-5013-4280-856D-919CDF2AA910}"/>
                  </a:ext>
                </a:extLst>
              </p:cNvPr>
              <p:cNvSpPr/>
              <p:nvPr/>
            </p:nvSpPr>
            <p:spPr>
              <a:xfrm>
                <a:off x="9036117" y="44389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BD2D7A54-8F84-484D-8489-7F2DF9C00BCC}"/>
                  </a:ext>
                </a:extLst>
              </p:cNvPr>
              <p:cNvSpPr/>
              <p:nvPr/>
            </p:nvSpPr>
            <p:spPr>
              <a:xfrm>
                <a:off x="9051828" y="377220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43920531-84F3-4DCA-A4C7-1E45B62398A0}"/>
                  </a:ext>
                </a:extLst>
              </p:cNvPr>
              <p:cNvSpPr/>
              <p:nvPr/>
            </p:nvSpPr>
            <p:spPr>
              <a:xfrm>
                <a:off x="9032778" y="31054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8EA3990F-0363-4A77-BABA-C5915D801F32}"/>
                  </a:ext>
                </a:extLst>
              </p:cNvPr>
              <p:cNvSpPr/>
              <p:nvPr/>
            </p:nvSpPr>
            <p:spPr>
              <a:xfrm>
                <a:off x="9755375" y="44389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FDE1E5EB-D396-42F9-9256-14D087571DC3}"/>
                  </a:ext>
                </a:extLst>
              </p:cNvPr>
              <p:cNvSpPr/>
              <p:nvPr/>
            </p:nvSpPr>
            <p:spPr>
              <a:xfrm>
                <a:off x="9771086" y="377220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496CFD1D-C58B-40A8-A745-B76F50F83965}"/>
                  </a:ext>
                </a:extLst>
              </p:cNvPr>
              <p:cNvSpPr/>
              <p:nvPr/>
            </p:nvSpPr>
            <p:spPr>
              <a:xfrm>
                <a:off x="10470714" y="4448791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9665E9BF-B954-4AC7-821E-2E0CD116D915}"/>
              </a:ext>
            </a:extLst>
          </p:cNvPr>
          <p:cNvSpPr/>
          <p:nvPr userDrawn="1"/>
        </p:nvSpPr>
        <p:spPr>
          <a:xfrm>
            <a:off x="0" y="994299"/>
            <a:ext cx="7239000" cy="58658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C9A7433-5BCD-4EA6-924A-53FDBF0CAAA6}"/>
              </a:ext>
            </a:extLst>
          </p:cNvPr>
          <p:cNvSpPr txBox="1"/>
          <p:nvPr userDrawn="1"/>
        </p:nvSpPr>
        <p:spPr>
          <a:xfrm>
            <a:off x="858128" y="2008164"/>
            <a:ext cx="5533147" cy="314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b="0" i="0" kern="1200" dirty="0" err="1">
                <a:solidFill>
                  <a:schemeClr val="tx1"/>
                </a:solidFill>
                <a:effectLst/>
                <a:latin typeface="Open Sans"/>
                <a:ea typeface="+mn-ea"/>
                <a:cs typeface="+mn-cs"/>
              </a:rPr>
              <a:t>challengereplace</a:t>
            </a:r>
            <a:endParaRPr lang="en-US" sz="1100" b="0" i="0" kern="1200" dirty="0">
              <a:solidFill>
                <a:schemeClr val="tx1"/>
              </a:solidFill>
              <a:effectLst/>
              <a:latin typeface="Open Sans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1C0119A-9047-4290-917B-405E19FFDA31}"/>
              </a:ext>
            </a:extLst>
          </p:cNvPr>
          <p:cNvSpPr txBox="1"/>
          <p:nvPr userDrawn="1"/>
        </p:nvSpPr>
        <p:spPr>
          <a:xfrm>
            <a:off x="858129" y="1581124"/>
            <a:ext cx="1603901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00" b="1" dirty="0">
                <a:solidFill>
                  <a:srgbClr val="6C86B8"/>
                </a:solidFill>
                <a:latin typeface="Montserrat" charset="0"/>
                <a:ea typeface="Montserrat" charset="0"/>
                <a:cs typeface="Montserrat" charset="0"/>
              </a:rPr>
              <a:t>The Challenge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2CD0AFB-BBEB-434B-985F-3ACF7BE51454}"/>
              </a:ext>
            </a:extLst>
          </p:cNvPr>
          <p:cNvSpPr txBox="1"/>
          <p:nvPr userDrawn="1"/>
        </p:nvSpPr>
        <p:spPr>
          <a:xfrm>
            <a:off x="858128" y="3525482"/>
            <a:ext cx="5533147" cy="314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b="0" i="0" kern="1200" dirty="0" err="1">
                <a:solidFill>
                  <a:schemeClr val="tx1"/>
                </a:solidFill>
                <a:effectLst/>
                <a:latin typeface="Open Sans"/>
                <a:ea typeface="+mn-ea"/>
                <a:cs typeface="+mn-cs"/>
              </a:rPr>
              <a:t>ourworkreplace</a:t>
            </a:r>
            <a:endParaRPr lang="en-US" sz="1100" b="0" i="0" kern="1200" dirty="0">
              <a:solidFill>
                <a:schemeClr val="tx1"/>
              </a:solidFill>
              <a:effectLst/>
              <a:latin typeface="Open Sans"/>
              <a:ea typeface="+mn-ea"/>
              <a:cs typeface="+mn-c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C17F625-2EC2-4F28-895B-03B104D7945A}"/>
              </a:ext>
            </a:extLst>
          </p:cNvPr>
          <p:cNvSpPr txBox="1"/>
          <p:nvPr userDrawn="1"/>
        </p:nvSpPr>
        <p:spPr>
          <a:xfrm>
            <a:off x="858129" y="3098442"/>
            <a:ext cx="1458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6C86B8"/>
                </a:solidFill>
                <a:latin typeface="Montserrat" charset="0"/>
                <a:ea typeface="Montserrat" charset="0"/>
                <a:cs typeface="Montserrat" charset="0"/>
              </a:rPr>
              <a:t>What We Did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27A5A2A-6A75-46BB-A872-3D435F9C8C26}"/>
              </a:ext>
            </a:extLst>
          </p:cNvPr>
          <p:cNvSpPr txBox="1"/>
          <p:nvPr userDrawn="1"/>
        </p:nvSpPr>
        <p:spPr>
          <a:xfrm>
            <a:off x="873603" y="5568668"/>
            <a:ext cx="5517672" cy="314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b="0" i="0" kern="1200" dirty="0" err="1">
                <a:solidFill>
                  <a:schemeClr val="tx1"/>
                </a:solidFill>
                <a:effectLst/>
                <a:latin typeface="Open Sans"/>
                <a:ea typeface="+mn-ea"/>
                <a:cs typeface="+mn-cs"/>
              </a:rPr>
              <a:t>resultsreplace</a:t>
            </a:r>
            <a:endParaRPr lang="en-US" sz="1100" b="0" i="0" kern="1200" dirty="0">
              <a:solidFill>
                <a:schemeClr val="tx1"/>
              </a:solidFill>
              <a:effectLst/>
              <a:latin typeface="Open Sans"/>
              <a:ea typeface="+mn-ea"/>
              <a:cs typeface="+mn-cs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651924A-7907-4360-9ED8-B533D803C21B}"/>
              </a:ext>
            </a:extLst>
          </p:cNvPr>
          <p:cNvSpPr txBox="1"/>
          <p:nvPr userDrawn="1"/>
        </p:nvSpPr>
        <p:spPr>
          <a:xfrm>
            <a:off x="873603" y="5141628"/>
            <a:ext cx="868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6C86B8"/>
                </a:solidFill>
                <a:latin typeface="Montserrat" charset="0"/>
                <a:ea typeface="Montserrat" charset="0"/>
                <a:cs typeface="Montserrat" charset="0"/>
              </a:rPr>
              <a:t>Results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C946A52-3E8A-4AAA-A1F9-52E5356EACA1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604616" y="3578094"/>
            <a:ext cx="4254500" cy="27559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err="1"/>
              <a:t>screenshotplace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ECA3D9A-2ED8-4AE0-ACE4-B53CB627B2D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797646" y="1565275"/>
            <a:ext cx="1781175" cy="1770063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8250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(R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182D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765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 b="0">
                <a:solidFill>
                  <a:schemeClr val="bg1"/>
                </a:solidFill>
                <a:latin typeface="Montserrat"/>
              </a:defRPr>
            </a:lvl1pPr>
          </a:lstStyle>
          <a:p>
            <a:r>
              <a:rPr lang="en-US" dirty="0"/>
              <a:t>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3883256-DDF5-46AA-B364-D5E565E8F2E8}"/>
              </a:ext>
            </a:extLst>
          </p:cNvPr>
          <p:cNvGrpSpPr/>
          <p:nvPr userDrawn="1"/>
        </p:nvGrpSpPr>
        <p:grpSpPr>
          <a:xfrm>
            <a:off x="11251602" y="157052"/>
            <a:ext cx="772469" cy="709254"/>
            <a:chOff x="10255378" y="484095"/>
            <a:chExt cx="1281303" cy="1176448"/>
          </a:xfrm>
          <a:solidFill>
            <a:schemeClr val="bg1"/>
          </a:solidFill>
        </p:grpSpPr>
        <p:sp>
          <p:nvSpPr>
            <p:cNvPr id="13" name="Right Triangle 12">
              <a:extLst>
                <a:ext uri="{FF2B5EF4-FFF2-40B4-BE49-F238E27FC236}">
                  <a16:creationId xmlns:a16="http://schemas.microsoft.com/office/drawing/2014/main" id="{E04258D0-0979-4874-8131-C85BFBF0EBB7}"/>
                </a:ext>
              </a:extLst>
            </p:cNvPr>
            <p:cNvSpPr/>
            <p:nvPr/>
          </p:nvSpPr>
          <p:spPr>
            <a:xfrm rot="10800000">
              <a:off x="10404999" y="484095"/>
              <a:ext cx="1131682" cy="1131682"/>
            </a:xfrm>
            <a:prstGeom prst="rtTriangle">
              <a:avLst/>
            </a:prstGeom>
            <a:solidFill>
              <a:srgbClr val="DD81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B07A057C-BA43-40B3-9FAD-B92F71670524}"/>
                </a:ext>
              </a:extLst>
            </p:cNvPr>
            <p:cNvGrpSpPr/>
            <p:nvPr/>
          </p:nvGrpSpPr>
          <p:grpSpPr>
            <a:xfrm rot="10800000">
              <a:off x="10255378" y="708872"/>
              <a:ext cx="1007690" cy="951671"/>
              <a:chOff x="7625694" y="1771958"/>
              <a:chExt cx="3025379" cy="2857192"/>
            </a:xfrm>
            <a:grpFill/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822D3E89-D469-424A-A98C-AF9147A63662}"/>
                  </a:ext>
                </a:extLst>
              </p:cNvPr>
              <p:cNvSpPr/>
              <p:nvPr/>
            </p:nvSpPr>
            <p:spPr>
              <a:xfrm>
                <a:off x="7632372" y="44389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9BADCFF3-8AD6-42F9-AB8C-375C23E132C8}"/>
                  </a:ext>
                </a:extLst>
              </p:cNvPr>
              <p:cNvSpPr/>
              <p:nvPr/>
            </p:nvSpPr>
            <p:spPr>
              <a:xfrm>
                <a:off x="7648083" y="377220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146CF906-92B7-45FE-A1E0-5AF6E9C4869B}"/>
                  </a:ext>
                </a:extLst>
              </p:cNvPr>
              <p:cNvSpPr/>
              <p:nvPr/>
            </p:nvSpPr>
            <p:spPr>
              <a:xfrm>
                <a:off x="7629033" y="31054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B449BE01-15C6-4A0D-9AF6-4786CA4E9637}"/>
                  </a:ext>
                </a:extLst>
              </p:cNvPr>
              <p:cNvSpPr/>
              <p:nvPr/>
            </p:nvSpPr>
            <p:spPr>
              <a:xfrm>
                <a:off x="7625694" y="243870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3E205D10-1D5E-4D0D-8531-85D8D7946B95}"/>
                  </a:ext>
                </a:extLst>
              </p:cNvPr>
              <p:cNvSpPr/>
              <p:nvPr/>
            </p:nvSpPr>
            <p:spPr>
              <a:xfrm>
                <a:off x="7629033" y="17719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DE2C8FD6-081D-49F6-921D-A381A767C163}"/>
                  </a:ext>
                </a:extLst>
              </p:cNvPr>
              <p:cNvSpPr/>
              <p:nvPr/>
            </p:nvSpPr>
            <p:spPr>
              <a:xfrm>
                <a:off x="8338576" y="4423007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FF9994E3-F742-477B-85AD-302966D65BD7}"/>
                  </a:ext>
                </a:extLst>
              </p:cNvPr>
              <p:cNvSpPr/>
              <p:nvPr/>
            </p:nvSpPr>
            <p:spPr>
              <a:xfrm>
                <a:off x="8354287" y="3756257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1A814A4E-18CD-488A-8AC5-D8D62E7F96F9}"/>
                  </a:ext>
                </a:extLst>
              </p:cNvPr>
              <p:cNvSpPr/>
              <p:nvPr/>
            </p:nvSpPr>
            <p:spPr>
              <a:xfrm>
                <a:off x="8335237" y="3089507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B3949535-A9FF-471C-BF8D-F3C9FB103940}"/>
                  </a:ext>
                </a:extLst>
              </p:cNvPr>
              <p:cNvSpPr/>
              <p:nvPr/>
            </p:nvSpPr>
            <p:spPr>
              <a:xfrm>
                <a:off x="8331898" y="2422757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BA711CF7-5013-4280-856D-919CDF2AA910}"/>
                  </a:ext>
                </a:extLst>
              </p:cNvPr>
              <p:cNvSpPr/>
              <p:nvPr/>
            </p:nvSpPr>
            <p:spPr>
              <a:xfrm>
                <a:off x="9036117" y="44389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BD2D7A54-8F84-484D-8489-7F2DF9C00BCC}"/>
                  </a:ext>
                </a:extLst>
              </p:cNvPr>
              <p:cNvSpPr/>
              <p:nvPr/>
            </p:nvSpPr>
            <p:spPr>
              <a:xfrm>
                <a:off x="9051828" y="377220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43920531-84F3-4DCA-A4C7-1E45B62398A0}"/>
                  </a:ext>
                </a:extLst>
              </p:cNvPr>
              <p:cNvSpPr/>
              <p:nvPr/>
            </p:nvSpPr>
            <p:spPr>
              <a:xfrm>
                <a:off x="9032778" y="31054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8EA3990F-0363-4A77-BABA-C5915D801F32}"/>
                  </a:ext>
                </a:extLst>
              </p:cNvPr>
              <p:cNvSpPr/>
              <p:nvPr/>
            </p:nvSpPr>
            <p:spPr>
              <a:xfrm>
                <a:off x="9755375" y="44389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FDE1E5EB-D396-42F9-9256-14D087571DC3}"/>
                  </a:ext>
                </a:extLst>
              </p:cNvPr>
              <p:cNvSpPr/>
              <p:nvPr/>
            </p:nvSpPr>
            <p:spPr>
              <a:xfrm>
                <a:off x="9771086" y="377220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496CFD1D-C58B-40A8-A745-B76F50F83965}"/>
                  </a:ext>
                </a:extLst>
              </p:cNvPr>
              <p:cNvSpPr/>
              <p:nvPr/>
            </p:nvSpPr>
            <p:spPr>
              <a:xfrm>
                <a:off x="10470714" y="4448791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9665E9BF-B954-4AC7-821E-2E0CD116D915}"/>
              </a:ext>
            </a:extLst>
          </p:cNvPr>
          <p:cNvSpPr/>
          <p:nvPr userDrawn="1"/>
        </p:nvSpPr>
        <p:spPr>
          <a:xfrm>
            <a:off x="4953002" y="988395"/>
            <a:ext cx="7239000" cy="58658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C9A7433-5BCD-4EA6-924A-53FDBF0CAAA6}"/>
              </a:ext>
            </a:extLst>
          </p:cNvPr>
          <p:cNvSpPr txBox="1"/>
          <p:nvPr userDrawn="1"/>
        </p:nvSpPr>
        <p:spPr>
          <a:xfrm>
            <a:off x="5811130" y="2002260"/>
            <a:ext cx="5533147" cy="314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b="0" i="0" kern="1200" dirty="0" err="1">
                <a:solidFill>
                  <a:schemeClr val="tx1"/>
                </a:solidFill>
                <a:effectLst/>
                <a:latin typeface="Open Sans"/>
                <a:ea typeface="+mn-ea"/>
                <a:cs typeface="+mn-cs"/>
              </a:rPr>
              <a:t>challengereplace</a:t>
            </a:r>
            <a:endParaRPr lang="en-US" sz="1100" b="0" i="0" kern="1200" dirty="0">
              <a:solidFill>
                <a:schemeClr val="tx1"/>
              </a:solidFill>
              <a:effectLst/>
              <a:latin typeface="Open Sans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1C0119A-9047-4290-917B-405E19FFDA31}"/>
              </a:ext>
            </a:extLst>
          </p:cNvPr>
          <p:cNvSpPr txBox="1"/>
          <p:nvPr userDrawn="1"/>
        </p:nvSpPr>
        <p:spPr>
          <a:xfrm>
            <a:off x="5811131" y="1575220"/>
            <a:ext cx="1603901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00" b="1" dirty="0">
                <a:solidFill>
                  <a:srgbClr val="6C86B8"/>
                </a:solidFill>
                <a:latin typeface="Montserrat" charset="0"/>
                <a:ea typeface="Montserrat" charset="0"/>
                <a:cs typeface="Montserrat" charset="0"/>
              </a:rPr>
              <a:t>The Challenge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2CD0AFB-BBEB-434B-985F-3ACF7BE51454}"/>
              </a:ext>
            </a:extLst>
          </p:cNvPr>
          <p:cNvSpPr txBox="1"/>
          <p:nvPr userDrawn="1"/>
        </p:nvSpPr>
        <p:spPr>
          <a:xfrm>
            <a:off x="5811130" y="3519578"/>
            <a:ext cx="5533147" cy="314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b="0" i="0" kern="1200" dirty="0" err="1">
                <a:solidFill>
                  <a:schemeClr val="tx1"/>
                </a:solidFill>
                <a:effectLst/>
                <a:latin typeface="Open Sans"/>
                <a:ea typeface="+mn-ea"/>
                <a:cs typeface="+mn-cs"/>
              </a:rPr>
              <a:t>ourworkreplace</a:t>
            </a:r>
            <a:endParaRPr lang="en-US" sz="1100" b="0" i="0" kern="1200" dirty="0">
              <a:solidFill>
                <a:schemeClr val="tx1"/>
              </a:solidFill>
              <a:effectLst/>
              <a:latin typeface="Open Sans"/>
              <a:ea typeface="+mn-ea"/>
              <a:cs typeface="+mn-c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C17F625-2EC2-4F28-895B-03B104D7945A}"/>
              </a:ext>
            </a:extLst>
          </p:cNvPr>
          <p:cNvSpPr txBox="1"/>
          <p:nvPr userDrawn="1"/>
        </p:nvSpPr>
        <p:spPr>
          <a:xfrm>
            <a:off x="5811131" y="3092538"/>
            <a:ext cx="1458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6C86B8"/>
                </a:solidFill>
                <a:latin typeface="Montserrat" charset="0"/>
                <a:ea typeface="Montserrat" charset="0"/>
                <a:cs typeface="Montserrat" charset="0"/>
              </a:rPr>
              <a:t>What We Did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27A5A2A-6A75-46BB-A872-3D435F9C8C26}"/>
              </a:ext>
            </a:extLst>
          </p:cNvPr>
          <p:cNvSpPr txBox="1"/>
          <p:nvPr userDrawn="1"/>
        </p:nvSpPr>
        <p:spPr>
          <a:xfrm>
            <a:off x="5826605" y="5562764"/>
            <a:ext cx="5517672" cy="314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b="0" i="0" kern="1200" dirty="0" err="1">
                <a:solidFill>
                  <a:schemeClr val="tx1"/>
                </a:solidFill>
                <a:effectLst/>
                <a:latin typeface="Open Sans"/>
                <a:ea typeface="+mn-ea"/>
                <a:cs typeface="+mn-cs"/>
              </a:rPr>
              <a:t>resultsreplace</a:t>
            </a:r>
            <a:endParaRPr lang="en-US" sz="1100" b="0" i="0" kern="1200" dirty="0">
              <a:solidFill>
                <a:schemeClr val="tx1"/>
              </a:solidFill>
              <a:effectLst/>
              <a:latin typeface="Open Sans"/>
              <a:ea typeface="+mn-ea"/>
              <a:cs typeface="+mn-cs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651924A-7907-4360-9ED8-B533D803C21B}"/>
              </a:ext>
            </a:extLst>
          </p:cNvPr>
          <p:cNvSpPr txBox="1"/>
          <p:nvPr userDrawn="1"/>
        </p:nvSpPr>
        <p:spPr>
          <a:xfrm>
            <a:off x="5826605" y="5135724"/>
            <a:ext cx="868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6C86B8"/>
                </a:solidFill>
                <a:latin typeface="Montserrat" charset="0"/>
                <a:ea typeface="Montserrat" charset="0"/>
                <a:cs typeface="Montserrat" charset="0"/>
              </a:rPr>
              <a:t>Results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C946A52-3E8A-4AAA-A1F9-52E5356EACA1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81000" y="3550917"/>
            <a:ext cx="4254500" cy="27559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err="1"/>
              <a:t>screenshotplace</a:t>
            </a:r>
            <a:endParaRPr lang="en-US" dirty="0"/>
          </a:p>
        </p:txBody>
      </p:sp>
      <p:sp>
        <p:nvSpPr>
          <p:cNvPr id="37" name="Picture Placeholder 4">
            <a:extLst>
              <a:ext uri="{FF2B5EF4-FFF2-40B4-BE49-F238E27FC236}">
                <a16:creationId xmlns:a16="http://schemas.microsoft.com/office/drawing/2014/main" id="{EB585296-BAA5-41EE-AC7D-F347285C316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615685" y="1531636"/>
            <a:ext cx="1781175" cy="1770063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2904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5A23AB-5C46-FA4A-BF97-1CB175D11720}" type="datetimeFigureOut">
              <a:rPr lang="en-US"/>
              <a:pPr/>
              <a:t>5/28/2024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00B42A-9AC8-E54B-B87E-06913CF81F51}" type="slidenum">
              <a:rPr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889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8" r:id="rId3"/>
    <p:sldLayoutId id="2147483712" r:id="rId4"/>
    <p:sldLayoutId id="214748371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ase (Lef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182D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765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tIns="91440" bIns="91440">
            <a:normAutofit fontScale="90000"/>
          </a:bodyPr>
          <a:lstStyle>
            <a:lvl1pPr>
              <a:defRPr b="0">
                <a:solidFill>
                  <a:schemeClr val="bg1"/>
                </a:solidFill>
                <a:latin typeface="Montserrat"/>
              </a:defRPr>
            </a:lvl1pPr>
          </a:lstStyle>
          <a:p>
            <a:r>
              <a:rPr lang="en-US" dirty="0"/>
              <a:t>Quintiles Dashboard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3883256-DDF5-46AA-B364-D5E565E8F2E8}"/>
              </a:ext>
            </a:extLst>
          </p:cNvPr>
          <p:cNvGrpSpPr/>
          <p:nvPr/>
        </p:nvGrpSpPr>
        <p:grpSpPr>
          <a:xfrm>
            <a:off x="11251602" y="157052"/>
            <a:ext cx="772469" cy="709254"/>
            <a:chOff x="10255378" y="484095"/>
            <a:chExt cx="1281303" cy="1176448"/>
          </a:xfrm>
          <a:solidFill>
            <a:schemeClr val="bg1"/>
          </a:solidFill>
        </p:grpSpPr>
        <p:sp>
          <p:nvSpPr>
            <p:cNvPr id="13" name="Right Triangle 12">
              <a:extLst>
                <a:ext uri="{FF2B5EF4-FFF2-40B4-BE49-F238E27FC236}">
                  <a16:creationId xmlns:a16="http://schemas.microsoft.com/office/drawing/2014/main" id="{E04258D0-0979-4874-8131-C85BFBF0EBB7}"/>
                </a:ext>
              </a:extLst>
            </p:cNvPr>
            <p:cNvSpPr/>
            <p:nvPr/>
          </p:nvSpPr>
          <p:spPr>
            <a:xfrm rot="10800000">
              <a:off x="10404999" y="484095"/>
              <a:ext cx="1131682" cy="1131682"/>
            </a:xfrm>
            <a:prstGeom prst="rtTriangle">
              <a:avLst/>
            </a:prstGeom>
            <a:solidFill>
              <a:srgbClr val="DD81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B07A057C-BA43-40B3-9FAD-B92F71670524}"/>
                </a:ext>
              </a:extLst>
            </p:cNvPr>
            <p:cNvGrpSpPr/>
            <p:nvPr/>
          </p:nvGrpSpPr>
          <p:grpSpPr>
            <a:xfrm rot="10800000">
              <a:off x="10255378" y="708872"/>
              <a:ext cx="1007690" cy="951671"/>
              <a:chOff x="7625694" y="1771958"/>
              <a:chExt cx="3025379" cy="2857192"/>
            </a:xfrm>
            <a:grpFill/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822D3E89-D469-424A-A98C-AF9147A63662}"/>
                  </a:ext>
                </a:extLst>
              </p:cNvPr>
              <p:cNvSpPr/>
              <p:nvPr/>
            </p:nvSpPr>
            <p:spPr>
              <a:xfrm>
                <a:off x="7632372" y="44389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9BADCFF3-8AD6-42F9-AB8C-375C23E132C8}"/>
                  </a:ext>
                </a:extLst>
              </p:cNvPr>
              <p:cNvSpPr/>
              <p:nvPr/>
            </p:nvSpPr>
            <p:spPr>
              <a:xfrm>
                <a:off x="7648083" y="377220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146CF906-92B7-45FE-A1E0-5AF6E9C4869B}"/>
                  </a:ext>
                </a:extLst>
              </p:cNvPr>
              <p:cNvSpPr/>
              <p:nvPr/>
            </p:nvSpPr>
            <p:spPr>
              <a:xfrm>
                <a:off x="7629033" y="31054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B449BE01-15C6-4A0D-9AF6-4786CA4E9637}"/>
                  </a:ext>
                </a:extLst>
              </p:cNvPr>
              <p:cNvSpPr/>
              <p:nvPr/>
            </p:nvSpPr>
            <p:spPr>
              <a:xfrm>
                <a:off x="7625694" y="243870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3E205D10-1D5E-4D0D-8531-85D8D7946B95}"/>
                  </a:ext>
                </a:extLst>
              </p:cNvPr>
              <p:cNvSpPr/>
              <p:nvPr/>
            </p:nvSpPr>
            <p:spPr>
              <a:xfrm>
                <a:off x="7629033" y="17719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DE2C8FD6-081D-49F6-921D-A381A767C163}"/>
                  </a:ext>
                </a:extLst>
              </p:cNvPr>
              <p:cNvSpPr/>
              <p:nvPr/>
            </p:nvSpPr>
            <p:spPr>
              <a:xfrm>
                <a:off x="8338576" y="4423007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FF9994E3-F742-477B-85AD-302966D65BD7}"/>
                  </a:ext>
                </a:extLst>
              </p:cNvPr>
              <p:cNvSpPr/>
              <p:nvPr/>
            </p:nvSpPr>
            <p:spPr>
              <a:xfrm>
                <a:off x="8354287" y="3756257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1A814A4E-18CD-488A-8AC5-D8D62E7F96F9}"/>
                  </a:ext>
                </a:extLst>
              </p:cNvPr>
              <p:cNvSpPr/>
              <p:nvPr/>
            </p:nvSpPr>
            <p:spPr>
              <a:xfrm>
                <a:off x="8335237" y="3089507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B3949535-A9FF-471C-BF8D-F3C9FB103940}"/>
                  </a:ext>
                </a:extLst>
              </p:cNvPr>
              <p:cNvSpPr/>
              <p:nvPr/>
            </p:nvSpPr>
            <p:spPr>
              <a:xfrm>
                <a:off x="8331898" y="2422757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BA711CF7-5013-4280-856D-919CDF2AA910}"/>
                  </a:ext>
                </a:extLst>
              </p:cNvPr>
              <p:cNvSpPr/>
              <p:nvPr/>
            </p:nvSpPr>
            <p:spPr>
              <a:xfrm>
                <a:off x="9036117" y="44389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BD2D7A54-8F84-484D-8489-7F2DF9C00BCC}"/>
                  </a:ext>
                </a:extLst>
              </p:cNvPr>
              <p:cNvSpPr/>
              <p:nvPr/>
            </p:nvSpPr>
            <p:spPr>
              <a:xfrm>
                <a:off x="9051828" y="377220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43920531-84F3-4DCA-A4C7-1E45B62398A0}"/>
                  </a:ext>
                </a:extLst>
              </p:cNvPr>
              <p:cNvSpPr/>
              <p:nvPr/>
            </p:nvSpPr>
            <p:spPr>
              <a:xfrm>
                <a:off x="9032778" y="31054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8EA3990F-0363-4A77-BABA-C5915D801F32}"/>
                  </a:ext>
                </a:extLst>
              </p:cNvPr>
              <p:cNvSpPr/>
              <p:nvPr/>
            </p:nvSpPr>
            <p:spPr>
              <a:xfrm>
                <a:off x="9755375" y="44389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FDE1E5EB-D396-42F9-9256-14D087571DC3}"/>
                  </a:ext>
                </a:extLst>
              </p:cNvPr>
              <p:cNvSpPr/>
              <p:nvPr/>
            </p:nvSpPr>
            <p:spPr>
              <a:xfrm>
                <a:off x="9771086" y="377220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496CFD1D-C58B-40A8-A745-B76F50F83965}"/>
                  </a:ext>
                </a:extLst>
              </p:cNvPr>
              <p:cNvSpPr/>
              <p:nvPr/>
            </p:nvSpPr>
            <p:spPr>
              <a:xfrm>
                <a:off x="10470714" y="4448791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9665E9BF-B954-4AC7-821E-2E0CD116D915}"/>
              </a:ext>
            </a:extLst>
          </p:cNvPr>
          <p:cNvSpPr/>
          <p:nvPr/>
        </p:nvSpPr>
        <p:spPr>
          <a:xfrm>
            <a:off x="0" y="994299"/>
            <a:ext cx="7239000" cy="58658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C9A7433-5BCD-4EA6-924A-53FDBF0CAAA6}"/>
              </a:ext>
            </a:extLst>
          </p:cNvPr>
          <p:cNvSpPr txBox="1"/>
          <p:nvPr/>
        </p:nvSpPr>
        <p:spPr>
          <a:xfrm>
            <a:off x="525215" y="1305348"/>
            <a:ext cx="5533147" cy="235051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dirty="0">
                <a:latin typeface="Open Sans"/>
              </a:rPr>
              <a:t>Quintiles</a:t>
            </a:r>
            <a:r>
              <a:rPr lang="en-US" sz="1100" b="0" i="0" kern="1200" dirty="0">
                <a:effectLst/>
                <a:latin typeface="Open Sans"/>
                <a:ea typeface="+mn-ea"/>
                <a:cs typeface="+mn-cs"/>
              </a:rPr>
              <a:t>, an industry leading Contract Research Organization (CRO), approached </a:t>
            </a:r>
            <a:r>
              <a:rPr lang="en-US" sz="1100" b="0" i="0" kern="1200" dirty="0" err="1">
                <a:effectLst/>
                <a:latin typeface="Open Sans"/>
                <a:ea typeface="+mn-ea"/>
                <a:cs typeface="+mn-cs"/>
              </a:rPr>
              <a:t>Affirma</a:t>
            </a:r>
            <a:r>
              <a:rPr lang="en-US" sz="1100" b="0" i="0" kern="1200" dirty="0">
                <a:effectLst/>
                <a:latin typeface="Open Sans"/>
                <a:ea typeface="+mn-ea"/>
                <a:cs typeface="+mn-cs"/>
              </a:rPr>
              <a:t> with a set of unique challenges. Multiple business units had approached their IT innovations department with concerns that their current tools were unable to keep up with their large-scale data processing demands. Quintiles asked the </a:t>
            </a:r>
            <a:r>
              <a:rPr lang="en-US" sz="1100" b="0" i="0" kern="1200" dirty="0" err="1">
                <a:effectLst/>
                <a:latin typeface="Open Sans"/>
                <a:ea typeface="+mn-ea"/>
                <a:cs typeface="+mn-cs"/>
              </a:rPr>
              <a:t>Affirma</a:t>
            </a:r>
            <a:r>
              <a:rPr lang="en-US" sz="1100" b="0" i="0" kern="1200" dirty="0">
                <a:effectLst/>
                <a:latin typeface="Open Sans"/>
                <a:ea typeface="+mn-ea"/>
                <a:cs typeface="+mn-cs"/>
              </a:rPr>
              <a:t> team to discern critical areas for improvement and to implement the changes needed. </a:t>
            </a:r>
            <a:r>
              <a:rPr lang="en-US" sz="1100" b="0" i="0" kern="1200" dirty="0" err="1">
                <a:effectLst/>
                <a:latin typeface="Open Sans"/>
                <a:ea typeface="+mn-ea"/>
                <a:cs typeface="+mn-cs"/>
              </a:rPr>
              <a:t>Affirma</a:t>
            </a:r>
            <a:r>
              <a:rPr lang="en-US" sz="1100" b="0" i="0" kern="1200" dirty="0">
                <a:effectLst/>
                <a:latin typeface="Open Sans"/>
                <a:ea typeface="+mn-ea"/>
                <a:cs typeface="+mn-cs"/>
              </a:rPr>
              <a:t> identified several core challenges: integrating data contained in disparate locations, enhancing data processing speed and scalability, and optimizing their predictive analytic tools</a:t>
            </a:r>
            <a:r>
              <a:rPr lang="en-US" sz="1100" dirty="0">
                <a:latin typeface="Open Sans"/>
              </a:rPr>
              <a:t>.&lt;</a:t>
            </a:r>
            <a:r>
              <a:rPr lang="en-US" sz="1100" b="0" i="0" kern="1200" dirty="0">
                <a:effectLst/>
                <a:latin typeface="Open Sans"/>
                <a:ea typeface="+mn-ea"/>
                <a:cs typeface="+mn-cs"/>
              </a:rPr>
              <a:t>
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1C0119A-9047-4290-917B-405E19FFDA31}"/>
              </a:ext>
            </a:extLst>
          </p:cNvPr>
          <p:cNvSpPr txBox="1"/>
          <p:nvPr/>
        </p:nvSpPr>
        <p:spPr>
          <a:xfrm>
            <a:off x="525216" y="878308"/>
            <a:ext cx="1603901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00" b="1" dirty="0">
                <a:solidFill>
                  <a:srgbClr val="6C86B8"/>
                </a:solidFill>
                <a:latin typeface="Montserrat" charset="0"/>
                <a:ea typeface="Montserrat" charset="0"/>
                <a:cs typeface="Montserrat" charset="0"/>
              </a:rPr>
              <a:t>The Challenge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2CD0AFB-BBEB-434B-985F-3ACF7BE51454}"/>
              </a:ext>
            </a:extLst>
          </p:cNvPr>
          <p:cNvSpPr txBox="1"/>
          <p:nvPr/>
        </p:nvSpPr>
        <p:spPr>
          <a:xfrm>
            <a:off x="858128" y="3525482"/>
            <a:ext cx="5533147" cy="314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b="0" i="0" kern="1200" dirty="0" err="1">
                <a:solidFill>
                  <a:schemeClr val="tx1"/>
                </a:solidFill>
                <a:effectLst/>
                <a:latin typeface="Open Sans"/>
                <a:ea typeface="+mn-ea"/>
                <a:cs typeface="+mn-cs"/>
              </a:rPr>
              <a:t>&lt;ul&gt;
	&lt;li&gt;Affirma Designed a package that addresses Quintiles&amp;rsquo; primary pain points utilizing .NET, SQL Server 2012, SharePoint, PowerPivot and PowerView.&lt;/li&gt;
	&lt;br /&gt;
	&lt;li&gt;Affirma constructed an umbrella API dashboard to house a multitude of tools.&lt;/li&gt;
	&lt;br /&gt;
	&lt;li&gt;Without leaving the simple, intuitive dashboard interface, users can: access different data sources, display powerful visuals, identify the necessary attributes with an array of upgraded tools, and generate results to support high-impact business units.&lt;/li&gt;
&lt;/ul&gt;
</a:t>
            </a:r>
            <a:endParaRPr lang="en-US" sz="1100" b="0" i="0" kern="1200" dirty="0">
              <a:solidFill>
                <a:schemeClr val="tx1"/>
              </a:solidFill>
              <a:effectLst/>
              <a:latin typeface="Open Sans"/>
              <a:ea typeface="+mn-ea"/>
              <a:cs typeface="+mn-c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C17F625-2EC2-4F28-895B-03B104D7945A}"/>
              </a:ext>
            </a:extLst>
          </p:cNvPr>
          <p:cNvSpPr txBox="1"/>
          <p:nvPr/>
        </p:nvSpPr>
        <p:spPr>
          <a:xfrm>
            <a:off x="858129" y="3098442"/>
            <a:ext cx="1458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6C86B8"/>
                </a:solidFill>
                <a:latin typeface="Montserrat" charset="0"/>
                <a:ea typeface="Montserrat" charset="0"/>
                <a:cs typeface="Montserrat" charset="0"/>
              </a:rPr>
              <a:t>What We Did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27A5A2A-6A75-46BB-A872-3D435F9C8C26}"/>
              </a:ext>
            </a:extLst>
          </p:cNvPr>
          <p:cNvSpPr txBox="1"/>
          <p:nvPr/>
        </p:nvSpPr>
        <p:spPr>
          <a:xfrm>
            <a:off x="6481331" y="1640299"/>
            <a:ext cx="5517672" cy="314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b="0" i="0" kern="1200" dirty="0" err="1">
                <a:solidFill>
                  <a:schemeClr val="tx1"/>
                </a:solidFill>
                <a:effectLst/>
                <a:latin typeface="Open Sans"/>
                <a:ea typeface="+mn-ea"/>
                <a:cs typeface="+mn-cs"/>
              </a:rPr>
              <a:t>&lt;p&gt;Affirma&amp;rsquo;s custom solution not only increases the scalability of existing tools, it also saves users&amp;rsquo; valuable time, and allows for widespread adoption by leveraging a user-friendly interface. The upgraded platform can support multiple business units simultaneously and will be deployable to 100+ project managers in the field for on-the-ground, real-time support.&lt;/p&gt;
</a:t>
            </a:r>
            <a:endParaRPr lang="en-US" sz="1100" b="0" i="0" kern="1200" dirty="0">
              <a:solidFill>
                <a:schemeClr val="tx1"/>
              </a:solidFill>
              <a:effectLst/>
              <a:latin typeface="Open Sans"/>
              <a:ea typeface="+mn-ea"/>
              <a:cs typeface="+mn-cs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651924A-7907-4360-9ED8-B533D803C21B}"/>
              </a:ext>
            </a:extLst>
          </p:cNvPr>
          <p:cNvSpPr txBox="1"/>
          <p:nvPr/>
        </p:nvSpPr>
        <p:spPr>
          <a:xfrm>
            <a:off x="6481331" y="1213259"/>
            <a:ext cx="868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6C86B8"/>
                </a:solidFill>
                <a:latin typeface="Montserrat" charset="0"/>
                <a:ea typeface="Montserrat" charset="0"/>
                <a:cs typeface="Montserrat" charset="0"/>
              </a:rPr>
              <a:t>Results</a:t>
            </a:r>
          </a:p>
        </p:txBody>
      </p:sp>
      <p:pic>
        <p:nvPicPr>
          <p:cNvPr id="4" name="Picture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4616" y="3578094"/>
            <a:ext cx="4254500" cy="2755900"/>
          </a:xfrm>
          <a:prstGeom prst="rect">
            <a:avLst/>
          </a:prstGeom>
        </p:spPr>
      </p:pic>
      <p:pic>
        <p:nvPicPr>
          <p:cNvPr id="3" name="Picture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5724" y="4827819"/>
            <a:ext cx="1781175" cy="1770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8250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uavedigital">
      <a:dk1>
        <a:srgbClr val="242527"/>
      </a:dk1>
      <a:lt1>
        <a:srgbClr val="FFFFFF"/>
      </a:lt1>
      <a:dk2>
        <a:srgbClr val="262626"/>
      </a:dk2>
      <a:lt2>
        <a:srgbClr val="FFFFFF"/>
      </a:lt2>
      <a:accent1>
        <a:srgbClr val="FFC017"/>
      </a:accent1>
      <a:accent2>
        <a:srgbClr val="535353"/>
      </a:accent2>
      <a:accent3>
        <a:srgbClr val="A7A7A7"/>
      </a:accent3>
      <a:accent4>
        <a:srgbClr val="D2DDD9"/>
      </a:accent4>
      <a:accent5>
        <a:srgbClr val="3F3F3F"/>
      </a:accent5>
      <a:accent6>
        <a:srgbClr val="2C2C2C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usinessUnit xmlns="f0ee8362-fa7e-4bc9-ab88-7dcfb17cb19b">
      <Value>Data and Analytics</Value>
    </BusinessUnit>
    <Solutions xmlns="f0ee8362-fa7e-4bc9-ab88-7dcfb17cb19b" xsi:nil="true"/>
    <Industries xmlns="f0ee8362-fa7e-4bc9-ab88-7dcfb17cb19b" xsi:nil="true"/>
    <Notes0 xmlns="f0ee8362-fa7e-4bc9-ab88-7dcfb17cb19b" xsi:nil="true"/>
    <Named_x0020_Account xmlns="f0ee8362-fa7e-4bc9-ab88-7dcfb17cb19b" xsi:nil="true"/>
    <PlatTech xmlns="f0ee8362-fa7e-4bc9-ab88-7dcfb17cb19b" xsi:nil="true"/>
    <ApprovedByClient xmlns="f0ee8362-fa7e-4bc9-ab88-7dcfb17cb19b">false</ApprovedByClient>
    <ProjectCompletionDate xmlns="f0ee8362-fa7e-4bc9-ab88-7dcfb17cb19b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23BCBB7020E34DAE994A365BA94206" ma:contentTypeVersion="12" ma:contentTypeDescription="Create a new document." ma:contentTypeScope="" ma:versionID="b1c940a28d9f7ed7841dd66e388476ed">
  <xsd:schema xmlns:xsd="http://www.w3.org/2001/XMLSchema" xmlns:xs="http://www.w3.org/2001/XMLSchema" xmlns:p="http://schemas.microsoft.com/office/2006/metadata/properties" xmlns:ns2="f0ee8362-fa7e-4bc9-ab88-7dcfb17cb19b" targetNamespace="http://schemas.microsoft.com/office/2006/metadata/properties" ma:root="true" ma:fieldsID="8c9fb4aa225d81f58c6fca2e551d2526" ns2:_="">
    <xsd:import namespace="f0ee8362-fa7e-4bc9-ab88-7dcfb17cb19b"/>
    <xsd:element name="properties">
      <xsd:complexType>
        <xsd:sequence>
          <xsd:element name="documentManagement">
            <xsd:complexType>
              <xsd:all>
                <xsd:element ref="ns2:BusinessUnit" minOccurs="0"/>
                <xsd:element ref="ns2:Industries" minOccurs="0"/>
                <xsd:element ref="ns2:Solutions" minOccurs="0"/>
                <xsd:element ref="ns2:PlatTech" minOccurs="0"/>
                <xsd:element ref="ns2:Notes0" minOccurs="0"/>
                <xsd:element ref="ns2:Named_x0020_Account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ProjectCompletionDate" minOccurs="0"/>
                <xsd:element ref="ns2:ApprovedByCli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ee8362-fa7e-4bc9-ab88-7dcfb17cb19b" elementFormDefault="qualified">
    <xsd:import namespace="http://schemas.microsoft.com/office/2006/documentManagement/types"/>
    <xsd:import namespace="http://schemas.microsoft.com/office/infopath/2007/PartnerControls"/>
    <xsd:element name="BusinessUnit" ma:index="8" nillable="true" ma:displayName="Business Unit" ma:internalName="BusinessUnit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Business Process Outsourcing"/>
                    <xsd:enumeration value="Content and Change Management"/>
                    <xsd:enumeration value="Creative"/>
                    <xsd:enumeration value="Custom Development"/>
                    <xsd:enumeration value="Customer Relationship Management"/>
                    <xsd:enumeration value="Data and Analytics"/>
                    <xsd:enumeration value="Engagement Marketing"/>
                    <xsd:enumeration value="Infrastructure"/>
                    <xsd:enumeration value="Marketing Services"/>
                    <xsd:enumeration value="Modern Workplace"/>
                    <xsd:enumeration value="NetSuite"/>
                  </xsd:restriction>
                </xsd:simpleType>
              </xsd:element>
            </xsd:sequence>
          </xsd:extension>
        </xsd:complexContent>
      </xsd:complexType>
    </xsd:element>
    <xsd:element name="Industries" ma:index="9" nillable="true" ma:displayName="Industries" ma:format="Dropdown" ma:internalName="Industri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erospace"/>
                    <xsd:enumeration value="Agriculture"/>
                    <xsd:enumeration value="Agriculture Food"/>
                    <xsd:enumeration value="AI / AI Models"/>
                    <xsd:enumeration value="B2B"/>
                    <xsd:enumeration value="B2C"/>
                    <xsd:enumeration value="Chemical"/>
                    <xsd:enumeration value="Construction"/>
                    <xsd:enumeration value="Defence"/>
                    <xsd:enumeration value="Education"/>
                    <xsd:enumeration value="Energy"/>
                    <xsd:enumeration value="Engineering"/>
                    <xsd:enumeration value="Entertainment"/>
                    <xsd:enumeration value="Financial Services"/>
                    <xsd:enumeration value="Food"/>
                    <xsd:enumeration value="Government"/>
                    <xsd:enumeration value="Healthcare"/>
                    <xsd:enumeration value="Hospitality"/>
                    <xsd:enumeration value="Legal"/>
                    <xsd:enumeration value="Life Sciences"/>
                    <xsd:enumeration value="Manufacturing"/>
                    <xsd:enumeration value="Media"/>
                    <xsd:enumeration value="Non-Profit"/>
                    <xsd:enumeration value="Real Estate"/>
                    <xsd:enumeration value="Retail"/>
                    <xsd:enumeration value="Services"/>
                    <xsd:enumeration value="Technology"/>
                    <xsd:enumeration value="Telecommunications"/>
                    <xsd:enumeration value="Transportation"/>
                    <xsd:enumeration value="Water"/>
                    <xsd:enumeration value="Wellness"/>
                    <xsd:enumeration value="BPO"/>
                  </xsd:restriction>
                </xsd:simpleType>
              </xsd:element>
            </xsd:sequence>
          </xsd:extension>
        </xsd:complexContent>
      </xsd:complexType>
    </xsd:element>
    <xsd:element name="Solutions" ma:index="10" nillable="true" ma:displayName="Solutions" ma:format="Dropdown" ma:internalName="Solution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BM Marketing"/>
                    <xsd:enumeration value="AI"/>
                    <xsd:enumeration value="Audit"/>
                    <xsd:enumeration value="Change Management"/>
                    <xsd:enumeration value="Cloud"/>
                    <xsd:enumeration value="Configurations"/>
                    <xsd:enumeration value="Content"/>
                    <xsd:enumeration value="Customer &amp; Partner Support BPO"/>
                    <xsd:enumeration value="Customer / Partner Portal"/>
                    <xsd:enumeration value="Custom Search"/>
                    <xsd:enumeration value="Cybersecurity"/>
                    <xsd:enumeration value="Data Analytics"/>
                    <xsd:enumeration value="Design"/>
                    <xsd:enumeration value="Email Campaigns"/>
                    <xsd:enumeration value="Event support"/>
                    <xsd:enumeration value="HelpDesk Outsourcing BPO"/>
                    <xsd:enumeration value="Integrations"/>
                    <xsd:enumeration value="Intranet / Extranet"/>
                    <xsd:enumeration value="IoT"/>
                    <xsd:enumeration value="Link Building"/>
                    <xsd:enumeration value="Marketing Automation"/>
                    <xsd:enumeration value="Marketing Strategy"/>
                    <xsd:enumeration value="Marketing Technology"/>
                    <xsd:enumeration value="Migrations"/>
                    <xsd:enumeration value="Mobile Application"/>
                    <xsd:enumeration value="Organic Social Media"/>
                    <xsd:enumeration value="PPC"/>
                    <xsd:enumeration value="Personas &amp; Journey Mapping"/>
                    <xsd:enumeration value="Process Automation"/>
                    <xsd:enumeration value="Product Development"/>
                    <xsd:enumeration value="Research"/>
                    <xsd:enumeration value="SEO/ AEO"/>
                    <xsd:enumeration value="SPFx"/>
                    <xsd:enumeration value="Training"/>
                    <xsd:enumeration value="UX/ UI Design"/>
                    <xsd:enumeration value="Video Production"/>
                    <xsd:enumeration value="Webinars"/>
                    <xsd:enumeration value="Websites"/>
                    <xsd:enumeration value="DevOps"/>
                  </xsd:restriction>
                </xsd:simpleType>
              </xsd:element>
            </xsd:sequence>
          </xsd:extension>
        </xsd:complexContent>
      </xsd:complexType>
    </xsd:element>
    <xsd:element name="PlatTech" ma:index="11" nillable="true" ma:displayName="Platform / Technology" ma:format="Dropdown" ma:internalName="PlatTech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.NET"/>
                    <xsd:enumeration value="Android App"/>
                    <xsd:enumeration value="AWS"/>
                    <xsd:enumeration value="Angular"/>
                    <xsd:enumeration value="Azure"/>
                    <xsd:enumeration value="Azure DevOps"/>
                    <xsd:enumeration value="Boomi"/>
                    <xsd:enumeration value="Drupal"/>
                    <xsd:enumeration value="Dynamics"/>
                    <xsd:enumeration value="Flutter"/>
                    <xsd:enumeration value="GCP"/>
                    <xsd:enumeration value="Google"/>
                    <xsd:enumeration value="Great Plains"/>
                    <xsd:enumeration value="Hootsuite"/>
                    <xsd:enumeration value="HubSpot"/>
                    <xsd:enumeration value="iOS App"/>
                    <xsd:enumeration value="Java"/>
                    <xsd:enumeration value="Kentico"/>
                    <xsd:enumeration value="Looker Studio"/>
                    <xsd:enumeration value="Mobile App"/>
                    <xsd:enumeration value="Marketo / Adobe"/>
                    <xsd:enumeration value="NetSuite"/>
                    <xsd:enumeration value="O365"/>
                    <xsd:enumeration value="OneDrive"/>
                    <xsd:enumeration value="PowerSuite"/>
                    <xsd:enumeration value="Power BI"/>
                    <xsd:enumeration value="QuickBooks"/>
                    <xsd:enumeration value="React"/>
                    <xsd:enumeration value="React Native"/>
                    <xsd:enumeration value="Sage"/>
                    <xsd:enumeration value="Salesforce"/>
                    <xsd:enumeration value="Salesforce Experience Cloud"/>
                    <xsd:enumeration value="Salesforce Marketing Cloud"/>
                    <xsd:enumeration value="Salesforce CPQ"/>
                    <xsd:enumeration value="Salesforce Pardot"/>
                    <xsd:enumeration value="SharePoint"/>
                    <xsd:enumeration value="Shopify"/>
                    <xsd:enumeration value="Sitecore"/>
                    <xsd:enumeration value="Sitefinity"/>
                    <xsd:enumeration value="Snowflake"/>
                    <xsd:enumeration value="Sprinklr"/>
                    <xsd:enumeration value="SproutSocial"/>
                    <xsd:enumeration value="Tableau"/>
                    <xsd:enumeration value="WP Engine"/>
                    <xsd:enumeration value="Webflow"/>
                    <xsd:enumeration value="WooCommerce"/>
                    <xsd:enumeration value="WordPress"/>
                    <xsd:enumeration value="Zoho"/>
                    <xsd:enumeration value="Power Apps"/>
                    <xsd:enumeration value="Teams"/>
                    <xsd:enumeration value="Azure Data Factory"/>
                    <xsd:enumeration value="Zendesk"/>
                    <xsd:enumeration value="Business Central"/>
                    <xsd:enumeration value="Viva"/>
                  </xsd:restriction>
                </xsd:simpleType>
              </xsd:element>
            </xsd:sequence>
          </xsd:extension>
        </xsd:complexContent>
      </xsd:complexType>
    </xsd:element>
    <xsd:element name="Notes0" ma:index="12" nillable="true" ma:displayName="Notes" ma:internalName="Notes0">
      <xsd:simpleType>
        <xsd:restriction base="dms:Text">
          <xsd:maxLength value="255"/>
        </xsd:restriction>
      </xsd:simpleType>
    </xsd:element>
    <xsd:element name="Named_x0020_Account" ma:index="13" nillable="true" ma:displayName="Named Account" ma:format="Dropdown" ma:internalName="Named_x0020_Account">
      <xsd:simpleType>
        <xsd:restriction base="dms:Choice">
          <xsd:enumeration value="Microsoft"/>
          <xsd:enumeration value="Meta"/>
          <xsd:enumeration value="Amazon"/>
        </xsd:restriction>
      </xsd:simpleType>
    </xsd:element>
    <xsd:element name="MediaServiceMetadata" ma:index="14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ProjectCompletionDate" ma:index="18" nillable="true" ma:displayName="Project Completion Date" ma:format="DateOnly" ma:internalName="ProjectCompletionDate">
      <xsd:simpleType>
        <xsd:restriction base="dms:DateTime"/>
      </xsd:simpleType>
    </xsd:element>
    <xsd:element name="ApprovedByClient" ma:index="19" nillable="true" ma:displayName="Approved By Client" ma:default="0" ma:format="Dropdown" ma:internalName="ApprovedByClient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customXsn xmlns="http://schemas.microsoft.com/office/2006/metadata/customXsn">
  <xsnLocation/>
  <cached>True</cached>
  <openByDefault>False</openByDefault>
  <xsnScope/>
</customXsn>
</file>

<file path=customXml/itemProps1.xml><?xml version="1.0" encoding="utf-8"?>
<ds:datastoreItem xmlns:ds="http://schemas.openxmlformats.org/officeDocument/2006/customXml" ds:itemID="{860C6936-7119-469C-ADF3-32E41E26FC9B}">
  <ds:schemaRefs>
    <ds:schemaRef ds:uri="http://schemas.microsoft.com/office/2006/metadata/properties"/>
    <ds:schemaRef ds:uri="http://schemas.microsoft.com/office/infopath/2007/PartnerControls"/>
    <ds:schemaRef ds:uri="f205c2cf-faee-43e7-95df-8aa62e5feae0"/>
  </ds:schemaRefs>
</ds:datastoreItem>
</file>

<file path=customXml/itemProps2.xml><?xml version="1.0" encoding="utf-8"?>
<ds:datastoreItem xmlns:ds="http://schemas.openxmlformats.org/officeDocument/2006/customXml" ds:itemID="{256988E5-0C23-44EF-8BB0-4A191E14471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C4BAB18-2281-44C6-844A-43E251F58A32}"/>
</file>

<file path=customXml/itemProps4.xml><?xml version="1.0" encoding="utf-8"?>
<ds:datastoreItem xmlns:ds="http://schemas.openxmlformats.org/officeDocument/2006/customXml" ds:itemID="{0BECC8FD-1844-4672-A1D1-E6B801C71B1B}">
  <ds:schemaRefs>
    <ds:schemaRef ds:uri="http://schemas.microsoft.com/office/2006/metadata/customXsn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4899</TotalTime>
  <Words>322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Quintiles Dashboard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Scot Reynolds</cp:lastModifiedBy>
  <cp:revision>585</cp:revision>
  <dcterms:created xsi:type="dcterms:W3CDTF">2019-05-16T20:37:16Z</dcterms:created>
  <dcterms:modified xsi:type="dcterms:W3CDTF">2024-05-28T16:50:22Z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0x0101000D23BCBB7020E34DAE994A365BA94206</vt:lpwstr>
  </property>
  <property fmtid="{D5CDD505-2E9C-101B-9397-08002B2CF9AE}" pid="3" name="Business Unit">
    <vt:lpwstr>37;#Custom Dev|c994e55d-3bae-4645-b49b-e2e1105953e3</vt:lpwstr>
  </property>
  <property fmtid="{D5CDD505-2E9C-101B-9397-08002B2CF9AE}" pid="4" name="Category">
    <vt:lpwstr>6;#Case Study|8faa0ad1-25f0-4f56-8e38-f60e20c455d6</vt:lpwstr>
  </property>
  <property fmtid="{D5CDD505-2E9C-101B-9397-08002B2CF9AE}" pid="5" name="Industry">
    <vt:lpwstr>49;#Technology|9fd4705e-a3c7-4085-9147-cb1125b68f2c</vt:lpwstr>
  </property>
  <property fmtid="{D5CDD505-2E9C-101B-9397-08002B2CF9AE}" pid="6" name="Service_x0020_Offering">
    <vt:lpwstr/>
  </property>
  <property fmtid="{D5CDD505-2E9C-101B-9397-08002B2CF9AE}" pid="7" name="_ExtendedDescription">
    <vt:lpwstr/>
  </property>
  <property fmtid="{D5CDD505-2E9C-101B-9397-08002B2CF9AE}" pid="8" name="Service Offering">
    <vt:lpwstr/>
  </property>
  <property fmtid="{D5CDD505-2E9C-101B-9397-08002B2CF9AE}" pid="9" name="Business_x0020_Unit">
    <vt:lpwstr>37;#Custom Dev|c994e55d-3bae-4645-b49b-e2e1105953e3</vt:lpwstr>
  </property>
  <property fmtid="{D5CDD505-2E9C-101B-9397-08002B2CF9AE}" pid="10" name="Order">
    <vt:r8>23400</vt:r8>
  </property>
  <property fmtid="{D5CDD505-2E9C-101B-9397-08002B2CF9AE}" pid="11" name="xd_Signature">
    <vt:bool>false</vt:bool>
  </property>
  <property fmtid="{D5CDD505-2E9C-101B-9397-08002B2CF9AE}" pid="12" name="SO">
    <vt:lpwstr>8;#</vt:lpwstr>
  </property>
  <property fmtid="{D5CDD505-2E9C-101B-9397-08002B2CF9AE}" pid="13" name="xd_ProgID">
    <vt:lpwstr/>
  </property>
  <property fmtid="{D5CDD505-2E9C-101B-9397-08002B2CF9AE}" pid="14" name="_SourceUrl">
    <vt:lpwstr/>
  </property>
  <property fmtid="{D5CDD505-2E9C-101B-9397-08002B2CF9AE}" pid="15" name="_SharedFileIndex">
    <vt:lpwstr/>
  </property>
  <property fmtid="{D5CDD505-2E9C-101B-9397-08002B2CF9AE}" pid="16" name="ComplianceAssetId">
    <vt:lpwstr/>
  </property>
  <property fmtid="{D5CDD505-2E9C-101B-9397-08002B2CF9AE}" pid="17" name="TemplateUrl">
    <vt:lpwstr/>
  </property>
  <property fmtid="{D5CDD505-2E9C-101B-9397-08002B2CF9AE}" pid="18" name="TriggerFlowInfo">
    <vt:lpwstr/>
  </property>
</Properties>
</file>