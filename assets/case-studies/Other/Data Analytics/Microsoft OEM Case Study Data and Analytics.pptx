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  <p:sldMasterId id="2147483685" r:id="rId6"/>
  </p:sldMasterIdLst>
  <p:notesMasterIdLst>
    <p:notesMasterId r:id="rId8"/>
  </p:notesMasterIdLst>
  <p:sldIdLst>
    <p:sldId id="169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yler Cunningham" initials="TC" lastIdx="2" clrIdx="0">
    <p:extLst>
      <p:ext uri="{19B8F6BF-5375-455C-9EA6-DF929625EA0E}">
        <p15:presenceInfo xmlns:p15="http://schemas.microsoft.com/office/powerpoint/2012/main" userId="9f52036d9629095a" providerId="Windows Live"/>
      </p:ext>
    </p:extLst>
  </p:cmAuthor>
  <p:cmAuthor id="2" name="Alyssa Gordon" initials="AG" lastIdx="2" clrIdx="1">
    <p:extLst>
      <p:ext uri="{19B8F6BF-5375-455C-9EA6-DF929625EA0E}">
        <p15:presenceInfo xmlns:p15="http://schemas.microsoft.com/office/powerpoint/2012/main" userId="Alyssa Gord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80"/>
    <a:srgbClr val="0095A9"/>
    <a:srgbClr val="009999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E13C7B-2901-45A1-9AA7-8917139AD3C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55D56F-8540-49F9-906C-7A38E9D46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721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086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7250D75-7553-4A5E-96D1-BEF9FEFD3719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39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CD85BB0-B111-4C36-B69E-019192233AD6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6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C836D16-7FC7-409B-BD21-951E7B5AB5EC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09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9539721-D1B3-4CA1-8D22-C423F6BDAF43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83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C90B9FE-AA17-411F-844B-4BC6F3E80453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385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B17EF52-A0AF-4307-9D69-2EA05607F8E6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43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0181616-08F3-4117-881A-EB706A02F5D7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97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73E4A4A-BA23-440B-B988-8768BF964836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011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E18A6B3-1C1B-45D5-96B3-6F5A4D1417E8}" type="datetime1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727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629D846-2C05-4E33-A4DE-71F2825063A5}" type="datetime1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18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652A21B-1FF2-4448-AA9D-98C4990FC69B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20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1B5C6BC-32F4-4CFA-A545-F306DAECBEA0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071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FF8775C-0AEC-4112-B754-B8796A38A6A4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918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2A053E4F-F7AF-46BF-BD71-B8902347FEBE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424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E0FCFD7-5E21-48FC-8C37-BA9F095288FE}" type="datetime1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953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B2B5F6A-21EE-46BC-A7DD-01C40568D01A}" type="datetime1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0668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0652250-374A-4561-9314-A93F726D62CF}" type="datetime1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5339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7C61889-CF6F-4A70-9DC4-42CD89E8B49D}" type="datetime1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01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3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765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D8DA18F-6B39-42CA-92A9-E76BAB88B092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2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404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27881A6-7BB2-43C6-8B5D-B2B8F99C50AD}" type="datetime1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281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22DC9037-4D3B-4123-AEFB-4E701DB377FC}" type="datetime1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8145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BF1FD72-A122-4279-AAC8-205E6E5B32F4}" type="datetime1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303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37">
                <a:latin typeface="Segoe UI" panose="020B0502040204020203" pitchFamily="34" charset="0"/>
              </a:defRPr>
            </a:lvl1pPr>
            <a:lvl2pPr marL="448267" indent="0">
              <a:buNone/>
              <a:defRPr sz="2745"/>
            </a:lvl2pPr>
            <a:lvl3pPr marL="896533" indent="0">
              <a:buNone/>
              <a:defRPr sz="2353"/>
            </a:lvl3pPr>
            <a:lvl4pPr marL="1344800" indent="0">
              <a:buNone/>
              <a:defRPr sz="1961"/>
            </a:lvl4pPr>
            <a:lvl5pPr marL="1793067" indent="0">
              <a:buNone/>
              <a:defRPr sz="1961"/>
            </a:lvl5pPr>
            <a:lvl6pPr marL="2241334" indent="0">
              <a:buNone/>
              <a:defRPr sz="1961"/>
            </a:lvl6pPr>
            <a:lvl7pPr marL="2689600" indent="0">
              <a:buNone/>
              <a:defRPr sz="1961"/>
            </a:lvl7pPr>
            <a:lvl8pPr marL="3137867" indent="0">
              <a:buNone/>
              <a:defRPr sz="1961"/>
            </a:lvl8pPr>
            <a:lvl9pPr marL="3586133" indent="0">
              <a:buNone/>
              <a:defRPr sz="1961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569">
                <a:latin typeface="Segoe UI" panose="020B0502040204020203" pitchFamily="34" charset="0"/>
              </a:defRPr>
            </a:lvl1pPr>
            <a:lvl2pPr marL="448267" indent="0">
              <a:buNone/>
              <a:defRPr sz="1372"/>
            </a:lvl2pPr>
            <a:lvl3pPr marL="896533" indent="0">
              <a:buNone/>
              <a:defRPr sz="1177"/>
            </a:lvl3pPr>
            <a:lvl4pPr marL="1344800" indent="0">
              <a:buNone/>
              <a:defRPr sz="981"/>
            </a:lvl4pPr>
            <a:lvl5pPr marL="1793067" indent="0">
              <a:buNone/>
              <a:defRPr sz="981"/>
            </a:lvl5pPr>
            <a:lvl6pPr marL="2241334" indent="0">
              <a:buNone/>
              <a:defRPr sz="981"/>
            </a:lvl6pPr>
            <a:lvl7pPr marL="2689600" indent="0">
              <a:buNone/>
              <a:defRPr sz="981"/>
            </a:lvl7pPr>
            <a:lvl8pPr marL="3137867" indent="0">
              <a:buNone/>
              <a:defRPr sz="981"/>
            </a:lvl8pPr>
            <a:lvl9pPr marL="3586133" indent="0">
              <a:buNone/>
              <a:defRPr sz="98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D35BABC-078B-410D-B685-7C02D64FA7B1}" type="datetime1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901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5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46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D8A3274-5AE1-4857-92E6-89252A071E31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749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CB8E284-18B1-44E7-B0A4-A94AA83FAB1C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22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1AAC2C3-4DF7-47EC-AF4B-F9A86F1E6041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52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EFD2604-A947-4E63-B678-9AAE66462316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297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AC6ACEF-9BDA-48D5-9719-F90E925B8580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2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0F62A5C-AB5F-4F94-AB4A-C8F6A222BE07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61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61" r="10573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3438FDB-853C-478A-A982-8A1C5283EB0B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0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5095463-50DD-4181-8539-00D57B60D3B8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618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A39E96D-C9D3-4012-B2DB-8B856B3207BB}" type="datetime1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1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62E461A-3CF3-4B2F-AA09-25062A27D5AA}" type="datetime1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76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DAFB64A-DC22-4A45-B0AE-4C903EEE4F6E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440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0F21EB7-6794-4C57-B91E-0057A6464395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541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12F3E46-C125-4CF1-BEB6-178A8AE72BBE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600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1B62785-88C3-45AB-8F97-5DE48B5E2BA3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971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1FE13BC-FDB5-4A2A-90B0-5DAB49476AE0}" type="datetime1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8318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121E84C-86D5-4930-B2F2-BA882A69F833}" type="datetime1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359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7D6B618-D54D-4ED6-BAAA-5DC3344322CE}" type="datetime1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43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AB6741A-4C56-451F-8B5F-FA072C72F4AE}" type="datetime1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543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3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765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0128C64-01E5-4D7B-B186-27F3B07DBAE7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2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713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CBC291D-9454-4C31-A131-B12069E780F3}" type="datetime1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7995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65B3ACA-4E35-4ABD-97B8-EFE337BF71DF}" type="datetime1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9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2A371E4E-ED25-48E9-8B02-E14C9FF4465E}" type="datetime1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224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37">
                <a:latin typeface="Segoe UI" panose="020B0502040204020203" pitchFamily="34" charset="0"/>
              </a:defRPr>
            </a:lvl1pPr>
            <a:lvl2pPr marL="448267" indent="0">
              <a:buNone/>
              <a:defRPr sz="2745"/>
            </a:lvl2pPr>
            <a:lvl3pPr marL="896533" indent="0">
              <a:buNone/>
              <a:defRPr sz="2353"/>
            </a:lvl3pPr>
            <a:lvl4pPr marL="1344800" indent="0">
              <a:buNone/>
              <a:defRPr sz="1961"/>
            </a:lvl4pPr>
            <a:lvl5pPr marL="1793067" indent="0">
              <a:buNone/>
              <a:defRPr sz="1961"/>
            </a:lvl5pPr>
            <a:lvl6pPr marL="2241334" indent="0">
              <a:buNone/>
              <a:defRPr sz="1961"/>
            </a:lvl6pPr>
            <a:lvl7pPr marL="2689600" indent="0">
              <a:buNone/>
              <a:defRPr sz="1961"/>
            </a:lvl7pPr>
            <a:lvl8pPr marL="3137867" indent="0">
              <a:buNone/>
              <a:defRPr sz="1961"/>
            </a:lvl8pPr>
            <a:lvl9pPr marL="3586133" indent="0">
              <a:buNone/>
              <a:defRPr sz="1961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569">
                <a:latin typeface="Segoe UI" panose="020B0502040204020203" pitchFamily="34" charset="0"/>
              </a:defRPr>
            </a:lvl1pPr>
            <a:lvl2pPr marL="448267" indent="0">
              <a:buNone/>
              <a:defRPr sz="1372"/>
            </a:lvl2pPr>
            <a:lvl3pPr marL="896533" indent="0">
              <a:buNone/>
              <a:defRPr sz="1177"/>
            </a:lvl3pPr>
            <a:lvl4pPr marL="1344800" indent="0">
              <a:buNone/>
              <a:defRPr sz="981"/>
            </a:lvl4pPr>
            <a:lvl5pPr marL="1793067" indent="0">
              <a:buNone/>
              <a:defRPr sz="981"/>
            </a:lvl5pPr>
            <a:lvl6pPr marL="2241334" indent="0">
              <a:buNone/>
              <a:defRPr sz="981"/>
            </a:lvl6pPr>
            <a:lvl7pPr marL="2689600" indent="0">
              <a:buNone/>
              <a:defRPr sz="981"/>
            </a:lvl7pPr>
            <a:lvl8pPr marL="3137867" indent="0">
              <a:buNone/>
              <a:defRPr sz="981"/>
            </a:lvl8pPr>
            <a:lvl9pPr marL="3586133" indent="0">
              <a:buNone/>
              <a:defRPr sz="98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1D74826-6138-4DA0-A362-61D91F41967E}" type="datetime1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5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60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603A4B16-B594-4B68-A523-EF13282AD819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33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1961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569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B0D14AE7-F338-4DF3-B2C4-D3B9373CDE9D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81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1961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569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8F94-B25D-4165-A05B-C919FE12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Microsoft OEM – Managed Service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9E51CA-34FE-44FC-83B4-5C73C0CC1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80" y="1462016"/>
            <a:ext cx="5531221" cy="215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300"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defTabSz="117157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defTabSz="117157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defTabSz="117157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defTabSz="117157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en-US" sz="2333" b="1">
                <a:solidFill>
                  <a:srgbClr val="0096A9"/>
                </a:solidFill>
                <a:cs typeface="Segoe UI" panose="020B0502040204020203" pitchFamily="34" charset="0"/>
              </a:rPr>
              <a:t>Business Need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500">
                <a:solidFill>
                  <a:srgbClr val="000000"/>
                </a:solidFill>
                <a:ea typeface="MS Mincho" panose="02020609040205080304" pitchFamily="49" charset="-128"/>
                <a:cs typeface="Segoe UI" panose="020B0502040204020203" pitchFamily="34" charset="0"/>
              </a:rPr>
              <a:t>In April of FY17, Affirma was notified by MSFT that their existing vendor had “given notice” and was ending their engagement with MSFT – an annual spend of $4.7M.  Affirma was asked to take over the entire book of business, with a transition timeline of 7-weeks and zero impact to the OEM business.</a:t>
            </a:r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3B354950-7624-4D67-A5C5-A122534B8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0564" y="1307873"/>
            <a:ext cx="3099628" cy="134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14F0F6C-5C39-4A88-A315-886DF6B460EB}"/>
              </a:ext>
            </a:extLst>
          </p:cNvPr>
          <p:cNvSpPr/>
          <p:nvPr/>
        </p:nvSpPr>
        <p:spPr>
          <a:xfrm>
            <a:off x="564780" y="3762820"/>
            <a:ext cx="5880274" cy="2436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333" b="1">
                <a:solidFill>
                  <a:srgbClr val="0096A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We Did</a:t>
            </a:r>
          </a:p>
          <a:p>
            <a:pPr marL="151270" indent="-151270" defTabSz="976845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sz="1500">
                <a:solidFill>
                  <a:prstClr val="black"/>
                </a:solidFill>
                <a:ea typeface="MS Mincho" panose="02020609040205080304" pitchFamily="49" charset="-128"/>
                <a:cs typeface="Segoe UI" panose="020B0502040204020203" pitchFamily="34" charset="0"/>
              </a:rPr>
              <a:t>Established a full team to support application development, solution architecture design, business process support, reporting and data analysis. </a:t>
            </a:r>
          </a:p>
          <a:p>
            <a:pPr marL="151270" indent="-151270" defTabSz="976845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sz="1500">
                <a:solidFill>
                  <a:prstClr val="black"/>
                </a:solidFill>
                <a:ea typeface="MS Mincho" panose="02020609040205080304" pitchFamily="49" charset="-128"/>
                <a:cs typeface="Segoe UI" panose="020B0502040204020203" pitchFamily="34" charset="0"/>
              </a:rPr>
              <a:t>Brought India-based development team to the US to engage directly with onshore team members and accelerate onboarding. </a:t>
            </a:r>
          </a:p>
          <a:p>
            <a:pPr marL="151270" indent="-151270" defTabSz="976845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sz="1500">
                <a:solidFill>
                  <a:prstClr val="black"/>
                </a:solidFill>
                <a:ea typeface="MS Mincho" panose="02020609040205080304" pitchFamily="49" charset="-128"/>
                <a:cs typeface="Segoe UI" panose="020B0502040204020203" pitchFamily="34" charset="0"/>
              </a:rPr>
              <a:t>Identified areas of redundancy, inefficiency and lack of automation across very manual processes.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1EEDD5-ED62-447B-B064-49CEB25325BD}"/>
              </a:ext>
            </a:extLst>
          </p:cNvPr>
          <p:cNvSpPr txBox="1"/>
          <p:nvPr/>
        </p:nvSpPr>
        <p:spPr>
          <a:xfrm>
            <a:off x="6830565" y="2582614"/>
            <a:ext cx="3628934" cy="137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7" b="1"/>
              <a:t>Team Size: </a:t>
            </a:r>
            <a:r>
              <a:rPr lang="en-US" sz="1667"/>
              <a:t>30</a:t>
            </a:r>
            <a:endParaRPr lang="en-US" sz="1667" b="1"/>
          </a:p>
          <a:p>
            <a:r>
              <a:rPr lang="en-US" sz="1667" b="1"/>
              <a:t>Location: </a:t>
            </a:r>
            <a:r>
              <a:rPr lang="en-US" sz="1667"/>
              <a:t>Seattle, India, Reno, Dublin</a:t>
            </a:r>
            <a:endParaRPr lang="en-US" sz="1667" b="1"/>
          </a:p>
          <a:p>
            <a:r>
              <a:rPr lang="en-US" sz="1667" b="1"/>
              <a:t>Duration: </a:t>
            </a:r>
            <a:r>
              <a:rPr lang="en-US" sz="1667"/>
              <a:t>April 2017 to Present</a:t>
            </a:r>
          </a:p>
          <a:p>
            <a:r>
              <a:rPr lang="en-US" sz="1667" b="1"/>
              <a:t>Industry:  </a:t>
            </a:r>
            <a:r>
              <a:rPr lang="en-US" sz="1667"/>
              <a:t>High Tech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A398D164-E564-4EED-9185-AA29408BC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3228" y="3762820"/>
            <a:ext cx="5021792" cy="2498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defTabSz="117157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defTabSz="117157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defTabSz="117157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defTabSz="117157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en-US" altLang="en-US" sz="2667" b="1">
                <a:solidFill>
                  <a:srgbClr val="0096A9"/>
                </a:solidFill>
                <a:cs typeface="Segoe UI" panose="020B0502040204020203" pitchFamily="34" charset="0"/>
              </a:rPr>
              <a:t>Ongoing Partnership</a:t>
            </a:r>
          </a:p>
          <a:p>
            <a:pPr marL="238115" indent="-23811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500">
                <a:solidFill>
                  <a:srgbClr val="000000"/>
                </a:solidFill>
                <a:ea typeface="MS Mincho" panose="02020609040205080304" pitchFamily="49" charset="-128"/>
                <a:cs typeface="Segoe UI" panose="020B0502040204020203" pitchFamily="34" charset="0"/>
              </a:rPr>
              <a:t>Transition was seamless - Senior Executives within Operations praised the transition and acknowledged that there was zero impact between FY17 and FY18.</a:t>
            </a:r>
            <a:endParaRPr lang="en-US" sz="1333">
              <a:solidFill>
                <a:prstClr val="black"/>
              </a:solidFill>
              <a:ea typeface="MS Mincho" panose="02020609040205080304" pitchFamily="49" charset="-128"/>
              <a:cs typeface="Segoe UI" panose="020B0502040204020203" pitchFamily="34" charset="0"/>
            </a:endParaRPr>
          </a:p>
          <a:p>
            <a:pPr marL="238115" indent="-23811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500">
                <a:solidFill>
                  <a:srgbClr val="000000"/>
                </a:solidFill>
                <a:ea typeface="MS Mincho" panose="02020609040205080304" pitchFamily="49" charset="-128"/>
                <a:cs typeface="Segoe UI" panose="020B0502040204020203" pitchFamily="34" charset="0"/>
              </a:rPr>
              <a:t>Team of 25-30 including Developers, Solution Architects, Project Managers, Business/Data Analysts. </a:t>
            </a:r>
          </a:p>
          <a:p>
            <a:pPr marL="238115" indent="-23811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500">
                <a:solidFill>
                  <a:srgbClr val="000000"/>
                </a:solidFill>
                <a:ea typeface="MS Mincho" panose="02020609040205080304" pitchFamily="49" charset="-128"/>
                <a:cs typeface="Segoe UI" panose="020B0502040204020203" pitchFamily="34" charset="0"/>
              </a:rPr>
              <a:t>Full support across business process management, DevOps, and ad-hoc project based work.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90F21F-5231-4CE8-A09C-B2E32CFC0DA4}"/>
              </a:ext>
            </a:extLst>
          </p:cNvPr>
          <p:cNvSpPr/>
          <p:nvPr/>
        </p:nvSpPr>
        <p:spPr>
          <a:xfrm>
            <a:off x="10749643" y="6356805"/>
            <a:ext cx="798286" cy="269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49D3E9-6CA1-4E00-86B5-A0A1801FF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0DB5-B054-4B52-B27D-446721D6CC2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7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2.xml><?xml version="1.0" encoding="utf-8"?>
<a:theme xmlns:a="http://schemas.openxmlformats.org/drawingml/2006/main" name="1_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 Development</Value>
    </BusinessUnit>
    <Solutions xmlns="f0ee8362-fa7e-4bc9-ab88-7dcfb17cb19b">
      <Value>Cloud</Value>
      <Value>Data Analytics</Value>
    </Solutions>
    <Industries xmlns="f0ee8362-fa7e-4bc9-ab88-7dcfb17cb19b">
      <Value>Technology</Value>
    </Industries>
    <Notes0 xmlns="f0ee8362-fa7e-4bc9-ab88-7dcfb17cb19b" xsi:nil="true"/>
    <Named_x0020_Account xmlns="f0ee8362-fa7e-4bc9-ab88-7dcfb17cb19b">Microsoft</Named_x0020_Account>
    <PlatTech xmlns="f0ee8362-fa7e-4bc9-ab88-7dcfb17cb19b" xsi:nil="true"/>
    <ProjectCompletionDate xmlns="f0ee8362-fa7e-4bc9-ab88-7dcfb17cb19b" xsi:nil="true"/>
    <ApprovedByClient xmlns="f0ee8362-fa7e-4bc9-ab88-7dcfb17cb19b">false</ApprovedByClient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709FE7-376F-4A7D-8E41-21401DC73F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014591-30CA-479F-9897-FEA025516237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62D0ED6F-D576-42C3-AEBC-3C510B1B75FA}">
  <ds:schemaRefs>
    <ds:schemaRef ds:uri="http://purl.org/dc/terms/"/>
    <ds:schemaRef ds:uri="http://schemas.openxmlformats.org/package/2006/metadata/core-properties"/>
    <ds:schemaRef ds:uri="71857362-e859-42cd-ad67-04a31c75c61a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a9c1caf8-ba89-4b3a-8920-418e9c808c28"/>
    <ds:schemaRef ds:uri="http://www.w3.org/XML/1998/namespace"/>
    <ds:schemaRef ds:uri="http://purl.org/dc/dcmitype/"/>
    <ds:schemaRef ds:uri="f0ee8362-fa7e-4bc9-ab88-7dcfb17cb19b"/>
  </ds:schemaRefs>
</ds:datastoreItem>
</file>

<file path=customXml/itemProps4.xml><?xml version="1.0" encoding="utf-8"?>
<ds:datastoreItem xmlns:ds="http://schemas.openxmlformats.org/officeDocument/2006/customXml" ds:itemID="{349B079A-5054-43B6-9BD3-91FE8733FE0D}"/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207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Custom Design</vt:lpstr>
      <vt:lpstr>1_Custom Design</vt:lpstr>
      <vt:lpstr>Microsoft OEM – Managed Service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OEM Case Study Data and Analytics</dc:title>
  <dc:creator>Kelsey Hurter</dc:creator>
  <cp:lastModifiedBy>Alyssa Gordon</cp:lastModifiedBy>
  <cp:revision>2</cp:revision>
  <dcterms:created xsi:type="dcterms:W3CDTF">2019-01-29T00:09:09Z</dcterms:created>
  <dcterms:modified xsi:type="dcterms:W3CDTF">2025-09-18T15:43:28Z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TemplateUrl">
    <vt:lpwstr/>
  </property>
  <property fmtid="{D5CDD505-2E9C-101B-9397-08002B2CF9AE}" pid="6" name="ComplianceAsset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Business Unit">
    <vt:lpwstr/>
  </property>
  <property fmtid="{D5CDD505-2E9C-101B-9397-08002B2CF9AE}" pid="10" name="Industry">
    <vt:lpwstr>49;#Technology|9fd4705e-a3c7-4085-9147-cb1125b68f2c</vt:lpwstr>
  </property>
  <property fmtid="{D5CDD505-2E9C-101B-9397-08002B2CF9AE}" pid="11" name="Service_x0020_Offering">
    <vt:lpwstr/>
  </property>
  <property fmtid="{D5CDD505-2E9C-101B-9397-08002B2CF9AE}" pid="12" name="Business_x0020_Unit">
    <vt:lpwstr/>
  </property>
  <property fmtid="{D5CDD505-2E9C-101B-9397-08002B2CF9AE}" pid="13" name="_ExtendedDescription">
    <vt:lpwstr/>
  </property>
  <property fmtid="{D5CDD505-2E9C-101B-9397-08002B2CF9AE}" pid="14" name="Service Offering">
    <vt:lpwstr/>
  </property>
  <property fmtid="{D5CDD505-2E9C-101B-9397-08002B2CF9AE}" pid="15" name="Category">
    <vt:lpwstr>6;#Case Study|8faa0ad1-25f0-4f56-8e38-f60e20c455d6</vt:lpwstr>
  </property>
  <property fmtid="{D5CDD505-2E9C-101B-9397-08002B2CF9AE}" pid="16" name="Order">
    <vt:r8>54800</vt:r8>
  </property>
  <property fmtid="{D5CDD505-2E9C-101B-9397-08002B2CF9AE}" pid="17" name="SO">
    <vt:lpwstr>7;#;#8;#</vt:lpwstr>
  </property>
  <property fmtid="{D5CDD505-2E9C-101B-9397-08002B2CF9AE}" pid="18" name="TriggerFlowInfo">
    <vt:lpwstr/>
  </property>
</Properties>
</file>