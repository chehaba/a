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147469713" r:id="rId2"/>
    <p:sldId id="2076138915" r:id="rId3"/>
    <p:sldId id="2076138916" r:id="rId4"/>
    <p:sldId id="214746971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AA6F6-D0F3-45C1-93DA-462CC039452E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199E0-929F-4A7A-AEF6-F97E39BD0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4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8CC9F-995B-DFF3-48FA-AD6516333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04DB1-CD8C-3257-209B-15784BD7B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559F9-BB1C-32C8-7109-2A4307B42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9C1D-6143-FBD6-EA9C-E939D68C7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1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35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5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4081-14AE-83BB-EDE2-5D7A0C3B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3647C-228F-6826-F321-C8AE05B00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89125-AA3C-F8F5-7973-7901DB25D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29ACA-B038-200B-79A0-E3077E75FA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32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5D2F-7498-B000-6592-D748770C3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261D9-BA27-59DF-F56D-1B179A3D0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CFD31-479C-0650-8348-46243DC32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C776D-2684-BE1B-9036-FEDA9A743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26956-2C6A-15E8-ADA8-488B86EF4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92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DA60-5B8A-FCC9-3EF5-DDE66685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C0677-886F-26D2-6BED-97405A9A1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970F3-07D5-88D7-49FA-2408D312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5994E-8340-0FAD-BC35-967B18A0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A67E-0371-0ACE-82C8-B212E03CD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8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7E36-6891-8B7B-58BB-526E9F016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C1224-EA98-A2E0-DB79-9B64B3C57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A7D95-8A7A-9653-CC12-BB05DA79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7CB75-FB9E-442C-69E6-3150E98F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14259-F3CA-3552-FE09-99A2E9E6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1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0BA72-E034-63C5-AA87-9AD1F61E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D2075-26C1-AC00-BD82-069911374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050A6-D96C-BE13-05B6-0CE157CEC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0A3F3-55B6-08B4-2A4B-4708275F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1B03D-5E4F-B160-619B-8BC867AB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5F1F-CF30-6929-7F91-1FCA078C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6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0D53-D726-BD0A-510C-1222C7AB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97C2B-E7C9-E039-5C08-3CBD4BF5D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2228-94FA-BEA9-E9B4-E847539B6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4D9BB6-155E-75A4-4E20-587596672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6BCAC4-C6E2-E837-30F6-2B9AD1E59D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842068-D061-D65A-3029-31B52A80A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B93CB-4A1A-F917-EDD7-7DF096DCB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54D7B-4C20-15BE-118B-BEFC2294A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7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3C60-9780-0E3B-87A9-13D0FC03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C8921-3910-53C6-F865-BD56BCA4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EDD81-80F7-33A0-B91C-107B5C34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AA717-2FD0-ADD7-ACD8-9BB2C61BB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0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7DB2D8-4BE4-40FC-F45F-619E96769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8EB81-4B9A-617E-847B-5A464889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7A1EA-4BBA-5A03-3B74-9C57A9EE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4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05AF-834C-6EC3-6506-1B7C6856E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5A86-58A6-C9FE-8559-EF78010E1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E6992-C4BF-6ADB-47D3-562D2D413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1DE80-8B3D-AA8E-BE75-B0E88AA5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5ADCB-994A-5E0C-14AB-E6D576FC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55EB5-866A-B825-A3BB-A67885FEF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86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C3920-D462-0230-3D4F-63E7760E8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AACFC-2079-EC9D-293B-2F2FD9E83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1D673-D641-D581-3B0D-D0A6942F1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1490A-46A3-9500-70BD-EFCDDDA9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9C422-B83B-A53B-06EA-CF1C22A9E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83AA7-EED7-49BD-D0C2-5BD8CE78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1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666A-BB95-0524-1980-991256B4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6F1C6-9A36-943A-4BDD-DD6C73EED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CC19B-811B-F5C7-434B-F66CA6AA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B57BF-0855-105E-96AE-FF3380E6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EDFB-B9BF-67BF-DEF8-B280472E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8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53C43-CBE7-D7C2-A8C9-3CD615264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2E327-3F9C-A15A-A11E-E414C573A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9858B-3760-77E8-90DE-B34B08DD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CDA08-8669-0608-4B9C-C9722E5B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621C4-7D75-88FC-0BEA-3CE0BB5E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12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US"/>
              <a:t>Placeholder for Title</a:t>
            </a:r>
          </a:p>
        </p:txBody>
      </p:sp>
    </p:spTree>
    <p:extLst>
      <p:ext uri="{BB962C8B-B14F-4D97-AF65-F5344CB8AC3E}">
        <p14:creationId xmlns:p14="http://schemas.microsoft.com/office/powerpoint/2010/main" val="42929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3 column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7C179EF3-84AF-4B42-A726-322932765E3F}"/>
              </a:ext>
            </a:extLst>
          </p:cNvPr>
          <p:cNvSpPr/>
          <p:nvPr userDrawn="1"/>
        </p:nvSpPr>
        <p:spPr>
          <a:xfrm>
            <a:off x="7900406" y="1366187"/>
            <a:ext cx="4291594" cy="5486400"/>
          </a:xfrm>
          <a:prstGeom prst="rect">
            <a:avLst/>
          </a:prstGeom>
          <a:solidFill>
            <a:srgbClr val="CBECF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69BEEA7-F88D-4847-BB1A-3E6E13B9C13B}"/>
              </a:ext>
            </a:extLst>
          </p:cNvPr>
          <p:cNvSpPr/>
          <p:nvPr userDrawn="1"/>
        </p:nvSpPr>
        <p:spPr>
          <a:xfrm>
            <a:off x="1" y="1366185"/>
            <a:ext cx="4291589" cy="5486400"/>
          </a:xfrm>
          <a:prstGeom prst="rect">
            <a:avLst/>
          </a:prstGeom>
          <a:solidFill>
            <a:srgbClr val="CBECF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US"/>
              <a:t>Placeholder for Title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70A6AF-807C-F74F-B71F-8CD220CE4929}"/>
              </a:ext>
            </a:extLst>
          </p:cNvPr>
          <p:cNvCxnSpPr>
            <a:cxnSpLocks/>
          </p:cNvCxnSpPr>
          <p:nvPr userDrawn="1"/>
        </p:nvCxnSpPr>
        <p:spPr>
          <a:xfrm>
            <a:off x="603284" y="6227596"/>
            <a:ext cx="10985432" cy="0"/>
          </a:xfrm>
          <a:prstGeom prst="line">
            <a:avLst/>
          </a:prstGeom>
          <a:ln w="12700">
            <a:solidFill>
              <a:srgbClr val="063A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9A2973F-6F11-AD4B-84B4-A397A1178C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DDED9791-A6F6-2745-A243-DC04C40D00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1402" y="3198973"/>
            <a:ext cx="2766222" cy="2062070"/>
          </a:xfr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fer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A63C1B90-1119-6242-ADB3-40C684BBD3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1402" y="2805435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333" b="1" i="0">
                <a:solidFill>
                  <a:srgbClr val="008AD9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D2F39BAD-B589-8E41-B129-AE60DD904D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12889" y="3198973"/>
            <a:ext cx="2766222" cy="2062070"/>
          </a:xfr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936D419-3C55-FD41-8349-AC0BB51C6D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12889" y="2805435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333" b="1" i="0">
                <a:solidFill>
                  <a:srgbClr val="008AD9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EE9314D-F062-DF49-AAC2-78633EB18B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9264" y="3198973"/>
            <a:ext cx="2766222" cy="2062070"/>
          </a:xfrm>
        </p:spPr>
        <p:txBody>
          <a:bodyPr anchor="t">
            <a:noAutofit/>
          </a:bodyPr>
          <a:lstStyle>
            <a:lvl1pPr marL="0" indent="0" algn="l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</a:t>
            </a:r>
            <a:r>
              <a:rPr lang="en-US"/>
              <a:t> men </a:t>
            </a:r>
            <a:r>
              <a:rPr lang="en-US" err="1"/>
              <a:t>ieb</a:t>
            </a:r>
            <a:r>
              <a:rPr lang="en-US"/>
              <a:t> 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</a:t>
            </a:r>
            <a:r>
              <a:rPr lang="en-US" err="1"/>
              <a:t>ut</a:t>
            </a:r>
            <a:r>
              <a:rPr lang="en-US"/>
              <a:t> pharetra exe. Pre fermentum, </a:t>
            </a:r>
            <a:r>
              <a:rPr lang="en-US" err="1"/>
              <a:t>turp</a:t>
            </a:r>
            <a:r>
              <a:rPr lang="en-US"/>
              <a:t> is </a:t>
            </a:r>
            <a:r>
              <a:rPr lang="en-US" err="1"/>
              <a:t>nec</a:t>
            </a:r>
            <a:r>
              <a:rPr lang="en-US"/>
              <a:t>. Nam pharetra ex. </a:t>
            </a:r>
            <a:r>
              <a:rPr lang="en-US" err="1"/>
              <a:t>Praes</a:t>
            </a:r>
            <a:r>
              <a:rPr lang="en-US"/>
              <a:t> </a:t>
            </a:r>
            <a:r>
              <a:rPr lang="en-US" err="1"/>
              <a:t>ent</a:t>
            </a:r>
            <a:r>
              <a:rPr lang="en-US"/>
              <a:t> </a:t>
            </a:r>
            <a:r>
              <a:rPr lang="en-US" err="1"/>
              <a:t>fermen</a:t>
            </a:r>
            <a:r>
              <a:rPr lang="en-US"/>
              <a:t> tum.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5D1AA5BB-4440-CE4F-BF2E-7E19378ECF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9264" y="2805435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333" b="1" i="0">
                <a:solidFill>
                  <a:srgbClr val="008AD9"/>
                </a:solidFill>
                <a:latin typeface="Poppins SemiBold" pitchFamily="2" charset="77"/>
                <a:cs typeface="Poppins SemiBold" pitchFamily="2" charset="77"/>
              </a:defRPr>
            </a:lvl1pPr>
            <a:lvl2pPr marL="457182" indent="0" algn="ctr">
              <a:buNone/>
              <a:defRPr sz="18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800"/>
            </a:lvl4pPr>
            <a:lvl5pPr marL="1828727" indent="0" algn="ctr">
              <a:buNone/>
              <a:defRPr sz="1800"/>
            </a:lvl5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2E601D4E-4E80-5A43-BF67-EF9DFB1FE75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92325" y="1838728"/>
            <a:ext cx="692150" cy="69215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85CC719B-EF0C-7443-BB93-159DBAE7A12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49925" y="1838728"/>
            <a:ext cx="692150" cy="69215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4D6721-FC1E-A044-83E8-08A4BBF3DC2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466300" y="1838728"/>
            <a:ext cx="692150" cy="69215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09061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1"/>
            <a:ext cx="6096002" cy="509320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E22CA-CCD0-734A-932E-AF573C2B98B7}"/>
              </a:ext>
            </a:extLst>
          </p:cNvPr>
          <p:cNvSpPr/>
          <p:nvPr userDrawn="1"/>
        </p:nvSpPr>
        <p:spPr>
          <a:xfrm>
            <a:off x="6095998" y="5093208"/>
            <a:ext cx="6096002" cy="1764793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5" y="388389"/>
            <a:ext cx="5492714" cy="764390"/>
          </a:xfr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1" y="365239"/>
            <a:ext cx="38099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7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650A9-D1FE-7F4E-A1C9-FF16CE20B16F}"/>
              </a:ext>
            </a:extLst>
          </p:cNvPr>
          <p:cNvSpPr txBox="1"/>
          <p:nvPr userDrawn="1"/>
        </p:nvSpPr>
        <p:spPr>
          <a:xfrm>
            <a:off x="6479967" y="5292459"/>
            <a:ext cx="15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RESULTS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6" y="5968238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1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1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1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30" y="5951878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82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545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7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178974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04A0FC-DF44-F9FD-EA6D-759777EE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26561-2216-5180-0C65-4EE34F7ED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AAC51-B946-1777-ADAE-7B9A99E51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07DC7F-D091-4DC4-A84B-6B24DE909917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C03C2-27E9-193A-323A-96C99DB7E7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C1F7A-22B7-52D4-F349-C1809614C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134A5B-000A-4F9B-A149-1431D025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0FFEF-1D75-0DF4-4B3A-192F6AFF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0954E-7847-7186-D296-F8138E0C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05DB28-E407-2B4F-9BC3-26D260DCF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88389"/>
            <a:ext cx="10985432" cy="764390"/>
          </a:xfrm>
        </p:spPr>
        <p:txBody>
          <a:bodyPr>
            <a:normAutofit/>
          </a:bodyPr>
          <a:lstStyle/>
          <a:p>
            <a:r>
              <a:rPr lang="en-US"/>
              <a:t>SELCO Credit Union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1E9E0E-4B5A-F841-FC62-A8FDDCB73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0" t="16196" r="3065"/>
          <a:stretch/>
        </p:blipFill>
        <p:spPr>
          <a:xfrm>
            <a:off x="1249325" y="1780333"/>
            <a:ext cx="10030046" cy="4829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B3F03B-6862-672D-BA95-64D8DC7EEE8C}"/>
              </a:ext>
            </a:extLst>
          </p:cNvPr>
          <p:cNvSpPr txBox="1"/>
          <p:nvPr/>
        </p:nvSpPr>
        <p:spPr>
          <a:xfrm>
            <a:off x="1249325" y="1471162"/>
            <a:ext cx="8114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>
                <a:solidFill>
                  <a:srgbClr val="4472C4"/>
                </a:solidFill>
                <a:latin typeface="Poppins SemiBold" pitchFamily="2" charset="77"/>
                <a:cs typeface="Poppins SemiBold" pitchFamily="2" charset="77"/>
              </a:rPr>
              <a:t>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494CB0-FB7A-B181-E65E-337CCB0FEB9F}"/>
              </a:ext>
            </a:extLst>
          </p:cNvPr>
          <p:cNvSpPr txBox="1"/>
          <p:nvPr/>
        </p:nvSpPr>
        <p:spPr>
          <a:xfrm>
            <a:off x="5360581" y="1471162"/>
            <a:ext cx="6591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>
                <a:solidFill>
                  <a:srgbClr val="4472C4"/>
                </a:solidFill>
                <a:latin typeface="Poppins SemiBold" pitchFamily="2" charset="77"/>
                <a:cs typeface="Poppins SemiBold" pitchFamily="2" charset="77"/>
              </a:rPr>
              <a:t>After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598ACE-B635-2C71-1100-AE709AFBD9D5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FD8370-5FD4-B96B-EFC4-C68EEF10B6B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555512" y="1739968"/>
            <a:ext cx="6267179" cy="4909988"/>
            <a:chOff x="6666614" y="2087961"/>
            <a:chExt cx="7520615" cy="589198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DBDAD3-7279-ABE0-8B3F-97A6BFF1F0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66614" y="2087961"/>
              <a:ext cx="6974958" cy="273274"/>
            </a:xfrm>
            <a:prstGeom prst="rect">
              <a:avLst/>
            </a:prstGeom>
            <a:solidFill>
              <a:srgbClr val="F2F5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B4A43AD-05E9-0D4B-33D2-D0E72926D5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637582" y="2134726"/>
              <a:ext cx="1156390" cy="2437273"/>
            </a:xfrm>
            <a:prstGeom prst="rect">
              <a:avLst/>
            </a:prstGeom>
            <a:solidFill>
              <a:srgbClr val="F2F5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AB173A0-7F9F-383E-CBA9-83D19D59F7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66614" y="7505700"/>
              <a:ext cx="6974958" cy="474246"/>
            </a:xfrm>
            <a:prstGeom prst="rect">
              <a:avLst/>
            </a:prstGeom>
            <a:solidFill>
              <a:srgbClr val="F2F5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1E8B8B4-1CE7-C897-5C63-3A6960F8BD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66614" y="7289058"/>
              <a:ext cx="4925311" cy="273274"/>
            </a:xfrm>
            <a:prstGeom prst="rect">
              <a:avLst/>
            </a:prstGeom>
            <a:solidFill>
              <a:srgbClr val="F2F5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B825145-5A70-A1F5-EEFD-8F9CDFB3CE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030839" y="4556127"/>
              <a:ext cx="1156390" cy="3051173"/>
            </a:xfrm>
            <a:prstGeom prst="rect">
              <a:avLst/>
            </a:prstGeom>
            <a:solidFill>
              <a:srgbClr val="F2F5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253905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D9DACB-0FD7-419B-903B-F973D3A8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6FD114A-D238-9367-DD28-1106A3A59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88389"/>
            <a:ext cx="10985432" cy="764390"/>
          </a:xfrm>
        </p:spPr>
        <p:txBody>
          <a:bodyPr anchor="ctr"/>
          <a:lstStyle/>
          <a:p>
            <a:r>
              <a:rPr lang="en-US"/>
              <a:t>SELCO Credit Union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1E54A1A-37EE-350A-0099-A6DA89AD23D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51719" y="3198813"/>
            <a:ext cx="2766218" cy="2764281"/>
          </a:xfrm>
        </p:spPr>
        <p:txBody>
          <a:bodyPr/>
          <a:lstStyle/>
          <a:p>
            <a:r>
              <a:rPr lang="en-US"/>
              <a:t>Dated generic design that didn’t differentiate or align to customer needs</a:t>
            </a:r>
          </a:p>
          <a:p>
            <a:r>
              <a:rPr lang="en-US"/>
              <a:t>Low customer satisfaction for digital ecosystem</a:t>
            </a:r>
          </a:p>
          <a:p>
            <a:r>
              <a:rPr lang="en-US"/>
              <a:t>Poor SEO rankings</a:t>
            </a:r>
          </a:p>
          <a:p>
            <a:r>
              <a:rPr lang="en-US"/>
              <a:t>No research-based understanding of customer base</a:t>
            </a:r>
          </a:p>
          <a:p>
            <a:r>
              <a:rPr lang="en-US"/>
              <a:t>High volume of web-driven inbound support calls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C93764-AFCD-B266-9B10-20418AA2369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51402" y="2805435"/>
            <a:ext cx="2766222" cy="368461"/>
          </a:xfrm>
        </p:spPr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988579-40FC-674F-3CB4-6061614B70B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12229" y="3198813"/>
            <a:ext cx="2767542" cy="2764281"/>
          </a:xfrm>
        </p:spPr>
        <p:txBody>
          <a:bodyPr/>
          <a:lstStyle/>
          <a:p>
            <a:r>
              <a:rPr lang="en-US"/>
              <a:t>Development of new Digital Brand</a:t>
            </a:r>
          </a:p>
          <a:p>
            <a:r>
              <a:rPr lang="en-US"/>
              <a:t>Heuristic evaluations and competitor research</a:t>
            </a:r>
          </a:p>
          <a:p>
            <a:r>
              <a:rPr lang="en-US"/>
              <a:t>Extensive user research, surveys, interviews, focus groups, interaction studies, journey mapping</a:t>
            </a:r>
          </a:p>
          <a:p>
            <a:r>
              <a:rPr lang="en-US"/>
              <a:t>SEO Research + Content Evaluation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0873D1-9022-2B34-1088-FD8C93A502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12889" y="2805435"/>
            <a:ext cx="2766222" cy="368461"/>
          </a:xfrm>
        </p:spPr>
        <p:txBody>
          <a:bodyPr/>
          <a:lstStyle/>
          <a:p>
            <a:r>
              <a:rPr lang="en-US"/>
              <a:t>Process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F11C1BA-5818-3FE9-C80F-BD8A66E49F9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29264" y="3198973"/>
            <a:ext cx="2766222" cy="2062070"/>
          </a:xfrm>
        </p:spPr>
        <p:txBody>
          <a:bodyPr/>
          <a:lstStyle/>
          <a:p>
            <a:r>
              <a:rPr lang="en-US"/>
              <a:t>Launch of new digital brand, with positive customer sentiment.</a:t>
            </a:r>
          </a:p>
          <a:p>
            <a:r>
              <a:rPr lang="en-US"/>
              <a:t>Defined customer journey </a:t>
            </a:r>
          </a:p>
          <a:p>
            <a:r>
              <a:rPr lang="en-US"/>
              <a:t>Drastically improved SEO rankings</a:t>
            </a:r>
          </a:p>
          <a:p>
            <a:r>
              <a:rPr lang="en-US"/>
              <a:t>Significant decrease in inbound customer service calls related to challenges with online experiences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D68C1F3-CAF5-5A3A-4A80-C37E53112F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429264" y="2805435"/>
            <a:ext cx="2766222" cy="368461"/>
          </a:xfrm>
        </p:spPr>
        <p:txBody>
          <a:bodyPr/>
          <a:lstStyle/>
          <a:p>
            <a:r>
              <a:rPr lang="en-US"/>
              <a:t>Outcome</a:t>
            </a:r>
          </a:p>
        </p:txBody>
      </p:sp>
      <p:pic>
        <p:nvPicPr>
          <p:cNvPr id="4" name="Picture Placeholder 3" descr="Rating 1 Star outline">
            <a:extLst>
              <a:ext uri="{FF2B5EF4-FFF2-40B4-BE49-F238E27FC236}">
                <a16:creationId xmlns:a16="http://schemas.microsoft.com/office/drawing/2014/main" id="{5CE821AD-88F9-2146-C525-58ECE8E58813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92325" y="1838728"/>
            <a:ext cx="692150" cy="692150"/>
          </a:xfrm>
        </p:spPr>
      </p:pic>
      <p:pic>
        <p:nvPicPr>
          <p:cNvPr id="22" name="Picture Placeholder 21" descr="Flowchart outline">
            <a:extLst>
              <a:ext uri="{FF2B5EF4-FFF2-40B4-BE49-F238E27FC236}">
                <a16:creationId xmlns:a16="http://schemas.microsoft.com/office/drawing/2014/main" id="{4CAABC3E-E887-9E97-2265-9395CDF19D35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95" b="95"/>
          <a:stretch/>
        </p:blipFill>
        <p:spPr>
          <a:xfrm>
            <a:off x="5749925" y="1838728"/>
            <a:ext cx="692150" cy="692150"/>
          </a:xfrm>
        </p:spPr>
      </p:pic>
      <p:pic>
        <p:nvPicPr>
          <p:cNvPr id="28" name="Picture Placeholder 19" descr="Business Growth outline">
            <a:extLst>
              <a:ext uri="{FF2B5EF4-FFF2-40B4-BE49-F238E27FC236}">
                <a16:creationId xmlns:a16="http://schemas.microsoft.com/office/drawing/2014/main" id="{E8F2A476-D684-7301-2387-AA480F68507D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466300" y="1838728"/>
            <a:ext cx="692150" cy="69215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5A6692-B18C-20A2-6E6C-C3AAD64FDE75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3823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BDDBBD-2F9C-8E0B-819B-55D49612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D40C2C-E272-28B3-C591-CBD7C00CE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5" y="388389"/>
            <a:ext cx="5492714" cy="764390"/>
          </a:xfrm>
        </p:spPr>
        <p:txBody>
          <a:bodyPr>
            <a:normAutofit/>
          </a:bodyPr>
          <a:lstStyle/>
          <a:p>
            <a:r>
              <a:rPr lang="en-US"/>
              <a:t>SELCO Credit Union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CF282-D341-9F94-9EE8-11EA891AFC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9967" y="5569457"/>
            <a:ext cx="1523417" cy="383287"/>
          </a:xfrm>
        </p:spPr>
        <p:txBody>
          <a:bodyPr/>
          <a:lstStyle/>
          <a:p>
            <a:r>
              <a:rPr lang="en-US" dirty="0"/>
              <a:t>119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C399AA-879C-88EE-0246-1897866BBB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70838"/>
            <a:ext cx="5065448" cy="4774653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en-US"/>
              <a:t>SELCO Credit Union is an Oregon based financial institution that was looking to expand their footprint, grow their user base, improve their end-to-end digital experiences, and SEO. To begin, we first needed to understand their customer base.</a:t>
            </a:r>
          </a:p>
          <a:p>
            <a:pPr>
              <a:lnSpc>
                <a:spcPct val="125000"/>
              </a:lnSpc>
            </a:pPr>
            <a:r>
              <a:rPr lang="en-US"/>
              <a:t>We gathered relevant, actionable insights on SELCO’s customer base. Distilled and presented our findings to SELCO’s board that informed and guided the roadmap of their digital experience overhaul.</a:t>
            </a:r>
          </a:p>
          <a:p>
            <a:pPr>
              <a:lnSpc>
                <a:spcPct val="125000"/>
              </a:lnSpc>
            </a:pPr>
            <a:r>
              <a:rPr lang="en-US" b="1"/>
              <a:t>What we did</a:t>
            </a:r>
          </a:p>
          <a:p>
            <a:pPr marL="238115" indent="-23811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/>
              <a:t>Heuristic evaluation of all digital systems</a:t>
            </a:r>
          </a:p>
          <a:p>
            <a:pPr marL="238115" indent="-23811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/>
              <a:t>Stakeholder interviews</a:t>
            </a:r>
          </a:p>
          <a:p>
            <a:pPr marL="238115" indent="-23811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/>
              <a:t>User journey mapping with focus on jobs-to-be-done, and how they flow together as a whole.</a:t>
            </a:r>
          </a:p>
          <a:p>
            <a:pPr marL="238115" indent="-23811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/>
              <a:t>Detailed user research plan and expected outcomes.</a:t>
            </a:r>
          </a:p>
          <a:p>
            <a:pPr marL="238115" indent="-23811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/>
              <a:t>Scheduling, recruitment, and creation of testing materials and scripts.</a:t>
            </a:r>
          </a:p>
          <a:p>
            <a:pPr marL="238115" indent="-23811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/>
              <a:t>Execution of remote and in-person research, including surveys, tree testing, and observational testing with existing designs.</a:t>
            </a:r>
          </a:p>
          <a:p>
            <a:pPr marL="238115" indent="-23811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/>
              <a:t>Analysis and report creation for all user research conducted.</a:t>
            </a:r>
          </a:p>
          <a:p>
            <a:pPr marL="238115" indent="-23811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/>
              <a:t>Final presentation to board members describing all work conducted and the value to their institution.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3EA777-FD71-C4F5-B49B-818A7CAFD0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9966" y="5968238"/>
            <a:ext cx="1507897" cy="471961"/>
          </a:xfrm>
        </p:spPr>
        <p:txBody>
          <a:bodyPr/>
          <a:lstStyle/>
          <a:p>
            <a:r>
              <a:rPr lang="en-US"/>
              <a:t>Members Surveyed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4D32CE-9C94-FE9F-39B7-ED4439D804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78598" y="5560831"/>
            <a:ext cx="1523417" cy="383287"/>
          </a:xfrm>
        </p:spPr>
        <p:txBody>
          <a:bodyPr/>
          <a:lstStyle/>
          <a:p>
            <a:r>
              <a:rPr lang="en-US"/>
              <a:t>33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00AEF8-8E5C-88B6-7119-A8FFD48618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78597" y="5959611"/>
            <a:ext cx="1507897" cy="471961"/>
          </a:xfrm>
        </p:spPr>
        <p:txBody>
          <a:bodyPr/>
          <a:lstStyle/>
          <a:p>
            <a:r>
              <a:rPr lang="en-US"/>
              <a:t>IA and Journey studies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7F3436-507F-192D-060F-ECAFF8A169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077231" y="5553097"/>
            <a:ext cx="1523417" cy="383287"/>
          </a:xfrm>
        </p:spPr>
        <p:txBody>
          <a:bodyPr/>
          <a:lstStyle/>
          <a:p>
            <a:r>
              <a:rPr lang="en-US"/>
              <a:t>47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28E652-04C8-818D-7A5D-7E458D954A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077230" y="5951878"/>
            <a:ext cx="1507897" cy="471961"/>
          </a:xfrm>
        </p:spPr>
        <p:txBody>
          <a:bodyPr/>
          <a:lstStyle/>
          <a:p>
            <a:r>
              <a:rPr lang="en-US"/>
              <a:t>User interviews and observational studies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3C41E3-FA20-AAFF-C18D-41559B624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344" y="133918"/>
            <a:ext cx="2694608" cy="1524000"/>
          </a:xfrm>
          <a:prstGeom prst="rect">
            <a:avLst/>
          </a:prstGeom>
          <a:effectLst>
            <a:outerShdw blurRad="101600" dist="50800" dir="36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13E1AD-9B20-6AFA-0E98-C3444DA010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94" t="18479" r="11816" b="33274"/>
          <a:stretch/>
        </p:blipFill>
        <p:spPr>
          <a:xfrm>
            <a:off x="6095999" y="138451"/>
            <a:ext cx="2696744" cy="1524000"/>
          </a:xfrm>
          <a:prstGeom prst="rect">
            <a:avLst/>
          </a:prstGeom>
          <a:effectLst>
            <a:outerShdw blurRad="101600" dist="50800" dir="36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A87CD37-637C-90C3-7B83-C7C0DE62E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230" y="1784604"/>
            <a:ext cx="2447766" cy="1524000"/>
          </a:xfrm>
          <a:prstGeom prst="rect">
            <a:avLst/>
          </a:prstGeom>
          <a:effectLst>
            <a:outerShdw blurRad="101600" dist="50800" dir="36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5829D94-5D09-9578-8A5D-DE2D4F6D416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15" t="14350" r="1756" b="3245"/>
          <a:stretch/>
        </p:blipFill>
        <p:spPr>
          <a:xfrm>
            <a:off x="6098349" y="1768613"/>
            <a:ext cx="2795525" cy="1524000"/>
          </a:xfrm>
          <a:prstGeom prst="rect">
            <a:avLst/>
          </a:prstGeom>
          <a:effectLst>
            <a:outerShdw blurRad="101600" dist="50800" dir="36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577328D-3706-8852-CF75-408E11B54A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021" y="3429000"/>
            <a:ext cx="2418743" cy="1524000"/>
          </a:xfrm>
          <a:prstGeom prst="rect">
            <a:avLst/>
          </a:prstGeom>
          <a:effectLst>
            <a:outerShdw blurRad="101600" dist="50800" dir="3600000" algn="tl" rotWithShape="0">
              <a:prstClr val="black">
                <a:alpha val="2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85CEB3-E6CF-A67A-A5DB-890A0CFD5FCD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2314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A4FC-35FB-9791-4D76-6D0D16D77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68EC0-3E72-1AB1-4103-C92C1851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6DF39C-61FC-A3CB-7DEE-B1C68B45B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50" y="388938"/>
            <a:ext cx="11588750" cy="763323"/>
          </a:xfrm>
        </p:spPr>
        <p:txBody>
          <a:bodyPr>
            <a:normAutofit/>
          </a:bodyPr>
          <a:lstStyle/>
          <a:p>
            <a:r>
              <a:rPr lang="en-US"/>
              <a:t>SELCO CU - SEO Strategy &amp; Execution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14F297-EF26-2726-CB60-5A20D1AAF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745" y="1550582"/>
            <a:ext cx="4204771" cy="4917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6E69B9-8950-7C28-D336-AC80FAF5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60" y="1550581"/>
            <a:ext cx="4204771" cy="4917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D29261B-C511-825B-06A0-76985B82E8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175" y="1409434"/>
            <a:ext cx="5280065" cy="16308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861131-C178-4A05-DD26-67D5E92481DF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275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Financial Services</Value>
    </Industries>
    <PlatTech xmlns="f0ee8362-fa7e-4bc9-ab88-7dcfb17cb19b">
      <Value>Sitefinity</Value>
    </PlatTech>
    <BusinessUnit xmlns="f0ee8362-fa7e-4bc9-ab88-7dcfb17cb19b">
      <Value>Custom Development</Value>
      <Value>Creative</Value>
      <Value>Marketing Services</Value>
    </BusinessUnit>
    <Solutions xmlns="f0ee8362-fa7e-4bc9-ab88-7dcfb17cb19b">
      <Value>Websites</Value>
    </Solutions>
    <ApprovedByClient xmlns="f0ee8362-fa7e-4bc9-ab88-7dcfb17cb19b">false</ApprovedByClient>
    <ProjectCompletionDate xmlns="f0ee8362-fa7e-4bc9-ab88-7dcfb17cb19b" xsi:nil="true"/>
  </documentManagement>
</p:properties>
</file>

<file path=customXml/itemProps1.xml><?xml version="1.0" encoding="utf-8"?>
<ds:datastoreItem xmlns:ds="http://schemas.openxmlformats.org/officeDocument/2006/customXml" ds:itemID="{B28F7592-9ED9-45D8-9751-75CF4A0C84AB}"/>
</file>

<file path=customXml/itemProps2.xml><?xml version="1.0" encoding="utf-8"?>
<ds:datastoreItem xmlns:ds="http://schemas.openxmlformats.org/officeDocument/2006/customXml" ds:itemID="{AE209AF3-601F-4765-A5E7-69BAF8046F7B}"/>
</file>

<file path=customXml/itemProps3.xml><?xml version="1.0" encoding="utf-8"?>
<ds:datastoreItem xmlns:ds="http://schemas.openxmlformats.org/officeDocument/2006/customXml" ds:itemID="{195BC0E5-E1B5-4E55-B07E-C99D88400ABF}"/>
</file>

<file path=customXml/itemProps4.xml><?xml version="1.0" encoding="utf-8"?>
<ds:datastoreItem xmlns:ds="http://schemas.openxmlformats.org/officeDocument/2006/customXml" ds:itemID="{39BA505A-929C-4FC5-9512-16F6F6EC88E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Widescreen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Poppins</vt:lpstr>
      <vt:lpstr>Poppins SemiBold</vt:lpstr>
      <vt:lpstr>Segoe UI</vt:lpstr>
      <vt:lpstr>Office Theme</vt:lpstr>
      <vt:lpstr>SELCO Credit Union</vt:lpstr>
      <vt:lpstr>SELCO Credit Union</vt:lpstr>
      <vt:lpstr>SELCO Credit Union</vt:lpstr>
      <vt:lpstr>SELCO CU - SEO Strategy &amp;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1</cp:revision>
  <dcterms:created xsi:type="dcterms:W3CDTF">2025-01-08T19:26:35Z</dcterms:created>
  <dcterms:modified xsi:type="dcterms:W3CDTF">2025-01-08T19:26:49Z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