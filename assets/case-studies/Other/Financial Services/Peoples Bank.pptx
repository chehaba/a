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sldIdLst>
    <p:sldId id="2147481425"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0D742C-6013-1F20-FD8C-E550ED58919E}" v="2" dt="2025-12-09T00:40:48.6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microsoft.com/office/2016/11/relationships/changesInfo" Target="changesInfos/changesInfo1.xml"/><Relationship Id="rId5" Type="http://schemas.openxmlformats.org/officeDocument/2006/relationships/slideMaster" Target="slideMasters/slideMaster1.xml"/><Relationship Id="rId10"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S::bmurphy@affirma.com::e9f923b6-6d89-4d4e-a3b7-d9304b9d44ba" providerId="AD" clId="Web-{E00D742C-6013-1F20-FD8C-E550ED58919E}"/>
    <pc:docChg chg="addSld delSld">
      <pc:chgData name="Brendan Murphy" userId="S::bmurphy@affirma.com::e9f923b6-6d89-4d4e-a3b7-d9304b9d44ba" providerId="AD" clId="Web-{E00D742C-6013-1F20-FD8C-E550ED58919E}" dt="2025-12-09T00:40:48.678" v="1"/>
      <pc:docMkLst>
        <pc:docMk/>
      </pc:docMkLst>
      <pc:sldChg chg="del">
        <pc:chgData name="Brendan Murphy" userId="S::bmurphy@affirma.com::e9f923b6-6d89-4d4e-a3b7-d9304b9d44ba" providerId="AD" clId="Web-{E00D742C-6013-1F20-FD8C-E550ED58919E}" dt="2025-12-09T00:40:48.678" v="1"/>
        <pc:sldMkLst>
          <pc:docMk/>
          <pc:sldMk cId="109857222" sldId="256"/>
        </pc:sldMkLst>
      </pc:sldChg>
      <pc:sldChg chg="add">
        <pc:chgData name="Brendan Murphy" userId="S::bmurphy@affirma.com::e9f923b6-6d89-4d4e-a3b7-d9304b9d44ba" providerId="AD" clId="Web-{E00D742C-6013-1F20-FD8C-E550ED58919E}" dt="2025-12-09T00:40:46.397" v="0"/>
        <pc:sldMkLst>
          <pc:docMk/>
          <pc:sldMk cId="4251497508" sldId="2147481425"/>
        </pc:sldMkLst>
      </pc:sldChg>
      <pc:sldMasterChg chg="addSldLayout">
        <pc:chgData name="Brendan Murphy" userId="S::bmurphy@affirma.com::e9f923b6-6d89-4d4e-a3b7-d9304b9d44ba" providerId="AD" clId="Web-{E00D742C-6013-1F20-FD8C-E550ED58919E}" dt="2025-12-09T00:40:46.397" v="0"/>
        <pc:sldMasterMkLst>
          <pc:docMk/>
          <pc:sldMasterMk cId="2460954070" sldId="2147483660"/>
        </pc:sldMasterMkLst>
        <pc:sldLayoutChg chg="add">
          <pc:chgData name="Brendan Murphy" userId="S::bmurphy@affirma.com::e9f923b6-6d89-4d4e-a3b7-d9304b9d44ba" providerId="AD" clId="Web-{E00D742C-6013-1F20-FD8C-E550ED58919E}" dt="2025-12-09T00:40:46.397" v="0"/>
          <pc:sldLayoutMkLst>
            <pc:docMk/>
            <pc:sldMasterMk cId="2460954070" sldId="2147483660"/>
            <pc:sldLayoutMk cId="3630463827" sldId="2147483672"/>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ase Study Single Slide - Data Result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304638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AA6F8-441D-0542-4918-487BF472463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4E23B62-D1C5-57AB-F427-77D4B4D538D0}"/>
              </a:ext>
            </a:extLst>
          </p:cNvPr>
          <p:cNvSpPr>
            <a:spLocks noGrp="1"/>
          </p:cNvSpPr>
          <p:nvPr>
            <p:ph type="ctrTitle"/>
          </p:nvPr>
        </p:nvSpPr>
        <p:spPr>
          <a:xfrm>
            <a:off x="634252" y="301170"/>
            <a:ext cx="11448890" cy="764390"/>
          </a:xfrm>
        </p:spPr>
        <p:txBody>
          <a:bodyPr>
            <a:noAutofit/>
          </a:bodyPr>
          <a:lstStyle/>
          <a:p>
            <a:pPr defTabSz="896533"/>
            <a:r>
              <a:rPr lang="en-US" dirty="0">
                <a:solidFill>
                  <a:srgbClr val="002060"/>
                </a:solidFill>
                <a:latin typeface="Poppins SemiBold"/>
                <a:cs typeface="Poppins SemiBold"/>
              </a:rPr>
              <a:t>People’s Bank PowerApps Development</a:t>
            </a:r>
          </a:p>
        </p:txBody>
      </p:sp>
      <p:sp>
        <p:nvSpPr>
          <p:cNvPr id="2" name="Rectangle 1">
            <a:extLst>
              <a:ext uri="{FF2B5EF4-FFF2-40B4-BE49-F238E27FC236}">
                <a16:creationId xmlns:a16="http://schemas.microsoft.com/office/drawing/2014/main" id="{2654ED53-6CB8-B026-C56A-14387D402A2E}"/>
              </a:ext>
            </a:extLst>
          </p:cNvPr>
          <p:cNvSpPr/>
          <p:nvPr/>
        </p:nvSpPr>
        <p:spPr>
          <a:xfrm>
            <a:off x="10749644" y="6356805"/>
            <a:ext cx="798286" cy="2696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76806" rtl="0" eaLnBrk="1" fontAlgn="auto" latinLnBrk="0" hangingPunct="1">
              <a:lnSpc>
                <a:spcPct val="100000"/>
              </a:lnSpc>
              <a:spcBef>
                <a:spcPts val="0"/>
              </a:spcBef>
              <a:spcAft>
                <a:spcPts val="0"/>
              </a:spcAft>
              <a:buClrTx/>
              <a:buSzTx/>
              <a:buFontTx/>
              <a:buNone/>
              <a:tabLst/>
              <a:defRPr/>
            </a:pPr>
            <a:endParaRPr kumimoji="0" lang="en-US" sz="1923" b="0" i="0" u="none" strike="noStrike" kern="1200" cap="none" spc="0" normalizeH="0" baseline="0" noProof="0">
              <a:ln>
                <a:noFill/>
              </a:ln>
              <a:solidFill>
                <a:prstClr val="white"/>
              </a:solidFill>
              <a:effectLst/>
              <a:uLnTx/>
              <a:uFillTx/>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F6F49581-44A1-66DD-F684-9C55A5EBA38D}"/>
              </a:ext>
            </a:extLst>
          </p:cNvPr>
          <p:cNvSpPr txBox="1"/>
          <p:nvPr/>
        </p:nvSpPr>
        <p:spPr>
          <a:xfrm>
            <a:off x="169218" y="1221043"/>
            <a:ext cx="4972843"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dirty="0">
                <a:solidFill>
                  <a:srgbClr val="063A79"/>
                </a:solidFill>
                <a:latin typeface="Segoe UI" panose="020B0502040204020203" pitchFamily="34" charset="0"/>
                <a:cs typeface="Segoe UI" panose="020B0502040204020203" pitchFamily="34" charset="0"/>
              </a:rPr>
              <a:t>Business Need </a:t>
            </a:r>
          </a:p>
        </p:txBody>
      </p:sp>
      <p:sp>
        <p:nvSpPr>
          <p:cNvPr id="7" name="TextBox 6">
            <a:extLst>
              <a:ext uri="{FF2B5EF4-FFF2-40B4-BE49-F238E27FC236}">
                <a16:creationId xmlns:a16="http://schemas.microsoft.com/office/drawing/2014/main" id="{DB8E121D-D51A-7779-8E53-FF349B848A0F}"/>
              </a:ext>
            </a:extLst>
          </p:cNvPr>
          <p:cNvSpPr txBox="1"/>
          <p:nvPr/>
        </p:nvSpPr>
        <p:spPr>
          <a:xfrm>
            <a:off x="181858" y="2479695"/>
            <a:ext cx="4985484"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dirty="0">
                <a:solidFill>
                  <a:srgbClr val="063A79"/>
                </a:solidFill>
                <a:latin typeface="Segoe UI" panose="020B0502040204020203" pitchFamily="34" charset="0"/>
                <a:cs typeface="Segoe UI" panose="020B0502040204020203" pitchFamily="34" charset="0"/>
              </a:rPr>
              <a:t>What We Did </a:t>
            </a:r>
          </a:p>
        </p:txBody>
      </p:sp>
      <p:sp>
        <p:nvSpPr>
          <p:cNvPr id="8" name="TextBox 7">
            <a:extLst>
              <a:ext uri="{FF2B5EF4-FFF2-40B4-BE49-F238E27FC236}">
                <a16:creationId xmlns:a16="http://schemas.microsoft.com/office/drawing/2014/main" id="{AA67E45F-7E5D-85D7-BD9E-6CEF917F08B9}"/>
              </a:ext>
            </a:extLst>
          </p:cNvPr>
          <p:cNvSpPr txBox="1"/>
          <p:nvPr/>
        </p:nvSpPr>
        <p:spPr>
          <a:xfrm>
            <a:off x="181858" y="4566914"/>
            <a:ext cx="4972844"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dirty="0">
                <a:solidFill>
                  <a:srgbClr val="063A79"/>
                </a:solidFill>
                <a:latin typeface="Segoe UI" panose="020B0502040204020203" pitchFamily="34" charset="0"/>
                <a:cs typeface="Segoe UI" panose="020B0502040204020203" pitchFamily="34" charset="0"/>
              </a:rPr>
              <a:t>Results</a:t>
            </a:r>
          </a:p>
        </p:txBody>
      </p:sp>
      <p:sp>
        <p:nvSpPr>
          <p:cNvPr id="9" name="TextBox 8">
            <a:extLst>
              <a:ext uri="{FF2B5EF4-FFF2-40B4-BE49-F238E27FC236}">
                <a16:creationId xmlns:a16="http://schemas.microsoft.com/office/drawing/2014/main" id="{A7169597-6588-B739-91FA-174E7272080B}"/>
              </a:ext>
            </a:extLst>
          </p:cNvPr>
          <p:cNvSpPr txBox="1"/>
          <p:nvPr/>
        </p:nvSpPr>
        <p:spPr>
          <a:xfrm>
            <a:off x="164811" y="1446641"/>
            <a:ext cx="8391287" cy="954107"/>
          </a:xfrm>
          <a:prstGeom prst="rect">
            <a:avLst/>
          </a:prstGeom>
          <a:noFill/>
        </p:spPr>
        <p:txBody>
          <a:bodyPr wrap="square">
            <a:spAutoFit/>
          </a:bodyPr>
          <a:lstStyle/>
          <a:p>
            <a:pPr algn="just">
              <a:buNone/>
            </a:pPr>
            <a:r>
              <a:rPr lang="en-US" sz="1400" dirty="0"/>
              <a:t>People’s Bank needed a highly dynamic, user-friendly way to manage event, sponsorship, and grant requests. Their existing process required handling over 100 fields and 60 sets of conditional rules, making manual administration slow, inconsistent, and difficult to scale. They needed an automated solution that could guide users, enforce rules, and streamline the full review workflow.</a:t>
            </a:r>
          </a:p>
        </p:txBody>
      </p:sp>
      <p:sp>
        <p:nvSpPr>
          <p:cNvPr id="11" name="TextBox 10">
            <a:extLst>
              <a:ext uri="{FF2B5EF4-FFF2-40B4-BE49-F238E27FC236}">
                <a16:creationId xmlns:a16="http://schemas.microsoft.com/office/drawing/2014/main" id="{08F4CFB7-6626-8F2F-2DA0-3F1A1A3E3BDA}"/>
              </a:ext>
            </a:extLst>
          </p:cNvPr>
          <p:cNvSpPr txBox="1"/>
          <p:nvPr/>
        </p:nvSpPr>
        <p:spPr>
          <a:xfrm>
            <a:off x="164810" y="2796857"/>
            <a:ext cx="8353901" cy="1815882"/>
          </a:xfrm>
          <a:prstGeom prst="rect">
            <a:avLst/>
          </a:prstGeom>
          <a:noFill/>
        </p:spPr>
        <p:txBody>
          <a:bodyPr wrap="square">
            <a:spAutoFit/>
          </a:bodyPr>
          <a:lstStyle/>
          <a:p>
            <a:pPr marL="285750" indent="-285750">
              <a:buFont typeface="Arial" panose="020B0604020202020204" pitchFamily="34" charset="0"/>
              <a:buChar char="•"/>
            </a:pPr>
            <a:r>
              <a:rPr lang="en-US" sz="1400" dirty="0"/>
              <a:t>Built a PowerApps-driven form with over 100 fields and 60+ conditional rules to guide users through structured data entry</a:t>
            </a:r>
          </a:p>
          <a:p>
            <a:pPr marL="285750" indent="-285750">
              <a:buFont typeface="Arial" panose="020B0604020202020204" pitchFamily="34" charset="0"/>
              <a:buChar char="•"/>
            </a:pPr>
            <a:r>
              <a:rPr lang="en-US" sz="1400" dirty="0"/>
              <a:t>Implemented cascading dropdowns, custom validations, and data integrations to ensure accuracy and reduce manual input</a:t>
            </a:r>
          </a:p>
          <a:p>
            <a:pPr marL="285750" indent="-285750">
              <a:buFont typeface="Arial" panose="020B0604020202020204" pitchFamily="34" charset="0"/>
              <a:buChar char="•"/>
            </a:pPr>
            <a:r>
              <a:rPr lang="en-US" sz="1400" dirty="0"/>
              <a:t>Created an automated SharePoint site provisioning workflow using PowerApps, Power Automate, Azure, and the PnP Provisioning Engine</a:t>
            </a:r>
          </a:p>
          <a:p>
            <a:pPr marL="285750" indent="-285750">
              <a:buFont typeface="Arial" panose="020B0604020202020204" pitchFamily="34" charset="0"/>
              <a:buChar char="•"/>
            </a:pPr>
            <a:r>
              <a:rPr lang="en-US" sz="1400" dirty="0"/>
              <a:t>Developed a mobile-friendly PowerApps with offline capabilities so users could submit requests directly from any device.</a:t>
            </a:r>
          </a:p>
        </p:txBody>
      </p:sp>
      <p:sp>
        <p:nvSpPr>
          <p:cNvPr id="12" name="TextBox 11">
            <a:extLst>
              <a:ext uri="{FF2B5EF4-FFF2-40B4-BE49-F238E27FC236}">
                <a16:creationId xmlns:a16="http://schemas.microsoft.com/office/drawing/2014/main" id="{831B98C2-F556-BCC8-CBE3-65F3D706410C}"/>
              </a:ext>
            </a:extLst>
          </p:cNvPr>
          <p:cNvSpPr txBox="1"/>
          <p:nvPr/>
        </p:nvSpPr>
        <p:spPr>
          <a:xfrm>
            <a:off x="169217" y="4882988"/>
            <a:ext cx="8385883" cy="1600438"/>
          </a:xfrm>
          <a:prstGeom prst="rect">
            <a:avLst/>
          </a:prstGeom>
          <a:noFill/>
        </p:spPr>
        <p:txBody>
          <a:bodyPr wrap="square">
            <a:spAutoFit/>
          </a:bodyPr>
          <a:lstStyle/>
          <a:p>
            <a:pPr marL="116895" indent="-116895">
              <a:buFont typeface="Arial" panose="020B0604020202020204" pitchFamily="34" charset="0"/>
              <a:buChar char="•"/>
            </a:pPr>
            <a:r>
              <a:rPr lang="en-US" sz="1400" dirty="0">
                <a:solidFill>
                  <a:prstClr val="black"/>
                </a:solidFill>
              </a:rPr>
              <a:t>Streamlined how users submit requests, ensuring all required information is captured consistently and accurately</a:t>
            </a:r>
          </a:p>
          <a:p>
            <a:pPr marL="116895" indent="-116895">
              <a:buFont typeface="Arial" panose="020B0604020202020204" pitchFamily="34" charset="0"/>
              <a:buChar char="•"/>
            </a:pPr>
            <a:r>
              <a:rPr lang="en-US" sz="1400" dirty="0">
                <a:solidFill>
                  <a:prstClr val="black"/>
                </a:solidFill>
              </a:rPr>
              <a:t>Provided administrators with a centralized view and control over spending, approvals, and annual review processes</a:t>
            </a:r>
          </a:p>
          <a:p>
            <a:pPr marL="116895" indent="-116895">
              <a:buFont typeface="Arial" panose="020B0604020202020204" pitchFamily="34" charset="0"/>
              <a:buChar char="•"/>
            </a:pPr>
            <a:r>
              <a:rPr lang="en-US" sz="1400" dirty="0">
                <a:solidFill>
                  <a:prstClr val="black"/>
                </a:solidFill>
              </a:rPr>
              <a:t>Automated notifications and milestone updates to marketing teams and request originators, improving communication and visibility</a:t>
            </a:r>
          </a:p>
          <a:p>
            <a:pPr marL="116895" indent="-116895">
              <a:buFont typeface="Arial" panose="020B0604020202020204" pitchFamily="34" charset="0"/>
              <a:buChar char="•"/>
            </a:pPr>
            <a:r>
              <a:rPr lang="en-US" sz="1400" dirty="0">
                <a:solidFill>
                  <a:prstClr val="black"/>
                </a:solidFill>
              </a:rPr>
              <a:t>Reduced manual processing time and improved operational efficiency across all request types.</a:t>
            </a:r>
          </a:p>
        </p:txBody>
      </p:sp>
      <p:pic>
        <p:nvPicPr>
          <p:cNvPr id="10" name="Picture 9">
            <a:extLst>
              <a:ext uri="{FF2B5EF4-FFF2-40B4-BE49-F238E27FC236}">
                <a16:creationId xmlns:a16="http://schemas.microsoft.com/office/drawing/2014/main" id="{FA918D0B-95DC-BC1D-1301-35BD9C49E470}"/>
              </a:ext>
            </a:extLst>
          </p:cNvPr>
          <p:cNvPicPr>
            <a:picLocks noChangeAspect="1"/>
          </p:cNvPicPr>
          <p:nvPr/>
        </p:nvPicPr>
        <p:blipFill>
          <a:blip r:embed="rId2"/>
          <a:stretch>
            <a:fillRect/>
          </a:stretch>
        </p:blipFill>
        <p:spPr>
          <a:xfrm>
            <a:off x="8628153" y="1065560"/>
            <a:ext cx="3509637" cy="2828783"/>
          </a:xfrm>
          <a:prstGeom prst="rect">
            <a:avLst/>
          </a:prstGeom>
        </p:spPr>
      </p:pic>
      <p:pic>
        <p:nvPicPr>
          <p:cNvPr id="13" name="Picture 12">
            <a:extLst>
              <a:ext uri="{FF2B5EF4-FFF2-40B4-BE49-F238E27FC236}">
                <a16:creationId xmlns:a16="http://schemas.microsoft.com/office/drawing/2014/main" id="{2CB58764-55DD-9B6A-38B0-9F3380B8494E}"/>
              </a:ext>
            </a:extLst>
          </p:cNvPr>
          <p:cNvPicPr>
            <a:picLocks noChangeAspect="1"/>
          </p:cNvPicPr>
          <p:nvPr/>
        </p:nvPicPr>
        <p:blipFill>
          <a:blip r:embed="rId3"/>
          <a:stretch>
            <a:fillRect/>
          </a:stretch>
        </p:blipFill>
        <p:spPr>
          <a:xfrm>
            <a:off x="8513146" y="3676700"/>
            <a:ext cx="3509637" cy="2995755"/>
          </a:xfrm>
          <a:prstGeom prst="rect">
            <a:avLst/>
          </a:prstGeom>
        </p:spPr>
      </p:pic>
    </p:spTree>
    <p:extLst>
      <p:ext uri="{BB962C8B-B14F-4D97-AF65-F5344CB8AC3E}">
        <p14:creationId xmlns:p14="http://schemas.microsoft.com/office/powerpoint/2010/main" val="42514975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ApprovedByClient xmlns="f0ee8362-fa7e-4bc9-ab88-7dcfb17cb19b">false</ApprovedByClient>
    <Notes0 xmlns="f0ee8362-fa7e-4bc9-ab88-7dcfb17cb19b" xsi:nil="true"/>
    <Named_x0020_Account xmlns="f0ee8362-fa7e-4bc9-ab88-7dcfb17cb19b" xsi:nil="true"/>
    <Industries xmlns="f0ee8362-fa7e-4bc9-ab88-7dcfb17cb19b" xsi:nil="true"/>
    <PlatTech xmlns="f0ee8362-fa7e-4bc9-ab88-7dcfb17cb19b">
      <Value>Power Apps</Value>
    </PlatTech>
    <ProjectCompletionDate xmlns="f0ee8362-fa7e-4bc9-ab88-7dcfb17cb19b" xsi:nil="true"/>
    <BusinessUnit xmlns="f0ee8362-fa7e-4bc9-ab88-7dcfb17cb19b">
      <Value>Modern Workplace</Value>
    </BusinessUnit>
    <Solutions xmlns="f0ee8362-fa7e-4bc9-ab88-7dcfb17cb19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customXsn xmlns="http://schemas.microsoft.com/office/2006/metadata/customXsn">
  <xsnLocation/>
  <cached>True</cached>
  <openByDefault>False</openByDefault>
  <xsnScope/>
</customXsn>
</file>

<file path=customXml/item4.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40c5edf46ad0243c172d3e6a5f6fa751">
  <xsd:schema xmlns:xsd="http://www.w3.org/2001/XMLSchema" xmlns:xs="http://www.w3.org/2001/XMLSchema" xmlns:p="http://schemas.microsoft.com/office/2006/metadata/properties" xmlns:ns2="f0ee8362-fa7e-4bc9-ab88-7dcfb17cb19b" targetNamespace="http://schemas.microsoft.com/office/2006/metadata/properties" ma:root="true" ma:fieldsID="f48774ae5cf6ccd45b30992fa6c2b457"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9453D03-9D09-4033-85D2-B7C86CC67790}">
  <ds:schemaRefs>
    <ds:schemaRef ds:uri="http://schemas.microsoft.com/office/2006/metadata/properties"/>
    <ds:schemaRef ds:uri="http://schemas.microsoft.com/office/infopath/2007/PartnerControls"/>
    <ds:schemaRef ds:uri="f0ee8362-fa7e-4bc9-ab88-7dcfb17cb19b"/>
  </ds:schemaRefs>
</ds:datastoreItem>
</file>

<file path=customXml/itemProps2.xml><?xml version="1.0" encoding="utf-8"?>
<ds:datastoreItem xmlns:ds="http://schemas.openxmlformats.org/officeDocument/2006/customXml" ds:itemID="{08BA215B-2F10-4ABC-8200-6F3D466A02F3}">
  <ds:schemaRefs>
    <ds:schemaRef ds:uri="http://schemas.microsoft.com/sharepoint/v3/contenttype/forms"/>
  </ds:schemaRefs>
</ds:datastoreItem>
</file>

<file path=customXml/itemProps3.xml><?xml version="1.0" encoding="utf-8"?>
<ds:datastoreItem xmlns:ds="http://schemas.openxmlformats.org/officeDocument/2006/customXml" ds:itemID="{A2E48BAE-BF6E-4F8C-9416-CE3E895E1D89}">
  <ds:schemaRefs>
    <ds:schemaRef ds:uri="http://schemas.microsoft.com/office/2006/metadata/customXsn"/>
  </ds:schemaRefs>
</ds:datastoreItem>
</file>

<file path=customXml/itemProps4.xml><?xml version="1.0" encoding="utf-8"?>
<ds:datastoreItem xmlns:ds="http://schemas.openxmlformats.org/officeDocument/2006/customXml" ds:itemID="{0441C9E7-97E1-49D9-9BC8-ABB0369A78BC}"/>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People’s Bank PowerApps Development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dcterms:created xsi:type="dcterms:W3CDTF">2025-12-09T00:40:42Z</dcterms:created>
  <dcterms:modified xsi:type="dcterms:W3CDTF">2025-12-09T00:40:50Z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