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192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3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E992A-5C95-9F0B-8054-59D37D761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BEB2FA-5EF9-EC25-D4EB-182D6AFDC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0DE3C-E7B0-2924-3AB1-4A0FAF46E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E11C-33C2-497D-AADD-FD459657E2F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EDAE-0F4F-D6A3-511C-704B36948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D072-D580-BDC9-65FC-AE9FC325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E49-0573-47C7-A6F4-D37EF63F4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2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22BA7-830E-4D82-EF26-29228E6D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CB1CD-6A98-8234-4C6C-9717F8E71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BFD18-38B4-ED85-9760-C1A693B2C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E11C-33C2-497D-AADD-FD459657E2F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B146C-23ED-3A30-87B2-F41077A18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E618A-6B09-3856-B7C4-2C522A1DF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E49-0573-47C7-A6F4-D37EF63F4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54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FCDD1-735E-7200-ACD3-44CBFD569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B0F81-1942-B0F1-E130-AA062F4D2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0A7E6-4EED-0897-371C-B90B8262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E11C-33C2-497D-AADD-FD459657E2F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B5461-A5C7-5F23-51AA-BF2A506A1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C64DE-3DB6-CAE1-CADA-79C24FE3B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E49-0573-47C7-A6F4-D37EF63F4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901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86EDE-DD93-B81A-A730-9DC0778DC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DA43F-7D8D-F831-3BD3-6DDDD7C406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A082C-B4A3-ACF4-8B27-0C5279864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38C90-2E1C-E1B0-F962-5E232941B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E11C-33C2-497D-AADD-FD459657E2F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5DF8C-E60E-5122-B4A9-1C2A141AE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1F9EF-CA39-4DCC-E9F6-6C0D6354E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E49-0573-47C7-A6F4-D37EF63F4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63B01-A08D-AB5B-2784-8670349E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0C1EA-548B-8407-C099-384EBED30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21DB6-CB28-54E2-73F1-6BAC3203D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F363D-9F3B-FF1C-3879-470306B543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DFEA85-9C7C-5CE2-8A21-4DC0FD38C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5634C5-4B50-7EB7-FB93-6F41B29BD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E11C-33C2-497D-AADD-FD459657E2F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9DC62-A11F-EF52-4CD2-CBF2F83A4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AA123E-D850-DF77-BC82-C0C46C556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E49-0573-47C7-A6F4-D37EF63F4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0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D0C0-1830-C3B2-3516-F77F64006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4F13FF-2E68-6C9B-03DE-A540D7496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E11C-33C2-497D-AADD-FD459657E2F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721357-EA74-1810-268B-F06DF5CF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68234C-0E9F-802D-3A57-77EFC195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E49-0573-47C7-A6F4-D37EF63F4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6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6F2E09-02AF-0494-59CD-717801096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E11C-33C2-497D-AADD-FD459657E2F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5C1B07-62EB-EA56-29BC-9512814C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82583-FF16-F70F-7820-1BB95C96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E49-0573-47C7-A6F4-D37EF63F4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305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2BD5-30E8-BEB1-ED29-1D25AEF62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7E823-A7F3-C3F6-5743-880FF6F80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92D9C-D924-735B-1D41-101E984C0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A3A53-BB36-E41A-613F-9F76CDDF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E11C-33C2-497D-AADD-FD459657E2F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C4929-5903-57EC-CDDC-78C02A85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ECB16-3D62-6824-8CFE-D091AC76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E49-0573-47C7-A6F4-D37EF63F4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13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8FD41-6AB2-B094-6830-BB11A43C5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471215-613C-6959-3750-7B041F6E92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FDF76-097D-414F-656B-A2C69BE91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C56A2-E7BC-AF20-E1A3-0AC79D57A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E11C-33C2-497D-AADD-FD459657E2F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84AB3-BB53-1E5E-3D8C-5BABF3FC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EE091-F166-4AC9-588D-00D11A45A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E49-0573-47C7-A6F4-D37EF63F4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43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982B8-CA59-6166-993F-C8F236934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95617-12E0-B738-45EE-0F0DB0263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F8345-AFDE-26C6-B5EE-A270B9ED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E11C-33C2-497D-AADD-FD459657E2F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092AA-37A9-ECBD-C8BA-B7059FF4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0A811-F162-663A-37D7-6D67BE139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E49-0573-47C7-A6F4-D37EF63F4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78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1066D3-98C4-F200-1F1B-D1F8C1A511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7FD13-6420-1DB6-8DC2-FEEF78601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9D87F-99DF-D5C6-E75A-9C3A99EF4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E11C-33C2-497D-AADD-FD459657E2F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2ADB9-644C-0F45-196D-950D3966D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54767-45B2-1148-2CF8-E3FBEC9DD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E49-0573-47C7-A6F4-D37EF63F4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72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75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052348-730D-3D51-0544-46D2987F1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51735-D76B-DB0E-730D-C7299EC2E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C052B-5F7F-D258-6DFC-2DE2E635A9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DFE11C-33C2-497D-AADD-FD459657E2F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E14F6-9327-EA17-F27A-7BA780141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B1826-1885-4BAF-5081-587BE25CA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31FE49-0573-47C7-A6F4-D37EF63F4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65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CB03D1-EDA9-48B7-8325-E79F334A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6B08A5-1DB8-4A34-97B7-0D10AA5A3389}"/>
              </a:ext>
            </a:extLst>
          </p:cNvPr>
          <p:cNvSpPr txBox="1">
            <a:spLocks/>
          </p:cNvSpPr>
          <p:nvPr/>
        </p:nvSpPr>
        <p:spPr>
          <a:xfrm>
            <a:off x="516732" y="442952"/>
            <a:ext cx="11430000" cy="708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>
                <a:solidFill>
                  <a:srgbClr val="063A7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The YMCA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2CF3BC-98F6-43B2-8806-4DBAE6C9D873}"/>
              </a:ext>
            </a:extLst>
          </p:cNvPr>
          <p:cNvSpPr txBox="1"/>
          <p:nvPr/>
        </p:nvSpPr>
        <p:spPr>
          <a:xfrm>
            <a:off x="641768" y="1425983"/>
            <a:ext cx="7677101" cy="1530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Who They Are</a:t>
            </a:r>
          </a:p>
          <a:p>
            <a:pPr lvl="0"/>
            <a:r>
              <a:rPr lang="en-US" sz="1333">
                <a:latin typeface="Poppins" panose="00000500000000000000" pitchFamily="2" charset="0"/>
                <a:cs typeface="Poppins" panose="00000500000000000000" pitchFamily="2" charset="0"/>
              </a:rPr>
              <a:t>YMCA of the USA is the American unit of the Geneva-based Young Men's Christian Association, a non-profit organization for youth development, healthy living, and social responsibility. In the US, the Y is comprised of YMCA of the USA, a national resource office, and more than 2,700 locations with approximately 19,000 full-time staff and 600,000 volunteers across the country.</a:t>
            </a:r>
          </a:p>
          <a:p>
            <a:pPr>
              <a:spcBef>
                <a:spcPts val="500"/>
              </a:spcBef>
            </a:pPr>
            <a:endParaRPr lang="en-US" sz="667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" name="Picture 2" descr="Image result for YMCA logo">
            <a:extLst>
              <a:ext uri="{FF2B5EF4-FFF2-40B4-BE49-F238E27FC236}">
                <a16:creationId xmlns:a16="http://schemas.microsoft.com/office/drawing/2014/main" id="{270088DE-E093-12FD-BD1E-C2AD3647E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577" y="1069544"/>
            <a:ext cx="1558097" cy="156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937F325-54ED-D19A-ECD1-C47C8F61AE36}"/>
              </a:ext>
            </a:extLst>
          </p:cNvPr>
          <p:cNvGrpSpPr>
            <a:grpSpLocks noChangeAspect="1"/>
          </p:cNvGrpSpPr>
          <p:nvPr/>
        </p:nvGrpSpPr>
        <p:grpSpPr>
          <a:xfrm>
            <a:off x="7207729" y="2931061"/>
            <a:ext cx="4739003" cy="3195023"/>
            <a:chOff x="0" y="3509752"/>
            <a:chExt cx="5953080" cy="401355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8B79744-775B-08E6-5BBC-34F5EF2D876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3509752"/>
              <a:ext cx="5953080" cy="4013550"/>
              <a:chOff x="4450676" y="2924176"/>
              <a:chExt cx="5525021" cy="3072384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DE13E702-9D0C-7A9F-8975-1A1AB1D36FD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0"/>
              <a:stretch/>
            </p:blipFill>
            <p:spPr>
              <a:xfrm>
                <a:off x="4450676" y="2924176"/>
                <a:ext cx="5525021" cy="3072384"/>
              </a:xfrm>
              <a:prstGeom prst="rect">
                <a:avLst/>
              </a:prstGeom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D45EEF3-0981-944C-428C-42F8C713FF65}"/>
                  </a:ext>
                </a:extLst>
              </p:cNvPr>
              <p:cNvSpPr/>
              <p:nvPr/>
            </p:nvSpPr>
            <p:spPr>
              <a:xfrm>
                <a:off x="8202706" y="3138586"/>
                <a:ext cx="333480" cy="75262"/>
              </a:xfrm>
              <a:prstGeom prst="rect">
                <a:avLst/>
              </a:prstGeom>
              <a:gradFill flip="none" rotWithShape="1">
                <a:gsLst>
                  <a:gs pos="0">
                    <a:srgbClr val="F6F6F6"/>
                  </a:gs>
                  <a:gs pos="50000">
                    <a:srgbClr val="F6F6F6"/>
                  </a:gs>
                  <a:gs pos="100000">
                    <a:srgbClr val="F6F6F6"/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37"/>
              </a:p>
            </p:txBody>
          </p:sp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565BAC0-6A28-E100-56ED-0ECA81BF7C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89" b="40822"/>
            <a:stretch/>
          </p:blipFill>
          <p:spPr>
            <a:xfrm>
              <a:off x="704015" y="3712888"/>
              <a:ext cx="4619825" cy="312863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508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E26C442F-0763-84C1-297F-D0EA53C42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8167" y="3099762"/>
            <a:ext cx="3677653" cy="249874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E0252E1-ABFA-772B-DE84-866FF4D506F2}"/>
              </a:ext>
            </a:extLst>
          </p:cNvPr>
          <p:cNvSpPr txBox="1"/>
          <p:nvPr/>
        </p:nvSpPr>
        <p:spPr>
          <a:xfrm>
            <a:off x="652610" y="2843192"/>
            <a:ext cx="6381750" cy="25492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 dirty="0">
                <a:solidFill>
                  <a:srgbClr val="008AD9"/>
                </a:solidFill>
                <a:latin typeface="Poppins"/>
                <a:cs typeface="Poppins"/>
              </a:rPr>
              <a:t>Business Need</a:t>
            </a:r>
          </a:p>
          <a:p>
            <a:r>
              <a:rPr lang="en-US" sz="1300" dirty="0">
                <a:latin typeface="Poppins"/>
                <a:cs typeface="Poppins"/>
              </a:rPr>
              <a:t>This engagement kicked off with a meeting between </a:t>
            </a:r>
            <a:r>
              <a:rPr lang="en-US" sz="1300" dirty="0" err="1">
                <a:latin typeface="Poppins"/>
                <a:cs typeface="Poppins"/>
              </a:rPr>
              <a:t>Affirma</a:t>
            </a:r>
            <a:r>
              <a:rPr lang="en-US" sz="1300" dirty="0">
                <a:latin typeface="Poppins"/>
                <a:cs typeface="Poppins"/>
              </a:rPr>
              <a:t> and the YMCA team to discuss their current system and discover the solutions/enhancements they wanted to see out of their current site.</a:t>
            </a:r>
          </a:p>
          <a:p>
            <a:endParaRPr lang="en-US" sz="1333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300" dirty="0" err="1">
                <a:latin typeface="Poppins"/>
                <a:cs typeface="Poppins"/>
              </a:rPr>
              <a:t>Affirma</a:t>
            </a:r>
            <a:r>
              <a:rPr lang="en-US" sz="1300" dirty="0">
                <a:latin typeface="Poppins"/>
                <a:cs typeface="Poppins"/>
              </a:rPr>
              <a:t> stepped in and performed a UX analysis of the site and conducted stakeholder interviews to delve further into what they wanted out of their CMS and shared calendar in terms of usability.</a:t>
            </a:r>
          </a:p>
          <a:p>
            <a:endParaRPr lang="en-US" sz="1333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300" dirty="0" err="1">
                <a:latin typeface="Poppins"/>
                <a:cs typeface="Poppins"/>
              </a:rPr>
              <a:t>Affirma’s</a:t>
            </a:r>
            <a:r>
              <a:rPr lang="en-US" sz="1300" dirty="0">
                <a:latin typeface="Poppins"/>
                <a:cs typeface="Poppins"/>
              </a:rPr>
              <a:t> Custom Development Team was then brought in to implement the new designs and deployed rigorous testing to ensure the dashboard worked properly.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831A7E-DD1B-BAB7-06C2-944BE1C2854D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78005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Non-Profit</Value>
    </Industries>
    <PlatTech xmlns="f0ee8362-fa7e-4bc9-ab88-7dcfb17cb19b" xsi:nil="true"/>
    <BusinessUnit xmlns="f0ee8362-fa7e-4bc9-ab88-7dcfb17cb19b">
      <Value>Custom Development</Value>
      <Value>Creative</Value>
    </BusinessUnit>
    <Solutions xmlns="f0ee8362-fa7e-4bc9-ab88-7dcfb17cb19b">
      <Value>Websites</Value>
    </Solutions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46BD49-4F25-4CB4-B53A-C3170C3380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E49A9F-1CE5-4DFB-A1A6-192971079616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AD820877-27EA-4AE8-A27C-DE04A7FBCE75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4.xml><?xml version="1.0" encoding="utf-8"?>
<ds:datastoreItem xmlns:ds="http://schemas.openxmlformats.org/officeDocument/2006/customXml" ds:itemID="{0A9CBAB0-C844-4AB7-B49F-CF9B2E870A0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Murphy</dc:creator>
  <cp:lastModifiedBy>Brendan Murphy</cp:lastModifiedBy>
  <cp:revision>8</cp:revision>
  <dcterms:created xsi:type="dcterms:W3CDTF">2024-10-02T15:26:31Z</dcterms:created>
  <dcterms:modified xsi:type="dcterms:W3CDTF">2025-11-03T21:20:00Z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