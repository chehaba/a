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135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50C03F-FB8C-41D6-83D0-C84636DDB02E}"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4BA90-4187-4326-B41D-68CD57FC83AB}" type="slidenum">
              <a:rPr lang="en-US" smtClean="0"/>
              <a:t>‹#›</a:t>
            </a:fld>
            <a:endParaRPr lang="en-US"/>
          </a:p>
        </p:txBody>
      </p:sp>
    </p:spTree>
    <p:extLst>
      <p:ext uri="{BB962C8B-B14F-4D97-AF65-F5344CB8AC3E}">
        <p14:creationId xmlns:p14="http://schemas.microsoft.com/office/powerpoint/2010/main" val="3552495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17543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526457-AFF9-4C64-ACA9-57BFCF79B20E}"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E668A5FB-A35F-4120-A0D4-DDE534D458D5}"/>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13" name="Slide Number Placeholder 4">
            <a:extLst>
              <a:ext uri="{FF2B5EF4-FFF2-40B4-BE49-F238E27FC236}">
                <a16:creationId xmlns:a16="http://schemas.microsoft.com/office/drawing/2014/main" id="{471800EB-F6BF-4776-B506-3056304E5AE7}"/>
              </a:ext>
            </a:extLst>
          </p:cNvPr>
          <p:cNvSpPr txBox="1">
            <a:spLocks/>
          </p:cNvSpPr>
          <p:nvPr userDrawn="1"/>
        </p:nvSpPr>
        <p:spPr>
          <a:xfrm>
            <a:off x="11277600" y="6356805"/>
            <a:ext cx="533400" cy="304800"/>
          </a:xfrm>
          <a:prstGeom prst="rect">
            <a:avLst/>
          </a:prstGeom>
        </p:spPr>
        <p:txBody>
          <a:bodyPr vert="horz" lIns="76200" tIns="38100" rIns="76200" bIns="38100" rtlCol="0" anchor="ctr"/>
          <a:lstStyle>
            <a:defPPr>
              <a:defRPr lang="en-US"/>
            </a:defPPr>
            <a:lvl1pPr marL="0" algn="r" defTabSz="1172261" rtl="0" eaLnBrk="1" latinLnBrk="0" hangingPunct="1">
              <a:defRPr sz="1412" kern="1200">
                <a:solidFill>
                  <a:schemeClr val="tx1">
                    <a:tint val="75000"/>
                  </a:schemeClr>
                </a:solidFill>
                <a:latin typeface="Segoe UI" panose="020B0502040204020203" pitchFamily="34" charset="0"/>
                <a:ea typeface="+mn-ea"/>
                <a:cs typeface="+mn-cs"/>
              </a:defRPr>
            </a:lvl1pPr>
            <a:lvl2pPr marL="586130" algn="l" defTabSz="1172261" rtl="0" eaLnBrk="1" latinLnBrk="0" hangingPunct="1">
              <a:defRPr sz="2308" kern="1200">
                <a:solidFill>
                  <a:schemeClr val="tx1"/>
                </a:solidFill>
                <a:latin typeface="+mn-lt"/>
                <a:ea typeface="+mn-ea"/>
                <a:cs typeface="+mn-cs"/>
              </a:defRPr>
            </a:lvl2pPr>
            <a:lvl3pPr marL="1172261" algn="l" defTabSz="1172261" rtl="0" eaLnBrk="1" latinLnBrk="0" hangingPunct="1">
              <a:defRPr sz="2308" kern="1200">
                <a:solidFill>
                  <a:schemeClr val="tx1"/>
                </a:solidFill>
                <a:latin typeface="+mn-lt"/>
                <a:ea typeface="+mn-ea"/>
                <a:cs typeface="+mn-cs"/>
              </a:defRPr>
            </a:lvl3pPr>
            <a:lvl4pPr marL="1758391" algn="l" defTabSz="1172261" rtl="0" eaLnBrk="1" latinLnBrk="0" hangingPunct="1">
              <a:defRPr sz="2308" kern="1200">
                <a:solidFill>
                  <a:schemeClr val="tx1"/>
                </a:solidFill>
                <a:latin typeface="+mn-lt"/>
                <a:ea typeface="+mn-ea"/>
                <a:cs typeface="+mn-cs"/>
              </a:defRPr>
            </a:lvl4pPr>
            <a:lvl5pPr marL="2344522" algn="l" defTabSz="1172261" rtl="0" eaLnBrk="1" latinLnBrk="0" hangingPunct="1">
              <a:defRPr sz="2308" kern="1200">
                <a:solidFill>
                  <a:schemeClr val="tx1"/>
                </a:solidFill>
                <a:latin typeface="+mn-lt"/>
                <a:ea typeface="+mn-ea"/>
                <a:cs typeface="+mn-cs"/>
              </a:defRPr>
            </a:lvl5pPr>
            <a:lvl6pPr marL="2930652" algn="l" defTabSz="1172261" rtl="0" eaLnBrk="1" latinLnBrk="0" hangingPunct="1">
              <a:defRPr sz="2308" kern="1200">
                <a:solidFill>
                  <a:schemeClr val="tx1"/>
                </a:solidFill>
                <a:latin typeface="+mn-lt"/>
                <a:ea typeface="+mn-ea"/>
                <a:cs typeface="+mn-cs"/>
              </a:defRPr>
            </a:lvl6pPr>
            <a:lvl7pPr marL="3516782" algn="l" defTabSz="1172261" rtl="0" eaLnBrk="1" latinLnBrk="0" hangingPunct="1">
              <a:defRPr sz="2308" kern="1200">
                <a:solidFill>
                  <a:schemeClr val="tx1"/>
                </a:solidFill>
                <a:latin typeface="+mn-lt"/>
                <a:ea typeface="+mn-ea"/>
                <a:cs typeface="+mn-cs"/>
              </a:defRPr>
            </a:lvl7pPr>
            <a:lvl8pPr marL="4102913" algn="l" defTabSz="1172261" rtl="0" eaLnBrk="1" latinLnBrk="0" hangingPunct="1">
              <a:defRPr sz="2308" kern="1200">
                <a:solidFill>
                  <a:schemeClr val="tx1"/>
                </a:solidFill>
                <a:latin typeface="+mn-lt"/>
                <a:ea typeface="+mn-ea"/>
                <a:cs typeface="+mn-cs"/>
              </a:defRPr>
            </a:lvl8pPr>
            <a:lvl9pPr marL="4689043" algn="l" defTabSz="1172261" rtl="0" eaLnBrk="1" latinLnBrk="0" hangingPunct="1">
              <a:defRPr sz="2308" kern="1200">
                <a:solidFill>
                  <a:schemeClr val="tx1"/>
                </a:solidFill>
                <a:latin typeface="+mn-lt"/>
                <a:ea typeface="+mn-ea"/>
                <a:cs typeface="+mn-cs"/>
              </a:defRPr>
            </a:lvl9pPr>
          </a:lstStyle>
          <a:p>
            <a:fld id="{49A40DB5-B054-4B52-B27D-446721D6CC27}" type="slidenum">
              <a:rPr lang="en-US" sz="1177" smtClean="0"/>
              <a:pPr/>
              <a:t>‹#›</a:t>
            </a:fld>
            <a:endParaRPr lang="en-US" sz="1177" dirty="0"/>
          </a:p>
        </p:txBody>
      </p:sp>
      <p:pic>
        <p:nvPicPr>
          <p:cNvPr id="14" name="Picture 13">
            <a:extLst>
              <a:ext uri="{FF2B5EF4-FFF2-40B4-BE49-F238E27FC236}">
                <a16:creationId xmlns:a16="http://schemas.microsoft.com/office/drawing/2014/main" id="{2DF3BEF6-9E38-45B1-97EE-47997846C2E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4085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5364" name="Picture 4" descr="Image result for kia motors HQ">
            <a:extLst>
              <a:ext uri="{FF2B5EF4-FFF2-40B4-BE49-F238E27FC236}">
                <a16:creationId xmlns:a16="http://schemas.microsoft.com/office/drawing/2014/main" id="{7F3ACFE8-90CC-4B43-AE07-40731FF60D5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7643" r="10905" b="2450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820B2A3-6DEC-48BD-904B-6CFD85288AA6}"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58558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0BFFF1F-8D9F-49EF-AB66-392D21916FF4}"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5159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B06CE19-0D13-4877-89E5-DE0488747EB0}"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4038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D84ECB-CD7C-4B53-868B-8B9C84EFE3E5}"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1553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BB33170-991C-4F2E-8341-1F4D29A9C1A4}"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4377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4CDD809-FD8E-4297-82D9-21DF4F1C1BFB}"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432043" y="2679540"/>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020624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DB3C964-2E03-4AFA-B90C-619A2255423F}"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39344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AC31BCD0-E589-45D2-973A-7DB1D9846ACB}" type="datetime1">
              <a:rPr lang="en-US" smtClean="0"/>
              <a:t>11/7/2025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888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8019775-0498-4EA6-A019-48733BDE3441}" type="datetime1">
              <a:rPr lang="en-US" smtClean="0"/>
              <a:t>11/7/2025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39997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7BDB60B-B357-4CF5-85CE-EDF13D76A701}"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03497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E0ECDFF-B3DE-4852-A472-7B80AB90681A}"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259353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28390BE-79F7-4F03-A216-A237DED0C038}"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90560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3497A-B2A6-4FF7-9D34-C7602AF58866}"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08992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DB2FD54A-1D4F-4ED5-8EFC-78966C01232B}" type="datetime1">
              <a:rPr lang="en-US" smtClean="0"/>
              <a:t>11/7/2025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248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EC09FD23-289C-431D-80FA-52BDFEE9BFF4}" type="datetime1">
              <a:rPr lang="en-US" smtClean="0"/>
              <a:t>11/7/2025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12924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1F126EF0-0169-403B-A728-98DFF1367DE5}" type="datetime1">
              <a:rPr lang="en-US" smtClean="0"/>
              <a:t>11/7/2025</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6825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BD368E58-9057-4451-887B-934AD11B5C57}"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674065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0367488-5C47-468F-8192-2A578E30B425}" type="datetime1">
              <a:rPr lang="en-US" smtClean="0"/>
              <a:t>11/7/2025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3969757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954E7E3-33DD-4F8E-8CB0-79CABD017A7B}"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1678185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DF71C59-5961-44CF-B659-EC93B8A3CED4}"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39371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9B20E83-FE03-477A-BEBC-E4A9F2F442F3}" type="datetime1">
              <a:rPr lang="en-US" smtClean="0"/>
              <a:t>11/7/2025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607831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679BE240-3924-430B-8E7A-A11BECDAE8EC}" type="datetime1">
              <a:rPr lang="en-US" smtClean="0"/>
              <a:t>11/7/2025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662627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924683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9062AE9-38A0-4182-BCD1-E0AE29AB0D6F}" type="datetime1">
              <a:rPr lang="en-US" smtClean="0"/>
              <a:t>11/7/2025</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661760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mailto:ryanbla@zillow.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Zillow Group</a:t>
            </a:r>
          </a:p>
        </p:txBody>
      </p:sp>
      <p:pic>
        <p:nvPicPr>
          <p:cNvPr id="7" name="Picture 2" descr="http://syndication.mfrmls.com/wp-content/uploads/2014/11/Zillow-Group-Logo-w-Zillow-Trulia-Logos.png">
            <a:extLst>
              <a:ext uri="{FF2B5EF4-FFF2-40B4-BE49-F238E27FC236}">
                <a16:creationId xmlns:a16="http://schemas.microsoft.com/office/drawing/2014/main" id="{D56EAD77-75AC-428B-B540-EF1062412A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00"/>
          <a:stretch/>
        </p:blipFill>
        <p:spPr bwMode="auto">
          <a:xfrm>
            <a:off x="8543638" y="2185964"/>
            <a:ext cx="3764758" cy="10838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0BE4B00-E846-46AE-94D9-16BCCEEEB2D6}"/>
              </a:ext>
            </a:extLst>
          </p:cNvPr>
          <p:cNvSpPr txBox="1"/>
          <p:nvPr/>
        </p:nvSpPr>
        <p:spPr>
          <a:xfrm>
            <a:off x="381000" y="1270978"/>
            <a:ext cx="8162638" cy="1943000"/>
          </a:xfrm>
          <a:prstGeom prst="rect">
            <a:avLst/>
          </a:prstGeom>
          <a:noFill/>
        </p:spPr>
        <p:txBody>
          <a:bodyPr wrap="square" rtlCol="0">
            <a:no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96A9"/>
                </a:solidFill>
                <a:effectLst/>
                <a:uLnTx/>
                <a:uFillTx/>
                <a:latin typeface="Segoe UI" panose="020B0502040204020203" pitchFamily="34" charset="0"/>
                <a:ea typeface="+mn-ea"/>
                <a:cs typeface="Segoe UI" panose="020B0502040204020203" pitchFamily="34" charset="0"/>
              </a:rPr>
              <a:t>What We Did </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Zillow acquired Trulia in the marketplace and needed to merge their companies to share their productivity suite. </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Due to complexity of IT dependencies, they needed to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leverage newer technologies </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at the time, such as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AADSync to support multi-forest configurations</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Affirma, as a managed Microsoft Partner, successfully sync’d and migrated Trulia’s email accounts from Intermedia to the Office 365 platform while keeping both forests separate to meet business needs and requirements. </a:t>
            </a:r>
          </a:p>
          <a:p>
            <a:pPr marL="0" marR="0" lvl="0" indent="0" algn="l" defTabSz="976845" rtl="0" eaLnBrk="1" fontAlgn="auto" latinLnBrk="0" hangingPunct="1">
              <a:lnSpc>
                <a:spcPct val="120000"/>
              </a:lnSpc>
              <a:spcBef>
                <a:spcPts val="0"/>
              </a:spcBef>
              <a:spcAft>
                <a:spcPts val="0"/>
              </a:spcAft>
              <a:buClrTx/>
              <a:buSzTx/>
              <a:buFontTx/>
              <a:buNone/>
              <a:tabLst/>
              <a:defRPr/>
            </a:pPr>
            <a:endParaRPr kumimoji="0" lang="en-US" sz="583" b="0" i="0" u="none" strike="noStrike" kern="1200" cap="none" spc="0" normalizeH="0" baseline="0" noProof="0" dirty="0">
              <a:ln>
                <a:noFill/>
              </a:ln>
              <a:solidFill>
                <a:prstClr val="black"/>
              </a:solidFill>
              <a:effectLst/>
              <a:uLnTx/>
              <a:uFillTx/>
              <a:latin typeface="Segoe UI" panose="020B0502040204020203" pitchFamily="34" charset="0"/>
              <a:ea typeface="MS Mincho" panose="02020609040205080304" pitchFamily="49" charset="-128"/>
              <a:cs typeface="Segoe UI" panose="020B0502040204020203" pitchFamily="34" charset="0"/>
            </a:endParaRPr>
          </a:p>
        </p:txBody>
      </p:sp>
      <p:sp>
        <p:nvSpPr>
          <p:cNvPr id="10" name="Rectangle 9">
            <a:extLst>
              <a:ext uri="{FF2B5EF4-FFF2-40B4-BE49-F238E27FC236}">
                <a16:creationId xmlns:a16="http://schemas.microsoft.com/office/drawing/2014/main" id="{5B59B699-1906-44BE-B408-526E332E8E98}"/>
              </a:ext>
            </a:extLst>
          </p:cNvPr>
          <p:cNvSpPr/>
          <p:nvPr/>
        </p:nvSpPr>
        <p:spPr>
          <a:xfrm>
            <a:off x="358766" y="3325654"/>
            <a:ext cx="11649364" cy="1615827"/>
          </a:xfrm>
          <a:prstGeom prst="rect">
            <a:avLst/>
          </a:prstGeom>
        </p:spPr>
        <p:txBody>
          <a:bodyPr wrap="square">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96A9"/>
                </a:solidFill>
                <a:effectLst/>
                <a:uLnTx/>
                <a:uFillTx/>
                <a:latin typeface="Segoe UI" panose="020B0502040204020203" pitchFamily="34" charset="0"/>
                <a:ea typeface="+mn-ea"/>
                <a:cs typeface="Segoe UI" panose="020B0502040204020203" pitchFamily="34" charset="0"/>
              </a:rPr>
              <a:t>The Result</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Zillow was emphatically satisfied with Affirma’s project team and with the final product. In addition to Zillow being overjoyed, Microsoft celebrated Affirma’s ability to navigate this complex deployment. Zillow is still enjoying the advanced capabilities and up-to-date functionality that the Office 365 platform provides. The Zillow team appreciated Affirma’s ability to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work within an exact timeline</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is thrilled with the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successful migration </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of Trulia’s email accounts and Affirma’s ability to handle the complexities that come with </a:t>
            </a:r>
            <a:r>
              <a:rPr kumimoji="0" lang="en-US" sz="1500" b="1"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migrating 2,000+ users. </a:t>
            </a:r>
          </a:p>
        </p:txBody>
      </p:sp>
      <p:sp>
        <p:nvSpPr>
          <p:cNvPr id="11" name="TextBox 10">
            <a:extLst>
              <a:ext uri="{FF2B5EF4-FFF2-40B4-BE49-F238E27FC236}">
                <a16:creationId xmlns:a16="http://schemas.microsoft.com/office/drawing/2014/main" id="{9D7CB48E-052C-4E32-BA53-02158F5DD915}"/>
              </a:ext>
            </a:extLst>
          </p:cNvPr>
          <p:cNvSpPr txBox="1"/>
          <p:nvPr/>
        </p:nvSpPr>
        <p:spPr>
          <a:xfrm>
            <a:off x="381000" y="5462570"/>
            <a:ext cx="7308651" cy="1246495"/>
          </a:xfrm>
          <a:prstGeom prst="rect">
            <a:avLst/>
          </a:prstGeom>
          <a:noFill/>
        </p:spPr>
        <p:txBody>
          <a:bodyPr wrap="square" rtlCol="0">
            <a:spAutoFit/>
          </a:bodyPr>
          <a:lstStyle/>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Street Address: 1301 Second Avenue, Floor 31 Seattle, WA 98101</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Contact Person: Ryan Blackbourn</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Title: Director of Systems Engineering</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Email: </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hlinkClick r:id="rId4">
                  <a:extLst>
                    <a:ext uri="{A12FA001-AC4F-418D-AE19-62706E023703}">
                      <ahyp:hlinkClr xmlns:ahyp="http://schemas.microsoft.com/office/drawing/2018/hyperlinkcolor" val="tx"/>
                    </a:ext>
                  </a:extLst>
                </a:hlinkClick>
              </a:rPr>
              <a:t>ryanbla@zillow.com</a:t>
            </a: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a:t>
            </a:r>
          </a:p>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Project: O365 Migration</a:t>
            </a:r>
          </a:p>
        </p:txBody>
      </p:sp>
      <p:sp>
        <p:nvSpPr>
          <p:cNvPr id="12" name="Rectangle 11">
            <a:extLst>
              <a:ext uri="{FF2B5EF4-FFF2-40B4-BE49-F238E27FC236}">
                <a16:creationId xmlns:a16="http://schemas.microsoft.com/office/drawing/2014/main" id="{8DB169A6-CB6D-4310-81FD-1A36D104A889}"/>
              </a:ext>
            </a:extLst>
          </p:cNvPr>
          <p:cNvSpPr/>
          <p:nvPr/>
        </p:nvSpPr>
        <p:spPr>
          <a:xfrm>
            <a:off x="381000" y="5050544"/>
            <a:ext cx="2626873" cy="427425"/>
          </a:xfrm>
          <a:prstGeom prst="rect">
            <a:avLst/>
          </a:prstGeom>
        </p:spPr>
        <p:txBody>
          <a:bodyPr wrap="none">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96A9"/>
                </a:solidFill>
                <a:effectLst/>
                <a:uLnTx/>
                <a:uFillTx/>
                <a:latin typeface="Segoe UI" panose="020B0502040204020203" pitchFamily="34" charset="0"/>
                <a:ea typeface="+mn-ea"/>
                <a:cs typeface="Segoe UI" panose="020B0502040204020203" pitchFamily="34" charset="0"/>
              </a:rPr>
              <a:t>Project Information:</a:t>
            </a:r>
          </a:p>
        </p:txBody>
      </p:sp>
      <p:sp>
        <p:nvSpPr>
          <p:cNvPr id="3" name="Slide Number Placeholder 2">
            <a:extLst>
              <a:ext uri="{FF2B5EF4-FFF2-40B4-BE49-F238E27FC236}">
                <a16:creationId xmlns:a16="http://schemas.microsoft.com/office/drawing/2014/main" id="{904F7696-3070-427A-BB1C-9BD32E6EC482}"/>
              </a:ext>
            </a:extLst>
          </p:cNvPr>
          <p:cNvSpPr>
            <a:spLocks noGrp="1"/>
          </p:cNvSpPr>
          <p:nvPr>
            <p:ph type="sldNum" sz="quarter" idx="12"/>
          </p:nvPr>
        </p:nvSpPr>
        <p:spPr/>
        <p:txBody>
          <a:bodyPr/>
          <a:lstStyle/>
          <a:p>
            <a:pPr marL="0" marR="0" lvl="0" indent="0" algn="r" defTabSz="976845" rtl="0" eaLnBrk="1" fontAlgn="auto" latinLnBrk="0" hangingPunct="1">
              <a:lnSpc>
                <a:spcPct val="100000"/>
              </a:lnSpc>
              <a:spcBef>
                <a:spcPts val="0"/>
              </a:spcBef>
              <a:spcAft>
                <a:spcPts val="0"/>
              </a:spcAft>
              <a:buClrTx/>
              <a:buSzTx/>
              <a:buFontTx/>
              <a:buNone/>
              <a:tabLst/>
              <a:defRPr/>
            </a:pPr>
            <a:fld id="{49A40DB5-B054-4B52-B27D-446721D6CC27}" type="slidenum">
              <a:rPr kumimoji="0" lang="en-US" sz="1177" b="0" i="0" u="none" strike="noStrike" kern="1200" cap="none" spc="0" normalizeH="0" baseline="0" noProof="0">
                <a:ln>
                  <a:noFill/>
                </a:ln>
                <a:solidFill>
                  <a:prstClr val="black">
                    <a:tint val="75000"/>
                  </a:prstClr>
                </a:solidFill>
                <a:effectLst/>
                <a:uLnTx/>
                <a:uFillTx/>
                <a:latin typeface="Segoe UI" panose="020B0502040204020203" pitchFamily="34" charset="0"/>
                <a:ea typeface="+mn-ea"/>
                <a:cs typeface="+mn-cs"/>
              </a:rPr>
              <a:pPr marL="0" marR="0" lvl="0" indent="0" algn="r" defTabSz="976845" rtl="0" eaLnBrk="1" fontAlgn="auto" latinLnBrk="0" hangingPunct="1">
                <a:lnSpc>
                  <a:spcPct val="100000"/>
                </a:lnSpc>
                <a:spcBef>
                  <a:spcPts val="0"/>
                </a:spcBef>
                <a:spcAft>
                  <a:spcPts val="0"/>
                </a:spcAft>
                <a:buClrTx/>
                <a:buSzTx/>
                <a:buFontTx/>
                <a:buNone/>
                <a:tabLst/>
                <a:defRPr/>
              </a:pPr>
              <a:t>1</a:t>
            </a:fld>
            <a:endParaRPr kumimoji="0" lang="en-US" sz="1177" b="0" i="0" u="none" strike="noStrike" kern="1200" cap="none" spc="0" normalizeH="0" baseline="0" noProof="0" dirty="0">
              <a:ln>
                <a:noFill/>
              </a:ln>
              <a:solidFill>
                <a:prstClr val="black">
                  <a:tint val="75000"/>
                </a:prstClr>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207531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BusinessUnit>
    <Solutions xmlns="f0ee8362-fa7e-4bc9-ab88-7dcfb17cb19b">
      <Value>Migrations</Value>
    </Solutions>
    <Industries xmlns="f0ee8362-fa7e-4bc9-ab88-7dcfb17cb19b">
      <Value>Real Estate</Value>
    </Industries>
    <Notes0 xmlns="f0ee8362-fa7e-4bc9-ab88-7dcfb17cb19b" xsi:nil="true"/>
    <Named_x0020_Account xmlns="f0ee8362-fa7e-4bc9-ab88-7dcfb17cb19b" xsi:nil="true"/>
    <PlatTech xmlns="f0ee8362-fa7e-4bc9-ab88-7dcfb17cb19b">
      <Value>O365</Value>
    </PlatTech>
    <ProjectCompletionDate xmlns="f0ee8362-fa7e-4bc9-ab88-7dcfb17cb19b" xsi:nil="true"/>
    <ApprovedByClient xmlns="f0ee8362-fa7e-4bc9-ab88-7dcfb17cb19b">false</ApprovedByClien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88092491-8E1F-44C4-B494-B9403D67971D}">
  <ds:schemaRefs>
    <ds:schemaRef ds:uri="http://purl.org/dc/dcmitype/"/>
    <ds:schemaRef ds:uri="http://schemas.microsoft.com/office/2006/metadata/properties"/>
    <ds:schemaRef ds:uri="http://purl.org/dc/terms/"/>
    <ds:schemaRef ds:uri="http://schemas.microsoft.com/office/infopath/2007/PartnerControls"/>
    <ds:schemaRef ds:uri="a3d6d3c3-969a-4db5-a798-6d92184358aa"/>
    <ds:schemaRef ds:uri="http://purl.org/dc/elements/1.1/"/>
    <ds:schemaRef ds:uri="http://schemas.microsoft.com/office/2006/documentManagement/types"/>
    <ds:schemaRef ds:uri="http://www.w3.org/XML/1998/namespace"/>
    <ds:schemaRef ds:uri="http://schemas.openxmlformats.org/package/2006/metadata/core-properties"/>
    <ds:schemaRef ds:uri="357972b2-b7ed-48bc-bbb4-0804bacba9d2"/>
    <ds:schemaRef ds:uri="54243e05-8da7-404c-85e0-0480aaa26276"/>
    <ds:schemaRef ds:uri="f0ee8362-fa7e-4bc9-ab88-7dcfb17cb19b"/>
  </ds:schemaRefs>
</ds:datastoreItem>
</file>

<file path=customXml/itemProps2.xml><?xml version="1.0" encoding="utf-8"?>
<ds:datastoreItem xmlns:ds="http://schemas.openxmlformats.org/officeDocument/2006/customXml" ds:itemID="{E80DF507-3597-4089-8A4A-59588C4B48E6}"/>
</file>

<file path=customXml/itemProps3.xml><?xml version="1.0" encoding="utf-8"?>
<ds:datastoreItem xmlns:ds="http://schemas.openxmlformats.org/officeDocument/2006/customXml" ds:itemID="{50144D80-228A-425B-8BE0-62972533C87D}">
  <ds:schemaRefs>
    <ds:schemaRef ds:uri="http://schemas.microsoft.com/sharepoint/v3/contenttype/forms"/>
  </ds:schemaRefs>
</ds:datastoreItem>
</file>

<file path=customXml/itemProps4.xml><?xml version="1.0" encoding="utf-8"?>
<ds:datastoreItem xmlns:ds="http://schemas.openxmlformats.org/officeDocument/2006/customXml" ds:itemID="{14FD37AF-796D-4E11-A9DF-A9BE326C9A54}">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2</TotalTime>
  <Words>210</Words>
  <Application>Microsoft Office PowerPoint</Application>
  <PresentationFormat>Widescreen</PresentationFormat>
  <Paragraphs>14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 Design</vt:lpstr>
      <vt:lpstr>Zillow Group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Zillow Exchange Migration</dc:title>
  <dc:creator>Maria Mejia-Henao</dc:creator>
  <cp:lastModifiedBy>Maria Mejia-Henao</cp:lastModifiedBy>
  <cp:revision>8</cp:revision>
  <dcterms:created xsi:type="dcterms:W3CDTF">2020-05-26T21:23:08Z</dcterms:created>
  <dcterms:modified xsi:type="dcterms:W3CDTF">2025-11-07T21:58:42Z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52;#Real Estate|1d81d80d-52f1-49af-8094-d454e8f55856</vt:lpwstr>
  </property>
  <property fmtid="{D5CDD505-2E9C-101B-9397-08002B2CF9AE}" pid="11" name="Service_x0020_Offering">
    <vt:lpwstr/>
  </property>
  <property fmtid="{D5CDD505-2E9C-101B-9397-08002B2CF9AE}" pid="12" name="Business_x0020_Unit">
    <vt:lpwstr/>
  </property>
  <property fmtid="{D5CDD505-2E9C-101B-9397-08002B2CF9AE}" pid="13" name="_ExtendedDescription">
    <vt:lpwstr/>
  </property>
  <property fmtid="{D5CDD505-2E9C-101B-9397-08002B2CF9AE}" pid="14" name="Service Offering">
    <vt:lpwstr/>
  </property>
  <property fmtid="{D5CDD505-2E9C-101B-9397-08002B2CF9AE}" pid="15" name="Category">
    <vt:lpwstr>6;#Case Study|8faa0ad1-25f0-4f56-8e38-f60e20c455d6</vt:lpwstr>
  </property>
  <property fmtid="{D5CDD505-2E9C-101B-9397-08002B2CF9AE}" pid="16" name="Order">
    <vt:r8>75200</vt:r8>
  </property>
  <property fmtid="{D5CDD505-2E9C-101B-9397-08002B2CF9AE}" pid="17" name="SO">
    <vt:lpwstr>1;#;#13;#;#25;#</vt:lpwstr>
  </property>
  <property fmtid="{D5CDD505-2E9C-101B-9397-08002B2CF9AE}" pid="18" name="TriggerFlowInfo">
    <vt:lpwstr/>
  </property>
</Properties>
</file>