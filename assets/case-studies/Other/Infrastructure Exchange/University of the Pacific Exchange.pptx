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135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B74A99-3382-34A6-5A9A-1A4A415862A3}" v="3" dt="2025-11-07T22:00:04.7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hys Jones" userId="S::rhysj@affirma.com::832c213d-a09b-4bb8-aad4-12c565ba4c4c" providerId="AD" clId="Web-{1DB74A99-3382-34A6-5A9A-1A4A415862A3}"/>
    <pc:docChg chg="modSld">
      <pc:chgData name="Rhys Jones" userId="S::rhysj@affirma.com::832c213d-a09b-4bb8-aad4-12c565ba4c4c" providerId="AD" clId="Web-{1DB74A99-3382-34A6-5A9A-1A4A415862A3}" dt="2025-11-07T22:00:03.865" v="1" actId="20577"/>
      <pc:docMkLst>
        <pc:docMk/>
      </pc:docMkLst>
      <pc:sldChg chg="modSp">
        <pc:chgData name="Rhys Jones" userId="S::rhysj@affirma.com::832c213d-a09b-4bb8-aad4-12c565ba4c4c" providerId="AD" clId="Web-{1DB74A99-3382-34A6-5A9A-1A4A415862A3}" dt="2025-11-07T22:00:03.865" v="1" actId="20577"/>
        <pc:sldMkLst>
          <pc:docMk/>
          <pc:sldMk cId="1980905345" sldId="1356"/>
        </pc:sldMkLst>
        <pc:spChg chg="mod">
          <ac:chgData name="Rhys Jones" userId="S::rhysj@affirma.com::832c213d-a09b-4bb8-aad4-12c565ba4c4c" providerId="AD" clId="Web-{1DB74A99-3382-34A6-5A9A-1A4A415862A3}" dt="2025-11-07T22:00:03.865" v="1" actId="20577"/>
          <ac:spMkLst>
            <pc:docMk/>
            <pc:sldMk cId="1980905345" sldId="1356"/>
            <ac:spMk id="8" creationId="{1FD2EA8C-1FA5-4C90-80C5-AA67CECAA8D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50C03F-FB8C-41D6-83D0-C84636DDB02E}"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E4BA90-4187-4326-B41D-68CD57FC83AB}" type="slidenum">
              <a:rPr lang="en-US" smtClean="0"/>
              <a:t>‹#›</a:t>
            </a:fld>
            <a:endParaRPr lang="en-US"/>
          </a:p>
        </p:txBody>
      </p:sp>
    </p:spTree>
    <p:extLst>
      <p:ext uri="{BB962C8B-B14F-4D97-AF65-F5344CB8AC3E}">
        <p14:creationId xmlns:p14="http://schemas.microsoft.com/office/powerpoint/2010/main" val="3552495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214521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A526457-AFF9-4C64-ACA9-57BFCF79B20E}"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
        <p:nvSpPr>
          <p:cNvPr id="11" name="Rectangle 10">
            <a:extLst>
              <a:ext uri="{FF2B5EF4-FFF2-40B4-BE49-F238E27FC236}">
                <a16:creationId xmlns:a16="http://schemas.microsoft.com/office/drawing/2014/main" id="{E668A5FB-A35F-4120-A0D4-DDE534D458D5}"/>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13" name="Slide Number Placeholder 4">
            <a:extLst>
              <a:ext uri="{FF2B5EF4-FFF2-40B4-BE49-F238E27FC236}">
                <a16:creationId xmlns:a16="http://schemas.microsoft.com/office/drawing/2014/main" id="{471800EB-F6BF-4776-B506-3056304E5AE7}"/>
              </a:ext>
            </a:extLst>
          </p:cNvPr>
          <p:cNvSpPr txBox="1">
            <a:spLocks/>
          </p:cNvSpPr>
          <p:nvPr userDrawn="1"/>
        </p:nvSpPr>
        <p:spPr>
          <a:xfrm>
            <a:off x="11277600" y="6356805"/>
            <a:ext cx="533400" cy="304800"/>
          </a:xfrm>
          <a:prstGeom prst="rect">
            <a:avLst/>
          </a:prstGeom>
        </p:spPr>
        <p:txBody>
          <a:bodyPr vert="horz" lIns="76200" tIns="38100" rIns="76200" bIns="38100" rtlCol="0" anchor="ctr"/>
          <a:lstStyle>
            <a:defPPr>
              <a:defRPr lang="en-US"/>
            </a:defPPr>
            <a:lvl1pPr marL="0" algn="r" defTabSz="1172261" rtl="0" eaLnBrk="1" latinLnBrk="0" hangingPunct="1">
              <a:defRPr sz="1412" kern="1200">
                <a:solidFill>
                  <a:schemeClr val="tx1">
                    <a:tint val="75000"/>
                  </a:schemeClr>
                </a:solidFill>
                <a:latin typeface="Segoe UI" panose="020B0502040204020203" pitchFamily="34" charset="0"/>
                <a:ea typeface="+mn-ea"/>
                <a:cs typeface="+mn-cs"/>
              </a:defRPr>
            </a:lvl1pPr>
            <a:lvl2pPr marL="586130" algn="l" defTabSz="1172261" rtl="0" eaLnBrk="1" latinLnBrk="0" hangingPunct="1">
              <a:defRPr sz="2308" kern="1200">
                <a:solidFill>
                  <a:schemeClr val="tx1"/>
                </a:solidFill>
                <a:latin typeface="+mn-lt"/>
                <a:ea typeface="+mn-ea"/>
                <a:cs typeface="+mn-cs"/>
              </a:defRPr>
            </a:lvl2pPr>
            <a:lvl3pPr marL="1172261" algn="l" defTabSz="1172261" rtl="0" eaLnBrk="1" latinLnBrk="0" hangingPunct="1">
              <a:defRPr sz="2308" kern="1200">
                <a:solidFill>
                  <a:schemeClr val="tx1"/>
                </a:solidFill>
                <a:latin typeface="+mn-lt"/>
                <a:ea typeface="+mn-ea"/>
                <a:cs typeface="+mn-cs"/>
              </a:defRPr>
            </a:lvl3pPr>
            <a:lvl4pPr marL="1758391" algn="l" defTabSz="1172261" rtl="0" eaLnBrk="1" latinLnBrk="0" hangingPunct="1">
              <a:defRPr sz="2308" kern="1200">
                <a:solidFill>
                  <a:schemeClr val="tx1"/>
                </a:solidFill>
                <a:latin typeface="+mn-lt"/>
                <a:ea typeface="+mn-ea"/>
                <a:cs typeface="+mn-cs"/>
              </a:defRPr>
            </a:lvl4pPr>
            <a:lvl5pPr marL="2344522" algn="l" defTabSz="1172261" rtl="0" eaLnBrk="1" latinLnBrk="0" hangingPunct="1">
              <a:defRPr sz="2308" kern="1200">
                <a:solidFill>
                  <a:schemeClr val="tx1"/>
                </a:solidFill>
                <a:latin typeface="+mn-lt"/>
                <a:ea typeface="+mn-ea"/>
                <a:cs typeface="+mn-cs"/>
              </a:defRPr>
            </a:lvl5pPr>
            <a:lvl6pPr marL="2930652" algn="l" defTabSz="1172261" rtl="0" eaLnBrk="1" latinLnBrk="0" hangingPunct="1">
              <a:defRPr sz="2308" kern="1200">
                <a:solidFill>
                  <a:schemeClr val="tx1"/>
                </a:solidFill>
                <a:latin typeface="+mn-lt"/>
                <a:ea typeface="+mn-ea"/>
                <a:cs typeface="+mn-cs"/>
              </a:defRPr>
            </a:lvl6pPr>
            <a:lvl7pPr marL="3516782" algn="l" defTabSz="1172261" rtl="0" eaLnBrk="1" latinLnBrk="0" hangingPunct="1">
              <a:defRPr sz="2308" kern="1200">
                <a:solidFill>
                  <a:schemeClr val="tx1"/>
                </a:solidFill>
                <a:latin typeface="+mn-lt"/>
                <a:ea typeface="+mn-ea"/>
                <a:cs typeface="+mn-cs"/>
              </a:defRPr>
            </a:lvl7pPr>
            <a:lvl8pPr marL="4102913" algn="l" defTabSz="1172261" rtl="0" eaLnBrk="1" latinLnBrk="0" hangingPunct="1">
              <a:defRPr sz="2308" kern="1200">
                <a:solidFill>
                  <a:schemeClr val="tx1"/>
                </a:solidFill>
                <a:latin typeface="+mn-lt"/>
                <a:ea typeface="+mn-ea"/>
                <a:cs typeface="+mn-cs"/>
              </a:defRPr>
            </a:lvl8pPr>
            <a:lvl9pPr marL="4689043" algn="l" defTabSz="1172261" rtl="0" eaLnBrk="1" latinLnBrk="0" hangingPunct="1">
              <a:defRPr sz="2308" kern="1200">
                <a:solidFill>
                  <a:schemeClr val="tx1"/>
                </a:solidFill>
                <a:latin typeface="+mn-lt"/>
                <a:ea typeface="+mn-ea"/>
                <a:cs typeface="+mn-cs"/>
              </a:defRPr>
            </a:lvl9pPr>
          </a:lstStyle>
          <a:p>
            <a:fld id="{49A40DB5-B054-4B52-B27D-446721D6CC27}" type="slidenum">
              <a:rPr lang="en-US" sz="1177" smtClean="0"/>
              <a:pPr/>
              <a:t>‹#›</a:t>
            </a:fld>
            <a:endParaRPr lang="en-US" sz="1177" dirty="0"/>
          </a:p>
        </p:txBody>
      </p:sp>
      <p:pic>
        <p:nvPicPr>
          <p:cNvPr id="14" name="Picture 13">
            <a:extLst>
              <a:ext uri="{FF2B5EF4-FFF2-40B4-BE49-F238E27FC236}">
                <a16:creationId xmlns:a16="http://schemas.microsoft.com/office/drawing/2014/main" id="{2DF3BEF6-9E38-45B1-97EE-47997846C2E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40854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5364" name="Picture 4" descr="Image result for kia motors HQ">
            <a:extLst>
              <a:ext uri="{FF2B5EF4-FFF2-40B4-BE49-F238E27FC236}">
                <a16:creationId xmlns:a16="http://schemas.microsoft.com/office/drawing/2014/main" id="{7F3ACFE8-90CC-4B43-AE07-40731FF60D54}"/>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7643" r="10905" b="24509"/>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820B2A3-6DEC-48BD-904B-6CFD85288AA6}"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58558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0BFFF1F-8D9F-49EF-AB66-392D21916FF4}"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5159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B06CE19-0D13-4877-89E5-DE0488747EB0}"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40384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FD84ECB-CD7C-4B53-868B-8B9C84EFE3E5}"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115533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BB33170-991C-4F2E-8341-1F4D29A9C1A4}"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4377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0" y="-1"/>
            <a:ext cx="12192000" cy="6858001"/>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4CDD809-FD8E-4297-82D9-21DF4F1C1BFB}"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1432043" y="2679540"/>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020624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DB3C964-2E03-4AFA-B90C-619A2255423F}"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39344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AC31BCD0-E589-45D2-973A-7DB1D9846ACB}" type="datetime1">
              <a:rPr lang="en-US" smtClean="0"/>
              <a:t>11/7/2025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8887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98019775-0498-4EA6-A019-48733BDE3441}" type="datetime1">
              <a:rPr lang="en-US" smtClean="0"/>
              <a:t>11/7/2025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239997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7BDB60B-B357-4CF5-85CE-EDF13D76A701}"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403497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E0ECDFF-B3DE-4852-A472-7B80AB90681A}"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259353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28390BE-79F7-4F03-A216-A237DED0C038}"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590560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43497A-B2A6-4FF7-9D34-C7602AF58866}"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8089928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DB2FD54A-1D4F-4ED5-8EFC-78966C01232B}" type="datetime1">
              <a:rPr lang="en-US" smtClean="0"/>
              <a:t>11/7/2025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248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EC09FD23-289C-431D-80FA-52BDFEE9BFF4}" type="datetime1">
              <a:rPr lang="en-US" smtClean="0"/>
              <a:t>11/7/2025</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12924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1F126EF0-0169-403B-A728-98DFF1367DE5}" type="datetime1">
              <a:rPr lang="en-US" smtClean="0"/>
              <a:t>11/7/2025</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568252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BD368E58-9057-4451-887B-934AD11B5C57}" type="datetime1">
              <a:rPr lang="en-US" smtClean="0"/>
              <a:t>11/7/2025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6740653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0367488-5C47-468F-8192-2A578E30B425}"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3969757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954E7E3-33DD-4F8E-8CB0-79CABD017A7B}" type="datetime1">
              <a:rPr lang="en-US" smtClean="0"/>
              <a:t>11/7/2025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1678185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CDF71C59-5961-44CF-B659-EC93B8A3CED4}" type="datetime1">
              <a:rPr lang="en-US" smtClean="0"/>
              <a:t>11/7/2025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393717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19B20E83-FE03-477A-BEBC-E4A9F2F442F3}" type="datetime1">
              <a:rPr lang="en-US" smtClean="0"/>
              <a:t>11/7/2025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6078311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679BE240-3924-430B-8E7A-A11BECDAE8EC}" type="datetime1">
              <a:rPr lang="en-US" smtClean="0"/>
              <a:t>11/7/2025</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662627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924683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39062AE9-38A0-4182-BCD1-E0AE29AB0D6F}" type="datetime1">
              <a:rPr lang="en-US" smtClean="0"/>
              <a:t>11/7/2025</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2661760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21F60E-4370-4506-9FD0-8986FEF56C06}"/>
              </a:ext>
            </a:extLst>
          </p:cNvPr>
          <p:cNvSpPr>
            <a:spLocks noGrp="1"/>
          </p:cNvSpPr>
          <p:nvPr>
            <p:ph type="title"/>
          </p:nvPr>
        </p:nvSpPr>
        <p:spPr/>
        <p:txBody>
          <a:bodyPr/>
          <a:lstStyle/>
          <a:p>
            <a:r>
              <a:rPr lang="en-US" dirty="0"/>
              <a:t>The University of the Pacific </a:t>
            </a:r>
          </a:p>
        </p:txBody>
      </p:sp>
      <p:sp>
        <p:nvSpPr>
          <p:cNvPr id="7" name="Rectangle 6">
            <a:extLst>
              <a:ext uri="{FF2B5EF4-FFF2-40B4-BE49-F238E27FC236}">
                <a16:creationId xmlns:a16="http://schemas.microsoft.com/office/drawing/2014/main" id="{827DD582-F9C3-4229-9B49-EBE751CA9B2E}"/>
              </a:ext>
            </a:extLst>
          </p:cNvPr>
          <p:cNvSpPr/>
          <p:nvPr/>
        </p:nvSpPr>
        <p:spPr>
          <a:xfrm>
            <a:off x="320860" y="1082187"/>
            <a:ext cx="8095777" cy="1936364"/>
          </a:xfrm>
          <a:prstGeom prst="rect">
            <a:avLst/>
          </a:prstGeom>
        </p:spPr>
        <p:txBody>
          <a:bodyPr wrap="square">
            <a:spAutoFit/>
          </a:bodyPr>
          <a:lstStyle/>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96A9"/>
                </a:solidFill>
                <a:effectLst/>
                <a:uLnTx/>
                <a:uFillTx/>
                <a:latin typeface="Segoe UI" panose="020B0502040204020203" pitchFamily="34" charset="0"/>
                <a:ea typeface="+mn-ea"/>
                <a:cs typeface="Segoe UI" panose="020B0502040204020203" pitchFamily="34" charset="0"/>
              </a:rPr>
              <a:t>What We Did </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University of the Pacific reached out to Affirma to help with their Microsoft Exchange 2010 SP3 migration project for approximately 3,000 faculty and staff accounts. With increased phishing and spam attacks on their existing hardware, as well as a power outage at one of their satellite locations it was clear that their current infrastructure needed to be updated. The chose to move to Microsoft O365. They also had a </a:t>
            </a:r>
            <a:r>
              <a:rPr kumimoji="0" lang="en-US" sz="1500" b="1"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Veritas Enterprise Vault v11 </a:t>
            </a: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deployed for archiving that needed to also be migrated.</a:t>
            </a:r>
          </a:p>
          <a:p>
            <a:pPr marL="0" marR="0" lvl="0" indent="0" algn="l" defTabSz="976845" rtl="0" eaLnBrk="1" fontAlgn="auto" latinLnBrk="0" hangingPunct="1">
              <a:lnSpc>
                <a:spcPct val="100000"/>
              </a:lnSpc>
              <a:spcBef>
                <a:spcPts val="0"/>
              </a:spcBef>
              <a:spcAft>
                <a:spcPts val="0"/>
              </a:spcAft>
              <a:buClrTx/>
              <a:buSzTx/>
              <a:buFontTx/>
              <a:buNone/>
              <a:tabLst/>
              <a:defRPr/>
            </a:pPr>
            <a:endParaRPr kumimoji="0" lang="en-US" sz="583" b="0" i="0" u="none" strike="noStrike" kern="1200" cap="none" spc="0" normalizeH="0" baseline="0" noProof="0" dirty="0">
              <a:ln>
                <a:noFill/>
              </a:ln>
              <a:solidFill>
                <a:prstClr val="black"/>
              </a:solidFill>
              <a:effectLst/>
              <a:uLnTx/>
              <a:uFillTx/>
              <a:latin typeface="Segoe UI" panose="020B0502040204020203" pitchFamily="34" charset="0"/>
              <a:ea typeface="MS Mincho" panose="02020609040205080304" pitchFamily="49" charset="-128"/>
              <a:cs typeface="Segoe UI" panose="020B0502040204020203" pitchFamily="34" charset="0"/>
            </a:endParaRPr>
          </a:p>
        </p:txBody>
      </p:sp>
      <p:sp>
        <p:nvSpPr>
          <p:cNvPr id="8" name="TextBox 7">
            <a:extLst>
              <a:ext uri="{FF2B5EF4-FFF2-40B4-BE49-F238E27FC236}">
                <a16:creationId xmlns:a16="http://schemas.microsoft.com/office/drawing/2014/main" id="{1FD2EA8C-1FA5-4C90-80C5-AA67CECAA8DA}"/>
              </a:ext>
            </a:extLst>
          </p:cNvPr>
          <p:cNvSpPr txBox="1"/>
          <p:nvPr/>
        </p:nvSpPr>
        <p:spPr>
          <a:xfrm>
            <a:off x="320860" y="5116741"/>
            <a:ext cx="7158182" cy="497508"/>
          </a:xfrm>
          <a:prstGeom prst="rect">
            <a:avLst/>
          </a:prstGeom>
          <a:noFill/>
        </p:spPr>
        <p:txBody>
          <a:bodyPr wrap="square" lIns="91440" tIns="45720" rIns="91440" bIns="45720" rtlCol="0" anchor="t">
            <a:spAutoFit/>
          </a:bodyPr>
          <a:lstStyle/>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Company Name: University of the Pacific</a:t>
            </a:r>
          </a:p>
          <a:p>
            <a:pPr marL="0" marR="0" lvl="0" indent="0" algn="l" defTabSz="976845" rtl="0" eaLnBrk="1" fontAlgn="auto" latinLnBrk="0" hangingPunct="1">
              <a:lnSpc>
                <a:spcPct val="100000"/>
              </a:lnSpc>
              <a:spcBef>
                <a:spcPts val="0"/>
              </a:spcBef>
              <a:spcAft>
                <a:spcPts val="0"/>
              </a:spcAft>
              <a:buClrTx/>
              <a:buSzTx/>
              <a:buFontTx/>
              <a:buNone/>
              <a:tabLst/>
              <a:defRPr/>
            </a:pPr>
            <a:endParaRPr lang="en-US" sz="13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endParaRPr>
          </a:p>
        </p:txBody>
      </p:sp>
      <p:sp>
        <p:nvSpPr>
          <p:cNvPr id="9" name="Rectangle 8">
            <a:extLst>
              <a:ext uri="{FF2B5EF4-FFF2-40B4-BE49-F238E27FC236}">
                <a16:creationId xmlns:a16="http://schemas.microsoft.com/office/drawing/2014/main" id="{C00ECEFE-2F3A-4BAA-9F03-3A5E810D62D4}"/>
              </a:ext>
            </a:extLst>
          </p:cNvPr>
          <p:cNvSpPr/>
          <p:nvPr/>
        </p:nvSpPr>
        <p:spPr>
          <a:xfrm>
            <a:off x="320860" y="4812272"/>
            <a:ext cx="2626873" cy="400110"/>
          </a:xfrm>
          <a:prstGeom prst="rect">
            <a:avLst/>
          </a:prstGeom>
        </p:spPr>
        <p:txBody>
          <a:bodyPr wrap="none">
            <a:spAutoFit/>
          </a:bodyPr>
          <a:lstStyle/>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96A9"/>
                </a:solidFill>
                <a:effectLst/>
                <a:uLnTx/>
                <a:uFillTx/>
                <a:latin typeface="Segoe UI" panose="020B0502040204020203" pitchFamily="34" charset="0"/>
                <a:ea typeface="+mn-ea"/>
                <a:cs typeface="Segoe UI" panose="020B0502040204020203" pitchFamily="34" charset="0"/>
              </a:rPr>
              <a:t>Project Information:</a:t>
            </a:r>
          </a:p>
        </p:txBody>
      </p:sp>
      <p:sp>
        <p:nvSpPr>
          <p:cNvPr id="11" name="Rectangle 10">
            <a:extLst>
              <a:ext uri="{FF2B5EF4-FFF2-40B4-BE49-F238E27FC236}">
                <a16:creationId xmlns:a16="http://schemas.microsoft.com/office/drawing/2014/main" id="{D46D63D9-EF29-4FD8-87BE-2E73F788019F}"/>
              </a:ext>
            </a:extLst>
          </p:cNvPr>
          <p:cNvSpPr/>
          <p:nvPr/>
        </p:nvSpPr>
        <p:spPr>
          <a:xfrm>
            <a:off x="320860" y="3251204"/>
            <a:ext cx="11550280" cy="1615827"/>
          </a:xfrm>
          <a:prstGeom prst="rect">
            <a:avLst/>
          </a:prstGeom>
        </p:spPr>
        <p:txBody>
          <a:bodyPr wrap="square">
            <a:spAutoFit/>
          </a:bodyPr>
          <a:lstStyle/>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96A9"/>
                </a:solidFill>
                <a:effectLst/>
                <a:uLnTx/>
                <a:uFillTx/>
                <a:latin typeface="Segoe UI" panose="020B0502040204020203" pitchFamily="34" charset="0"/>
                <a:ea typeface="+mn-ea"/>
                <a:cs typeface="Segoe UI" panose="020B0502040204020203" pitchFamily="34" charset="0"/>
              </a:rPr>
              <a:t>The Result</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University of the Pacific was migrated using a </a:t>
            </a:r>
            <a:r>
              <a:rPr kumimoji="0" lang="en-US" sz="1500" b="1"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hybrid migration approach</a:t>
            </a: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with </a:t>
            </a:r>
            <a:r>
              <a:rPr kumimoji="0" lang="en-US" sz="1500" b="1"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customized communication plans and scripts </a:t>
            </a: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for the Enterprise Vault migration. The client was thrilled to have the Affirma team work hand in hand with their own IT team to finish the project on time and without any disruption to mail service. Affirma also completed </a:t>
            </a:r>
            <a:r>
              <a:rPr kumimoji="0" lang="en-US" sz="1500" b="0" i="0" u="none" strike="noStrike" kern="1200" cap="none" spc="0" normalizeH="0" baseline="0" noProof="0" dirty="0">
                <a:ln>
                  <a:noFill/>
                </a:ln>
                <a:solidFill>
                  <a:prstClr val="black"/>
                </a:solidFill>
                <a:effectLst/>
                <a:uLnTx/>
                <a:uFillTx/>
                <a:latin typeface="Segoe UI"/>
                <a:ea typeface="+mn-ea"/>
                <a:cs typeface="+mn-cs"/>
              </a:rPr>
              <a:t>eDiscovery workshops/trainings with the legal teams.</a:t>
            </a:r>
          </a:p>
          <a:p>
            <a:pPr marL="0" marR="0" lvl="0" indent="0" algn="l" defTabSz="976845"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endParaRPr>
          </a:p>
        </p:txBody>
      </p:sp>
      <p:sp>
        <p:nvSpPr>
          <p:cNvPr id="10" name="Slide Number Placeholder 1">
            <a:extLst>
              <a:ext uri="{FF2B5EF4-FFF2-40B4-BE49-F238E27FC236}">
                <a16:creationId xmlns:a16="http://schemas.microsoft.com/office/drawing/2014/main" id="{085852AD-E939-4180-AD42-AD944958DB54}"/>
              </a:ext>
            </a:extLst>
          </p:cNvPr>
          <p:cNvSpPr>
            <a:spLocks noGrp="1"/>
          </p:cNvSpPr>
          <p:nvPr>
            <p:ph type="sldNum" sz="quarter" idx="12"/>
          </p:nvPr>
        </p:nvSpPr>
        <p:spPr>
          <a:xfrm>
            <a:off x="11277600" y="6356805"/>
            <a:ext cx="533400" cy="304800"/>
          </a:xfrm>
        </p:spPr>
        <p:txBody>
          <a:bodyPr/>
          <a:lstStyle/>
          <a:p>
            <a:pPr marL="0" marR="0" lvl="0" indent="0" algn="r" defTabSz="976845" rtl="0" eaLnBrk="1" fontAlgn="auto" latinLnBrk="0" hangingPunct="1">
              <a:lnSpc>
                <a:spcPct val="100000"/>
              </a:lnSpc>
              <a:spcBef>
                <a:spcPts val="0"/>
              </a:spcBef>
              <a:spcAft>
                <a:spcPts val="0"/>
              </a:spcAft>
              <a:buClrTx/>
              <a:buSzTx/>
              <a:buFontTx/>
              <a:buNone/>
              <a:tabLst/>
              <a:defRPr/>
            </a:pPr>
            <a:fld id="{49A40DB5-B054-4B52-B27D-446721D6CC27}" type="slidenum">
              <a:rPr kumimoji="0" lang="en-US" sz="1177" b="0" i="0" u="none" strike="noStrike" kern="1200" cap="none" spc="0" normalizeH="0" baseline="0" noProof="0">
                <a:ln>
                  <a:noFill/>
                </a:ln>
                <a:solidFill>
                  <a:prstClr val="black">
                    <a:tint val="75000"/>
                  </a:prstClr>
                </a:solidFill>
                <a:effectLst/>
                <a:uLnTx/>
                <a:uFillTx/>
                <a:latin typeface="Segoe UI" panose="020B0502040204020203" pitchFamily="34" charset="0"/>
                <a:ea typeface="+mn-ea"/>
                <a:cs typeface="+mn-cs"/>
              </a:rPr>
              <a:pPr marL="0" marR="0" lvl="0" indent="0" algn="r" defTabSz="976845" rtl="0" eaLnBrk="1" fontAlgn="auto" latinLnBrk="0" hangingPunct="1">
                <a:lnSpc>
                  <a:spcPct val="100000"/>
                </a:lnSpc>
                <a:spcBef>
                  <a:spcPts val="0"/>
                </a:spcBef>
                <a:spcAft>
                  <a:spcPts val="0"/>
                </a:spcAft>
                <a:buClrTx/>
                <a:buSzTx/>
                <a:buFontTx/>
                <a:buNone/>
                <a:tabLst/>
                <a:defRPr/>
              </a:pPr>
              <a:t>1</a:t>
            </a:fld>
            <a:endParaRPr kumimoji="0" lang="en-US" sz="1177" b="0" i="0" u="none" strike="noStrike" kern="1200" cap="none" spc="0" normalizeH="0" baseline="0" noProof="0" dirty="0">
              <a:ln>
                <a:noFill/>
              </a:ln>
              <a:solidFill>
                <a:prstClr val="black">
                  <a:tint val="75000"/>
                </a:prstClr>
              </a:solidFill>
              <a:effectLst/>
              <a:uLnTx/>
              <a:uFillTx/>
              <a:latin typeface="Segoe UI" panose="020B0502040204020203" pitchFamily="34" charset="0"/>
              <a:ea typeface="+mn-ea"/>
              <a:cs typeface="+mn-cs"/>
            </a:endParaRPr>
          </a:p>
        </p:txBody>
      </p:sp>
      <p:pic>
        <p:nvPicPr>
          <p:cNvPr id="21506" name="Picture 2" descr="Image result for university of the pacific png">
            <a:extLst>
              <a:ext uri="{FF2B5EF4-FFF2-40B4-BE49-F238E27FC236}">
                <a16:creationId xmlns:a16="http://schemas.microsoft.com/office/drawing/2014/main" id="{053B0661-402A-4E65-987F-2D95E54D40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603" y="4781149"/>
            <a:ext cx="4654698" cy="1363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0905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Value>Infrastructure</Value>
    </BusinessUnit>
    <Solutions xmlns="f0ee8362-fa7e-4bc9-ab88-7dcfb17cb19b">
      <Value>Migrations</Value>
    </Solutions>
    <Industries xmlns="f0ee8362-fa7e-4bc9-ab88-7dcfb17cb19b">
      <Value>Education</Value>
    </Industries>
    <Notes0 xmlns="f0ee8362-fa7e-4bc9-ab88-7dcfb17cb19b" xsi:nil="true"/>
    <Named_x0020_Account xmlns="f0ee8362-fa7e-4bc9-ab88-7dcfb17cb19b" xsi:nil="true"/>
    <PlatTech xmlns="f0ee8362-fa7e-4bc9-ab88-7dcfb17cb19b">
      <Value>O365</Value>
    </PlatTech>
    <ProjectCompletionDate xmlns="f0ee8362-fa7e-4bc9-ab88-7dcfb17cb19b" xsi:nil="true"/>
    <ApprovedByClient xmlns="f0ee8362-fa7e-4bc9-ab88-7dcfb17cb19b">false</ApprovedByClient>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259FF0-C151-4E60-B96F-DA782C89E9F9}">
  <ds:schemaRefs>
    <ds:schemaRef ds:uri="http://schemas.microsoft.com/office/2006/metadata/customXsn"/>
  </ds:schemaRefs>
</ds:datastoreItem>
</file>

<file path=customXml/itemProps2.xml><?xml version="1.0" encoding="utf-8"?>
<ds:datastoreItem xmlns:ds="http://schemas.openxmlformats.org/officeDocument/2006/customXml" ds:itemID="{88092491-8E1F-44C4-B494-B9403D67971D}">
  <ds:schemaRefs>
    <ds:schemaRef ds:uri="357972b2-b7ed-48bc-bbb4-0804bacba9d2"/>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54243e05-8da7-404c-85e0-0480aaa26276"/>
    <ds:schemaRef ds:uri="http://www.w3.org/XML/1998/namespace"/>
    <ds:schemaRef ds:uri="http://purl.org/dc/elements/1.1/"/>
    <ds:schemaRef ds:uri="a3d6d3c3-969a-4db5-a798-6d92184358aa"/>
    <ds:schemaRef ds:uri="http://schemas.microsoft.com/office/2006/metadata/properties"/>
    <ds:schemaRef ds:uri="http://purl.org/dc/terms/"/>
    <ds:schemaRef ds:uri="f0ee8362-fa7e-4bc9-ab88-7dcfb17cb19b"/>
  </ds:schemaRefs>
</ds:datastoreItem>
</file>

<file path=customXml/itemProps3.xml><?xml version="1.0" encoding="utf-8"?>
<ds:datastoreItem xmlns:ds="http://schemas.openxmlformats.org/officeDocument/2006/customXml" ds:itemID="{27692602-FBCE-4CB9-A8A4-172686F987D0}"/>
</file>

<file path=customXml/itemProps4.xml><?xml version="1.0" encoding="utf-8"?>
<ds:datastoreItem xmlns:ds="http://schemas.openxmlformats.org/officeDocument/2006/customXml" ds:itemID="{50144D80-228A-425B-8BE0-62972533C8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TotalTime>
  <Words>193</Words>
  <Application>Microsoft Office PowerPoint</Application>
  <PresentationFormat>Widescreen</PresentationFormat>
  <Paragraphs>11</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Custom Design</vt:lpstr>
      <vt:lpstr>The University of the Pacific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UofP Exchange</dc:title>
  <dc:creator>Maria Mejia-Henao</dc:creator>
  <cp:lastModifiedBy>Maria Mejia-Henao</cp:lastModifiedBy>
  <cp:revision>8</cp:revision>
  <dcterms:created xsi:type="dcterms:W3CDTF">2020-05-26T21:23:08Z</dcterms:created>
  <dcterms:modified xsi:type="dcterms:W3CDTF">2025-11-07T22:00:24Z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xd_Signature">
    <vt:bool>false</vt:bool>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Business Unit">
    <vt:lpwstr/>
  </property>
  <property fmtid="{D5CDD505-2E9C-101B-9397-08002B2CF9AE}" pid="10" name="Industry">
    <vt:lpwstr>58;#Education|385ce81e-4183-41eb-b473-ecd18f79329c</vt:lpwstr>
  </property>
  <property fmtid="{D5CDD505-2E9C-101B-9397-08002B2CF9AE}" pid="11" name="Service_x0020_Offering">
    <vt:lpwstr/>
  </property>
  <property fmtid="{D5CDD505-2E9C-101B-9397-08002B2CF9AE}" pid="12" name="Business_x0020_Unit">
    <vt:lpwstr/>
  </property>
  <property fmtid="{D5CDD505-2E9C-101B-9397-08002B2CF9AE}" pid="13" name="_ExtendedDescription">
    <vt:lpwstr/>
  </property>
  <property fmtid="{D5CDD505-2E9C-101B-9397-08002B2CF9AE}" pid="14" name="Service Offering">
    <vt:lpwstr/>
  </property>
  <property fmtid="{D5CDD505-2E9C-101B-9397-08002B2CF9AE}" pid="15" name="Category">
    <vt:lpwstr>6;#Case Study|8faa0ad1-25f0-4f56-8e38-f60e20c455d6</vt:lpwstr>
  </property>
  <property fmtid="{D5CDD505-2E9C-101B-9397-08002B2CF9AE}" pid="16" name="Order">
    <vt:r8>72100</vt:r8>
  </property>
  <property fmtid="{D5CDD505-2E9C-101B-9397-08002B2CF9AE}" pid="17" name="SO">
    <vt:lpwstr>1;#;#13;#;#25;#</vt:lpwstr>
  </property>
  <property fmtid="{D5CDD505-2E9C-101B-9397-08002B2CF9AE}" pid="18" name="TriggerFlowInfo">
    <vt:lpwstr/>
  </property>
</Properties>
</file>