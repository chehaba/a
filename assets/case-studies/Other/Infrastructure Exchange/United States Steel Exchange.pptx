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11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0C03F-FB8C-41D6-83D0-C84636DDB02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4BA90-4187-4326-B41D-68CD57FC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9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z="1177" smtClean="0"/>
              <a:pPr/>
              <a:t>‹#›</a:t>
            </a:fld>
            <a:endParaRPr lang="en-US" sz="1177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5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5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0BFFF1F-8D9F-49EF-AB66-392D21916FF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9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B06CE19-0D13-4877-89E5-DE0488747EB0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8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FD84ECB-CD7C-4B53-868B-8B9C84EFE3E5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3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BB33170-991C-4F2E-8341-1F4D29A9C1A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2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DB3C964-2E03-4AFA-B90C-619A2255423F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4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C31BCD0-E589-45D2-973A-7DB1D9846AC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019775-0498-4EA6-A019-48733BDE3441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9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BDB60B-B357-4CF5-85CE-EDF13D76A701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97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E0ECDFF-B3DE-4852-A472-7B80AB90681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53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28390BE-79F7-4F03-A216-A237DED0C038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60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43497A-B2A6-4FF7-9D34-C7602AF58866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92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B2FD54A-1D4F-4ED5-8EFC-78966C01232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248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C09FD23-289C-431D-80FA-52BDFEE9BFF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24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F126EF0-0169-403B-A728-98DFF1367DE5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5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368E58-9057-4451-887B-934AD11B5C57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65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367488-5C47-468F-8192-2A578E30B425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57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954E7E3-33DD-4F8E-8CB0-79CABD017A7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81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DF71C59-5961-44CF-B659-EC93B8A3CED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717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9B20E83-FE03-477A-BEBC-E4A9F2F442F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311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9BE240-3924-430B-8E7A-A11BECDAE8EC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27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8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39062AE9-38A0-4182-BCD1-E0AE29AB0D6F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44">
            <a:extLst>
              <a:ext uri="{FF2B5EF4-FFF2-40B4-BE49-F238E27FC236}">
                <a16:creationId xmlns:a16="http://schemas.microsoft.com/office/drawing/2014/main" id="{5EC28422-225F-4425-B69C-CB0DB527ED14}"/>
              </a:ext>
            </a:extLst>
          </p:cNvPr>
          <p:cNvSpPr txBox="1">
            <a:spLocks/>
          </p:cNvSpPr>
          <p:nvPr/>
        </p:nvSpPr>
        <p:spPr bwMode="auto">
          <a:xfrm>
            <a:off x="194061" y="162910"/>
            <a:ext cx="11644389" cy="672963"/>
          </a:xfrm>
          <a:prstGeom prst="rect">
            <a:avLst/>
          </a:prstGeom>
          <a:noFill/>
        </p:spPr>
        <p:txBody>
          <a:bodyPr vert="horz" wrap="square" lIns="195067" tIns="121917" rIns="195067" bIns="121917" rtlCol="0" anchor="t" anchorCtr="0">
            <a:noAutofit/>
          </a:bodyPr>
          <a:lstStyle>
            <a:lvl1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5398" kern="1200" spc="-133" baseline="0">
                <a:ln w="3175">
                  <a:noFill/>
                </a:ln>
                <a:solidFill>
                  <a:srgbClr val="FFFFFF"/>
                </a:solidFill>
                <a:latin typeface="Segoe UI Light"/>
                <a:ea typeface="ＭＳ Ｐゴシック" charset="0"/>
                <a:cs typeface="Segoe UI Light"/>
              </a:defRPr>
            </a:lvl1pPr>
            <a:lvl2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2pPr>
            <a:lvl3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3pPr>
            <a:lvl4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4pPr>
            <a:lvl5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5pPr>
            <a:lvl6pPr marL="448059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6pPr>
            <a:lvl7pPr marL="896117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7pPr>
            <a:lvl8pPr marL="1344176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8pPr>
            <a:lvl9pPr marL="1792235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9pPr>
          </a:lstStyle>
          <a:p>
            <a:pPr defTabSz="760995"/>
            <a:r>
              <a:rPr lang="en-US" sz="3333" spc="-111" dirty="0"/>
              <a:t>United States Steel | Office 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B085E-001A-4A6C-BA22-601BE88FCED0}"/>
              </a:ext>
            </a:extLst>
          </p:cNvPr>
          <p:cNvSpPr txBox="1"/>
          <p:nvPr/>
        </p:nvSpPr>
        <p:spPr>
          <a:xfrm>
            <a:off x="381001" y="1270949"/>
            <a:ext cx="6497594" cy="550467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b="1">
                <a:latin typeface="+mj-l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defTabSz="976845">
              <a:spcBef>
                <a:spcPts val="833"/>
              </a:spcBef>
              <a:buNone/>
            </a:pPr>
            <a:r>
              <a:rPr lang="en-US" sz="2667" b="1" dirty="0">
                <a:solidFill>
                  <a:srgbClr val="0096A9"/>
                </a:solidFill>
                <a:latin typeface="Segoe UI"/>
                <a:ea typeface="MS Mincho" panose="02020609040205080304" pitchFamily="49" charset="-128"/>
                <a:cs typeface="Segoe UI Light" panose="020B0502040204020203" pitchFamily="34" charset="0"/>
              </a:rPr>
              <a:t>What We Did</a:t>
            </a: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Provided expert guidance on best practices for the complexities of migrating US Steel’s Exchange from on premises to online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1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Affirma helped manage the migration of </a:t>
            </a:r>
            <a:r>
              <a:rPr lang="en-US" sz="1667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12,000 mailboxes and Active Directory accounts 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1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Created </a:t>
            </a:r>
            <a:r>
              <a:rPr lang="en-US" sz="1667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architecture and infrastructure documentation </a:t>
            </a: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US Steel’s existing team 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1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Developed custom power shell scripts to help with ongoing migrations and other infrastructure automation tasks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1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Ongoing consulting on </a:t>
            </a:r>
            <a:r>
              <a:rPr lang="en-US" sz="1667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Exchange Online, Active Directory, System Center and Windows 10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1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90492" indent="-190492" defTabSz="976845">
              <a:spcBef>
                <a:spcPts val="833"/>
              </a:spcBef>
            </a:pPr>
            <a:r>
              <a:rPr lang="en-US" sz="166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Planned migration of all </a:t>
            </a:r>
            <a:r>
              <a:rPr lang="en-US" sz="1667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SharePoint Server environments to SharePoint Online</a:t>
            </a:r>
          </a:p>
          <a:p>
            <a:pPr marL="190492" indent="-190492" defTabSz="976845">
              <a:spcBef>
                <a:spcPts val="833"/>
              </a:spcBef>
            </a:pPr>
            <a:endParaRPr lang="en-US" sz="3333" dirty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9C9C6-CC50-419A-8343-E3A51F3A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6845"/>
            <a:fld id="{49A40DB5-B054-4B52-B27D-446721D6CC27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76845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 descr="Image result for active directory logo">
            <a:extLst>
              <a:ext uri="{FF2B5EF4-FFF2-40B4-BE49-F238E27FC236}">
                <a16:creationId xmlns:a16="http://schemas.microsoft.com/office/drawing/2014/main" id="{0A974613-E7D2-4E8A-8A12-F29F5B7FB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8" b="20805"/>
          <a:stretch/>
        </p:blipFill>
        <p:spPr bwMode="auto">
          <a:xfrm>
            <a:off x="9783316" y="3812825"/>
            <a:ext cx="2408684" cy="154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exchange online logo png">
            <a:extLst>
              <a:ext uri="{FF2B5EF4-FFF2-40B4-BE49-F238E27FC236}">
                <a16:creationId xmlns:a16="http://schemas.microsoft.com/office/drawing/2014/main" id="{CE9DCFC7-1E44-496D-BEC5-9A2EA8B63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19" y="4053266"/>
            <a:ext cx="2332922" cy="106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united states steel">
            <a:extLst>
              <a:ext uri="{FF2B5EF4-FFF2-40B4-BE49-F238E27FC236}">
                <a16:creationId xmlns:a16="http://schemas.microsoft.com/office/drawing/2014/main" id="{DA989239-DCE5-4B1F-B721-745F4BF34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158" y="1850554"/>
            <a:ext cx="2368763" cy="236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Sharepoint online log">
            <a:extLst>
              <a:ext uri="{FF2B5EF4-FFF2-40B4-BE49-F238E27FC236}">
                <a16:creationId xmlns:a16="http://schemas.microsoft.com/office/drawing/2014/main" id="{BDFAAD7F-F35B-4070-8BC9-17D2680AA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064" y="5113384"/>
            <a:ext cx="1085475" cy="106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7903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Infrastructure</Value>
      <Value>Modern Workplace</Value>
    </BusinessUnit>
    <Solutions xmlns="f0ee8362-fa7e-4bc9-ab88-7dcfb17cb19b">
      <Value>Migrations</Value>
    </Solutions>
    <Industries xmlns="f0ee8362-fa7e-4bc9-ab88-7dcfb17cb19b">
      <Value>Construction</Value>
    </Industries>
    <Notes0 xmlns="f0ee8362-fa7e-4bc9-ab88-7dcfb17cb19b" xsi:nil="true"/>
    <Named_x0020_Account xmlns="f0ee8362-fa7e-4bc9-ab88-7dcfb17cb19b" xsi:nil="true"/>
    <PlatTech xmlns="f0ee8362-fa7e-4bc9-ab88-7dcfb17cb19b">
      <Value>O365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1B07B8-E624-43E0-8B1D-1D29069987AA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88092491-8E1F-44C4-B494-B9403D67971D}">
  <ds:schemaRefs>
    <ds:schemaRef ds:uri="a3d6d3c3-969a-4db5-a798-6d92184358aa"/>
    <ds:schemaRef ds:uri="http://purl.org/dc/terms/"/>
    <ds:schemaRef ds:uri="54243e05-8da7-404c-85e0-0480aaa26276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57972b2-b7ed-48bc-bbb4-0804bacba9d2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50144D80-228A-425B-8BE0-62972533C87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B0B0EE5-F12E-4C54-83A2-D698037136C3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USS Exchange</dc:title>
  <dc:creator>Maria Mejia-Henao</dc:creator>
  <cp:lastModifiedBy>Maria Mejia-Henao</cp:lastModifiedBy>
  <cp:revision>6</cp:revision>
  <dcterms:created xsi:type="dcterms:W3CDTF">2020-05-26T21:23:08Z</dcterms:created>
  <dcterms:modified xsi:type="dcterms:W3CDTF">2025-11-03T17:49:28Z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47;#Government|f2106d7d-3f0c-4877-aa65-efbc73044de4;#55;#Manufacturing|99fc8efc-4fec-46af-b730-04691660d970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71700</vt:r8>
  </property>
  <property fmtid="{D5CDD505-2E9C-101B-9397-08002B2CF9AE}" pid="17" name="SO">
    <vt:lpwstr>1;#;#13;#;#25;#;#39;#</vt:lpwstr>
  </property>
  <property fmtid="{D5CDD505-2E9C-101B-9397-08002B2CF9AE}" pid="18" name="TriggerFlowInfo">
    <vt:lpwstr/>
  </property>
</Properties>
</file>