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9.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13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customXml" Target="../customXml/item4.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50C03F-FB8C-41D6-83D0-C84636DDB02E}" type="datetimeFigureOut">
              <a:rPr lang="en-US" smtClean="0"/>
              <a:t>5/26/2020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4BA90-4187-4326-B41D-68CD57FC83AB}" type="slidenum">
              <a:rPr lang="en-US" smtClean="0"/>
              <a:t>‹#›</a:t>
            </a:fld>
            <a:endParaRPr lang="en-US"/>
          </a:p>
        </p:txBody>
      </p:sp>
    </p:spTree>
    <p:extLst>
      <p:ext uri="{BB962C8B-B14F-4D97-AF65-F5344CB8AC3E}">
        <p14:creationId xmlns:p14="http://schemas.microsoft.com/office/powerpoint/2010/main" val="3552495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786697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A526457-AFF9-4C64-ACA9-57BFCF79B20E}"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
        <p:nvSpPr>
          <p:cNvPr id="11" name="Rectangle 10">
            <a:extLst>
              <a:ext uri="{FF2B5EF4-FFF2-40B4-BE49-F238E27FC236}">
                <a16:creationId xmlns:a16="http://schemas.microsoft.com/office/drawing/2014/main" id="{E668A5FB-A35F-4120-A0D4-DDE534D458D5}"/>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13" name="Slide Number Placeholder 4">
            <a:extLst>
              <a:ext uri="{FF2B5EF4-FFF2-40B4-BE49-F238E27FC236}">
                <a16:creationId xmlns:a16="http://schemas.microsoft.com/office/drawing/2014/main" id="{471800EB-F6BF-4776-B506-3056304E5AE7}"/>
              </a:ext>
            </a:extLst>
          </p:cNvPr>
          <p:cNvSpPr txBox="1">
            <a:spLocks/>
          </p:cNvSpPr>
          <p:nvPr userDrawn="1"/>
        </p:nvSpPr>
        <p:spPr>
          <a:xfrm>
            <a:off x="11277600" y="6356805"/>
            <a:ext cx="533400" cy="304800"/>
          </a:xfrm>
          <a:prstGeom prst="rect">
            <a:avLst/>
          </a:prstGeom>
        </p:spPr>
        <p:txBody>
          <a:bodyPr vert="horz" lIns="76200" tIns="38100" rIns="76200" bIns="38100" rtlCol="0" anchor="ctr"/>
          <a:lstStyle>
            <a:defPPr>
              <a:defRPr lang="en-US"/>
            </a:defPPr>
            <a:lvl1pPr marL="0" algn="r" defTabSz="1172261" rtl="0" eaLnBrk="1" latinLnBrk="0" hangingPunct="1">
              <a:defRPr sz="1412" kern="1200">
                <a:solidFill>
                  <a:schemeClr val="tx1">
                    <a:tint val="75000"/>
                  </a:schemeClr>
                </a:solidFill>
                <a:latin typeface="Segoe UI" panose="020B0502040204020203" pitchFamily="34" charset="0"/>
                <a:ea typeface="+mn-ea"/>
                <a:cs typeface="+mn-cs"/>
              </a:defRPr>
            </a:lvl1pPr>
            <a:lvl2pPr marL="586130" algn="l" defTabSz="1172261" rtl="0" eaLnBrk="1" latinLnBrk="0" hangingPunct="1">
              <a:defRPr sz="2308" kern="1200">
                <a:solidFill>
                  <a:schemeClr val="tx1"/>
                </a:solidFill>
                <a:latin typeface="+mn-lt"/>
                <a:ea typeface="+mn-ea"/>
                <a:cs typeface="+mn-cs"/>
              </a:defRPr>
            </a:lvl2pPr>
            <a:lvl3pPr marL="1172261" algn="l" defTabSz="1172261" rtl="0" eaLnBrk="1" latinLnBrk="0" hangingPunct="1">
              <a:defRPr sz="2308" kern="1200">
                <a:solidFill>
                  <a:schemeClr val="tx1"/>
                </a:solidFill>
                <a:latin typeface="+mn-lt"/>
                <a:ea typeface="+mn-ea"/>
                <a:cs typeface="+mn-cs"/>
              </a:defRPr>
            </a:lvl3pPr>
            <a:lvl4pPr marL="1758391" algn="l" defTabSz="1172261" rtl="0" eaLnBrk="1" latinLnBrk="0" hangingPunct="1">
              <a:defRPr sz="2308" kern="1200">
                <a:solidFill>
                  <a:schemeClr val="tx1"/>
                </a:solidFill>
                <a:latin typeface="+mn-lt"/>
                <a:ea typeface="+mn-ea"/>
                <a:cs typeface="+mn-cs"/>
              </a:defRPr>
            </a:lvl4pPr>
            <a:lvl5pPr marL="2344522" algn="l" defTabSz="1172261" rtl="0" eaLnBrk="1" latinLnBrk="0" hangingPunct="1">
              <a:defRPr sz="2308" kern="1200">
                <a:solidFill>
                  <a:schemeClr val="tx1"/>
                </a:solidFill>
                <a:latin typeface="+mn-lt"/>
                <a:ea typeface="+mn-ea"/>
                <a:cs typeface="+mn-cs"/>
              </a:defRPr>
            </a:lvl5pPr>
            <a:lvl6pPr marL="2930652" algn="l" defTabSz="1172261" rtl="0" eaLnBrk="1" latinLnBrk="0" hangingPunct="1">
              <a:defRPr sz="2308" kern="1200">
                <a:solidFill>
                  <a:schemeClr val="tx1"/>
                </a:solidFill>
                <a:latin typeface="+mn-lt"/>
                <a:ea typeface="+mn-ea"/>
                <a:cs typeface="+mn-cs"/>
              </a:defRPr>
            </a:lvl6pPr>
            <a:lvl7pPr marL="3516782" algn="l" defTabSz="1172261" rtl="0" eaLnBrk="1" latinLnBrk="0" hangingPunct="1">
              <a:defRPr sz="2308" kern="1200">
                <a:solidFill>
                  <a:schemeClr val="tx1"/>
                </a:solidFill>
                <a:latin typeface="+mn-lt"/>
                <a:ea typeface="+mn-ea"/>
                <a:cs typeface="+mn-cs"/>
              </a:defRPr>
            </a:lvl7pPr>
            <a:lvl8pPr marL="4102913" algn="l" defTabSz="1172261" rtl="0" eaLnBrk="1" latinLnBrk="0" hangingPunct="1">
              <a:defRPr sz="2308" kern="1200">
                <a:solidFill>
                  <a:schemeClr val="tx1"/>
                </a:solidFill>
                <a:latin typeface="+mn-lt"/>
                <a:ea typeface="+mn-ea"/>
                <a:cs typeface="+mn-cs"/>
              </a:defRPr>
            </a:lvl8pPr>
            <a:lvl9pPr marL="4689043" algn="l" defTabSz="1172261" rtl="0" eaLnBrk="1" latinLnBrk="0" hangingPunct="1">
              <a:defRPr sz="2308" kern="1200">
                <a:solidFill>
                  <a:schemeClr val="tx1"/>
                </a:solidFill>
                <a:latin typeface="+mn-lt"/>
                <a:ea typeface="+mn-ea"/>
                <a:cs typeface="+mn-cs"/>
              </a:defRPr>
            </a:lvl9pPr>
          </a:lstStyle>
          <a:p>
            <a:fld id="{49A40DB5-B054-4B52-B27D-446721D6CC27}" type="slidenum">
              <a:rPr lang="en-US" sz="1177" smtClean="0"/>
              <a:pPr/>
              <a:t>‹#›</a:t>
            </a:fld>
            <a:endParaRPr lang="en-US" sz="1177" dirty="0"/>
          </a:p>
        </p:txBody>
      </p:sp>
      <p:pic>
        <p:nvPicPr>
          <p:cNvPr id="14" name="Picture 13">
            <a:extLst>
              <a:ext uri="{FF2B5EF4-FFF2-40B4-BE49-F238E27FC236}">
                <a16:creationId xmlns:a16="http://schemas.microsoft.com/office/drawing/2014/main" id="{2DF3BEF6-9E38-45B1-97EE-47997846C2E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4085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5364" name="Picture 4" descr="Image result for kia motors HQ">
            <a:extLst>
              <a:ext uri="{FF2B5EF4-FFF2-40B4-BE49-F238E27FC236}">
                <a16:creationId xmlns:a16="http://schemas.microsoft.com/office/drawing/2014/main" id="{7F3ACFE8-90CC-4B43-AE07-40731FF60D5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7643" r="10905" b="24509"/>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820B2A3-6DEC-48BD-904B-6CFD85288AA6}"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58558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0BFFF1F-8D9F-49EF-AB66-392D21916FF4}"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5159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B06CE19-0D13-4877-89E5-DE0488747EB0}"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40384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FD84ECB-CD7C-4B53-868B-8B9C84EFE3E5}"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15533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BB33170-991C-4F2E-8341-1F4D29A9C1A4}"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4377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0" y="-1"/>
            <a:ext cx="12192000" cy="6858001"/>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4CDD809-FD8E-4297-82D9-21DF4F1C1BFB}"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1432043" y="2679540"/>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020624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DB3C964-2E03-4AFA-B90C-619A2255423F}"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39344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AC31BCD0-E589-45D2-973A-7DB1D9846ACB}"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888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98019775-0498-4EA6-A019-48733BDE3441}"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39997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7BDB60B-B357-4CF5-85CE-EDF13D76A701}"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403497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E0ECDFF-B3DE-4852-A472-7B80AB90681A}"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259353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28390BE-79F7-4F03-A216-A237DED0C038}"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90560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3497A-B2A6-4FF7-9D34-C7602AF58866}"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808992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DB2FD54A-1D4F-4ED5-8EFC-78966C01232B}" type="datetime1">
              <a:rPr lang="en-US" smtClean="0"/>
              <a:t>5/26/2020</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248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EC09FD23-289C-431D-80FA-52BDFEE9BFF4}" type="datetime1">
              <a:rPr lang="en-US" smtClean="0"/>
              <a:t>5/26/2020</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12924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1F126EF0-0169-403B-A728-98DFF1367DE5}" type="datetime1">
              <a:rPr lang="en-US" smtClean="0"/>
              <a:t>5/26/2020</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6825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BD368E58-9057-4451-887B-934AD11B5C57}"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674065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0367488-5C47-468F-8192-2A578E30B425}" type="datetime1">
              <a:rPr lang="en-US" smtClean="0"/>
              <a:t>5/26/2020</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3969757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954E7E3-33DD-4F8E-8CB0-79CABD017A7B}"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1678185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DF71C59-5961-44CF-B659-EC93B8A3CED4}"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39371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9B20E83-FE03-477A-BEBC-E4A9F2F442F3}" type="datetime1">
              <a:rPr lang="en-US" smtClean="0"/>
              <a:t>5/26/2020</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6078311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679BE240-3924-430B-8E7A-A11BECDAE8EC}" type="datetime1">
              <a:rPr lang="en-US" smtClean="0"/>
              <a:t>5/26/2020</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662627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924683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39062AE9-38A0-4182-BCD1-E0AE29AB0D6F}" type="datetime1">
              <a:rPr lang="en-US" smtClean="0"/>
              <a:t>5/26/2020</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661760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hyperlink" Target="mailto:James_N_Smith@rl.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Mission Support Alliance</a:t>
            </a:r>
          </a:p>
        </p:txBody>
      </p:sp>
      <p:pic>
        <p:nvPicPr>
          <p:cNvPr id="3" name="Picture 2" descr="Image result for mission support alliance">
            <a:extLst>
              <a:ext uri="{FF2B5EF4-FFF2-40B4-BE49-F238E27FC236}">
                <a16:creationId xmlns:a16="http://schemas.microsoft.com/office/drawing/2014/main" id="{EAD7D5C5-1836-42D2-984E-633FDEA7A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9889" y="1120623"/>
            <a:ext cx="3212888" cy="20869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5AC4F26-A238-410E-A733-A1E656346A49}"/>
              </a:ext>
            </a:extLst>
          </p:cNvPr>
          <p:cNvSpPr/>
          <p:nvPr/>
        </p:nvSpPr>
        <p:spPr>
          <a:xfrm>
            <a:off x="381001" y="1120622"/>
            <a:ext cx="8368889" cy="1785104"/>
          </a:xfrm>
          <a:prstGeom prst="rect">
            <a:avLst/>
          </a:prstGeom>
        </p:spPr>
        <p:txBody>
          <a:bodyPr wrap="square">
            <a:spAutoFit/>
          </a:bodyPr>
          <a:lstStyle/>
          <a:p>
            <a:pPr defTabSz="976845"/>
            <a:r>
              <a:rPr lang="en-US" sz="2000" b="1" dirty="0">
                <a:solidFill>
                  <a:srgbClr val="0096A9"/>
                </a:solidFill>
                <a:latin typeface="Segoe UI" panose="020B0502040204020203" pitchFamily="34" charset="0"/>
                <a:cs typeface="Segoe UI" panose="020B0502040204020203" pitchFamily="34" charset="0"/>
              </a:rPr>
              <a:t>What We Did</a:t>
            </a:r>
            <a:br>
              <a:rPr lang="en-US" sz="667" dirty="0">
                <a:solidFill>
                  <a:prstClr val="black"/>
                </a:solidFill>
                <a:latin typeface="Segoe UI" panose="020B0502040204020203" pitchFamily="34" charset="0"/>
                <a:ea typeface="MS Mincho" panose="02020609040205080304" pitchFamily="49" charset="-128"/>
                <a:cs typeface="Segoe UI" panose="020B0502040204020203" pitchFamily="34" charset="0"/>
              </a:rPr>
            </a:b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Mission Support Alliance came to Affirma with a very large project and a very important deadline. MSA required that </a:t>
            </a:r>
            <a:r>
              <a:rPr lang="en-US" sz="1500" b="1" dirty="0">
                <a:solidFill>
                  <a:srgbClr val="2B2B2B"/>
                </a:solidFill>
                <a:latin typeface="Segoe UI" panose="020B0502040204020203" pitchFamily="34" charset="0"/>
                <a:ea typeface="MS Mincho" panose="02020609040205080304" pitchFamily="49" charset="-128"/>
                <a:cs typeface="Segoe UI" panose="020B0502040204020203" pitchFamily="34" charset="0"/>
              </a:rPr>
              <a:t>an Exchange 2013 on premise environment consisting of 8,000 users and 11,000 mail boxes</a:t>
            </a: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 be migrated in concert with </a:t>
            </a:r>
            <a:r>
              <a:rPr lang="en-US" sz="1500" b="1" dirty="0">
                <a:solidFill>
                  <a:srgbClr val="2B2B2B"/>
                </a:solidFill>
                <a:latin typeface="Segoe UI" panose="020B0502040204020203" pitchFamily="34" charset="0"/>
                <a:ea typeface="MS Mincho" panose="02020609040205080304" pitchFamily="49" charset="-128"/>
                <a:cs typeface="Segoe UI" panose="020B0502040204020203" pitchFamily="34" charset="0"/>
              </a:rPr>
              <a:t>a migration from Airwatch to Intune </a:t>
            </a: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for </a:t>
            </a:r>
            <a:r>
              <a:rPr lang="en-US" sz="1500" b="1" dirty="0">
                <a:solidFill>
                  <a:srgbClr val="2B2B2B"/>
                </a:solidFill>
                <a:latin typeface="Segoe UI" panose="020B0502040204020203" pitchFamily="34" charset="0"/>
                <a:ea typeface="MS Mincho" panose="02020609040205080304" pitchFamily="49" charset="-128"/>
                <a:cs typeface="Segoe UI" panose="020B0502040204020203" pitchFamily="34" charset="0"/>
              </a:rPr>
              <a:t>1,500 mobile devices and 450 government owned devices with DOE encryption</a:t>
            </a: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 This project also had to be complete with a deadline looming and needed help getting off the ground.</a:t>
            </a:r>
          </a:p>
        </p:txBody>
      </p:sp>
      <p:sp>
        <p:nvSpPr>
          <p:cNvPr id="5" name="TextBox 4">
            <a:extLst>
              <a:ext uri="{FF2B5EF4-FFF2-40B4-BE49-F238E27FC236}">
                <a16:creationId xmlns:a16="http://schemas.microsoft.com/office/drawing/2014/main" id="{58396F71-6E1E-4E90-BEE4-1281E750004E}"/>
              </a:ext>
            </a:extLst>
          </p:cNvPr>
          <p:cNvSpPr txBox="1"/>
          <p:nvPr/>
        </p:nvSpPr>
        <p:spPr>
          <a:xfrm>
            <a:off x="380359" y="4912366"/>
            <a:ext cx="8743208" cy="1708160"/>
          </a:xfrm>
          <a:prstGeom prst="rect">
            <a:avLst/>
          </a:prstGeom>
          <a:noFill/>
        </p:spPr>
        <p:txBody>
          <a:bodyPr wrap="square" rtlCol="0">
            <a:spAutoFit/>
          </a:bodyPr>
          <a:lstStyle/>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Company Name: Mission Support Alliance</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Street Address: 2490 Garlick Boulevard</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Richland, WA 99352 US</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Contact Person: Jim Smith</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Title: Project Manager</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Email: </a:t>
            </a:r>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hlinkClick r:id="rId4">
                  <a:extLst>
                    <a:ext uri="{A12FA001-AC4F-418D-AE19-62706E023703}">
                      <ahyp:hlinkClr xmlns:ahyp="http://schemas.microsoft.com/office/drawing/2018/hyperlinkcolor" val="tx"/>
                    </a:ext>
                  </a:extLst>
                </a:hlinkClick>
              </a:rPr>
              <a:t>James_N_Smith@rl.gov</a:t>
            </a:r>
            <a:endPar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Project: O365 Exchange Online Migration</a:t>
            </a:r>
          </a:p>
        </p:txBody>
      </p:sp>
      <p:sp>
        <p:nvSpPr>
          <p:cNvPr id="7" name="Rectangle 6">
            <a:extLst>
              <a:ext uri="{FF2B5EF4-FFF2-40B4-BE49-F238E27FC236}">
                <a16:creationId xmlns:a16="http://schemas.microsoft.com/office/drawing/2014/main" id="{C2A5B869-CA6E-4D24-94D6-D4D8DEC37408}"/>
              </a:ext>
            </a:extLst>
          </p:cNvPr>
          <p:cNvSpPr/>
          <p:nvPr/>
        </p:nvSpPr>
        <p:spPr>
          <a:xfrm>
            <a:off x="380359" y="2996411"/>
            <a:ext cx="11582419" cy="1323439"/>
          </a:xfrm>
          <a:prstGeom prst="rect">
            <a:avLst/>
          </a:prstGeom>
        </p:spPr>
        <p:txBody>
          <a:bodyPr wrap="square">
            <a:spAutoFit/>
          </a:bodyPr>
          <a:lstStyle/>
          <a:p>
            <a:pPr defTabSz="976845"/>
            <a:r>
              <a:rPr lang="en-US" sz="2000" b="1" dirty="0">
                <a:solidFill>
                  <a:srgbClr val="0096A9"/>
                </a:solidFill>
                <a:latin typeface="Segoe UI" panose="020B0502040204020203" pitchFamily="34" charset="0"/>
                <a:cs typeface="Segoe UI" panose="020B0502040204020203" pitchFamily="34" charset="0"/>
              </a:rPr>
              <a:t>The Result</a:t>
            </a:r>
          </a:p>
          <a:p>
            <a:pPr defTabSz="976845"/>
            <a:r>
              <a:rPr lang="en-US" sz="1500" dirty="0">
                <a:solidFill>
                  <a:srgbClr val="2B2B2B"/>
                </a:solidFill>
                <a:latin typeface="Segoe UI" panose="020B0502040204020203" pitchFamily="34" charset="0"/>
                <a:ea typeface="MS Mincho" panose="02020609040205080304" pitchFamily="49" charset="-128"/>
                <a:cs typeface="Segoe UI" panose="020B0502040204020203" pitchFamily="34" charset="0"/>
              </a:rPr>
              <a:t>Mission Support was extremely happy with the work that Affirma brought to the engagement. The deadline was met with aggressive migrations schedules; often during off hours. The Affirma team was able to have both projects completed with strategic Project Management in place. This highly successful project was highlighted amongst the Microsoft Government Account Team and has led to a long term partnership between Affirma and MSA.</a:t>
            </a:r>
          </a:p>
        </p:txBody>
      </p:sp>
      <p:sp>
        <p:nvSpPr>
          <p:cNvPr id="8" name="Rectangle 7">
            <a:extLst>
              <a:ext uri="{FF2B5EF4-FFF2-40B4-BE49-F238E27FC236}">
                <a16:creationId xmlns:a16="http://schemas.microsoft.com/office/drawing/2014/main" id="{D444B050-DA5C-4B24-8266-6803A5392C56}"/>
              </a:ext>
            </a:extLst>
          </p:cNvPr>
          <p:cNvSpPr/>
          <p:nvPr/>
        </p:nvSpPr>
        <p:spPr>
          <a:xfrm>
            <a:off x="380359" y="4535293"/>
            <a:ext cx="2626873" cy="400110"/>
          </a:xfrm>
          <a:prstGeom prst="rect">
            <a:avLst/>
          </a:prstGeom>
        </p:spPr>
        <p:txBody>
          <a:bodyPr wrap="none">
            <a:spAutoFit/>
          </a:bodyPr>
          <a:lstStyle/>
          <a:p>
            <a:pPr defTabSz="976845"/>
            <a:r>
              <a:rPr lang="en-US" sz="2000" b="1" dirty="0">
                <a:solidFill>
                  <a:srgbClr val="0096A9"/>
                </a:solidFill>
                <a:latin typeface="Segoe UI" panose="020B0502040204020203" pitchFamily="34" charset="0"/>
                <a:cs typeface="Segoe UI" panose="020B0502040204020203" pitchFamily="34" charset="0"/>
              </a:rPr>
              <a:t>Project Information:</a:t>
            </a:r>
          </a:p>
        </p:txBody>
      </p:sp>
      <p:sp>
        <p:nvSpPr>
          <p:cNvPr id="10" name="Slide Number Placeholder 1">
            <a:extLst>
              <a:ext uri="{FF2B5EF4-FFF2-40B4-BE49-F238E27FC236}">
                <a16:creationId xmlns:a16="http://schemas.microsoft.com/office/drawing/2014/main" id="{561AD1CF-F3EE-4DCE-A8DD-859676752017}"/>
              </a:ext>
            </a:extLst>
          </p:cNvPr>
          <p:cNvSpPr>
            <a:spLocks noGrp="1"/>
          </p:cNvSpPr>
          <p:nvPr>
            <p:ph type="sldNum" sz="quarter" idx="12"/>
          </p:nvPr>
        </p:nvSpPr>
        <p:spPr>
          <a:xfrm>
            <a:off x="11277600" y="6356805"/>
            <a:ext cx="533400" cy="304800"/>
          </a:xfrm>
        </p:spPr>
        <p:txBody>
          <a:bodyPr/>
          <a:lstStyle/>
          <a:p>
            <a:pPr defTabSz="976845"/>
            <a:fld id="{49A40DB5-B054-4B52-B27D-446721D6CC27}" type="slidenum">
              <a:rPr lang="en-US">
                <a:solidFill>
                  <a:prstClr val="black">
                    <a:tint val="75000"/>
                  </a:prstClr>
                </a:solidFill>
              </a:rPr>
              <a:pPr defTabSz="976845"/>
              <a:t>1</a:t>
            </a:fld>
            <a:endParaRPr lang="en-US" dirty="0">
              <a:solidFill>
                <a:prstClr val="black">
                  <a:tint val="75000"/>
                </a:prstClr>
              </a:solidFill>
            </a:endParaRPr>
          </a:p>
        </p:txBody>
      </p:sp>
    </p:spTree>
    <p:extLst>
      <p:ext uri="{BB962C8B-B14F-4D97-AF65-F5344CB8AC3E}">
        <p14:creationId xmlns:p14="http://schemas.microsoft.com/office/powerpoint/2010/main" val="23280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Value>Modern Workplace</Value>
    </BusinessUnit>
    <Solutions xmlns="f0ee8362-fa7e-4bc9-ab88-7dcfb17cb19b">
      <Value>Migrations</Value>
    </Solutions>
    <Industries xmlns="f0ee8362-fa7e-4bc9-ab88-7dcfb17cb19b" xsi:nil="true"/>
    <Notes0 xmlns="f0ee8362-fa7e-4bc9-ab88-7dcfb17cb19b" xsi:nil="true"/>
    <Named_x0020_Account xmlns="f0ee8362-fa7e-4bc9-ab88-7dcfb17cb19b" xsi:nil="true"/>
    <PlatTech xmlns="f0ee8362-fa7e-4bc9-ab88-7dcfb17cb19b">
      <Value>O365</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4B6A703C-A1F5-41B9-AA43-F157CDEAB004}"/>
</file>

<file path=customXml/itemProps2.xml><?xml version="1.0" encoding="utf-8"?>
<ds:datastoreItem xmlns:ds="http://schemas.openxmlformats.org/officeDocument/2006/customXml" ds:itemID="{50144D80-228A-425B-8BE0-62972533C87D}">
  <ds:schemaRefs>
    <ds:schemaRef ds:uri="http://schemas.microsoft.com/sharepoint/v3/contenttype/forms"/>
  </ds:schemaRefs>
</ds:datastoreItem>
</file>

<file path=customXml/itemProps3.xml><?xml version="1.0" encoding="utf-8"?>
<ds:datastoreItem xmlns:ds="http://schemas.openxmlformats.org/officeDocument/2006/customXml" ds:itemID="{88092491-8E1F-44C4-B494-B9403D67971D}">
  <ds:schemaRefs>
    <ds:schemaRef ds:uri="357972b2-b7ed-48bc-bbb4-0804bacba9d2"/>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54243e05-8da7-404c-85e0-0480aaa26276"/>
    <ds:schemaRef ds:uri="http://www.w3.org/XML/1998/namespace"/>
    <ds:schemaRef ds:uri="http://purl.org/dc/elements/1.1/"/>
    <ds:schemaRef ds:uri="a3d6d3c3-969a-4db5-a798-6d92184358aa"/>
    <ds:schemaRef ds:uri="http://schemas.microsoft.com/office/2006/metadata/properties"/>
    <ds:schemaRef ds:uri="http://purl.org/dc/terms/"/>
  </ds:schemaRefs>
</ds:datastoreItem>
</file>

<file path=customXml/itemProps4.xml><?xml version="1.0" encoding="utf-8"?>
<ds:datastoreItem xmlns:ds="http://schemas.openxmlformats.org/officeDocument/2006/customXml" ds:itemID="{254F9DA5-9E0A-4858-8911-3E50D3A5272E}"/>
</file>

<file path=docProps/app.xml><?xml version="1.0" encoding="utf-8"?>
<Properties xmlns="http://schemas.openxmlformats.org/officeDocument/2006/extended-properties" xmlns:vt="http://schemas.openxmlformats.org/officeDocument/2006/docPropsVTypes">
  <TotalTime>1</TotalTime>
  <Words>127</Words>
  <Application>Microsoft Office PowerPoint</Application>
  <PresentationFormat>Widescreen</PresentationFormat>
  <Paragraphs>14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Segoe UI</vt:lpstr>
      <vt:lpstr>Segoe UI Light</vt:lpstr>
      <vt:lpstr>Segoe UI Semilight</vt:lpstr>
      <vt:lpstr>Custom Design</vt:lpstr>
      <vt:lpstr>Mission Support Alliance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 Exchange</dc:title>
  <dc:creator>Maria Mejia-Henao</dc:creator>
  <cp:lastModifiedBy>Maria Mejia-Henao</cp:lastModifiedBy>
  <cp:revision>2</cp:revision>
  <dcterms:created xsi:type="dcterms:W3CDTF">2020-05-26T21:23:08Z</dcterms:created>
  <dcterms:modified xsi:type="dcterms:W3CDTF">2020-05-26T21:25:07Z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47;#Government|f2106d7d-3f0c-4877-aa65-efbc73044de4</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55700</vt:r8>
  </property>
  <property fmtid="{D5CDD505-2E9C-101B-9397-08002B2CF9AE}" pid="11" name="xd_Signature">
    <vt:bool>false</vt:bool>
  </property>
  <property fmtid="{D5CDD505-2E9C-101B-9397-08002B2CF9AE}" pid="12" name="SO">
    <vt:lpwstr>1;#;#13;#;#25;#</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