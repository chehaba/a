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39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4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50C03F-FB8C-41D6-83D0-C84636DDB02E}" type="datetimeFigureOut">
              <a:rPr lang="en-US" smtClean="0"/>
              <a:t>5/26/2020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4BA90-4187-4326-B41D-68CD57FC8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95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722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497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A526457-AFF9-4C64-ACA9-57BFCF79B20E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68A5FB-A35F-4120-A0D4-DDE534D458D5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471800EB-F6BF-4776-B506-3056304E5AE7}"/>
              </a:ext>
            </a:extLst>
          </p:cNvPr>
          <p:cNvSpPr txBox="1">
            <a:spLocks/>
          </p:cNvSpPr>
          <p:nvPr userDrawn="1"/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76200" tIns="38100" rIns="76200" bIns="38100" rtlCol="0" anchor="ctr"/>
          <a:lstStyle>
            <a:defPPr>
              <a:defRPr lang="en-US"/>
            </a:defPPr>
            <a:lvl1pPr marL="0" algn="r" defTabSz="1172261" rtl="0" eaLnBrk="1" latinLnBrk="0" hangingPunct="1">
              <a:defRPr sz="1412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40DB5-B054-4B52-B27D-446721D6CC27}" type="slidenum">
              <a:rPr lang="en-US" sz="1177" smtClean="0"/>
              <a:pPr/>
              <a:t>‹#›</a:t>
            </a:fld>
            <a:endParaRPr lang="en-US" sz="1177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F3BEF6-9E38-45B1-97EE-47997846C2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5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Image result for kia motors HQ">
            <a:extLst>
              <a:ext uri="{FF2B5EF4-FFF2-40B4-BE49-F238E27FC236}">
                <a16:creationId xmlns:a16="http://schemas.microsoft.com/office/drawing/2014/main" id="{7F3ACFE8-90CC-4B43-AE07-40731FF60D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3" r="10905" b="2450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820B2A3-6DEC-48BD-904B-6CFD85288AA6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58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0BFFF1F-8D9F-49EF-AB66-392D21916FF4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9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B06CE19-0D13-4877-89E5-DE0488747EB0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84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FD84ECB-CD7C-4B53-868B-8B9C84EFE3E5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3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BB33170-991C-4F2E-8341-1F4D29A9C1A4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4CDD809-FD8E-4297-82D9-21DF4F1C1BFB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043" y="2679540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62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DB3C964-2E03-4AFA-B90C-619A2255423F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34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C31BCD0-E589-45D2-973A-7DB1D9846ACB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7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8019775-0498-4EA6-A019-48733BDE3441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9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BDB60B-B357-4CF5-85CE-EDF13D76A701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97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E0ECDFF-B3DE-4852-A472-7B80AB90681A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53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28390BE-79F7-4F03-A216-A237DED0C038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60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43497A-B2A6-4FF7-9D34-C7602AF58866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92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B2FD54A-1D4F-4ED5-8EFC-78966C01232B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248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C09FD23-289C-431D-80FA-52BDFEE9BFF4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24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F126EF0-0169-403B-A728-98DFF1367DE5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25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368E58-9057-4451-887B-934AD11B5C57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653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0367488-5C47-468F-8192-2A578E30B425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578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954E7E3-33DD-4F8E-8CB0-79CABD017A7B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81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DF71C59-5961-44CF-B659-EC93B8A3CED4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3717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9B20E83-FE03-477A-BEBC-E4A9F2F442F3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311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9BE240-3924-430B-8E7A-A11BECDAE8EC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627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8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39062AE9-38A0-4182-BCD1-E0AE29AB0D6F}" type="datetime1">
              <a:rPr lang="en-US" smtClean="0"/>
              <a:t>5/26/2020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6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21F60E-4370-4506-9FD0-8986FEF5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DD582-F9C3-4229-9B49-EBE751CA9B2E}"/>
              </a:ext>
            </a:extLst>
          </p:cNvPr>
          <p:cNvSpPr/>
          <p:nvPr/>
        </p:nvSpPr>
        <p:spPr>
          <a:xfrm>
            <a:off x="320860" y="1082187"/>
            <a:ext cx="9620603" cy="1936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7684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96A9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 We Did </a:t>
            </a: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Affirma is currently assisting Anvil in developing a migration plan and executing against this plan. Affirma is </a:t>
            </a:r>
            <a:r>
              <a:rPr kumimoji="0" lang="en-CA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providing software, services, and support</a:t>
            </a: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 needed to </a:t>
            </a:r>
            <a:r>
              <a:rPr kumimoji="0" lang="en-CA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migrate approximately 550 mailboxes to Exchange Online</a:t>
            </a: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, with </a:t>
            </a:r>
            <a:r>
              <a:rPr kumimoji="0" lang="en-CA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email archiving, eDiscovery, anti-malware, and anti-spam filtering capabilities</a:t>
            </a: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.  Affirma is also assisting with the </a:t>
            </a:r>
            <a:r>
              <a:rPr kumimoji="0" lang="en-CA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migration on SharePoint data and structure to SharePoint Online </a:t>
            </a: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and the </a:t>
            </a:r>
            <a:r>
              <a:rPr kumimoji="0" lang="en-CA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design/deployment of Teams</a:t>
            </a: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. The goal is to provide a seamless transition to Microsoft Office 365 while maintaining a high level of service availability to internal and external users.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MS Mincho" panose="02020609040205080304" pitchFamily="49" charset="-128"/>
              <a:cs typeface="Segoe UI" panose="020B0502040204020203" pitchFamily="34" charset="0"/>
            </a:endParaRP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8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MS Mincho" panose="02020609040205080304" pitchFamily="49" charset="-128"/>
              <a:cs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0ECEFE-2F3A-4BAA-9F03-3A5E810D62D4}"/>
              </a:ext>
            </a:extLst>
          </p:cNvPr>
          <p:cNvSpPr/>
          <p:nvPr/>
        </p:nvSpPr>
        <p:spPr>
          <a:xfrm>
            <a:off x="260720" y="4700301"/>
            <a:ext cx="26268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96A9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Project Information: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6D63D9-EF29-4FD8-87BE-2E73F788019F}"/>
              </a:ext>
            </a:extLst>
          </p:cNvPr>
          <p:cNvSpPr/>
          <p:nvPr/>
        </p:nvSpPr>
        <p:spPr>
          <a:xfrm>
            <a:off x="260720" y="2960677"/>
            <a:ext cx="11550280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96A9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Result</a:t>
            </a: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Anvil has thus far been emphatically satisfied with Affirma’s project team and the completion of the planning and pilot migration phases.  Affirma has </a:t>
            </a: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Implemented a training / communication plan, begun administration training for Anvil IT staff, completed preparations for </a:t>
            </a:r>
            <a:r>
              <a:rPr kumimoji="0" lang="en-CA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AD synchronization / Federation based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. </a:t>
            </a: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Setup anvilcorp.com domain in Office 365. We have also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c</a:t>
            </a: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completed </a:t>
            </a:r>
            <a:r>
              <a:rPr kumimoji="0" lang="en-CA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domain verification,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 </a:t>
            </a:r>
            <a:r>
              <a:rPr kumimoji="0" lang="en-CA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configured co-existence with existing Exchange environment, configured mailbox quotas, and begun pilot migrations</a:t>
            </a:r>
            <a:r>
              <a:rPr kumimoji="0" lang="en-CA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 for the Anvi Corporation. Affirma also completed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eDiscovery workshops/trainings with the legal teams.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96A9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0" name="Picture 2" descr="Image result for anvil corporation">
            <a:extLst>
              <a:ext uri="{FF2B5EF4-FFF2-40B4-BE49-F238E27FC236}">
                <a16:creationId xmlns:a16="http://schemas.microsoft.com/office/drawing/2014/main" id="{0A8E950B-41FC-45D6-A24C-1404BF010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463" y="1082187"/>
            <a:ext cx="1869537" cy="186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847115-9EB4-4B34-AEA0-8EC092D633B7}"/>
              </a:ext>
            </a:extLst>
          </p:cNvPr>
          <p:cNvSpPr txBox="1"/>
          <p:nvPr/>
        </p:nvSpPr>
        <p:spPr>
          <a:xfrm>
            <a:off x="260720" y="4962817"/>
            <a:ext cx="847144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Company Name: Anvil Corporation </a:t>
            </a: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Street Address: 1675 W Bakerview Road</a:t>
            </a: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City, State, Zip:  Bellingham, WA 98226 US</a:t>
            </a: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Contact Person: Darin Wines</a:t>
            </a: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Title: Mechanical Engineering Project Manager</a:t>
            </a: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Email: dwines@anvilcorp.com</a:t>
            </a:r>
          </a:p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Project: Exchange &amp; SharePoint O365 Migration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56C66D99-D1B5-442C-B95A-7A3500BAF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56805"/>
            <a:ext cx="533400" cy="304800"/>
          </a:xfrm>
        </p:spPr>
        <p:txBody>
          <a:bodyPr/>
          <a:lstStyle/>
          <a:p>
            <a:pPr marL="0" marR="0" lvl="0" indent="0" algn="r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40DB5-B054-4B52-B27D-446721D6CC27}" type="slidenum">
              <a:rPr kumimoji="0" lang="en-US" sz="117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768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7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058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Migrations</Value>
    </Solutions>
    <Industries xmlns="f0ee8362-fa7e-4bc9-ab88-7dcfb17cb19b">
      <Value>Technology</Value>
    </Industries>
    <Notes0 xmlns="f0ee8362-fa7e-4bc9-ab88-7dcfb17cb19b">Exchange Online - Email migrations</Notes0>
    <Named_x0020_Account xmlns="f0ee8362-fa7e-4bc9-ab88-7dcfb17cb19b" xsi:nil="true"/>
    <PlatTech xmlns="f0ee8362-fa7e-4bc9-ab88-7dcfb17cb19b">
      <Value>O365</Value>
      <Value>SharePoint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A670487A-21FB-4490-BA42-CD37CB5480D7}"/>
</file>

<file path=customXml/itemProps2.xml><?xml version="1.0" encoding="utf-8"?>
<ds:datastoreItem xmlns:ds="http://schemas.openxmlformats.org/officeDocument/2006/customXml" ds:itemID="{50144D80-228A-425B-8BE0-62972533C8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092491-8E1F-44C4-B494-B9403D67971D}">
  <ds:schemaRefs>
    <ds:schemaRef ds:uri="http://purl.org/dc/elements/1.1/"/>
    <ds:schemaRef ds:uri="http://purl.org/dc/terms/"/>
    <ds:schemaRef ds:uri="http://purl.org/dc/dcmitype/"/>
    <ds:schemaRef ds:uri="357972b2-b7ed-48bc-bbb4-0804bacba9d2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a3d6d3c3-969a-4db5-a798-6d92184358aa"/>
    <ds:schemaRef ds:uri="54243e05-8da7-404c-85e0-0480aaa26276"/>
  </ds:schemaRefs>
</ds:datastoreItem>
</file>

<file path=customXml/itemProps4.xml><?xml version="1.0" encoding="utf-8"?>
<ds:datastoreItem xmlns:ds="http://schemas.openxmlformats.org/officeDocument/2006/customXml" ds:itemID="{C3542419-DCD1-40B2-8D82-DEE5C8DFB698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253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Light</vt:lpstr>
      <vt:lpstr>Segoe UI Semilight</vt:lpstr>
      <vt:lpstr>Custom Design</vt:lpstr>
      <vt:lpstr>Anvil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Anvil</dc:title>
  <dc:creator>Maria Mejia-Henao</dc:creator>
  <cp:lastModifiedBy>Maria Mejia-Henao</cp:lastModifiedBy>
  <cp:revision>1</cp:revision>
  <dcterms:created xsi:type="dcterms:W3CDTF">2020-05-26T21:23:08Z</dcterms:created>
  <dcterms:modified xsi:type="dcterms:W3CDTF">2020-05-26T21:24:40Z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Business Unit">
    <vt:lpwstr/>
  </property>
  <property fmtid="{D5CDD505-2E9C-101B-9397-08002B2CF9AE}" pid="10" name="Industry">
    <vt:lpwstr>42;#Construction|279f3517-6f37-463b-9b64-046a0822a515;#55;#Manufacturing|99fc8efc-4fec-46af-b730-04691660d970</vt:lpwstr>
  </property>
  <property fmtid="{D5CDD505-2E9C-101B-9397-08002B2CF9AE}" pid="11" name="Service_x0020_Offering">
    <vt:lpwstr/>
  </property>
  <property fmtid="{D5CDD505-2E9C-101B-9397-08002B2CF9AE}" pid="12" name="Business_x0020_Unit">
    <vt:lpwstr/>
  </property>
  <property fmtid="{D5CDD505-2E9C-101B-9397-08002B2CF9AE}" pid="13" name="_ExtendedDescription">
    <vt:lpwstr/>
  </property>
  <property fmtid="{D5CDD505-2E9C-101B-9397-08002B2CF9AE}" pid="14" name="Service Offering">
    <vt:lpwstr/>
  </property>
  <property fmtid="{D5CDD505-2E9C-101B-9397-08002B2CF9AE}" pid="15" name="Category">
    <vt:lpwstr>6;#Case Study|8faa0ad1-25f0-4f56-8e38-f60e20c455d6</vt:lpwstr>
  </property>
  <property fmtid="{D5CDD505-2E9C-101B-9397-08002B2CF9AE}" pid="16" name="Order">
    <vt:r8>36400</vt:r8>
  </property>
  <property fmtid="{D5CDD505-2E9C-101B-9397-08002B2CF9AE}" pid="17" name="SO">
    <vt:lpwstr>1;#;#13;#;#25;#</vt:lpwstr>
  </property>
  <property fmtid="{D5CDD505-2E9C-101B-9397-08002B2CF9AE}" pid="18" name="TriggerFlowInfo">
    <vt:lpwstr/>
  </property>
</Properties>
</file>