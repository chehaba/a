
<file path=[Content_Types].xml><?xml version="1.0" encoding="utf-8"?>
<Types xmlns="http://schemas.openxmlformats.org/package/2006/content-types">
  <Default Extension="bin" ContentType="image/jp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Lst>
  <p:notesMasterIdLst>
    <p:notesMasterId r:id="rId7"/>
  </p:notesMasterIdLst>
  <p:sldIdLst>
    <p:sldId id="30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47A955-FE77-BD0B-C3FE-3FB737D2AD23}" v="2" dt="2024-05-28T16:48:27.442"/>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56" d="100"/>
          <a:sy n="56" d="100"/>
        </p:scale>
        <p:origin x="918" y="7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ableStyles" Target="tableStyles.xml"/><Relationship Id="rId5" Type="http://schemas.openxmlformats.org/officeDocument/2006/relationships/slideMaster" Target="slideMasters/slideMaster1.xml"/><Relationship Id="rId10"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endan Murphy" userId="S::bmurphy@affirma.com::e9f923b6-6d89-4d4e-a3b7-d9304b9d44ba" providerId="AD" clId="Web-{BD47A955-FE77-BD0B-C3FE-3FB737D2AD23}"/>
    <pc:docChg chg="modSld">
      <pc:chgData name="Brendan Murphy" userId="S::bmurphy@affirma.com::e9f923b6-6d89-4d4e-a3b7-d9304b9d44ba" providerId="AD" clId="Web-{BD47A955-FE77-BD0B-C3FE-3FB737D2AD23}" dt="2024-05-28T16:48:27.442" v="1" actId="1076"/>
      <pc:docMkLst>
        <pc:docMk/>
      </pc:docMkLst>
      <pc:sldChg chg="modSp">
        <pc:chgData name="Brendan Murphy" userId="S::bmurphy@affirma.com::e9f923b6-6d89-4d4e-a3b7-d9304b9d44ba" providerId="AD" clId="Web-{BD47A955-FE77-BD0B-C3FE-3FB737D2AD23}" dt="2024-05-28T16:48:27.442" v="1" actId="1076"/>
        <pc:sldMkLst>
          <pc:docMk/>
          <pc:sldMk cId="2582825011" sldId="300"/>
        </pc:sldMkLst>
        <pc:spChg chg="mod">
          <ac:chgData name="Brendan Murphy" userId="S::bmurphy@affirma.com::e9f923b6-6d89-4d4e-a3b7-d9304b9d44ba" providerId="AD" clId="Web-{BD47A955-FE77-BD0B-C3FE-3FB737D2AD23}" dt="2024-05-28T16:48:27.410" v="0" actId="1076"/>
          <ac:spMkLst>
            <pc:docMk/>
            <pc:sldMk cId="2582825011" sldId="300"/>
            <ac:spMk id="31" creationId="{EC9A7433-5BCD-4EA6-924A-53FDBF0CAAA6}"/>
          </ac:spMkLst>
        </pc:spChg>
        <pc:spChg chg="mod">
          <ac:chgData name="Brendan Murphy" userId="S::bmurphy@affirma.com::e9f923b6-6d89-4d4e-a3b7-d9304b9d44ba" providerId="AD" clId="Web-{BD47A955-FE77-BD0B-C3FE-3FB737D2AD23}" dt="2024-05-28T16:48:27.442" v="1" actId="1076"/>
          <ac:spMkLst>
            <pc:docMk/>
            <pc:sldMk cId="2582825011" sldId="300"/>
            <ac:spMk id="32" creationId="{E1C0119A-9047-4290-917B-405E19FFDA31}"/>
          </ac:spMkLst>
        </pc:spChg>
      </pc:sldChg>
    </pc:docChg>
  </pc:docChgLst>
  <pc:docChgLst>
    <pc:chgData name="Brendan Murphy" userId="S::bmurphy@affirma.com::e9f923b6-6d89-4d4e-a3b7-d9304b9d44ba" providerId="AD" clId="Web-{09AFFC17-1CC9-3623-8263-A846052E7A27}"/>
    <pc:docChg chg="modSld">
      <pc:chgData name="Brendan Murphy" userId="S::bmurphy@affirma.com::e9f923b6-6d89-4d4e-a3b7-d9304b9d44ba" providerId="AD" clId="Web-{09AFFC17-1CC9-3623-8263-A846052E7A27}" dt="2024-04-11T17:02:35.786" v="4" actId="20577"/>
      <pc:docMkLst>
        <pc:docMk/>
      </pc:docMkLst>
      <pc:sldChg chg="modSp">
        <pc:chgData name="Brendan Murphy" userId="S::bmurphy@affirma.com::e9f923b6-6d89-4d4e-a3b7-d9304b9d44ba" providerId="AD" clId="Web-{09AFFC17-1CC9-3623-8263-A846052E7A27}" dt="2024-04-11T17:02:35.786" v="4" actId="20577"/>
        <pc:sldMkLst>
          <pc:docMk/>
          <pc:sldMk cId="2582825011" sldId="300"/>
        </pc:sldMkLst>
        <pc:spChg chg="mod">
          <ac:chgData name="Brendan Murphy" userId="S::bmurphy@affirma.com::e9f923b6-6d89-4d4e-a3b7-d9304b9d44ba" providerId="AD" clId="Web-{09AFFC17-1CC9-3623-8263-A846052E7A27}" dt="2024-04-11T17:02:35.786" v="4" actId="20577"/>
          <ac:spMkLst>
            <pc:docMk/>
            <pc:sldMk cId="2582825011" sldId="300"/>
            <ac:spMk id="31" creationId="{EC9A7433-5BCD-4EA6-924A-53FDBF0CAAA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5/28/2024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5/28/2024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Data mart Solution</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28536" y="1512494"/>
            <a:ext cx="5533147" cy="2096600"/>
          </a:xfrm>
          <a:prstGeom prst="rect">
            <a:avLst/>
          </a:prstGeom>
          <a:noFill/>
        </p:spPr>
        <p:txBody>
          <a:bodyPr wrap="square" lIns="91440" tIns="45720" rIns="91440" bIns="45720" rtlCol="0" anchor="t">
            <a:spAutoFit/>
          </a:bodyPr>
          <a:lstStyle/>
          <a:p>
            <a:pPr>
              <a:lnSpc>
                <a:spcPct val="150000"/>
              </a:lnSpc>
            </a:pPr>
            <a:r>
              <a:rPr lang="en-US" sz="1100" b="0" i="0" kern="1200" dirty="0">
                <a:effectLst/>
                <a:latin typeface="Open Sans"/>
                <a:ea typeface="+mn-ea"/>
                <a:cs typeface="+mn-cs"/>
              </a:rPr>
              <a:t>Kaiser Permanente, one of the </a:t>
            </a:r>
            <a:r>
              <a:rPr lang="en-US" sz="1100" dirty="0">
                <a:latin typeface="Open Sans"/>
              </a:rPr>
              <a:t>nation's</a:t>
            </a:r>
            <a:r>
              <a:rPr lang="en-US" sz="1100" b="0" i="0" kern="1200" dirty="0">
                <a:effectLst/>
                <a:latin typeface="Open Sans"/>
                <a:ea typeface="+mn-ea"/>
                <a:cs typeface="+mn-cs"/>
              </a:rPr>
              <a:t> largest managed health care firms, needed to implement data security measures under the Health and Information Trust Alliance (HITRUST). HITRUST is a certification framework that is used by organizations to securely create, access, store and exchange personal health and financial information. </a:t>
            </a:r>
            <a:r>
              <a:rPr lang="en-US" sz="1100" b="0" i="0" kern="1200" dirty="0" err="1">
                <a:effectLst/>
                <a:latin typeface="Open Sans"/>
                <a:ea typeface="+mn-ea"/>
                <a:cs typeface="+mn-cs"/>
              </a:rPr>
              <a:t>Affirma</a:t>
            </a:r>
            <a:r>
              <a:rPr lang="en-US" sz="1100" b="0" i="0" kern="1200" dirty="0">
                <a:effectLst/>
                <a:latin typeface="Open Sans"/>
                <a:ea typeface="+mn-ea"/>
                <a:cs typeface="+mn-cs"/>
              </a:rPr>
              <a:t> was contracted to convert </a:t>
            </a:r>
            <a:r>
              <a:rPr lang="en-US" sz="1100" dirty="0">
                <a:latin typeface="Open Sans"/>
              </a:rPr>
              <a:t>Kaiser's</a:t>
            </a:r>
            <a:r>
              <a:rPr lang="en-US" sz="1100" b="0" i="0" kern="1200" dirty="0">
                <a:effectLst/>
                <a:latin typeface="Open Sans"/>
                <a:ea typeface="+mn-ea"/>
                <a:cs typeface="+mn-cs"/>
              </a:rPr>
              <a:t> prototype data security platform into a fully-functional Data mart solution that could monitor all of the </a:t>
            </a:r>
            <a:r>
              <a:rPr lang="en-US" sz="1100" b="0" i="0" kern="1200" dirty="0" err="1">
                <a:effectLst/>
                <a:latin typeface="Open Sans"/>
                <a:ea typeface="+mn-ea"/>
                <a:cs typeface="+mn-cs"/>
              </a:rPr>
              <a:t>organization&amp;rsquo;s</a:t>
            </a:r>
            <a:r>
              <a:rPr lang="en-US" sz="1100" b="0" i="0" kern="1200" dirty="0">
                <a:effectLst/>
                <a:latin typeface="Open Sans"/>
                <a:ea typeface="+mn-ea"/>
                <a:cs typeface="+mn-cs"/>
              </a:rPr>
              <a:t> highly sensitive data.&lt;/p&gt;
</a:t>
            </a: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28537" y="108545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&lt;ul&gt;
	&lt;li&gt;Converted a prototype of the data-feed to a complete and fully functional .NET/SQL solution&lt;/li&gt;
	&lt;br /&gt;
	&lt;li&gt;Created a lightning-fast digital read-out that graphs all security events per minute, and which can be scrolled through at the rate of 1 minute per second. This simple-to-read display allows users to identify any spikes in security issues quickly and easily.&lt;/li&gt;
	&lt;br /&gt;
	&lt;li&gt;Built a dynamic user interface that pulls from SQL every hour so that users of the Data mart solution have up-to-date information to use when monitoring and tracking their systems.&lt;/li&gt;
	&lt;br /&gt;
	&lt;li&gt;Guided Kaiser through the Data mart solution&amp;rsquo;s validation process and walked them through the solution&amp;rsquo;s deployment and implementation.&lt;/li&gt;
	&lt;br /&gt;
	&lt;li&gt;&amp;nbsp;&lt;/li&gt;
&lt;/ul&gt;
</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&lt;p&gt;Kaiser Permanente was very pleased with the Data mart solution. Kaiser now has the ability to easily identify and monitor any security issues in their system, ranging from unauthorized network access attempts to improperly protected health information and blocked spam messages.&lt;/p&gt;
</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pic>
        <p:nvPicPr>
          <p:cNvPr id="4" name="Picture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04616" y="3578094"/>
            <a:ext cx="4254500" cy="2755900"/>
          </a:xfrm>
          <a:prstGeom prst="rect">
            <a:avLst/>
          </a:prstGeom>
        </p:spPr>
      </p:pic>
    </p:spTree>
    <p:extLst>
      <p:ext uri="{BB962C8B-B14F-4D97-AF65-F5344CB8AC3E}">
        <p14:creationId xmlns:p14="http://schemas.microsoft.com/office/powerpoint/2010/main" val="2582825011"/>
      </p:ext>
    </p:extLst>
  </p:cSld>
  <p:clrMapOvr>
    <a:masterClrMapping/>
  </p:clrMapOvr>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Data and Analytics</Value>
    </BusinessUnit>
    <Solutions xmlns="f0ee8362-fa7e-4bc9-ab88-7dcfb17cb19b" xsi:nil="true"/>
    <Industries xmlns="f0ee8362-fa7e-4bc9-ab88-7dcfb17cb19b">
      <Value>Healthcare</Value>
    </Industries>
    <Notes0 xmlns="f0ee8362-fa7e-4bc9-ab88-7dcfb17cb19b" xsi:nil="true"/>
    <Named_x0020_Account xmlns="f0ee8362-fa7e-4bc9-ab88-7dcfb17cb19b" xsi:nil="true"/>
    <PlatTech xmlns="f0ee8362-fa7e-4bc9-ab88-7dcfb17cb19b" xsi:nil="true"/>
    <ApprovedByClient xmlns="f0ee8362-fa7e-4bc9-ab88-7dcfb17cb19b">false</ApprovedByClient>
    <ProjectCompletionDate xmlns="f0ee8362-fa7e-4bc9-ab88-7dcfb17cb19b" xsi:nil="true"/>
  </documentManagement>
</p:properties>
</file>

<file path=customXml/item2.xml><?xml version="1.0" encoding="utf-8"?>
<?mso-contentType ?>
<customXsn xmlns="http://schemas.microsoft.com/office/2006/metadata/customXsn">
  <xsnLocation/>
  <cached>True</cached>
  <openByDefault>False</openByDefault>
  <xsnScope/>
</customXsn>
</file>

<file path=customXml/item3.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AC8B16F-53E6-4716-9C95-8133697D9879}">
  <ds:schemaRefs>
    <ds:schemaRef ds:uri="http://schemas.microsoft.com/office/2006/metadata/properties"/>
    <ds:schemaRef ds:uri="http://schemas.microsoft.com/office/infopath/2007/PartnerControls"/>
    <ds:schemaRef ds:uri="f205c2cf-faee-43e7-95df-8aa62e5feae0"/>
  </ds:schemaRefs>
</ds:datastoreItem>
</file>

<file path=customXml/itemProps2.xml><?xml version="1.0" encoding="utf-8"?>
<ds:datastoreItem xmlns:ds="http://schemas.openxmlformats.org/officeDocument/2006/customXml" ds:itemID="{931517D4-AF44-49AA-AC2A-70D831994C40}">
  <ds:schemaRefs>
    <ds:schemaRef ds:uri="http://schemas.microsoft.com/office/2006/metadata/customXsn"/>
  </ds:schemaRefs>
</ds:datastoreItem>
</file>

<file path=customXml/itemProps3.xml><?xml version="1.0" encoding="utf-8"?>
<ds:datastoreItem xmlns:ds="http://schemas.openxmlformats.org/officeDocument/2006/customXml" ds:itemID="{6A2C6420-2F61-4DE7-ABFD-90B6A9630CA8}"/>
</file>

<file path=customXml/itemProps4.xml><?xml version="1.0" encoding="utf-8"?>
<ds:datastoreItem xmlns:ds="http://schemas.openxmlformats.org/officeDocument/2006/customXml" ds:itemID="{8C36AE3C-9BC4-436C-973E-870469FA2B7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4898</TotalTime>
  <Words>68</Words>
  <Application>Microsoft Office PowerPoint</Application>
  <PresentationFormat>Widescreen</PresentationFormat>
  <Paragraphs>2</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Data mart Solution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Don Hyun</cp:lastModifiedBy>
  <cp:revision>580</cp:revision>
  <dcterms:created xsi:type="dcterms:W3CDTF">2017-10-09T12:47:23Z</dcterms:created>
  <dcterms:modified xsi:type="dcterms:W3CDTF">2024-05-28T16:48:27Z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51;#Healthcare|a26bc4ad-14b0-4fca-9fdf-0cbc9e43340d</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18300</vt:r8>
  </property>
  <property fmtid="{D5CDD505-2E9C-101B-9397-08002B2CF9AE}" pid="11" name="xd_Signature">
    <vt:bool>false</vt:bool>
  </property>
  <property fmtid="{D5CDD505-2E9C-101B-9397-08002B2CF9AE}" pid="12" name="SO">
    <vt:lpwstr>8;#</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