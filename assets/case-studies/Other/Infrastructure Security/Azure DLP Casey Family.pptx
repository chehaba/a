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10"/>
  </p:notesMasterIdLst>
  <p:sldIdLst>
    <p:sldId id="1729" r:id="rId6"/>
    <p:sldId id="1362" r:id="rId7"/>
    <p:sldId id="1360" r:id="rId8"/>
    <p:sldId id="13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Mejia-Henao" userId="ca744fd5-30b3-4c0a-ba75-135f74f80f76" providerId="ADAL" clId="{55466F07-312D-4C5F-ACFF-016169D1B3FE}"/>
    <pc:docChg chg="modSld">
      <pc:chgData name="Maria Mejia-Henao" userId="ca744fd5-30b3-4c0a-ba75-135f74f80f76" providerId="ADAL" clId="{55466F07-312D-4C5F-ACFF-016169D1B3FE}" dt="2020-03-06T19:01:00.909" v="2" actId="20577"/>
      <pc:docMkLst>
        <pc:docMk/>
      </pc:docMkLst>
      <pc:sldChg chg="modSp">
        <pc:chgData name="Maria Mejia-Henao" userId="ca744fd5-30b3-4c0a-ba75-135f74f80f76" providerId="ADAL" clId="{55466F07-312D-4C5F-ACFF-016169D1B3FE}" dt="2020-03-06T19:01:00.909" v="2" actId="20577"/>
        <pc:sldMkLst>
          <pc:docMk/>
          <pc:sldMk cId="4135927524" sldId="1729"/>
        </pc:sldMkLst>
        <pc:spChg chg="mod">
          <ac:chgData name="Maria Mejia-Henao" userId="ca744fd5-30b3-4c0a-ba75-135f74f80f76" providerId="ADAL" clId="{55466F07-312D-4C5F-ACFF-016169D1B3FE}" dt="2020-03-06T19:01:00.909" v="2" actId="20577"/>
          <ac:spMkLst>
            <pc:docMk/>
            <pc:sldMk cId="4135927524" sldId="1729"/>
            <ac:spMk id="3" creationId="{B0E5B11C-828F-4C5C-B85E-B58A576D77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A09A1-A678-484F-AA1F-54124DE9345D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0DB28C-95DE-4E80-B5EF-72651375F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14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428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30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2864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B5FE165-096F-487F-8435-22B7C977BBAC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40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A5D076-475A-402B-BFB3-BCB1DB0975A0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79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68257-B1D1-45B7-A765-50CDBCA3FD86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092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FB58377-F27B-4099-8D07-8CC83E9FF8E3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828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6C74676-92AB-4545-938B-1B69D80DB240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99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A0B79CA-C4D9-4908-8B03-07B20BD050DE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007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0" y="-2"/>
            <a:ext cx="12192000" cy="6858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2E6861D-08F0-455C-ABA0-53DFF2F796CF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919" y="2532446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51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828875-DE2A-4007-BCB0-00064EAA777B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1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79BA1C-FAB8-4D2A-946A-62324E933EF1}" type="datetime1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484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B3B390-3D70-4147-B0BB-53F5951107F8}" type="datetime1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98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6ABAB9D-96B1-4270-A3E0-6D838C6F3255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1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CAA8423-91F7-4752-B324-734304431281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244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39BA845-8FAA-4FA8-BB03-FCE823510A90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12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06F59A-4A5A-4738-AC03-C9914EA55E29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13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7C5F32E-87BC-41F1-B9F5-46E5C7195E2E}" type="datetime1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3131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89D8D96-9103-4B38-8327-0EA0FFD24152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1980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93AED9-3F5E-41D4-9FAD-F29D941B4B0A}" type="datetime1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63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B76160-1DEB-464C-9113-9118CF4A908A}" type="datetime1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8936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C78B21-3C28-439F-BCD3-284714CB9E0C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640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541201-DC49-46F2-AC4F-0D60C1F63406}" type="datetime1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149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98244D-535E-48C4-8BC9-904AE7DD5AF1}" type="datetime1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072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8EA56-0E20-4ACC-A046-BE609E544847}" type="datetime1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808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0CBE8F-8AA2-4859-BE6D-C213C1FEDA0E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55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4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C1EC331-590E-4679-816A-DCB458BBD7AB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0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40DB5-B054-4B52-B27D-446721D6CC27}" type="slidenum">
              <a:rPr kumimoji="0" lang="en-US" sz="117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77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E5B11C-828F-4C5C-B85E-B58A576D7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321" y="2683459"/>
            <a:ext cx="7151109" cy="2460041"/>
          </a:xfrm>
        </p:spPr>
        <p:txBody>
          <a:bodyPr/>
          <a:lstStyle/>
          <a:p>
            <a:r>
              <a:rPr lang="en-US" dirty="0"/>
              <a:t>Azure Security</a:t>
            </a:r>
            <a:br>
              <a:rPr lang="en-US"/>
            </a:br>
            <a:r>
              <a:rPr lang="en-US"/>
              <a:t>Casey Family </a:t>
            </a:r>
            <a:br>
              <a:rPr lang="en-US"/>
            </a:br>
            <a:r>
              <a:rPr lang="en-US"/>
              <a:t>Proof </a:t>
            </a:r>
            <a:r>
              <a:rPr lang="en-US" dirty="0"/>
              <a:t>of Concept</a:t>
            </a:r>
          </a:p>
        </p:txBody>
      </p:sp>
    </p:spTree>
    <p:extLst>
      <p:ext uri="{BB962C8B-B14F-4D97-AF65-F5344CB8AC3E}">
        <p14:creationId xmlns:p14="http://schemas.microsoft.com/office/powerpoint/2010/main" val="413592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22E6AF-B2D8-42AE-AB96-18545CE86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14870"/>
            <a:ext cx="11430000" cy="533400"/>
          </a:xfrm>
        </p:spPr>
        <p:txBody>
          <a:bodyPr/>
          <a:lstStyle/>
          <a:p>
            <a:r>
              <a:rPr lang="en-US"/>
              <a:t>Casey Family Proof of Concept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24FB08-59BA-4930-844E-983CFCC4350B}"/>
              </a:ext>
            </a:extLst>
          </p:cNvPr>
          <p:cNvSpPr/>
          <p:nvPr/>
        </p:nvSpPr>
        <p:spPr>
          <a:xfrm>
            <a:off x="223520" y="1171114"/>
            <a:ext cx="6729730" cy="2657936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marL="0" marR="0" lvl="0" indent="0" algn="l" defTabSz="97684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5170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Business Need</a:t>
            </a:r>
          </a:p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Casey Family engaged Affirma for guidance on translating predesigned data sensitivity requirements into enforceable data loss protection using O365 DLP.  </a:t>
            </a:r>
          </a:p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Casey Family required the following platforms to have protections using O365 DLP: </a:t>
            </a:r>
          </a:p>
          <a:p>
            <a:pPr marL="742950" marR="0" lvl="1" indent="-28575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SharePoint Online</a:t>
            </a:r>
          </a:p>
          <a:p>
            <a:pPr marL="742950" marR="0" lvl="1" indent="-28575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OneDrive for Business Online</a:t>
            </a:r>
          </a:p>
          <a:p>
            <a:pPr marL="742950" marR="0" lvl="1" indent="-28575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SharePoint 2016 On-premises</a:t>
            </a:r>
          </a:p>
          <a:p>
            <a:pPr marL="742950" marR="0" lvl="1" indent="-28575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Exchange 2013 On-premises</a:t>
            </a:r>
          </a:p>
          <a:p>
            <a:pPr marL="742950" marR="0" lvl="1" indent="-28575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Windows Server 2016 File Shares</a:t>
            </a:r>
          </a:p>
          <a:p>
            <a:pPr marL="0" marR="0" lvl="0" indent="0" algn="l" defTabSz="97684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7684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 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03F889-F891-464A-864C-F4B6FD0A53CB}"/>
              </a:ext>
            </a:extLst>
          </p:cNvPr>
          <p:cNvSpPr/>
          <p:nvPr/>
        </p:nvSpPr>
        <p:spPr>
          <a:xfrm>
            <a:off x="223520" y="3829050"/>
            <a:ext cx="11744960" cy="2657936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marL="0" marR="0" lvl="0" indent="0" algn="l" defTabSz="97684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5170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What We Did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Affirma designed, deployed, and configured the following items to protect the mentioned platforms and address the required use cases: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Azure Information Protection (AIP):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Product used to encrypt, label, and protect files and folders from unauthorized use.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Azure Information Protection Scanner: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 product that applies AIP protection labels on on-premises SharePoint and network file share repositories.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Cloud App Security (MCAS):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Product used to enforce AIP protection labels on SharePoint Online and OneDrive for Business platforms. It also includes a centralized logging and data exporting feature that is leveraged for interconnectivity with Splunk.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Azure Rights Management Service (RMS):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 product that, through the use of a connector, helps interconnect and apply AIP protection labels with on-premises Exchange. It also allows for the use of protection within on-premises Outlook Web App (OWA).</a:t>
            </a:r>
          </a:p>
          <a:p>
            <a:pPr marL="0" marR="0" lvl="0" indent="0" algn="l" defTabSz="97684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5170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7684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0" name="Picture 2" descr="Image result for casey family logo">
            <a:extLst>
              <a:ext uri="{FF2B5EF4-FFF2-40B4-BE49-F238E27FC236}">
                <a16:creationId xmlns:a16="http://schemas.microsoft.com/office/drawing/2014/main" id="{78A6E1E5-F89F-485F-9CAB-45D63D9DF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582" y="1577735"/>
            <a:ext cx="4332898" cy="131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3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22E6AF-B2D8-42AE-AB96-18545CE86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14870"/>
            <a:ext cx="11430000" cy="533400"/>
          </a:xfrm>
        </p:spPr>
        <p:txBody>
          <a:bodyPr/>
          <a:lstStyle/>
          <a:p>
            <a:r>
              <a:rPr lang="en-US"/>
              <a:t>Casey Family Proof of Concept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EF621-521E-41D4-B2CA-5E5B95EB1EBC}"/>
              </a:ext>
            </a:extLst>
          </p:cNvPr>
          <p:cNvSpPr txBox="1"/>
          <p:nvPr/>
        </p:nvSpPr>
        <p:spPr>
          <a:xfrm>
            <a:off x="492554" y="1201711"/>
            <a:ext cx="5354011" cy="798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17" b="0" i="0" u="none" strike="noStrike" kern="1200" cap="none" spc="0" normalizeH="0" baseline="0" noProof="0">
                <a:ln>
                  <a:noFill/>
                </a:ln>
                <a:solidFill>
                  <a:srgbClr val="F75714"/>
                </a:solidFill>
                <a:effectLst/>
                <a:uLnTx/>
                <a:uFillTx/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Casey Family has identified the following use cases for DLP support and rollout: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1A2D8-1A51-4C6B-B58E-89B2CBCCE89C}"/>
              </a:ext>
            </a:extLst>
          </p:cNvPr>
          <p:cNvSpPr txBox="1"/>
          <p:nvPr/>
        </p:nvSpPr>
        <p:spPr>
          <a:xfrm>
            <a:off x="6456989" y="1201711"/>
            <a:ext cx="5354011" cy="1177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17" b="0" i="0" u="none" strike="noStrike" kern="1200" cap="none" spc="0" normalizeH="0" baseline="0" noProof="0">
                <a:ln>
                  <a:noFill/>
                </a:ln>
                <a:solidFill>
                  <a:srgbClr val="F75714"/>
                </a:solidFill>
                <a:effectLst/>
                <a:uLnTx/>
                <a:uFillTx/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Sample Strategies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Based on the listed use cases, Affirma is able to identify specific strategies to each using Office 365 Security &amp; Compliance, Azure Information Protection (AIP), Microsoft Cloud App Security (MCAS), and Azure Rights Management Service (RMS):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581337-8D7C-4B19-B304-1B1C5AEB299F}"/>
              </a:ext>
            </a:extLst>
          </p:cNvPr>
          <p:cNvGraphicFramePr>
            <a:graphicFrameLocks noGrp="1"/>
          </p:cNvGraphicFramePr>
          <p:nvPr/>
        </p:nvGraphicFramePr>
        <p:xfrm>
          <a:off x="492554" y="2581610"/>
          <a:ext cx="11371647" cy="3433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0549">
                  <a:extLst>
                    <a:ext uri="{9D8B030D-6E8A-4147-A177-3AD203B41FA5}">
                      <a16:colId xmlns:a16="http://schemas.microsoft.com/office/drawing/2014/main" val="1897140024"/>
                    </a:ext>
                  </a:extLst>
                </a:gridCol>
                <a:gridCol w="3790549">
                  <a:extLst>
                    <a:ext uri="{9D8B030D-6E8A-4147-A177-3AD203B41FA5}">
                      <a16:colId xmlns:a16="http://schemas.microsoft.com/office/drawing/2014/main" val="1431058317"/>
                    </a:ext>
                  </a:extLst>
                </a:gridCol>
                <a:gridCol w="3790549">
                  <a:extLst>
                    <a:ext uri="{9D8B030D-6E8A-4147-A177-3AD203B41FA5}">
                      <a16:colId xmlns:a16="http://schemas.microsoft.com/office/drawing/2014/main" val="14565637"/>
                    </a:ext>
                  </a:extLst>
                </a:gridCol>
              </a:tblGrid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Use Case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Strategy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Links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91673577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200"/>
                        <a:t>Identify highly sensitive data that is uploaded to SharePoint, including credit cards and HIPAA-protected data. 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Azure Information Protection is able to pick up keywords that match a specific syntax to automatically assign protections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https://docs.microsoft.com/en-us/azure/information-protection/configure-policy-classification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03973846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200"/>
                        <a:t>When a violation is detected, alert the staff member and allow the staff member to remediate the violation.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O365 Security &amp; Compliance and MCAS have alerting features for a variety of template violations; customized violations can also be created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https://docs.microsoft.com/en-us/cloud-app-security/monitor-alerts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40229605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10758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a staff member fails to remediate a violation, provide an escalation path.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10758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O365 Security &amp; Compliance and MCAS have alerting features for a variety of template violations; customized violations can also be created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https://docs.microsoft.com/en-us/cloud-app-security/monitor-alerts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60282234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10758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Staff have the ability to classify all documents (Microsoft file types)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Azure Information Protection and the AIP Client can integrate with O365 Applications for easily applying labels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https://docs.microsoft.com/en-us/azure/information-protection/configure-policy-protection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04912076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10758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Once classified, there are rules regarding where data can be stored. Prioritize management of documents which contain highly sensitive data 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Azure Information Protection protects documents by embedding code to protect the document regardless of where it lives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https://blogs.technet.microsoft.com/cbernier/2017/05/19/windows-information-protection-explained-windows-10-creators-update/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787617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74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A94F7-D749-4DAE-9B61-189CBC1E5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Casey Family Proof of Concept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2B1E2F-8D93-49CD-AAF1-847AA535E3B8}"/>
              </a:ext>
            </a:extLst>
          </p:cNvPr>
          <p:cNvGraphicFramePr>
            <a:graphicFrameLocks noGrp="1"/>
          </p:cNvGraphicFramePr>
          <p:nvPr/>
        </p:nvGraphicFramePr>
        <p:xfrm>
          <a:off x="449759" y="2551565"/>
          <a:ext cx="11371647" cy="2366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0549">
                  <a:extLst>
                    <a:ext uri="{9D8B030D-6E8A-4147-A177-3AD203B41FA5}">
                      <a16:colId xmlns:a16="http://schemas.microsoft.com/office/drawing/2014/main" val="1897140024"/>
                    </a:ext>
                  </a:extLst>
                </a:gridCol>
                <a:gridCol w="3790549">
                  <a:extLst>
                    <a:ext uri="{9D8B030D-6E8A-4147-A177-3AD203B41FA5}">
                      <a16:colId xmlns:a16="http://schemas.microsoft.com/office/drawing/2014/main" val="1431058317"/>
                    </a:ext>
                  </a:extLst>
                </a:gridCol>
                <a:gridCol w="3790549">
                  <a:extLst>
                    <a:ext uri="{9D8B030D-6E8A-4147-A177-3AD203B41FA5}">
                      <a16:colId xmlns:a16="http://schemas.microsoft.com/office/drawing/2014/main" val="14565637"/>
                    </a:ext>
                  </a:extLst>
                </a:gridCol>
              </a:tblGrid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Use Case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Strategy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Links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91673577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10758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a file is incorrectly flagged as containing highly sensitive information, staff have an option to report false positives.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Administrators have the ability to remove protections on files or reclassify labels using AIP or MCAS (the latter is much more direct)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https://docs.microsoft.com/en-us/cloud-app-security/azip-integration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03973846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200"/>
                        <a:t>Data is automatically pulled into Splunk for centralized reporting. 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Microsoft Cloud App Security has integration features with third-party SIEMs, </a:t>
                      </a:r>
                      <a:r>
                        <a:rPr lang="en-US" sz="1200" b="1"/>
                        <a:t>but unsure the compatibility w/ Splunk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https://docs.microsoft.com/en-us/cloud-app-security/siem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402296056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marL="0" marR="0" lvl="0" indent="0" algn="l" defTabSz="10758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a computer is lost/stolen, we currently have to investigate the possibility of a breach. Want the ability to identify if there is sensitive data on computers. 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10758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AIP and MCAS have track and revocation features with files that are protected, along with allowed/denied permissions and encryption should the file be downloaded offline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https://docs.microsoft.com/en-us/azure/information-protection/rms-client/client-track-revoke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6028223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BA76141-749B-4860-9CAA-63A465447C0D}"/>
              </a:ext>
            </a:extLst>
          </p:cNvPr>
          <p:cNvSpPr txBox="1"/>
          <p:nvPr/>
        </p:nvSpPr>
        <p:spPr>
          <a:xfrm>
            <a:off x="449759" y="1257666"/>
            <a:ext cx="5354011" cy="798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17" b="0" i="0" u="none" strike="noStrike" kern="1200" cap="none" spc="0" normalizeH="0" baseline="0" noProof="0">
                <a:ln>
                  <a:noFill/>
                </a:ln>
                <a:solidFill>
                  <a:srgbClr val="F75714"/>
                </a:solidFill>
                <a:effectLst/>
                <a:uLnTx/>
                <a:uFillTx/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Casey Family has identified the following use cases for DLP support and rollout: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3520D-23DF-44F8-BB02-81B2B12E1BF4}"/>
              </a:ext>
            </a:extLst>
          </p:cNvPr>
          <p:cNvSpPr txBox="1"/>
          <p:nvPr/>
        </p:nvSpPr>
        <p:spPr>
          <a:xfrm>
            <a:off x="6096000" y="1257666"/>
            <a:ext cx="5354011" cy="987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17" b="0" i="0" u="none" strike="noStrike" kern="1200" cap="none" spc="0" normalizeH="0" baseline="0" noProof="0">
                <a:ln>
                  <a:noFill/>
                </a:ln>
                <a:solidFill>
                  <a:srgbClr val="F75714"/>
                </a:solidFill>
                <a:effectLst/>
                <a:uLnTx/>
                <a:uFillTx/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Sample Strategies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Based on the listed use cases, Affirma is able to identify specific strategies to each using Office 365 Security &amp; Compliance, Azure Information Protection (AIP), and Microsoft Cloud App Security (MCAS):</a:t>
            </a:r>
          </a:p>
        </p:txBody>
      </p:sp>
    </p:spTree>
    <p:extLst>
      <p:ext uri="{BB962C8B-B14F-4D97-AF65-F5344CB8AC3E}">
        <p14:creationId xmlns:p14="http://schemas.microsoft.com/office/powerpoint/2010/main" val="402757906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</BusinessUnit>
    <Solutions xmlns="f0ee8362-fa7e-4bc9-ab88-7dcfb17cb19b">
      <Value>Cloud</Value>
      <Value>Cybersecurity</Value>
    </Solutions>
    <Industries xmlns="f0ee8362-fa7e-4bc9-ab88-7dcfb17cb19b" xsi:nil="true"/>
    <Notes0 xmlns="f0ee8362-fa7e-4bc9-ab88-7dcfb17cb19b" xsi:nil="true"/>
    <Named_x0020_Account xmlns="f0ee8362-fa7e-4bc9-ab88-7dcfb17cb19b" xsi:nil="true"/>
    <PlatTech xmlns="f0ee8362-fa7e-4bc9-ab88-7dcfb17cb19b">
      <Value>Azure</Value>
      <Value>O365</Value>
    </PlatTech>
    <ApprovedByClient xmlns="f0ee8362-fa7e-4bc9-ab88-7dcfb17cb19b">false</ApprovedByClient>
    <ProjectCompletionDate xmlns="f0ee8362-fa7e-4bc9-ab88-7dcfb17cb19b" xsi:nil="true"/>
  </documentManagement>
</p:properties>
</file>

<file path=customXml/itemProps1.xml><?xml version="1.0" encoding="utf-8"?>
<ds:datastoreItem xmlns:ds="http://schemas.openxmlformats.org/officeDocument/2006/customXml" ds:itemID="{A4CC3661-2D6B-47F0-AAB6-FF915534B9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77AA9B-C619-48A4-8CC4-AD3A801C12F3}"/>
</file>

<file path=customXml/itemProps3.xml><?xml version="1.0" encoding="utf-8"?>
<ds:datastoreItem xmlns:ds="http://schemas.openxmlformats.org/officeDocument/2006/customXml" ds:itemID="{6BAB241B-9A53-4F01-9C32-6CA81641D60F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9A58FB48-039C-4387-8C91-D3AE06E996A2}">
  <ds:schemaRefs>
    <ds:schemaRef ds:uri="http://www.w3.org/XML/1998/namespace"/>
    <ds:schemaRef ds:uri="http://purl.org/dc/dcmitype/"/>
    <ds:schemaRef ds:uri="d32e32f4-7a47-4a1a-8faa-b8e82aa8c412"/>
    <ds:schemaRef ds:uri="http://schemas.microsoft.com/office/2006/documentManagement/types"/>
    <ds:schemaRef ds:uri="0b603848-ec9b-4f0c-b42d-ae5d8eeb1b9b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f205c2cf-faee-43e7-95df-8aa62e5feae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783</Words>
  <Application>Microsoft Office PowerPoint</Application>
  <PresentationFormat>Widescreen</PresentationFormat>
  <Paragraphs>63</Paragraphs>
  <Slides>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Custom Design</vt:lpstr>
      <vt:lpstr>Azure Security Casey Family  Proof of Concept</vt:lpstr>
      <vt:lpstr>Casey Family Proof of Concept</vt:lpstr>
      <vt:lpstr>Casey Family Proof of Concept</vt:lpstr>
      <vt:lpstr>Casey Family Proof of Concept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Security Use Case: Casey Family Proof of Concept PoC</dc:title>
  <dc:creator>Maria Mejia-Henao</dc:creator>
  <cp:lastModifiedBy>Maria Mejia-Henao</cp:lastModifiedBy>
  <cp:revision>2</cp:revision>
  <dcterms:created xsi:type="dcterms:W3CDTF">2020-03-06T18:58:57Z</dcterms:created>
  <dcterms:modified xsi:type="dcterms:W3CDTF">2024-05-29T02:11:51Z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Business Unit">
    <vt:lpwstr/>
  </property>
  <property fmtid="{D5CDD505-2E9C-101B-9397-08002B2CF9AE}" pid="4" name="Industry">
    <vt:lpwstr>60;#Non-Profit|d41e53c6-e81f-4458-bd13-a262ad0b6699</vt:lpwstr>
  </property>
  <property fmtid="{D5CDD505-2E9C-101B-9397-08002B2CF9AE}" pid="5" name="Service_x0020_Offering">
    <vt:lpwstr/>
  </property>
  <property fmtid="{D5CDD505-2E9C-101B-9397-08002B2CF9AE}" pid="6" name="Business_x0020_Unit">
    <vt:lpwstr/>
  </property>
  <property fmtid="{D5CDD505-2E9C-101B-9397-08002B2CF9AE}" pid="7" name="_ExtendedDescription">
    <vt:lpwstr/>
  </property>
  <property fmtid="{D5CDD505-2E9C-101B-9397-08002B2CF9AE}" pid="8" name="Service Offering">
    <vt:lpwstr/>
  </property>
  <property fmtid="{D5CDD505-2E9C-101B-9397-08002B2CF9AE}" pid="9" name="Category">
    <vt:lpwstr>6;#Case Study|8faa0ad1-25f0-4f56-8e38-f60e20c455d6</vt:lpwstr>
  </property>
  <property fmtid="{D5CDD505-2E9C-101B-9397-08002B2CF9AE}" pid="10" name="Order">
    <vt:r8>37400</vt:r8>
  </property>
  <property fmtid="{D5CDD505-2E9C-101B-9397-08002B2CF9AE}" pid="11" name="xd_Signature">
    <vt:bool>false</vt:bool>
  </property>
  <property fmtid="{D5CDD505-2E9C-101B-9397-08002B2CF9AE}" pid="12" name="SO">
    <vt:lpwstr>3;#;#15;#;#25;#;#28;#</vt:lpwstr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TriggerFlowInfo">
    <vt:lpwstr/>
  </property>
</Properties>
</file>