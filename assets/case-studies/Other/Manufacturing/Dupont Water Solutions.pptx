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402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59" d="100"/>
          <a:sy n="159" d="100"/>
        </p:scale>
        <p:origin x="228"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FAA7C1-C3F5-4197-8E19-5074508A151F}"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85188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CFDDD89-E2D9-493F-AD44-4345B57BD2A0}"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46655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7499F9F-9E84-4603-8810-9671E100DF9C}"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73721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A2391-0ACB-417B-BDB2-7EE86BD34CEA}"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654730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4EEF880-5CE9-41CC-A411-7EC9C6AA3BF2}"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42521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AAEA9E00-3739-42E3-8830-2E60F70329D4}"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29500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B5C85A9-61C4-4434-8966-EB3F73BAEE9D}"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24240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83501AD-9C9C-4244-AE21-6A31846E05AA}"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94472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1D24DEDE-F6A3-41EB-8FC4-999989A5260A}"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11769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1FE955F0-5606-413C-B69D-B3F57444670D}"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93909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61B4369-6832-4892-BE79-8192E1F2316D}"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50255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537DD49-2060-4D8A-B398-AD5F4CDD09E0}"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784321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AE31D5E-F81B-49B6-950F-BD89FED6F259}"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098354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80F0FA7-9D34-4DD8-A670-CD37592C43C4}"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442339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B6B03B97-2ED3-473A-A6B5-C8CECAC33066}" type="datetime1">
              <a:rPr lang="en-US" smtClean="0"/>
              <a:t>6/6/2024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53152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6E7B2A6-4F07-4682-BCBA-4D02173B1F2E}" type="datetime1">
              <a:rPr lang="en-US" smtClean="0"/>
              <a:t>6/6/2024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314832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83671C9-B8AF-4778-9A64-B7D40FCAB6D7}" type="datetime1">
              <a:rPr lang="en-US" smtClean="0"/>
              <a:t>6/6/2024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341206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B0F89DA-FF13-4B7D-AA08-3C5F81465675}"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04507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436BD68-1E86-4C5F-B263-4D813CF8156E}" type="datetime1">
              <a:rPr lang="en-US" smtClean="0"/>
              <a:t>6/6/2024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251590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308C49A-4D23-4DAD-94AA-52B2AB55BE64}"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69266584"/>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B71612E-1300-4134-8502-69D1691574A5}"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3168752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F35ADEB-6349-4B88-8268-13B6CE512C57}" type="datetime1">
              <a:rPr lang="en-US" smtClean="0"/>
              <a:t>6/6/2024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9157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251D2621-3FA2-4EA3-B22D-3D4C918E1AF9}" type="datetime1">
              <a:rPr lang="en-US" smtClean="0"/>
              <a:t>6/6/2024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38182020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44321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5219DAA9-BAE0-47A6-AA9A-63E08801AA2A}" type="datetime1">
              <a:rPr lang="en-US" smtClean="0"/>
              <a:t>6/6/2024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959090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54DF35-EA3E-4C4C-90E0-29B4F47B4B89}"/>
              </a:ext>
            </a:extLst>
          </p:cNvPr>
          <p:cNvSpPr/>
          <p:nvPr/>
        </p:nvSpPr>
        <p:spPr>
          <a:xfrm>
            <a:off x="0" y="3484"/>
            <a:ext cx="12192000" cy="99123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76806"/>
            <a:endParaRPr lang="en-US" sz="1923" dirty="0">
              <a:solidFill>
                <a:prstClr val="white"/>
              </a:solidFill>
              <a:latin typeface="Segoe UI"/>
            </a:endParaRPr>
          </a:p>
        </p:txBody>
      </p:sp>
      <p:sp>
        <p:nvSpPr>
          <p:cNvPr id="2" name="Title 1">
            <a:extLst>
              <a:ext uri="{FF2B5EF4-FFF2-40B4-BE49-F238E27FC236}">
                <a16:creationId xmlns:a16="http://schemas.microsoft.com/office/drawing/2014/main" id="{98315587-2BD8-46A1-A463-CC6D4DA64013}"/>
              </a:ext>
            </a:extLst>
          </p:cNvPr>
          <p:cNvSpPr>
            <a:spLocks noGrp="1"/>
          </p:cNvSpPr>
          <p:nvPr>
            <p:ph type="title"/>
          </p:nvPr>
        </p:nvSpPr>
        <p:spPr/>
        <p:txBody>
          <a:bodyPr>
            <a:normAutofit fontScale="90000"/>
          </a:bodyPr>
          <a:lstStyle/>
          <a:p>
            <a:r>
              <a:rPr lang="en-US" dirty="0"/>
              <a:t>Dupont Water Solutions - Salesforce and NetSuite Integration</a:t>
            </a:r>
          </a:p>
        </p:txBody>
      </p:sp>
      <p:sp>
        <p:nvSpPr>
          <p:cNvPr id="4" name="TextBox 3">
            <a:extLst>
              <a:ext uri="{FF2B5EF4-FFF2-40B4-BE49-F238E27FC236}">
                <a16:creationId xmlns:a16="http://schemas.microsoft.com/office/drawing/2014/main" id="{218BF729-DD75-444E-8129-27DC633B8D55}"/>
              </a:ext>
            </a:extLst>
          </p:cNvPr>
          <p:cNvSpPr txBox="1"/>
          <p:nvPr/>
        </p:nvSpPr>
        <p:spPr>
          <a:xfrm>
            <a:off x="381000" y="1304801"/>
            <a:ext cx="7818521" cy="4179670"/>
          </a:xfrm>
          <a:prstGeom prst="rect">
            <a:avLst/>
          </a:prstGeom>
          <a:noFill/>
        </p:spPr>
        <p:txBody>
          <a:bodyPr wrap="square" rtlCol="0">
            <a:spAutoFit/>
          </a:bodyPr>
          <a:lstStyle/>
          <a:p>
            <a:pPr defTabSz="976845"/>
            <a:r>
              <a:rPr lang="en-US" sz="2667" dirty="0">
                <a:solidFill>
                  <a:srgbClr val="F75714"/>
                </a:solidFill>
                <a:latin typeface="Segoe UI Light" panose="020B0502040204020203" pitchFamily="34" charset="0"/>
                <a:ea typeface="MS Mincho" panose="02020609040205080304" pitchFamily="49" charset="-128"/>
                <a:cs typeface="Segoe UI Light" panose="020B0502040204020203" pitchFamily="34" charset="0"/>
              </a:rPr>
              <a:t>Goal </a:t>
            </a: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Dupont Water Solutions develops reverse osmosis systems for industrial water purification, reuse, and desalination. The company serves food and beverage, refining oil and gas, mining, power generation, automotive, and municipal industries. </a:t>
            </a: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Dupont Water Solutions needed assistance connecting their Salesforce and NetSuite applications.  Prior to our integration, Dupont Water Solutions had a manual process to move closed won opportunities in Salesforce to sales orders in NetSuite.  This manual process could lead to errors and delays.  We designed an API to automatically populate key fields in NetSuite from Salesforce.  We also provided a view in Salesforce that showed which opportunities were ready to convert to sales orders. </a:t>
            </a: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defTabSz="976845"/>
            <a:r>
              <a:rPr kumimoji="0" lang="en-US" sz="2667" b="0" i="0" u="none" strike="noStrike" kern="1200" cap="none" spc="0" normalizeH="0" baseline="0" noProof="0" dirty="0">
                <a:ln>
                  <a:noFill/>
                </a:ln>
                <a:solidFill>
                  <a:srgbClr val="F75714"/>
                </a:solidFill>
                <a:effectLst/>
                <a:uLnTx/>
                <a:uFillTx/>
                <a:latin typeface="Segoe UI Light" panose="020B0502040204020203" pitchFamily="34" charset="0"/>
                <a:ea typeface="MS Mincho" panose="02020609040205080304" pitchFamily="49" charset="-128"/>
                <a:cs typeface="Segoe UI Light" panose="020B0502040204020203" pitchFamily="34" charset="0"/>
              </a:rPr>
              <a:t>Result</a:t>
            </a: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171443" indent="-171443" defTabSz="976845">
              <a:buFont typeface="Arial" panose="020B0604020202020204" pitchFamily="34" charset="0"/>
              <a:buChar char="•"/>
            </a:pPr>
            <a:r>
              <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rPr>
              <a:t>Dupont Water Solutions immediately saw the benefits of this solution in automating the flow of opportunities to sales in NetSuite  </a:t>
            </a:r>
          </a:p>
          <a:p>
            <a:pPr marL="238105" indent="-238105" defTabSz="976845">
              <a:lnSpc>
                <a:spcPct val="120000"/>
              </a:lnSpc>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marL="238105" indent="-238105" defTabSz="976845">
              <a:lnSpc>
                <a:spcPct val="120000"/>
              </a:lnSpc>
              <a:buFont typeface="Arial" panose="020B0604020202020204" pitchFamily="34" charset="0"/>
              <a:buChar char="•"/>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defTabSz="976845">
              <a:lnSpc>
                <a:spcPct val="120000"/>
              </a:lnSpc>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a:p>
            <a:pPr defTabSz="976845">
              <a:lnSpc>
                <a:spcPct val="120000"/>
              </a:lnSpc>
            </a:pPr>
            <a:endParaRPr lang="en-US" sz="1200" dirty="0">
              <a:solidFill>
                <a:prstClr val="black"/>
              </a:solidFill>
              <a:latin typeface="Segoe UI Light" panose="020B0502040204020203" pitchFamily="34" charset="0"/>
              <a:ea typeface="MS Mincho" panose="02020609040205080304" pitchFamily="49" charset="-128"/>
              <a:cs typeface="Segoe UI Light" panose="020B0502040204020203" pitchFamily="34" charset="0"/>
            </a:endParaRPr>
          </a:p>
        </p:txBody>
      </p:sp>
      <p:pic>
        <p:nvPicPr>
          <p:cNvPr id="1026" name="Picture 2" descr="Dupont">
            <a:extLst>
              <a:ext uri="{FF2B5EF4-FFF2-40B4-BE49-F238E27FC236}">
                <a16:creationId xmlns:a16="http://schemas.microsoft.com/office/drawing/2014/main" id="{F801F82A-AC6F-599E-72BC-31F223BAE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6654" y="1423255"/>
            <a:ext cx="1437099" cy="4161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racle NetSuite OneWorld Review | PCMag">
            <a:extLst>
              <a:ext uri="{FF2B5EF4-FFF2-40B4-BE49-F238E27FC236}">
                <a16:creationId xmlns:a16="http://schemas.microsoft.com/office/drawing/2014/main" id="{89751EA4-EE0E-DCA2-5634-5EF0D28EEB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2131" y="2267952"/>
            <a:ext cx="2606143" cy="14681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alesforce - Wikipedia">
            <a:extLst>
              <a:ext uri="{FF2B5EF4-FFF2-40B4-BE49-F238E27FC236}">
                <a16:creationId xmlns:a16="http://schemas.microsoft.com/office/drawing/2014/main" id="{4598C30D-A4B2-8341-6DB7-FF4F8DCE7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9377" y="4164593"/>
            <a:ext cx="1771650" cy="1242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745627"/>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NetSuite</Value>
    </BusinessUnit>
    <Solutions xmlns="f0ee8362-fa7e-4bc9-ab88-7dcfb17cb19b">
      <Value>Integrations</Value>
    </Solutions>
    <Industries xmlns="f0ee8362-fa7e-4bc9-ab88-7dcfb17cb19b">
      <Value>Financial Services</Value>
      <Value>Water</Value>
      <Value>Manufacturing</Value>
    </Industries>
    <Notes0 xmlns="f0ee8362-fa7e-4bc9-ab88-7dcfb17cb19b" xsi:nil="true"/>
    <PlatTech xmlns="f0ee8362-fa7e-4bc9-ab88-7dcfb17cb19b">
      <Value>Salesforce</Value>
      <Value>NetSuite</Value>
    </PlatTech>
    <Named_x0020_Account xmlns="f0ee8362-fa7e-4bc9-ab88-7dcfb17cb19b" xsi:nil="true"/>
    <ProjectCompletionDate xmlns="f0ee8362-fa7e-4bc9-ab88-7dcfb17cb19b" xsi:nil="true"/>
    <ApprovedByClient xmlns="f0ee8362-fa7e-4bc9-ab88-7dcfb17cb19b">false</ApprovedByClient>
  </documentManagement>
</p:properties>
</file>

<file path=customXml/item2.xml><?xml version="1.0" encoding="utf-8"?>
<?mso-contentType ?>
<customXsn xmlns="http://schemas.microsoft.com/office/2006/metadata/customXsn">
  <xsnLocation/>
  <cached>True</cached>
  <openByDefault>False</openByDefault>
  <xsnScope/>
</customXsn>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D32872-7D0B-4E5F-A36B-4C2D6ED5A28B}">
  <ds:schemaRefs>
    <ds:schemaRef ds:uri="http://schemas.microsoft.com/office/2006/metadata/properties"/>
    <ds:schemaRef ds:uri="http://schemas.microsoft.com/office/infopath/2007/PartnerControls"/>
    <ds:schemaRef ds:uri="f205c2cf-faee-43e7-95df-8aa62e5feae0"/>
  </ds:schemaRefs>
</ds:datastoreItem>
</file>

<file path=customXml/itemProps2.xml><?xml version="1.0" encoding="utf-8"?>
<ds:datastoreItem xmlns:ds="http://schemas.openxmlformats.org/officeDocument/2006/customXml" ds:itemID="{7E15A956-8003-434D-B4F7-D0DCFBB02782}">
  <ds:schemaRefs>
    <ds:schemaRef ds:uri="http://schemas.microsoft.com/office/2006/metadata/customXsn"/>
  </ds:schemaRefs>
</ds:datastoreItem>
</file>

<file path=customXml/itemProps3.xml><?xml version="1.0" encoding="utf-8"?>
<ds:datastoreItem xmlns:ds="http://schemas.openxmlformats.org/officeDocument/2006/customXml" ds:itemID="{B344AC13-0C63-4306-B6D6-9415BE467BEC}"/>
</file>

<file path=customXml/itemProps4.xml><?xml version="1.0" encoding="utf-8"?>
<ds:datastoreItem xmlns:ds="http://schemas.openxmlformats.org/officeDocument/2006/customXml" ds:itemID="{52E8CF69-B251-4114-A698-67881A656A4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TotalTime>
  <Words>149</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Segoe UI</vt:lpstr>
      <vt:lpstr>Segoe UI Light</vt:lpstr>
      <vt:lpstr>Segoe UI Semilight</vt:lpstr>
      <vt:lpstr>Custom Design</vt:lpstr>
      <vt:lpstr>Dupont Water Solutions - Salesforce and NetSuite Integration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Alaska National Insurance Company</dc:title>
  <dc:creator>Brendan Murphy</dc:creator>
  <cp:lastModifiedBy>Brendan Murphy</cp:lastModifiedBy>
  <cp:revision>3</cp:revision>
  <dcterms:created xsi:type="dcterms:W3CDTF">2020-09-29T02:40:06Z</dcterms:created>
  <dcterms:modified xsi:type="dcterms:W3CDTF">2024-06-06T20:49:25Z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Platforms">
    <vt:lpwstr>;#.NET;#Custom Built;#</vt:lpwstr>
  </property>
</Properties>
</file>