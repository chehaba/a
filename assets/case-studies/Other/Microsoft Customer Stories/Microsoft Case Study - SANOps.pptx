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customXml/itemProps1.xml" ContentType="application/vnd.openxmlformats-officedocument.customXmlProperties+xml"/>
  <Override PartName="/customXml/itemProps2.xml" ContentType="application/vnd.openxmlformats-officedocument.customXmlProperties+xml"/>
  <Override PartName="/docProps/core.xml" ContentType="application/vnd.openxmlformats-package.core-properties+xml"/>
  <Override PartName="/docProps/app.xml" ContentType="application/vnd.openxmlformats-officedocument.extended-properties+xml"/>
  <Override PartName="/customXml/itemProps3.xml" ContentType="application/vnd.openxmlformats-officedocument.customXmlProperties+xml"/>
  <Override PartName="/ppt/revisionInfo.xml" ContentType="application/vnd.ms-powerpoint.revisioninfo+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sldIdLst>
    <p:sldId id="1196"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B7E38B-7238-4C01-8E34-DF07B3D23AB9}" v="2" dt="2020-04-20T22:46:20.9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4" d="100"/>
          <a:sy n="114" d="100"/>
        </p:scale>
        <p:origin x="47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openxmlformats.org/officeDocument/2006/relationships/customXml" Target="../customXml/item4.xml"/><Relationship Id="rId5" Type="http://schemas.openxmlformats.org/officeDocument/2006/relationships/slide" Target="slides/slide1.xml"/><Relationship Id="rId10"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287D9-663E-45BE-B168-22B89CEE6C9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8BE86FE-0CD0-4B3A-B5ED-46F92E1A67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87F7728-0C8A-4F1F-8171-B34D366DAD8B}"/>
              </a:ext>
            </a:extLst>
          </p:cNvPr>
          <p:cNvSpPr>
            <a:spLocks noGrp="1"/>
          </p:cNvSpPr>
          <p:nvPr>
            <p:ph type="dt" sz="half" idx="10"/>
          </p:nvPr>
        </p:nvSpPr>
        <p:spPr/>
        <p:txBody>
          <a:bodyPr/>
          <a:lstStyle/>
          <a:p>
            <a:fld id="{426F98BE-95C0-4F57-A0A9-0C0377F1073D}" type="datetimeFigureOut">
              <a:rPr lang="en-US" smtClean="0"/>
              <a:t>5/8/2020</a:t>
            </a:fld>
            <a:endParaRPr lang="en-US"/>
          </a:p>
        </p:txBody>
      </p:sp>
      <p:sp>
        <p:nvSpPr>
          <p:cNvPr id="5" name="Footer Placeholder 4">
            <a:extLst>
              <a:ext uri="{FF2B5EF4-FFF2-40B4-BE49-F238E27FC236}">
                <a16:creationId xmlns:a16="http://schemas.microsoft.com/office/drawing/2014/main" id="{F4BFEC43-7763-4FD0-8A63-2B7300D5C2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88C47D-11C3-41CB-842D-D0B400F40CAB}"/>
              </a:ext>
            </a:extLst>
          </p:cNvPr>
          <p:cNvSpPr>
            <a:spLocks noGrp="1"/>
          </p:cNvSpPr>
          <p:nvPr>
            <p:ph type="sldNum" sz="quarter" idx="12"/>
          </p:nvPr>
        </p:nvSpPr>
        <p:spPr/>
        <p:txBody>
          <a:bodyPr/>
          <a:lstStyle/>
          <a:p>
            <a:fld id="{32D42FF2-C0BA-4FC0-8FC6-114CDEEB2065}" type="slidenum">
              <a:rPr lang="en-US" smtClean="0"/>
              <a:t>‹#›</a:t>
            </a:fld>
            <a:endParaRPr lang="en-US"/>
          </a:p>
        </p:txBody>
      </p:sp>
    </p:spTree>
    <p:extLst>
      <p:ext uri="{BB962C8B-B14F-4D97-AF65-F5344CB8AC3E}">
        <p14:creationId xmlns:p14="http://schemas.microsoft.com/office/powerpoint/2010/main" val="18053919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D72CA-552C-4E1D-9E55-A3E229BBEC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22E1C0-10B6-4BB7-8169-9290E11DDB5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FFDAF8-D427-4A22-92B8-3E7B758F436D}"/>
              </a:ext>
            </a:extLst>
          </p:cNvPr>
          <p:cNvSpPr>
            <a:spLocks noGrp="1"/>
          </p:cNvSpPr>
          <p:nvPr>
            <p:ph type="dt" sz="half" idx="10"/>
          </p:nvPr>
        </p:nvSpPr>
        <p:spPr/>
        <p:txBody>
          <a:bodyPr/>
          <a:lstStyle/>
          <a:p>
            <a:fld id="{426F98BE-95C0-4F57-A0A9-0C0377F1073D}" type="datetimeFigureOut">
              <a:rPr lang="en-US" smtClean="0"/>
              <a:t>5/8/2020</a:t>
            </a:fld>
            <a:endParaRPr lang="en-US"/>
          </a:p>
        </p:txBody>
      </p:sp>
      <p:sp>
        <p:nvSpPr>
          <p:cNvPr id="5" name="Footer Placeholder 4">
            <a:extLst>
              <a:ext uri="{FF2B5EF4-FFF2-40B4-BE49-F238E27FC236}">
                <a16:creationId xmlns:a16="http://schemas.microsoft.com/office/drawing/2014/main" id="{E30E053A-9564-4919-8751-3E39BFCD19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085F04-AC10-4CB5-AD5F-A335854BD446}"/>
              </a:ext>
            </a:extLst>
          </p:cNvPr>
          <p:cNvSpPr>
            <a:spLocks noGrp="1"/>
          </p:cNvSpPr>
          <p:nvPr>
            <p:ph type="sldNum" sz="quarter" idx="12"/>
          </p:nvPr>
        </p:nvSpPr>
        <p:spPr/>
        <p:txBody>
          <a:bodyPr/>
          <a:lstStyle/>
          <a:p>
            <a:fld id="{32D42FF2-C0BA-4FC0-8FC6-114CDEEB2065}" type="slidenum">
              <a:rPr lang="en-US" smtClean="0"/>
              <a:t>‹#›</a:t>
            </a:fld>
            <a:endParaRPr lang="en-US"/>
          </a:p>
        </p:txBody>
      </p:sp>
    </p:spTree>
    <p:extLst>
      <p:ext uri="{BB962C8B-B14F-4D97-AF65-F5344CB8AC3E}">
        <p14:creationId xmlns:p14="http://schemas.microsoft.com/office/powerpoint/2010/main" val="2126961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B56B7-3245-44E5-A38A-5FBF3ED209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34240A7-C2F9-4D16-A828-551BC9368C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8FDE1E-D361-40CD-A5B7-483970EF91C2}"/>
              </a:ext>
            </a:extLst>
          </p:cNvPr>
          <p:cNvSpPr>
            <a:spLocks noGrp="1"/>
          </p:cNvSpPr>
          <p:nvPr>
            <p:ph type="dt" sz="half" idx="10"/>
          </p:nvPr>
        </p:nvSpPr>
        <p:spPr/>
        <p:txBody>
          <a:bodyPr/>
          <a:lstStyle/>
          <a:p>
            <a:fld id="{426F98BE-95C0-4F57-A0A9-0C0377F1073D}" type="datetimeFigureOut">
              <a:rPr lang="en-US" smtClean="0"/>
              <a:t>5/8/2020</a:t>
            </a:fld>
            <a:endParaRPr lang="en-US"/>
          </a:p>
        </p:txBody>
      </p:sp>
      <p:sp>
        <p:nvSpPr>
          <p:cNvPr id="5" name="Footer Placeholder 4">
            <a:extLst>
              <a:ext uri="{FF2B5EF4-FFF2-40B4-BE49-F238E27FC236}">
                <a16:creationId xmlns:a16="http://schemas.microsoft.com/office/drawing/2014/main" id="{7D9E8592-6829-467E-A8B2-15B0F1830D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83E0D4-46F9-4D71-B88F-6191E40F0A3D}"/>
              </a:ext>
            </a:extLst>
          </p:cNvPr>
          <p:cNvSpPr>
            <a:spLocks noGrp="1"/>
          </p:cNvSpPr>
          <p:nvPr>
            <p:ph type="sldNum" sz="quarter" idx="12"/>
          </p:nvPr>
        </p:nvSpPr>
        <p:spPr/>
        <p:txBody>
          <a:bodyPr/>
          <a:lstStyle/>
          <a:p>
            <a:fld id="{32D42FF2-C0BA-4FC0-8FC6-114CDEEB2065}" type="slidenum">
              <a:rPr lang="en-US" smtClean="0"/>
              <a:t>‹#›</a:t>
            </a:fld>
            <a:endParaRPr lang="en-US"/>
          </a:p>
        </p:txBody>
      </p:sp>
    </p:spTree>
    <p:extLst>
      <p:ext uri="{BB962C8B-B14F-4D97-AF65-F5344CB8AC3E}">
        <p14:creationId xmlns:p14="http://schemas.microsoft.com/office/powerpoint/2010/main" val="22771819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46B4C-E726-408A-AE0B-C22D6A65728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2CE738-4D6F-43DF-95BD-4B2A104041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31CD494-B464-442C-9DFF-3491886AF5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9E54ED-30B0-4D40-B3DF-4E0279A03BDC}"/>
              </a:ext>
            </a:extLst>
          </p:cNvPr>
          <p:cNvSpPr>
            <a:spLocks noGrp="1"/>
          </p:cNvSpPr>
          <p:nvPr>
            <p:ph type="dt" sz="half" idx="10"/>
          </p:nvPr>
        </p:nvSpPr>
        <p:spPr/>
        <p:txBody>
          <a:bodyPr/>
          <a:lstStyle/>
          <a:p>
            <a:fld id="{426F98BE-95C0-4F57-A0A9-0C0377F1073D}" type="datetimeFigureOut">
              <a:rPr lang="en-US" smtClean="0"/>
              <a:t>5/8/2020</a:t>
            </a:fld>
            <a:endParaRPr lang="en-US"/>
          </a:p>
        </p:txBody>
      </p:sp>
      <p:sp>
        <p:nvSpPr>
          <p:cNvPr id="6" name="Footer Placeholder 5">
            <a:extLst>
              <a:ext uri="{FF2B5EF4-FFF2-40B4-BE49-F238E27FC236}">
                <a16:creationId xmlns:a16="http://schemas.microsoft.com/office/drawing/2014/main" id="{12C7E7C3-24CD-4F1E-BAA4-7AB33CABF0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202CF0-83C6-41F0-ABF7-D11CC9EEACE8}"/>
              </a:ext>
            </a:extLst>
          </p:cNvPr>
          <p:cNvSpPr>
            <a:spLocks noGrp="1"/>
          </p:cNvSpPr>
          <p:nvPr>
            <p:ph type="sldNum" sz="quarter" idx="12"/>
          </p:nvPr>
        </p:nvSpPr>
        <p:spPr/>
        <p:txBody>
          <a:bodyPr/>
          <a:lstStyle/>
          <a:p>
            <a:fld id="{32D42FF2-C0BA-4FC0-8FC6-114CDEEB2065}" type="slidenum">
              <a:rPr lang="en-US" smtClean="0"/>
              <a:t>‹#›</a:t>
            </a:fld>
            <a:endParaRPr lang="en-US"/>
          </a:p>
        </p:txBody>
      </p:sp>
    </p:spTree>
    <p:extLst>
      <p:ext uri="{BB962C8B-B14F-4D97-AF65-F5344CB8AC3E}">
        <p14:creationId xmlns:p14="http://schemas.microsoft.com/office/powerpoint/2010/main" val="35827967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88B00-F012-48E6-A2F1-2F504A6C8F0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1DDAB39-6432-4CFE-B860-B35C8FCBBD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5BCCD02-D9C0-48B4-A9A7-82E9231030F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C1711B3-5465-49E3-AC5D-B13F10BFA1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ED990AB-057F-4CD4-86F8-CF91292BBB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08AF768-0CDE-4076-B8D6-BFA81EF42EA9}"/>
              </a:ext>
            </a:extLst>
          </p:cNvPr>
          <p:cNvSpPr>
            <a:spLocks noGrp="1"/>
          </p:cNvSpPr>
          <p:nvPr>
            <p:ph type="dt" sz="half" idx="10"/>
          </p:nvPr>
        </p:nvSpPr>
        <p:spPr/>
        <p:txBody>
          <a:bodyPr/>
          <a:lstStyle/>
          <a:p>
            <a:fld id="{426F98BE-95C0-4F57-A0A9-0C0377F1073D}" type="datetimeFigureOut">
              <a:rPr lang="en-US" smtClean="0"/>
              <a:t>5/8/2020</a:t>
            </a:fld>
            <a:endParaRPr lang="en-US"/>
          </a:p>
        </p:txBody>
      </p:sp>
      <p:sp>
        <p:nvSpPr>
          <p:cNvPr id="8" name="Footer Placeholder 7">
            <a:extLst>
              <a:ext uri="{FF2B5EF4-FFF2-40B4-BE49-F238E27FC236}">
                <a16:creationId xmlns:a16="http://schemas.microsoft.com/office/drawing/2014/main" id="{B723E1DB-3331-4723-B87D-0A889F25598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8C616D3-8B30-4365-80DF-1CC9FB62EE4C}"/>
              </a:ext>
            </a:extLst>
          </p:cNvPr>
          <p:cNvSpPr>
            <a:spLocks noGrp="1"/>
          </p:cNvSpPr>
          <p:nvPr>
            <p:ph type="sldNum" sz="quarter" idx="12"/>
          </p:nvPr>
        </p:nvSpPr>
        <p:spPr/>
        <p:txBody>
          <a:bodyPr/>
          <a:lstStyle/>
          <a:p>
            <a:fld id="{32D42FF2-C0BA-4FC0-8FC6-114CDEEB2065}" type="slidenum">
              <a:rPr lang="en-US" smtClean="0"/>
              <a:t>‹#›</a:t>
            </a:fld>
            <a:endParaRPr lang="en-US"/>
          </a:p>
        </p:txBody>
      </p:sp>
    </p:spTree>
    <p:extLst>
      <p:ext uri="{BB962C8B-B14F-4D97-AF65-F5344CB8AC3E}">
        <p14:creationId xmlns:p14="http://schemas.microsoft.com/office/powerpoint/2010/main" val="1969474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D8C03-6FFC-427E-A6DA-EBF792F0B3E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94D9EE3-A9BB-4300-87BC-D0264AE26A87}"/>
              </a:ext>
            </a:extLst>
          </p:cNvPr>
          <p:cNvSpPr>
            <a:spLocks noGrp="1"/>
          </p:cNvSpPr>
          <p:nvPr>
            <p:ph type="dt" sz="half" idx="10"/>
          </p:nvPr>
        </p:nvSpPr>
        <p:spPr/>
        <p:txBody>
          <a:bodyPr/>
          <a:lstStyle/>
          <a:p>
            <a:fld id="{426F98BE-95C0-4F57-A0A9-0C0377F1073D}" type="datetimeFigureOut">
              <a:rPr lang="en-US" smtClean="0"/>
              <a:t>5/8/2020</a:t>
            </a:fld>
            <a:endParaRPr lang="en-US"/>
          </a:p>
        </p:txBody>
      </p:sp>
      <p:sp>
        <p:nvSpPr>
          <p:cNvPr id="4" name="Footer Placeholder 3">
            <a:extLst>
              <a:ext uri="{FF2B5EF4-FFF2-40B4-BE49-F238E27FC236}">
                <a16:creationId xmlns:a16="http://schemas.microsoft.com/office/drawing/2014/main" id="{35A63620-71A2-4D9C-B42F-1BD4BDE8DFE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F7AA12A-1795-46E1-8964-117201C38EE2}"/>
              </a:ext>
            </a:extLst>
          </p:cNvPr>
          <p:cNvSpPr>
            <a:spLocks noGrp="1"/>
          </p:cNvSpPr>
          <p:nvPr>
            <p:ph type="sldNum" sz="quarter" idx="12"/>
          </p:nvPr>
        </p:nvSpPr>
        <p:spPr/>
        <p:txBody>
          <a:bodyPr/>
          <a:lstStyle/>
          <a:p>
            <a:fld id="{32D42FF2-C0BA-4FC0-8FC6-114CDEEB2065}" type="slidenum">
              <a:rPr lang="en-US" smtClean="0"/>
              <a:t>‹#›</a:t>
            </a:fld>
            <a:endParaRPr lang="en-US"/>
          </a:p>
        </p:txBody>
      </p:sp>
    </p:spTree>
    <p:extLst>
      <p:ext uri="{BB962C8B-B14F-4D97-AF65-F5344CB8AC3E}">
        <p14:creationId xmlns:p14="http://schemas.microsoft.com/office/powerpoint/2010/main" val="25595565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9FE928-05F8-4271-A339-084E75B6A4E1}"/>
              </a:ext>
            </a:extLst>
          </p:cNvPr>
          <p:cNvSpPr>
            <a:spLocks noGrp="1"/>
          </p:cNvSpPr>
          <p:nvPr>
            <p:ph type="dt" sz="half" idx="10"/>
          </p:nvPr>
        </p:nvSpPr>
        <p:spPr/>
        <p:txBody>
          <a:bodyPr/>
          <a:lstStyle/>
          <a:p>
            <a:fld id="{426F98BE-95C0-4F57-A0A9-0C0377F1073D}" type="datetimeFigureOut">
              <a:rPr lang="en-US" smtClean="0"/>
              <a:t>5/8/2020</a:t>
            </a:fld>
            <a:endParaRPr lang="en-US"/>
          </a:p>
        </p:txBody>
      </p:sp>
      <p:sp>
        <p:nvSpPr>
          <p:cNvPr id="3" name="Footer Placeholder 2">
            <a:extLst>
              <a:ext uri="{FF2B5EF4-FFF2-40B4-BE49-F238E27FC236}">
                <a16:creationId xmlns:a16="http://schemas.microsoft.com/office/drawing/2014/main" id="{640EA0DE-D574-4182-A6C2-7A03008861C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3C448C6-9E0B-4963-8B54-030ADEA8F2BE}"/>
              </a:ext>
            </a:extLst>
          </p:cNvPr>
          <p:cNvSpPr>
            <a:spLocks noGrp="1"/>
          </p:cNvSpPr>
          <p:nvPr>
            <p:ph type="sldNum" sz="quarter" idx="12"/>
          </p:nvPr>
        </p:nvSpPr>
        <p:spPr/>
        <p:txBody>
          <a:bodyPr/>
          <a:lstStyle/>
          <a:p>
            <a:fld id="{32D42FF2-C0BA-4FC0-8FC6-114CDEEB2065}" type="slidenum">
              <a:rPr lang="en-US" smtClean="0"/>
              <a:t>‹#›</a:t>
            </a:fld>
            <a:endParaRPr lang="en-US"/>
          </a:p>
        </p:txBody>
      </p:sp>
    </p:spTree>
    <p:extLst>
      <p:ext uri="{BB962C8B-B14F-4D97-AF65-F5344CB8AC3E}">
        <p14:creationId xmlns:p14="http://schemas.microsoft.com/office/powerpoint/2010/main" val="1022277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61303-CC7F-4F11-B464-97C8E043C3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80DF13B-1E21-4754-A448-96476CA0ED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3B7ADE8-DE5D-45BB-849C-E196B4E83F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CF22CF-E2C2-4708-8BC2-DD411DF1FBCD}"/>
              </a:ext>
            </a:extLst>
          </p:cNvPr>
          <p:cNvSpPr>
            <a:spLocks noGrp="1"/>
          </p:cNvSpPr>
          <p:nvPr>
            <p:ph type="dt" sz="half" idx="10"/>
          </p:nvPr>
        </p:nvSpPr>
        <p:spPr/>
        <p:txBody>
          <a:bodyPr/>
          <a:lstStyle/>
          <a:p>
            <a:fld id="{426F98BE-95C0-4F57-A0A9-0C0377F1073D}" type="datetimeFigureOut">
              <a:rPr lang="en-US" smtClean="0"/>
              <a:t>5/8/2020</a:t>
            </a:fld>
            <a:endParaRPr lang="en-US"/>
          </a:p>
        </p:txBody>
      </p:sp>
      <p:sp>
        <p:nvSpPr>
          <p:cNvPr id="6" name="Footer Placeholder 5">
            <a:extLst>
              <a:ext uri="{FF2B5EF4-FFF2-40B4-BE49-F238E27FC236}">
                <a16:creationId xmlns:a16="http://schemas.microsoft.com/office/drawing/2014/main" id="{4E387DD0-1FB0-4E9F-95CF-69D706ACDE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8163C4-ED24-421D-841E-09E70F91ECA0}"/>
              </a:ext>
            </a:extLst>
          </p:cNvPr>
          <p:cNvSpPr>
            <a:spLocks noGrp="1"/>
          </p:cNvSpPr>
          <p:nvPr>
            <p:ph type="sldNum" sz="quarter" idx="12"/>
          </p:nvPr>
        </p:nvSpPr>
        <p:spPr/>
        <p:txBody>
          <a:bodyPr/>
          <a:lstStyle/>
          <a:p>
            <a:fld id="{32D42FF2-C0BA-4FC0-8FC6-114CDEEB2065}" type="slidenum">
              <a:rPr lang="en-US" smtClean="0"/>
              <a:t>‹#›</a:t>
            </a:fld>
            <a:endParaRPr lang="en-US"/>
          </a:p>
        </p:txBody>
      </p:sp>
    </p:spTree>
    <p:extLst>
      <p:ext uri="{BB962C8B-B14F-4D97-AF65-F5344CB8AC3E}">
        <p14:creationId xmlns:p14="http://schemas.microsoft.com/office/powerpoint/2010/main" val="2234293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9B33A-38F9-4331-9BF5-22DC76B50C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71B3FE-D249-4851-A8ED-2FA4C6A9C1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B9C9E51-869F-4F15-8645-A6A236E4EA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29151A-698B-4679-B5A5-E96F9647CF19}"/>
              </a:ext>
            </a:extLst>
          </p:cNvPr>
          <p:cNvSpPr>
            <a:spLocks noGrp="1"/>
          </p:cNvSpPr>
          <p:nvPr>
            <p:ph type="dt" sz="half" idx="10"/>
          </p:nvPr>
        </p:nvSpPr>
        <p:spPr/>
        <p:txBody>
          <a:bodyPr/>
          <a:lstStyle/>
          <a:p>
            <a:fld id="{426F98BE-95C0-4F57-A0A9-0C0377F1073D}" type="datetimeFigureOut">
              <a:rPr lang="en-US" smtClean="0"/>
              <a:t>5/8/2020</a:t>
            </a:fld>
            <a:endParaRPr lang="en-US"/>
          </a:p>
        </p:txBody>
      </p:sp>
      <p:sp>
        <p:nvSpPr>
          <p:cNvPr id="6" name="Footer Placeholder 5">
            <a:extLst>
              <a:ext uri="{FF2B5EF4-FFF2-40B4-BE49-F238E27FC236}">
                <a16:creationId xmlns:a16="http://schemas.microsoft.com/office/drawing/2014/main" id="{3D5D2930-55C4-45B9-A29F-EF610B6D40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BD7AF0-8D33-4960-94A4-D4731BBC021A}"/>
              </a:ext>
            </a:extLst>
          </p:cNvPr>
          <p:cNvSpPr>
            <a:spLocks noGrp="1"/>
          </p:cNvSpPr>
          <p:nvPr>
            <p:ph type="sldNum" sz="quarter" idx="12"/>
          </p:nvPr>
        </p:nvSpPr>
        <p:spPr/>
        <p:txBody>
          <a:bodyPr/>
          <a:lstStyle/>
          <a:p>
            <a:fld id="{32D42FF2-C0BA-4FC0-8FC6-114CDEEB2065}" type="slidenum">
              <a:rPr lang="en-US" smtClean="0"/>
              <a:t>‹#›</a:t>
            </a:fld>
            <a:endParaRPr lang="en-US"/>
          </a:p>
        </p:txBody>
      </p:sp>
    </p:spTree>
    <p:extLst>
      <p:ext uri="{BB962C8B-B14F-4D97-AF65-F5344CB8AC3E}">
        <p14:creationId xmlns:p14="http://schemas.microsoft.com/office/powerpoint/2010/main" val="8476072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6E040-4379-4164-9F18-DE01E1055BF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2CA4C2-4627-4E2F-B5AF-3C6B04F9C81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2BC520-919E-4955-9E0E-39AEBDB0BE7F}"/>
              </a:ext>
            </a:extLst>
          </p:cNvPr>
          <p:cNvSpPr>
            <a:spLocks noGrp="1"/>
          </p:cNvSpPr>
          <p:nvPr>
            <p:ph type="dt" sz="half" idx="10"/>
          </p:nvPr>
        </p:nvSpPr>
        <p:spPr/>
        <p:txBody>
          <a:bodyPr/>
          <a:lstStyle/>
          <a:p>
            <a:fld id="{426F98BE-95C0-4F57-A0A9-0C0377F1073D}" type="datetimeFigureOut">
              <a:rPr lang="en-US" smtClean="0"/>
              <a:t>5/8/2020</a:t>
            </a:fld>
            <a:endParaRPr lang="en-US"/>
          </a:p>
        </p:txBody>
      </p:sp>
      <p:sp>
        <p:nvSpPr>
          <p:cNvPr id="5" name="Footer Placeholder 4">
            <a:extLst>
              <a:ext uri="{FF2B5EF4-FFF2-40B4-BE49-F238E27FC236}">
                <a16:creationId xmlns:a16="http://schemas.microsoft.com/office/drawing/2014/main" id="{7484D6EC-6A9E-45B8-9193-6D2C039D4B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89F1D9-79BA-418C-8472-74A79ED89682}"/>
              </a:ext>
            </a:extLst>
          </p:cNvPr>
          <p:cNvSpPr>
            <a:spLocks noGrp="1"/>
          </p:cNvSpPr>
          <p:nvPr>
            <p:ph type="sldNum" sz="quarter" idx="12"/>
          </p:nvPr>
        </p:nvSpPr>
        <p:spPr/>
        <p:txBody>
          <a:bodyPr/>
          <a:lstStyle/>
          <a:p>
            <a:fld id="{32D42FF2-C0BA-4FC0-8FC6-114CDEEB2065}" type="slidenum">
              <a:rPr lang="en-US" smtClean="0"/>
              <a:t>‹#›</a:t>
            </a:fld>
            <a:endParaRPr lang="en-US"/>
          </a:p>
        </p:txBody>
      </p:sp>
    </p:spTree>
    <p:extLst>
      <p:ext uri="{BB962C8B-B14F-4D97-AF65-F5344CB8AC3E}">
        <p14:creationId xmlns:p14="http://schemas.microsoft.com/office/powerpoint/2010/main" val="2722929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4612B0-7C20-4778-8141-E86F82607E0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F2019E-BE13-46F7-BC1B-C9C54F304E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028A52-3641-4E2F-827A-17C469FD9FC3}"/>
              </a:ext>
            </a:extLst>
          </p:cNvPr>
          <p:cNvSpPr>
            <a:spLocks noGrp="1"/>
          </p:cNvSpPr>
          <p:nvPr>
            <p:ph type="dt" sz="half" idx="10"/>
          </p:nvPr>
        </p:nvSpPr>
        <p:spPr/>
        <p:txBody>
          <a:bodyPr/>
          <a:lstStyle/>
          <a:p>
            <a:fld id="{426F98BE-95C0-4F57-A0A9-0C0377F1073D}" type="datetimeFigureOut">
              <a:rPr lang="en-US" smtClean="0"/>
              <a:t>5/8/2020</a:t>
            </a:fld>
            <a:endParaRPr lang="en-US"/>
          </a:p>
        </p:txBody>
      </p:sp>
      <p:sp>
        <p:nvSpPr>
          <p:cNvPr id="5" name="Footer Placeholder 4">
            <a:extLst>
              <a:ext uri="{FF2B5EF4-FFF2-40B4-BE49-F238E27FC236}">
                <a16:creationId xmlns:a16="http://schemas.microsoft.com/office/drawing/2014/main" id="{A9283803-28FF-4FBC-9762-BDDADB5E43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A424B3-C601-4028-BACA-EA4AC7289FF3}"/>
              </a:ext>
            </a:extLst>
          </p:cNvPr>
          <p:cNvSpPr>
            <a:spLocks noGrp="1"/>
          </p:cNvSpPr>
          <p:nvPr>
            <p:ph type="sldNum" sz="quarter" idx="12"/>
          </p:nvPr>
        </p:nvSpPr>
        <p:spPr/>
        <p:txBody>
          <a:bodyPr/>
          <a:lstStyle/>
          <a:p>
            <a:fld id="{32D42FF2-C0BA-4FC0-8FC6-114CDEEB2065}" type="slidenum">
              <a:rPr lang="en-US" smtClean="0"/>
              <a:t>‹#›</a:t>
            </a:fld>
            <a:endParaRPr lang="en-US"/>
          </a:p>
        </p:txBody>
      </p:sp>
    </p:spTree>
    <p:extLst>
      <p:ext uri="{BB962C8B-B14F-4D97-AF65-F5344CB8AC3E}">
        <p14:creationId xmlns:p14="http://schemas.microsoft.com/office/powerpoint/2010/main" val="2467229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C15881-21AC-4630-967C-8646DE539A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37059E-EED2-4244-87D3-43A7A4EF9C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14AAF-DF55-4333-A5FF-B283AD7FEE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6F98BE-95C0-4F57-A0A9-0C0377F1073D}" type="datetimeFigureOut">
              <a:rPr lang="en-US" smtClean="0"/>
              <a:t>5/8/2020</a:t>
            </a:fld>
            <a:endParaRPr lang="en-US"/>
          </a:p>
        </p:txBody>
      </p:sp>
      <p:sp>
        <p:nvSpPr>
          <p:cNvPr id="5" name="Footer Placeholder 4">
            <a:extLst>
              <a:ext uri="{FF2B5EF4-FFF2-40B4-BE49-F238E27FC236}">
                <a16:creationId xmlns:a16="http://schemas.microsoft.com/office/drawing/2014/main" id="{7830DB6B-4468-47FB-BD86-0CE3AADDB7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B1AC850-00A7-4FE8-A86F-AE60621064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D42FF2-C0BA-4FC0-8FC6-114CDEEB2065}" type="slidenum">
              <a:rPr lang="en-US" smtClean="0"/>
              <a:t>‹#›</a:t>
            </a:fld>
            <a:endParaRPr lang="en-US"/>
          </a:p>
        </p:txBody>
      </p:sp>
    </p:spTree>
    <p:extLst>
      <p:ext uri="{BB962C8B-B14F-4D97-AF65-F5344CB8AC3E}">
        <p14:creationId xmlns:p14="http://schemas.microsoft.com/office/powerpoint/2010/main" val="20167772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648DBFB-7B7E-4F19-BC6F-D04E454A0D12}"/>
              </a:ext>
            </a:extLst>
          </p:cNvPr>
          <p:cNvSpPr/>
          <p:nvPr/>
        </p:nvSpPr>
        <p:spPr>
          <a:xfrm>
            <a:off x="0" y="0"/>
            <a:ext cx="12192000" cy="981075"/>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dirty="0"/>
          </a:p>
        </p:txBody>
      </p:sp>
      <p:sp>
        <p:nvSpPr>
          <p:cNvPr id="2" name="Title 1">
            <a:extLst>
              <a:ext uri="{FF2B5EF4-FFF2-40B4-BE49-F238E27FC236}">
                <a16:creationId xmlns:a16="http://schemas.microsoft.com/office/drawing/2014/main" id="{929B05CE-8CA2-41BD-A4D9-99045DBBF6ED}"/>
              </a:ext>
            </a:extLst>
          </p:cNvPr>
          <p:cNvSpPr>
            <a:spLocks noGrp="1"/>
          </p:cNvSpPr>
          <p:nvPr>
            <p:ph type="title"/>
          </p:nvPr>
        </p:nvSpPr>
        <p:spPr>
          <a:xfrm>
            <a:off x="74802" y="244474"/>
            <a:ext cx="10515600" cy="492125"/>
          </a:xfrm>
        </p:spPr>
        <p:txBody>
          <a:bodyPr>
            <a:normAutofit fontScale="90000"/>
          </a:bodyPr>
          <a:lstStyle/>
          <a:p>
            <a:r>
              <a:rPr lang="en-US" dirty="0">
                <a:solidFill>
                  <a:schemeClr val="bg1"/>
                </a:solidFill>
              </a:rPr>
              <a:t>Business Continuity Management Plan - </a:t>
            </a:r>
            <a:r>
              <a:rPr lang="en-US" dirty="0" err="1">
                <a:solidFill>
                  <a:schemeClr val="bg1"/>
                </a:solidFill>
              </a:rPr>
              <a:t>SANOps</a:t>
            </a:r>
            <a:endParaRPr lang="en-US" dirty="0">
              <a:solidFill>
                <a:schemeClr val="bg1"/>
              </a:solidFill>
            </a:endParaRPr>
          </a:p>
        </p:txBody>
      </p:sp>
      <p:sp>
        <p:nvSpPr>
          <p:cNvPr id="4" name="TextBox 3">
            <a:extLst>
              <a:ext uri="{FF2B5EF4-FFF2-40B4-BE49-F238E27FC236}">
                <a16:creationId xmlns:a16="http://schemas.microsoft.com/office/drawing/2014/main" id="{186DEB55-545F-420B-8EAA-281E53416E23}"/>
              </a:ext>
            </a:extLst>
          </p:cNvPr>
          <p:cNvSpPr txBox="1"/>
          <p:nvPr/>
        </p:nvSpPr>
        <p:spPr>
          <a:xfrm>
            <a:off x="203638" y="1067365"/>
            <a:ext cx="6319710" cy="5184496"/>
          </a:xfrm>
          <a:prstGeom prst="rect">
            <a:avLst/>
          </a:prstGeom>
          <a:noFill/>
        </p:spPr>
        <p:txBody>
          <a:bodyPr wrap="square" rtlCol="0">
            <a:spAutoFit/>
          </a:bodyPr>
          <a:lstStyle/>
          <a:p>
            <a:r>
              <a:rPr lang="en-US" sz="2667" dirty="0">
                <a:solidFill>
                  <a:srgbClr val="F75714"/>
                </a:solidFill>
                <a:latin typeface="Segoe UI Light" panose="020B0502040204020203" pitchFamily="34" charset="0"/>
                <a:ea typeface="MS Mincho" panose="02020609040205080304" pitchFamily="49" charset="-128"/>
                <a:cs typeface="Segoe UI Light" panose="020B0502040204020203" pitchFamily="34" charset="0"/>
              </a:rPr>
              <a:t>Business Need</a:t>
            </a:r>
          </a:p>
          <a:p>
            <a:pPr lvl="0"/>
            <a:r>
              <a:rPr lang="en-US" sz="1100" dirty="0" err="1">
                <a:latin typeface="Segoe UI Historic" panose="020B0502040204020203" pitchFamily="34" charset="0"/>
                <a:ea typeface="Segoe UI Historic" panose="020B0502040204020203" pitchFamily="34" charset="0"/>
                <a:cs typeface="Segoe UI Historic" panose="020B0502040204020203" pitchFamily="34" charset="0"/>
              </a:rPr>
              <a:t>SANOps</a:t>
            </a:r>
            <a:r>
              <a:rPr lang="en-US" sz="1100" dirty="0">
                <a:latin typeface="Segoe UI Historic" panose="020B0502040204020203" pitchFamily="34" charset="0"/>
                <a:ea typeface="Segoe UI Historic" panose="020B0502040204020203" pitchFamily="34" charset="0"/>
                <a:cs typeface="Segoe UI Historic" panose="020B0502040204020203" pitchFamily="34" charset="0"/>
              </a:rPr>
              <a:t> business group (Search, Advertisement, News Operations under Microsoft online Inc), team was working to develop a business continuity management (BCM) plan. </a:t>
            </a:r>
            <a:r>
              <a:rPr lang="en-US" sz="1100" dirty="0" err="1">
                <a:latin typeface="Segoe UI Historic" panose="020B0502040204020203" pitchFamily="34" charset="0"/>
                <a:ea typeface="Segoe UI Historic" panose="020B0502040204020203" pitchFamily="34" charset="0"/>
                <a:cs typeface="Segoe UI Historic" panose="020B0502040204020203" pitchFamily="34" charset="0"/>
              </a:rPr>
              <a:t>SANOps</a:t>
            </a:r>
            <a:r>
              <a:rPr lang="en-US" sz="1100" dirty="0">
                <a:latin typeface="Segoe UI Historic" panose="020B0502040204020203" pitchFamily="34" charset="0"/>
                <a:ea typeface="Segoe UI Historic" panose="020B0502040204020203" pitchFamily="34" charset="0"/>
                <a:cs typeface="Segoe UI Historic" panose="020B0502040204020203" pitchFamily="34" charset="0"/>
              </a:rPr>
              <a:t> operation relies on several Microsoft critical and global applications like Microsoft Payment Central, Invoices, SAP, </a:t>
            </a:r>
            <a:r>
              <a:rPr lang="en-US" sz="1100" dirty="0" err="1">
                <a:latin typeface="Segoe UI Historic" panose="020B0502040204020203" pitchFamily="34" charset="0"/>
                <a:ea typeface="Segoe UI Historic" panose="020B0502040204020203" pitchFamily="34" charset="0"/>
                <a:cs typeface="Segoe UI Historic" panose="020B0502040204020203" pitchFamily="34" charset="0"/>
              </a:rPr>
              <a:t>BingAds</a:t>
            </a:r>
            <a:r>
              <a:rPr lang="en-US" sz="1100" dirty="0">
                <a:latin typeface="Segoe UI Historic" panose="020B0502040204020203" pitchFamily="34" charset="0"/>
                <a:ea typeface="Segoe UI Historic" panose="020B0502040204020203" pitchFamily="34" charset="0"/>
                <a:cs typeface="Segoe UI Historic" panose="020B0502040204020203" pitchFamily="34" charset="0"/>
              </a:rPr>
              <a:t> and many more.</a:t>
            </a:r>
            <a:r>
              <a:rPr lang="en-US" sz="1100" dirty="0">
                <a:effectLst/>
                <a:latin typeface="Segoe UI Historic" panose="020B0502040204020203" pitchFamily="34" charset="0"/>
                <a:ea typeface="Segoe UI Historic" panose="020B0502040204020203" pitchFamily="34" charset="0"/>
                <a:cs typeface="Segoe UI Historic" panose="020B0502040204020203" pitchFamily="34" charset="0"/>
              </a:rPr>
              <a:t> </a:t>
            </a:r>
            <a:r>
              <a:rPr lang="en-US" sz="1100" dirty="0" err="1">
                <a:latin typeface="Segoe UI Historic" panose="020B0502040204020203" pitchFamily="34" charset="0"/>
                <a:ea typeface="Segoe UI Historic" panose="020B0502040204020203" pitchFamily="34" charset="0"/>
                <a:cs typeface="Segoe UI Historic" panose="020B0502040204020203" pitchFamily="34" charset="0"/>
              </a:rPr>
              <a:t>SANOps</a:t>
            </a:r>
            <a:r>
              <a:rPr lang="en-US" sz="1100" dirty="0">
                <a:latin typeface="Segoe UI Historic" panose="020B0502040204020203" pitchFamily="34" charset="0"/>
                <a:ea typeface="Segoe UI Historic" panose="020B0502040204020203" pitchFamily="34" charset="0"/>
                <a:cs typeface="Segoe UI Historic" panose="020B0502040204020203" pitchFamily="34" charset="0"/>
              </a:rPr>
              <a:t> business team reached out to Affirma to create a BCM plan for their entire business support. The timeline was 2 months starting Feb 2020 and with a hard-due date of March 31, 2020. This involves reaching out to their internal MSFT support teams all over the world, get their BCM plans if any or with their DR plans and else through their SLA documents, discuss with vendor support for </a:t>
            </a:r>
            <a:r>
              <a:rPr lang="en-US" sz="1100" dirty="0" err="1">
                <a:latin typeface="Segoe UI Historic" panose="020B0502040204020203" pitchFamily="34" charset="0"/>
                <a:ea typeface="Segoe UI Historic" panose="020B0502040204020203" pitchFamily="34" charset="0"/>
                <a:cs typeface="Segoe UI Historic" panose="020B0502040204020203" pitchFamily="34" charset="0"/>
              </a:rPr>
              <a:t>SANOps</a:t>
            </a:r>
            <a:r>
              <a:rPr lang="en-US" sz="1100" dirty="0">
                <a:latin typeface="Segoe UI Historic" panose="020B0502040204020203" pitchFamily="34" charset="0"/>
                <a:ea typeface="Segoe UI Historic" panose="020B0502040204020203" pitchFamily="34" charset="0"/>
                <a:cs typeface="Segoe UI Historic" panose="020B0502040204020203" pitchFamily="34" charset="0"/>
              </a:rPr>
              <a:t>, review, analyze, and create the BCM plans for all their applications.  </a:t>
            </a:r>
          </a:p>
          <a:p>
            <a:pPr lvl="0"/>
            <a:endParaRPr lang="en-US" sz="1167" dirty="0">
              <a:solidFill>
                <a:srgbClr val="202020"/>
              </a:solidFill>
              <a:latin typeface="Segoe UI Light" panose="020B0502040204020203" pitchFamily="34" charset="0"/>
              <a:ea typeface="Calibri" panose="020F0502020204030204" pitchFamily="34" charset="0"/>
              <a:cs typeface="Segoe UI Light" panose="020B0502040204020203" pitchFamily="34" charset="0"/>
            </a:endParaRPr>
          </a:p>
          <a:p>
            <a:r>
              <a:rPr lang="en-US" sz="2667" dirty="0">
                <a:solidFill>
                  <a:srgbClr val="F75714"/>
                </a:solidFill>
                <a:latin typeface="Segoe UI Light" panose="020B0502040204020203" pitchFamily="34" charset="0"/>
                <a:ea typeface="MS Mincho" panose="02020609040205080304" pitchFamily="49" charset="-128"/>
                <a:cs typeface="Segoe UI Light" panose="020B0502040204020203" pitchFamily="34" charset="0"/>
              </a:rPr>
              <a:t>What We Did</a:t>
            </a:r>
          </a:p>
          <a:p>
            <a:pPr marL="238115" indent="-238115">
              <a:lnSpc>
                <a:spcPct val="120000"/>
              </a:lnSpc>
              <a:buFont typeface="Arial" panose="020B0604020202020204" pitchFamily="34" charset="0"/>
              <a:buChar char="•"/>
            </a:pPr>
            <a:r>
              <a:rPr lang="en-US" sz="1000" dirty="0">
                <a:solidFill>
                  <a:prstClr val="black"/>
                </a:solidFill>
                <a:latin typeface="Segoe UI Historic" panose="020B0502040204020203" pitchFamily="34" charset="0"/>
                <a:ea typeface="Segoe UI Historic" panose="020B0502040204020203" pitchFamily="34" charset="0"/>
                <a:cs typeface="Segoe UI Historic" panose="020B0502040204020203" pitchFamily="34" charset="0"/>
              </a:rPr>
              <a:t>Affirma put together a one (1) person team dedicated with 50% of the time for two months. This also included travel to MSFT Reno/Redmond/Bellevue offices </a:t>
            </a:r>
          </a:p>
          <a:p>
            <a:pPr marL="238115" indent="-238115">
              <a:lnSpc>
                <a:spcPct val="120000"/>
              </a:lnSpc>
              <a:buFont typeface="Arial" panose="020B0604020202020204" pitchFamily="34" charset="0"/>
              <a:buChar char="•"/>
            </a:pPr>
            <a:r>
              <a:rPr lang="en-US" sz="1000" dirty="0">
                <a:solidFill>
                  <a:prstClr val="black"/>
                </a:solidFill>
                <a:latin typeface="Segoe UI Historic" panose="020B0502040204020203" pitchFamily="34" charset="0"/>
                <a:ea typeface="Segoe UI Historic" panose="020B0502040204020203" pitchFamily="34" charset="0"/>
                <a:cs typeface="Segoe UI Historic" panose="020B0502040204020203" pitchFamily="34" charset="0"/>
              </a:rPr>
              <a:t>Affirma quickly jumped into action by collecting all the application details and their level of dependency to </a:t>
            </a:r>
            <a:r>
              <a:rPr lang="en-US" sz="1000" dirty="0" err="1">
                <a:solidFill>
                  <a:prstClr val="black"/>
                </a:solidFill>
                <a:latin typeface="Segoe UI Historic" panose="020B0502040204020203" pitchFamily="34" charset="0"/>
                <a:ea typeface="Segoe UI Historic" panose="020B0502040204020203" pitchFamily="34" charset="0"/>
                <a:cs typeface="Segoe UI Historic" panose="020B0502040204020203" pitchFamily="34" charset="0"/>
              </a:rPr>
              <a:t>SANOps</a:t>
            </a:r>
            <a:r>
              <a:rPr lang="en-US" sz="1000" dirty="0">
                <a:solidFill>
                  <a:prstClr val="black"/>
                </a:solidFill>
                <a:latin typeface="Segoe UI Historic" panose="020B0502040204020203" pitchFamily="34" charset="0"/>
                <a:ea typeface="Segoe UI Historic" panose="020B0502040204020203" pitchFamily="34" charset="0"/>
                <a:cs typeface="Segoe UI Historic" panose="020B0502040204020203" pitchFamily="34" charset="0"/>
              </a:rPr>
              <a:t> operation. This was tabulated, discussed and agreed upon with the </a:t>
            </a:r>
            <a:r>
              <a:rPr lang="en-US" sz="1000" dirty="0" err="1">
                <a:solidFill>
                  <a:prstClr val="black"/>
                </a:solidFill>
                <a:latin typeface="Segoe UI Historic" panose="020B0502040204020203" pitchFamily="34" charset="0"/>
                <a:ea typeface="Segoe UI Historic" panose="020B0502040204020203" pitchFamily="34" charset="0"/>
                <a:cs typeface="Segoe UI Historic" panose="020B0502040204020203" pitchFamily="34" charset="0"/>
              </a:rPr>
              <a:t>SANOps</a:t>
            </a:r>
            <a:r>
              <a:rPr lang="en-US" sz="1000" dirty="0">
                <a:solidFill>
                  <a:prstClr val="black"/>
                </a:solidFill>
                <a:latin typeface="Segoe UI Historic" panose="020B0502040204020203" pitchFamily="34" charset="0"/>
                <a:ea typeface="Segoe UI Historic" panose="020B0502040204020203" pitchFamily="34" charset="0"/>
                <a:cs typeface="Segoe UI Historic" panose="020B0502040204020203" pitchFamily="34" charset="0"/>
              </a:rPr>
              <a:t> business team. </a:t>
            </a:r>
          </a:p>
          <a:p>
            <a:pPr marL="238115" indent="-238115">
              <a:lnSpc>
                <a:spcPct val="120000"/>
              </a:lnSpc>
              <a:buFont typeface="Arial" panose="020B0604020202020204" pitchFamily="34" charset="0"/>
              <a:buChar char="•"/>
            </a:pPr>
            <a:r>
              <a:rPr lang="en-US" sz="1000" dirty="0">
                <a:solidFill>
                  <a:prstClr val="black"/>
                </a:solidFill>
                <a:latin typeface="Segoe UI Historic" panose="020B0502040204020203" pitchFamily="34" charset="0"/>
                <a:ea typeface="Segoe UI Historic" panose="020B0502040204020203" pitchFamily="34" charset="0"/>
                <a:cs typeface="Segoe UI Historic" panose="020B0502040204020203" pitchFamily="34" charset="0"/>
              </a:rPr>
              <a:t>Affirma drafted an email template for reaching out to application owners to get the information needed for this BCM creation. Several meetings were scheduled between Affirma member and different MSFT teams. </a:t>
            </a:r>
          </a:p>
          <a:p>
            <a:pPr marL="238115" indent="-238115">
              <a:lnSpc>
                <a:spcPct val="120000"/>
              </a:lnSpc>
              <a:buFont typeface="Arial" panose="020B0604020202020204" pitchFamily="34" charset="0"/>
              <a:buChar char="•"/>
            </a:pPr>
            <a:r>
              <a:rPr lang="en-US" sz="1000">
                <a:solidFill>
                  <a:prstClr val="black"/>
                </a:solidFill>
                <a:latin typeface="Segoe UI Historic" panose="020B0502040204020203" pitchFamily="34" charset="0"/>
                <a:ea typeface="Segoe UI Historic" panose="020B0502040204020203" pitchFamily="34" charset="0"/>
                <a:cs typeface="Segoe UI Historic" panose="020B0502040204020203" pitchFamily="34" charset="0"/>
              </a:rPr>
              <a:t>Affirma continuously </a:t>
            </a:r>
            <a:r>
              <a:rPr lang="en-US" sz="1000" dirty="0">
                <a:solidFill>
                  <a:prstClr val="black"/>
                </a:solidFill>
                <a:latin typeface="Segoe UI Historic" panose="020B0502040204020203" pitchFamily="34" charset="0"/>
                <a:ea typeface="Segoe UI Historic" panose="020B0502040204020203" pitchFamily="34" charset="0"/>
                <a:cs typeface="Segoe UI Historic" panose="020B0502040204020203" pitchFamily="34" charset="0"/>
              </a:rPr>
              <a:t>worked with Application owner and </a:t>
            </a:r>
            <a:r>
              <a:rPr lang="en-US" sz="1000" dirty="0" err="1">
                <a:solidFill>
                  <a:prstClr val="black"/>
                </a:solidFill>
                <a:latin typeface="Segoe UI Historic" panose="020B0502040204020203" pitchFamily="34" charset="0"/>
                <a:ea typeface="Segoe UI Historic" panose="020B0502040204020203" pitchFamily="34" charset="0"/>
                <a:cs typeface="Segoe UI Historic" panose="020B0502040204020203" pitchFamily="34" charset="0"/>
              </a:rPr>
              <a:t>SANOps</a:t>
            </a:r>
            <a:r>
              <a:rPr lang="en-US" sz="1000" dirty="0">
                <a:solidFill>
                  <a:prstClr val="black"/>
                </a:solidFill>
                <a:latin typeface="Segoe UI Historic" panose="020B0502040204020203" pitchFamily="34" charset="0"/>
                <a:ea typeface="Segoe UI Historic" panose="020B0502040204020203" pitchFamily="34" charset="0"/>
                <a:cs typeface="Segoe UI Historic" panose="020B0502040204020203" pitchFamily="34" charset="0"/>
              </a:rPr>
              <a:t> business to generate the BCM plan. Also followed Microsoft Business Organization (MBO) BCM template. </a:t>
            </a:r>
            <a:r>
              <a:rPr lang="en-US" sz="1000" b="1" dirty="0">
                <a:solidFill>
                  <a:prstClr val="black"/>
                </a:solidFill>
                <a:latin typeface="Segoe UI Historic" panose="020B0502040204020203" pitchFamily="34" charset="0"/>
                <a:ea typeface="Segoe UI Historic" panose="020B0502040204020203" pitchFamily="34" charset="0"/>
                <a:cs typeface="Segoe UI Historic" panose="020B0502040204020203" pitchFamily="34" charset="0"/>
              </a:rPr>
              <a:t>Since this happened during heightened awareness due to the COVID-19 pandemic, Affirma worked on the review and finalization of the </a:t>
            </a:r>
            <a:r>
              <a:rPr lang="en-US" sz="1000" b="1" dirty="0" err="1">
                <a:solidFill>
                  <a:prstClr val="black"/>
                </a:solidFill>
                <a:latin typeface="Segoe UI Historic" panose="020B0502040204020203" pitchFamily="34" charset="0"/>
                <a:ea typeface="Segoe UI Historic" panose="020B0502040204020203" pitchFamily="34" charset="0"/>
                <a:cs typeface="Segoe UI Historic" panose="020B0502040204020203" pitchFamily="34" charset="0"/>
              </a:rPr>
              <a:t>SANOps</a:t>
            </a:r>
            <a:r>
              <a:rPr lang="en-US" sz="1000" b="1" dirty="0">
                <a:solidFill>
                  <a:prstClr val="black"/>
                </a:solidFill>
                <a:latin typeface="Segoe UI Historic" panose="020B0502040204020203" pitchFamily="34" charset="0"/>
                <a:ea typeface="Segoe UI Historic" panose="020B0502040204020203" pitchFamily="34" charset="0"/>
                <a:cs typeface="Segoe UI Historic" panose="020B0502040204020203" pitchFamily="34" charset="0"/>
              </a:rPr>
              <a:t> Pandemic BCM plan and finalized the same for immediate implementation</a:t>
            </a:r>
            <a:r>
              <a:rPr lang="en-US" sz="1000" dirty="0">
                <a:solidFill>
                  <a:prstClr val="black"/>
                </a:solidFill>
                <a:latin typeface="Segoe UI Historic" panose="020B0502040204020203" pitchFamily="34" charset="0"/>
                <a:ea typeface="Segoe UI Historic" panose="020B0502040204020203" pitchFamily="34" charset="0"/>
                <a:cs typeface="Segoe UI Historic" panose="020B0502040204020203" pitchFamily="34" charset="0"/>
              </a:rPr>
              <a:t>.</a:t>
            </a:r>
          </a:p>
          <a:p>
            <a:pPr marL="238115" indent="-238115">
              <a:lnSpc>
                <a:spcPct val="120000"/>
              </a:lnSpc>
              <a:buFont typeface="Arial" panose="020B0604020202020204" pitchFamily="34" charset="0"/>
              <a:buChar char="•"/>
            </a:pPr>
            <a:r>
              <a:rPr lang="en-US" sz="1000" dirty="0">
                <a:solidFill>
                  <a:prstClr val="black"/>
                </a:solidFill>
                <a:latin typeface="Segoe UI Historic" panose="020B0502040204020203" pitchFamily="34" charset="0"/>
                <a:ea typeface="Segoe UI Historic" panose="020B0502040204020203" pitchFamily="34" charset="0"/>
                <a:cs typeface="Segoe UI Historic" panose="020B0502040204020203" pitchFamily="34" charset="0"/>
              </a:rPr>
              <a:t>Affirma completed the BCM plan, reviewed with the </a:t>
            </a:r>
            <a:r>
              <a:rPr lang="en-US" sz="1000" dirty="0" err="1">
                <a:solidFill>
                  <a:prstClr val="black"/>
                </a:solidFill>
                <a:latin typeface="Segoe UI Historic" panose="020B0502040204020203" pitchFamily="34" charset="0"/>
                <a:ea typeface="Segoe UI Historic" panose="020B0502040204020203" pitchFamily="34" charset="0"/>
                <a:cs typeface="Segoe UI Historic" panose="020B0502040204020203" pitchFamily="34" charset="0"/>
              </a:rPr>
              <a:t>SANOps</a:t>
            </a:r>
            <a:r>
              <a:rPr lang="en-US" sz="1000" dirty="0">
                <a:solidFill>
                  <a:prstClr val="black"/>
                </a:solidFill>
                <a:latin typeface="Segoe UI Historic" panose="020B0502040204020203" pitchFamily="34" charset="0"/>
                <a:ea typeface="Segoe UI Historic" panose="020B0502040204020203" pitchFamily="34" charset="0"/>
                <a:cs typeface="Segoe UI Historic" panose="020B0502040204020203" pitchFamily="34" charset="0"/>
              </a:rPr>
              <a:t> business team, worked with MBO team to get it approved and finalized the same on March 31, 2020 to the complete satisfaction of the MSFT client manager.</a:t>
            </a:r>
          </a:p>
        </p:txBody>
      </p:sp>
      <p:pic>
        <p:nvPicPr>
          <p:cNvPr id="5" name="Picture 4">
            <a:extLst>
              <a:ext uri="{FF2B5EF4-FFF2-40B4-BE49-F238E27FC236}">
                <a16:creationId xmlns:a16="http://schemas.microsoft.com/office/drawing/2014/main" id="{09524C82-C64E-47EA-9D7A-C36C8BB15DF3}"/>
              </a:ext>
            </a:extLst>
          </p:cNvPr>
          <p:cNvPicPr>
            <a:picLocks noChangeAspect="1"/>
          </p:cNvPicPr>
          <p:nvPr/>
        </p:nvPicPr>
        <p:blipFill>
          <a:blip r:embed="rId2"/>
          <a:stretch>
            <a:fillRect/>
          </a:stretch>
        </p:blipFill>
        <p:spPr>
          <a:xfrm>
            <a:off x="6749591" y="1444757"/>
            <a:ext cx="4949073" cy="4478977"/>
          </a:xfrm>
          <a:prstGeom prst="rect">
            <a:avLst/>
          </a:prstGeom>
        </p:spPr>
      </p:pic>
    </p:spTree>
    <p:extLst>
      <p:ext uri="{BB962C8B-B14F-4D97-AF65-F5344CB8AC3E}">
        <p14:creationId xmlns:p14="http://schemas.microsoft.com/office/powerpoint/2010/main" val="20450841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Marketing Services</Value>
    </BusinessUnit>
    <Solutions xmlns="f0ee8362-fa7e-4bc9-ab88-7dcfb17cb19b" xsi:nil="true"/>
    <Industries xmlns="f0ee8362-fa7e-4bc9-ab88-7dcfb17cb19b">
      <Value>Technology</Value>
    </Industries>
    <Notes0 xmlns="f0ee8362-fa7e-4bc9-ab88-7dcfb17cb19b" xsi:nil="true"/>
    <Named_x0020_Account xmlns="f0ee8362-fa7e-4bc9-ab88-7dcfb17cb19b">Microsoft</Named_x0020_Account>
    <PlatTech xmlns="f0ee8362-fa7e-4bc9-ab88-7dcfb17cb19b" xsi:nil="true"/>
    <ProjectCompletionDate xmlns="f0ee8362-fa7e-4bc9-ab88-7dcfb17cb19b" xsi:nil="true"/>
    <ApprovedByClient xmlns="f0ee8362-fa7e-4bc9-ab88-7dcfb17cb19b">false</ApprovedByClient>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B9D715C7-8EE5-443D-B368-4710BF855854}"/>
</file>

<file path=customXml/itemProps2.xml><?xml version="1.0" encoding="utf-8"?>
<ds:datastoreItem xmlns:ds="http://schemas.openxmlformats.org/officeDocument/2006/customXml" ds:itemID="{B9418DF9-462B-4BF6-A576-75220D9C0FC1}">
  <ds:schemaRefs>
    <ds:schemaRef ds:uri="http://schemas.microsoft.com/sharepoint/v3/contenttype/forms"/>
  </ds:schemaRefs>
</ds:datastoreItem>
</file>

<file path=customXml/itemProps3.xml><?xml version="1.0" encoding="utf-8"?>
<ds:datastoreItem xmlns:ds="http://schemas.openxmlformats.org/officeDocument/2006/customXml" ds:itemID="{ED03BC90-CEA7-4DB4-A43D-EF95D3172907}">
  <ds:schemaRefs>
    <ds:schemaRef ds:uri="http://schemas.microsoft.com/office/2006/metadata/properties"/>
    <ds:schemaRef ds:uri="http://schemas.microsoft.com/office/infopath/2007/PartnerControls"/>
  </ds:schemaRefs>
</ds:datastoreItem>
</file>

<file path=customXml/itemProps4.xml><?xml version="1.0" encoding="utf-8"?>
<ds:datastoreItem xmlns:ds="http://schemas.openxmlformats.org/officeDocument/2006/customXml" ds:itemID="{0B5A677B-7BB7-4EE8-BE62-72B4D149ADF9}"/>
</file>

<file path=docProps/app.xml><?xml version="1.0" encoding="utf-8"?>
<Properties xmlns="http://schemas.openxmlformats.org/officeDocument/2006/extended-properties" xmlns:vt="http://schemas.openxmlformats.org/officeDocument/2006/docPropsVTypes">
  <TotalTime>35</TotalTime>
  <Words>354</Words>
  <Application>Microsoft Office PowerPoint</Application>
  <PresentationFormat>Widescreen</PresentationFormat>
  <Paragraphs>10</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Segoe UI Historic</vt:lpstr>
      <vt:lpstr>Segoe UI Light</vt:lpstr>
      <vt:lpstr>Office Theme</vt:lpstr>
      <vt:lpstr>Business Continuity Management Plan - SANOps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Continuity Plan - SANOps</dc:title>
  <dc:creator>Vengatesan Sidheswaran</dc:creator>
  <cp:lastModifiedBy>Catherine Chaffee</cp:lastModifiedBy>
  <cp:revision>3</cp:revision>
  <dcterms:created xsi:type="dcterms:W3CDTF">2020-04-20T22:11:40Z</dcterms:created>
  <dcterms:modified xsi:type="dcterms:W3CDTF">2020-05-08T20:12:49Z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xd_Signature">
    <vt:bool>false</vt:bool>
  </property>
  <property fmtid="{D5CDD505-2E9C-101B-9397-08002B2CF9AE}" pid="4" name="xd_ProgID">
    <vt:lpwstr/>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TemplateUrl">
    <vt:lpwstr/>
  </property>
  <property fmtid="{D5CDD505-2E9C-101B-9397-08002B2CF9AE}" pid="9" name="Business Unit">
    <vt:lpwstr/>
  </property>
  <property fmtid="{D5CDD505-2E9C-101B-9397-08002B2CF9AE}" pid="10" name="Industry">
    <vt:lpwstr>40;#Microsoft|ceaf0ee3-1d3f-400e-9989-74233a9e6ead;#49;#Technology|9fd4705e-a3c7-4085-9147-cb1125b68f2c</vt:lpwstr>
  </property>
  <property fmtid="{D5CDD505-2E9C-101B-9397-08002B2CF9AE}" pid="11" name="Service_x0020_Offering">
    <vt:lpwstr/>
  </property>
  <property fmtid="{D5CDD505-2E9C-101B-9397-08002B2CF9AE}" pid="12" name="Business_x0020_Unit">
    <vt:lpwstr/>
  </property>
  <property fmtid="{D5CDD505-2E9C-101B-9397-08002B2CF9AE}" pid="13" name="_ExtendedDescription">
    <vt:lpwstr/>
  </property>
  <property fmtid="{D5CDD505-2E9C-101B-9397-08002B2CF9AE}" pid="14" name="Service Offering">
    <vt:lpwstr/>
  </property>
  <property fmtid="{D5CDD505-2E9C-101B-9397-08002B2CF9AE}" pid="15" name="Category">
    <vt:lpwstr>6;#Case Study|8faa0ad1-25f0-4f56-8e38-f60e20c455d6</vt:lpwstr>
  </property>
  <property fmtid="{D5CDD505-2E9C-101B-9397-08002B2CF9AE}" pid="16" name="Order">
    <vt:r8>54600</vt:r8>
  </property>
  <property fmtid="{D5CDD505-2E9C-101B-9397-08002B2CF9AE}" pid="17" name="SO">
    <vt:lpwstr>8;#;#32;#</vt:lpwstr>
  </property>
  <property fmtid="{D5CDD505-2E9C-101B-9397-08002B2CF9AE}" pid="18" name="TriggerFlowInfo">
    <vt:lpwstr/>
  </property>
</Properties>
</file>