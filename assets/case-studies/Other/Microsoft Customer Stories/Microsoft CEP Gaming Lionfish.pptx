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109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AEEE02-A41D-870B-3FE8-0B54C61FCE38}" v="2" dt="2025-07-28T16:48:54.0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29AEEE02-A41D-870B-3FE8-0B54C61FCE38}"/>
    <pc:docChg chg="addSld delSld">
      <pc:chgData name="Brendan Murphy" userId="S::bmurphy@affirma.com::e9f923b6-6d89-4d4e-a3b7-d9304b9d44ba" providerId="AD" clId="Web-{29AEEE02-A41D-870B-3FE8-0B54C61FCE38}" dt="2025-07-28T16:48:54.089" v="1"/>
      <pc:docMkLst>
        <pc:docMk/>
      </pc:docMkLst>
      <pc:sldChg chg="del">
        <pc:chgData name="Brendan Murphy" userId="S::bmurphy@affirma.com::e9f923b6-6d89-4d4e-a3b7-d9304b9d44ba" providerId="AD" clId="Web-{29AEEE02-A41D-870B-3FE8-0B54C61FCE38}" dt="2025-07-28T16:48:54.089" v="1"/>
        <pc:sldMkLst>
          <pc:docMk/>
          <pc:sldMk cId="109857222" sldId="256"/>
        </pc:sldMkLst>
      </pc:sldChg>
      <pc:sldChg chg="add">
        <pc:chgData name="Brendan Murphy" userId="S::bmurphy@affirma.com::e9f923b6-6d89-4d4e-a3b7-d9304b9d44ba" providerId="AD" clId="Web-{29AEEE02-A41D-870B-3FE8-0B54C61FCE38}" dt="2025-07-28T16:48:49.916" v="0"/>
        <pc:sldMkLst>
          <pc:docMk/>
          <pc:sldMk cId="2881180934" sldId="10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F4D820-E681-42FA-AC3D-6AF859C5275C}" type="datetimeFigureOut">
              <a:t>7/28/2025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909E77-6BFA-4BF3-BDAB-1CCF54C731DB}" type="slidenum">
              <a:t>‹#›</a:t>
            </a:fld>
            <a:endParaRPr lang="en-US"/>
          </a:p>
        </p:txBody>
      </p:sp>
    </p:spTree>
    <p:extLst>
      <p:ext uri="{BB962C8B-B14F-4D97-AF65-F5344CB8AC3E}">
        <p14:creationId xmlns:p14="http://schemas.microsoft.com/office/powerpoint/2010/main" val="3480201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E3F6CF-073A-4B4F-A2B7-08B9C7DBCB96}" type="slidenum">
              <a:rPr lang="en-US" smtClean="0"/>
              <a:t>2</a:t>
            </a:fld>
            <a:endParaRPr lang="en-US"/>
          </a:p>
        </p:txBody>
      </p:sp>
    </p:spTree>
    <p:extLst>
      <p:ext uri="{BB962C8B-B14F-4D97-AF65-F5344CB8AC3E}">
        <p14:creationId xmlns:p14="http://schemas.microsoft.com/office/powerpoint/2010/main" val="1814455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7/28/2025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7/28/2025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a:xfrm>
            <a:off x="846028" y="151889"/>
            <a:ext cx="10498015" cy="909304"/>
          </a:xfrm>
        </p:spPr>
        <p:txBody>
          <a:bodyPr>
            <a:normAutofit/>
          </a:bodyPr>
          <a:lstStyle/>
          <a:p>
            <a:pPr algn="ctr"/>
            <a:r>
              <a:rPr lang="en-US" sz="4000">
                <a:solidFill>
                  <a:srgbClr val="305B90"/>
                </a:solidFill>
                <a:latin typeface="Poppins" panose="00000500000000000000" pitchFamily="2" charset="0"/>
                <a:cs typeface="Poppins" panose="00000500000000000000" pitchFamily="2" charset="0"/>
              </a:rPr>
              <a:t>Xbox – CEP Gaming “Lionfish”</a:t>
            </a:r>
          </a:p>
        </p:txBody>
      </p:sp>
      <p:sp>
        <p:nvSpPr>
          <p:cNvPr id="4" name="Rectangle 3">
            <a:extLst>
              <a:ext uri="{FF2B5EF4-FFF2-40B4-BE49-F238E27FC236}">
                <a16:creationId xmlns:a16="http://schemas.microsoft.com/office/drawing/2014/main" id="{DCEB79DF-0219-4707-9233-14669888B2E4}"/>
              </a:ext>
            </a:extLst>
          </p:cNvPr>
          <p:cNvSpPr/>
          <p:nvPr/>
        </p:nvSpPr>
        <p:spPr>
          <a:xfrm>
            <a:off x="486508" y="1438369"/>
            <a:ext cx="6406662" cy="4787914"/>
          </a:xfrm>
          <a:prstGeom prst="rect">
            <a:avLst/>
          </a:prstGeom>
        </p:spPr>
        <p:txBody>
          <a:bodyPr wrap="square">
            <a:spAutoFit/>
          </a:bodyPr>
          <a:lstStyle/>
          <a:p>
            <a:pPr lvl="0">
              <a:lnSpc>
                <a:spcPct val="130000"/>
              </a:lnSpc>
            </a:pPr>
            <a:r>
              <a:rPr lang="en-US" sz="2000" b="1">
                <a:solidFill>
                  <a:srgbClr val="029CD4"/>
                </a:solidFill>
                <a:latin typeface="Poppins" panose="00000500000000000000" pitchFamily="2" charset="0"/>
                <a:cs typeface="Poppins" panose="00000500000000000000" pitchFamily="2" charset="0"/>
              </a:rPr>
              <a:t>Overview</a:t>
            </a:r>
          </a:p>
          <a:p>
            <a:pPr>
              <a:lnSpc>
                <a:spcPct val="130000"/>
              </a:lnSpc>
            </a:pPr>
            <a:r>
              <a:rPr lang="en-US" sz="1400">
                <a:solidFill>
                  <a:prstClr val="black"/>
                </a:solidFill>
                <a:latin typeface="Poppins" panose="00000500000000000000" pitchFamily="2" charset="0"/>
                <a:cs typeface="Poppins" panose="00000500000000000000" pitchFamily="2" charset="0"/>
              </a:rPr>
              <a:t>Xbox Game Studios came to Affirma to develop an interactive SharePoint Portal that allowed every employee to learn about the requirements that comprise the studios key “pillars” and ensure games in development followed the organizations best practices.</a:t>
            </a:r>
          </a:p>
          <a:p>
            <a:pPr>
              <a:lnSpc>
                <a:spcPct val="130000"/>
              </a:lnSpc>
            </a:pPr>
            <a:endParaRPr lang="en-US" sz="1400">
              <a:solidFill>
                <a:prstClr val="black"/>
              </a:solidFill>
              <a:latin typeface="Poppins" panose="00000500000000000000" pitchFamily="2" charset="0"/>
              <a:cs typeface="Poppins" panose="00000500000000000000" pitchFamily="2" charset="0"/>
            </a:endParaRPr>
          </a:p>
          <a:p>
            <a:pPr>
              <a:lnSpc>
                <a:spcPct val="130000"/>
              </a:lnSpc>
            </a:pPr>
            <a:r>
              <a:rPr lang="en-US" sz="2000" b="1">
                <a:solidFill>
                  <a:srgbClr val="029CD4"/>
                </a:solidFill>
                <a:latin typeface="Poppins" panose="00000500000000000000" pitchFamily="2" charset="0"/>
                <a:cs typeface="Poppins" panose="00000500000000000000" pitchFamily="2" charset="0"/>
              </a:rPr>
              <a:t>Affirma </a:t>
            </a:r>
          </a:p>
          <a:p>
            <a:pPr marL="285739" indent="-285739">
              <a:lnSpc>
                <a:spcPct val="130000"/>
              </a:lnSpc>
              <a:buFont typeface="Arial" panose="020B0604020202020204" pitchFamily="34" charset="0"/>
              <a:buChar char="•"/>
            </a:pPr>
            <a:r>
              <a:rPr lang="en-US" sz="1400">
                <a:solidFill>
                  <a:prstClr val="black"/>
                </a:solidFill>
                <a:latin typeface="Poppins" panose="00000500000000000000" pitchFamily="2" charset="0"/>
                <a:cs typeface="Poppins" panose="00000500000000000000" pitchFamily="2" charset="0"/>
              </a:rPr>
              <a:t>Developed SharePoint sites for the four key pillars, all of which hosted dynamic information such as external tools, detailed requirements, and collaborative documents.</a:t>
            </a:r>
          </a:p>
          <a:p>
            <a:pPr marL="285739" indent="-285739">
              <a:lnSpc>
                <a:spcPct val="130000"/>
              </a:lnSpc>
              <a:buFont typeface="Arial" panose="020B0604020202020204" pitchFamily="34" charset="0"/>
              <a:buChar char="•"/>
            </a:pPr>
            <a:r>
              <a:rPr lang="en-US" sz="1400">
                <a:solidFill>
                  <a:prstClr val="black"/>
                </a:solidFill>
                <a:latin typeface="Poppins" panose="00000500000000000000" pitchFamily="2" charset="0"/>
                <a:cs typeface="Poppins" panose="00000500000000000000" pitchFamily="2" charset="0"/>
              </a:rPr>
              <a:t>Content on these pillar sites integrated with an existing Azure DevOps Environment.</a:t>
            </a:r>
          </a:p>
          <a:p>
            <a:pPr marL="285739" indent="-285739">
              <a:lnSpc>
                <a:spcPct val="130000"/>
              </a:lnSpc>
              <a:buFont typeface="Arial" panose="020B0604020202020204" pitchFamily="34" charset="0"/>
              <a:buChar char="•"/>
            </a:pPr>
            <a:r>
              <a:rPr lang="en-US" sz="1400">
                <a:solidFill>
                  <a:prstClr val="black"/>
                </a:solidFill>
                <a:latin typeface="Poppins" panose="00000500000000000000" pitchFamily="2" charset="0"/>
                <a:cs typeface="Poppins" panose="00000500000000000000" pitchFamily="2" charset="0"/>
              </a:rPr>
              <a:t>Configured a highly-customized search and permissions structure, ensuring sensitive data remained secure while allowing users to easily find the content they needed.</a:t>
            </a:r>
          </a:p>
          <a:p>
            <a:pPr marL="285739" indent="-285739">
              <a:lnSpc>
                <a:spcPct val="130000"/>
              </a:lnSpc>
              <a:buFont typeface="Arial" panose="020B0604020202020204" pitchFamily="34" charset="0"/>
              <a:buChar char="•"/>
            </a:pPr>
            <a:endParaRPr lang="en-US" sz="1583">
              <a:solidFill>
                <a:prstClr val="black"/>
              </a:solidFill>
              <a:latin typeface="Poppins" panose="00000500000000000000" pitchFamily="2" charset="0"/>
              <a:cs typeface="Poppins" panose="00000500000000000000" pitchFamily="2" charset="0"/>
            </a:endParaRPr>
          </a:p>
        </p:txBody>
      </p:sp>
      <p:pic>
        <p:nvPicPr>
          <p:cNvPr id="1030" name="Picture 6">
            <a:extLst>
              <a:ext uri="{FF2B5EF4-FFF2-40B4-BE49-F238E27FC236}">
                <a16:creationId xmlns:a16="http://schemas.microsoft.com/office/drawing/2014/main" id="{65820277-1252-4932-8A43-7579037915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767" y="6123196"/>
            <a:ext cx="894021" cy="51870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8982A037-286C-62E9-32AA-0FD90BD6FC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2445" y="1532383"/>
            <a:ext cx="4553047" cy="402769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1B11344-C384-D84C-E428-6F2B617066DB}"/>
              </a:ext>
            </a:extLst>
          </p:cNvPr>
          <p:cNvSpPr/>
          <p:nvPr/>
        </p:nvSpPr>
        <p:spPr>
          <a:xfrm>
            <a:off x="1145788" y="1005968"/>
            <a:ext cx="9898497" cy="45719"/>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rPr>
              <a:t>  </a:t>
            </a:r>
          </a:p>
        </p:txBody>
      </p:sp>
      <p:sp>
        <p:nvSpPr>
          <p:cNvPr id="7" name="Rectangle 6">
            <a:extLst>
              <a:ext uri="{FF2B5EF4-FFF2-40B4-BE49-F238E27FC236}">
                <a16:creationId xmlns:a16="http://schemas.microsoft.com/office/drawing/2014/main" id="{ACC12199-D8DB-E2F8-B72E-2EDFCB41EF61}"/>
              </a:ext>
            </a:extLst>
          </p:cNvPr>
          <p:cNvSpPr/>
          <p:nvPr/>
        </p:nvSpPr>
        <p:spPr>
          <a:xfrm>
            <a:off x="-5311" y="6775980"/>
            <a:ext cx="12200696" cy="99776"/>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pic>
        <p:nvPicPr>
          <p:cNvPr id="3" name="object 3">
            <a:extLst>
              <a:ext uri="{FF2B5EF4-FFF2-40B4-BE49-F238E27FC236}">
                <a16:creationId xmlns:a16="http://schemas.microsoft.com/office/drawing/2014/main" id="{24AC17EC-4015-E0B2-7E4E-A881D824EE9A}"/>
              </a:ext>
            </a:extLst>
          </p:cNvPr>
          <p:cNvPicPr/>
          <p:nvPr/>
        </p:nvPicPr>
        <p:blipFill>
          <a:blip r:embed="rId5" cstate="print"/>
          <a:stretch>
            <a:fillRect/>
          </a:stretch>
        </p:blipFill>
        <p:spPr>
          <a:xfrm>
            <a:off x="1365504" y="6433025"/>
            <a:ext cx="754404" cy="183943"/>
          </a:xfrm>
          <a:prstGeom prst="rect">
            <a:avLst/>
          </a:prstGeom>
        </p:spPr>
      </p:pic>
    </p:spTree>
    <p:extLst>
      <p:ext uri="{BB962C8B-B14F-4D97-AF65-F5344CB8AC3E}">
        <p14:creationId xmlns:p14="http://schemas.microsoft.com/office/powerpoint/2010/main" val="28811809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Microsoft</Named_x0020_Account>
    <Industries xmlns="f0ee8362-fa7e-4bc9-ab88-7dcfb17cb19b">
      <Value>Technology</Value>
    </Industries>
    <PlatTech xmlns="f0ee8362-fa7e-4bc9-ab88-7dcfb17cb19b">
      <Value>SharePoint</Value>
    </PlatTech>
    <BusinessUnit xmlns="f0ee8362-fa7e-4bc9-ab88-7dcfb17cb19b">
      <Value>Modern Workplace</Value>
    </BusinessUnit>
    <Solutions xmlns="f0ee8362-fa7e-4bc9-ab88-7dcfb17cb19b" xsi:nil="true"/>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customXsn xmlns="http://schemas.microsoft.com/office/2006/metadata/customXsn">
  <xsnLocation/>
  <cached>True</cached>
  <openByDefault>False</openByDefault>
  <xsnScope/>
</customXsn>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28450A-6634-403D-99AC-8E62ADB51CA2}">
  <ds:schemaRefs>
    <ds:schemaRef ds:uri="http://schemas.microsoft.com/office/2006/metadata/properties"/>
    <ds:schemaRef ds:uri="http://schemas.microsoft.com/office/infopath/2007/PartnerControls"/>
    <ds:schemaRef ds:uri="f0ee8362-fa7e-4bc9-ab88-7dcfb17cb19b"/>
  </ds:schemaRefs>
</ds:datastoreItem>
</file>

<file path=customXml/itemProps2.xml><?xml version="1.0" encoding="utf-8"?>
<ds:datastoreItem xmlns:ds="http://schemas.openxmlformats.org/officeDocument/2006/customXml" ds:itemID="{9BAA327C-4786-439B-9AEA-9E25C1D4C1BF}">
  <ds:schemaRefs>
    <ds:schemaRef ds:uri="http://schemas.microsoft.com/sharepoint/v3/contenttype/forms"/>
  </ds:schemaRefs>
</ds:datastoreItem>
</file>

<file path=customXml/itemProps3.xml><?xml version="1.0" encoding="utf-8"?>
<ds:datastoreItem xmlns:ds="http://schemas.openxmlformats.org/officeDocument/2006/customXml" ds:itemID="{505F0169-5963-430A-9037-D0B2D8958034}">
  <ds:schemaRefs>
    <ds:schemaRef ds:uri="http://schemas.microsoft.com/office/2006/metadata/customXsn"/>
  </ds:schemaRefs>
</ds:datastoreItem>
</file>

<file path=customXml/itemProps4.xml><?xml version="1.0" encoding="utf-8"?>
<ds:datastoreItem xmlns:ds="http://schemas.openxmlformats.org/officeDocument/2006/customXml" ds:itemID="{B272ACED-46DB-412D-95FF-DF9EDD211884}"/>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Xbox – CEP Gaming “Lionfish”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2025-07-28T16:47:17Z</dcterms:created>
  <dcterms:modified xsi:type="dcterms:W3CDTF">2025-07-28T16:49:00Z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