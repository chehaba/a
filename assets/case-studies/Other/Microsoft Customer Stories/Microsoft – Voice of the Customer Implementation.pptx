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14746964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10" Type="http://schemas.openxmlformats.org/officeDocument/2006/relationships/customXml" Target="../customXml/item4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2B431-E490-0E30-8C54-CB1EA6E3FF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1C0CF0-4CEE-192F-6206-924A1FDDA6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29EC5-0435-AAC8-0B1C-E9F598978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C1C3A-096C-4A94-93B1-FD3F1581D4D9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F10B70-5E87-2C77-3855-415B3D9BE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B3CA5-8A0E-4506-2A6C-ECA19E26F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C1D53-D356-4B35-8C69-DA53A8387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640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BA2A9-62E7-17B6-BD25-500729B57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5391C-50F8-CE23-BD36-A7736A187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E71B8-0BEC-E4D2-3067-E6BD4C25E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C1C3A-096C-4A94-93B1-FD3F1581D4D9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DF288-D3F0-BA37-641B-D3A9DF68F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D3D6E-2A72-F84B-9A34-FD1FBB8D5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C1D53-D356-4B35-8C69-DA53A8387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968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7182A-ECC0-062D-332E-76B01F249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4F7869-6624-3A88-5C3A-EA906D2A67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5585AD-1E71-9487-66E7-F3C8AC8C5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C1C3A-096C-4A94-93B1-FD3F1581D4D9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6F8BC-1DC1-518F-7662-68C5B0AE9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646F2-24D0-043B-34B9-AAE67C944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C1D53-D356-4B35-8C69-DA53A8387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651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449EB-201A-2687-142C-3587D0141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FE2D0-54CE-105D-3C21-0B01182930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9568A0-CD2A-78B9-4042-C5932A0468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46FCC2-AE16-F37A-E5E2-FB7B1F831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C1C3A-096C-4A94-93B1-FD3F1581D4D9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AC9A62-32D5-05E4-45AF-86775A5B4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5191D0-2593-4127-3749-4083CF015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C1D53-D356-4B35-8C69-DA53A8387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815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B73EF-B173-0E13-BA4E-F64245089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7A02C3-6B1F-E697-112B-2015C339A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78C836-015A-4D6E-D763-E393AA5BCA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9EE40D-5684-E1E2-3EB3-689600E366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C90BB3-8648-849C-02E1-00CACC051E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E5B0F9-4DA9-FDFF-24B2-D90359BC1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C1C3A-096C-4A94-93B1-FD3F1581D4D9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F9804F-6CA9-3B03-7A88-441179D59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E4996B-3307-8452-C8DE-E90E140A5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C1D53-D356-4B35-8C69-DA53A8387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994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DE884-1745-89EA-F8A9-9578A71A4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2229C4-4F30-DB65-ADEA-B0CF8B551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C1C3A-096C-4A94-93B1-FD3F1581D4D9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3BAD66-CCDD-2F6A-BD9E-70D018574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A20156-7B9B-3F83-3533-1362696B9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C1D53-D356-4B35-8C69-DA53A8387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832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B2AFF1-5E54-96FC-BE32-5B2A1CC86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C1C3A-096C-4A94-93B1-FD3F1581D4D9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A0FC18-2A97-4800-3830-CDBB83E05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C3EDC6-792F-5F7E-8071-C2B08CDD8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C1D53-D356-4B35-8C69-DA53A8387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542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A5774-A0D2-F2FB-47B3-C45B22CF6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A7751-48AE-8A6F-23AC-32D90043E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3EBCEE-1102-8863-9AF3-D2230A0653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4BD89D-0D9E-7E3B-D9F4-565127146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C1C3A-096C-4A94-93B1-FD3F1581D4D9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B798B2-2F69-4227-0BEC-F5C41DCB5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8728D5-9BA5-3978-01E4-987662228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C1D53-D356-4B35-8C69-DA53A8387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754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47675-8247-FA98-C605-3FB0EA197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8A24B1-356B-BEB9-C422-7A7C266E76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338B19-CCCC-EF35-E93A-7474D79BE5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DC11C6-8BAE-05B8-A8C9-FC90D2566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C1C3A-096C-4A94-93B1-FD3F1581D4D9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E8525E-CA74-B896-5127-8160AAD0B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EBDBAC-5ACF-5C62-12C2-55FEEDE8D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C1D53-D356-4B35-8C69-DA53A8387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811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E7CB2-FB31-02E3-9C31-5C3142A32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9D5095-212F-752A-A10C-453CA76948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75B886-44A1-3A5F-403E-2A4E025EA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C1C3A-096C-4A94-93B1-FD3F1581D4D9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6B5702-1704-B7B2-50E6-5EE3DE11A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EDE705-5192-D7AC-664A-6C983EEB1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C1D53-D356-4B35-8C69-DA53A8387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575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0A64C3-3E15-ED4E-012D-EDCF96AECD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9D37F5-7C97-8EF7-0855-136301CE76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7BB7BF-E7A7-D032-F448-9D101F1CA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C1C3A-096C-4A94-93B1-FD3F1581D4D9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09C541-2ADD-0EDF-E634-665DD7F6A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F39BC-7A70-1D24-8310-E41A5A10D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C1D53-D356-4B35-8C69-DA53A8387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8428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ase Study Single Slide - Data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E93CEEC-4F06-5349-BB63-F02B2B211B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3284" y="388389"/>
            <a:ext cx="5065999" cy="764390"/>
          </a:xfrm>
        </p:spPr>
        <p:txBody>
          <a:bodyPr anchor="b">
            <a:normAutofit/>
          </a:bodyPr>
          <a:lstStyle>
            <a:lvl1pPr algn="l">
              <a:defRPr sz="4000" b="0" i="0">
                <a:solidFill>
                  <a:srgbClr val="008AD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Company Name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D2D898-C1E4-1C4E-B41C-23A7E59AE640}"/>
              </a:ext>
            </a:extLst>
          </p:cNvPr>
          <p:cNvSpPr/>
          <p:nvPr userDrawn="1"/>
        </p:nvSpPr>
        <p:spPr>
          <a:xfrm flipV="1">
            <a:off x="0" y="365239"/>
            <a:ext cx="243068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 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438C21C-6688-CD47-9B39-2BD825F592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3284" y="6440198"/>
            <a:ext cx="767123" cy="26423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DB3430-93CA-9540-9380-D85F161C958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3250" y="1450136"/>
            <a:ext cx="5066030" cy="4795100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76836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11B488-F602-89CA-6059-B63622292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019B65-7C97-59D5-3958-3909274ACA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3E6884-938A-B96A-A854-696E2CC174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CC1C3A-096C-4A94-93B1-FD3F1581D4D9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F017E-3A37-464D-B05D-CCA8DDEE71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A4C73-B07C-3309-2A13-A4C72E181D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DC1D53-D356-4B35-8C69-DA53A8387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882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9BB8BF7-6408-C6CC-CEE5-184951466537}"/>
              </a:ext>
            </a:extLst>
          </p:cNvPr>
          <p:cNvSpPr/>
          <p:nvPr/>
        </p:nvSpPr>
        <p:spPr>
          <a:xfrm>
            <a:off x="335902" y="6356805"/>
            <a:ext cx="1511559" cy="4202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DC4B9FF-8695-D444-A5CC-2CB3135EEE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9274" y="305902"/>
            <a:ext cx="11732726" cy="764390"/>
          </a:xfrm>
        </p:spPr>
        <p:txBody>
          <a:bodyPr>
            <a:normAutofit fontScale="90000"/>
          </a:bodyPr>
          <a:lstStyle/>
          <a:p>
            <a:r>
              <a:rPr lang="en-US">
                <a:solidFill>
                  <a:srgbClr val="063A7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Microsoft – Voice of the Customer Implementation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205840-5B02-5C80-319D-E60C3BF084CD}"/>
              </a:ext>
            </a:extLst>
          </p:cNvPr>
          <p:cNvSpPr/>
          <p:nvPr/>
        </p:nvSpPr>
        <p:spPr>
          <a:xfrm>
            <a:off x="10749643" y="6356805"/>
            <a:ext cx="798286" cy="269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768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2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378561-825F-7716-584B-B00814D31E75}"/>
              </a:ext>
            </a:extLst>
          </p:cNvPr>
          <p:cNvSpPr/>
          <p:nvPr/>
        </p:nvSpPr>
        <p:spPr>
          <a:xfrm>
            <a:off x="459274" y="1331135"/>
            <a:ext cx="6464040" cy="5295296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marL="10583" marR="0" lvl="0" indent="0" algn="l" defTabSz="97684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36F21"/>
              </a:buClr>
              <a:buSzPct val="75000"/>
              <a:buFontTx/>
              <a:buNone/>
              <a:tabLst/>
              <a:defRPr/>
            </a:pPr>
            <a:r>
              <a:rPr kumimoji="0" lang="en-US" sz="2333" b="1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Business Need </a:t>
            </a:r>
          </a:p>
          <a:p>
            <a:pPr marL="0" marR="0" lvl="0" indent="0" algn="l" defTabSz="976806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Microsoft came to Affirma looking for support in their Voice of the Customer initiative. The goal was to capture qualitative customer sentiment and turn it into quantifiable, actionable insights. </a:t>
            </a:r>
          </a:p>
          <a:p>
            <a:pPr marL="0" marR="0" lvl="0" indent="0" algn="l" defTabSz="976806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0583" marR="0" lvl="0" indent="0" algn="l" defTabSz="97684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36F21"/>
              </a:buClr>
              <a:buSzPct val="75000"/>
              <a:buFontTx/>
              <a:buNone/>
              <a:tabLst/>
              <a:defRPr/>
            </a:pPr>
            <a:r>
              <a:rPr kumimoji="0" lang="en-US" sz="2333" b="1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Ongoing Partnership</a:t>
            </a:r>
          </a:p>
          <a:p>
            <a:pPr marL="248698" marR="0" lvl="0" indent="-238115" algn="l" defTabSz="976845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5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Affirma established a team of 10 resources including Project Management, Architects and Software Engineers </a:t>
            </a:r>
          </a:p>
          <a:p>
            <a:pPr marL="248698" marR="0" lvl="0" indent="-238115" algn="l" defTabSz="976845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5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The team developed a solution leveraging Azure Machine Learning, Power BI and custom development. </a:t>
            </a:r>
          </a:p>
          <a:p>
            <a:pPr marL="248698" marR="0" lvl="0" indent="-238115" algn="l" defTabSz="976845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5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The solution aggregates customer sentiment across chat data, survey verbatims, social media, and other data sources. </a:t>
            </a:r>
          </a:p>
          <a:p>
            <a:pPr marL="248698" marR="0" lvl="0" indent="-238115" algn="l" defTabSz="976845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5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These insights are proactively applied across the business including; customer advocate training, product development, survey experiences and more.</a:t>
            </a:r>
          </a:p>
          <a:p>
            <a:pPr marL="248698" marR="0" lvl="0" indent="-238115" algn="l" defTabSz="976845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5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Affirma’s team continues to provide ongoing enhancements to the solution and business support for reporting and analysis. </a:t>
            </a:r>
          </a:p>
        </p:txBody>
      </p:sp>
      <p:pic>
        <p:nvPicPr>
          <p:cNvPr id="5" name="Picture 8" descr="http://www.psdeps.com/wp-content/uploads/New-Microsoft-2013-Logo-Vector.png">
            <a:extLst>
              <a:ext uri="{FF2B5EF4-FFF2-40B4-BE49-F238E27FC236}">
                <a16:creationId xmlns:a16="http://schemas.microsoft.com/office/drawing/2014/main" id="{BB42A933-0E44-3B60-8E09-A4A32C1330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51" b="31476"/>
          <a:stretch/>
        </p:blipFill>
        <p:spPr bwMode="auto">
          <a:xfrm>
            <a:off x="9583414" y="1605008"/>
            <a:ext cx="2322875" cy="650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FA34DAFE-CF7A-26B9-E1FB-51333445C5DB}"/>
              </a:ext>
            </a:extLst>
          </p:cNvPr>
          <p:cNvGrpSpPr>
            <a:grpSpLocks noChangeAspect="1"/>
          </p:cNvGrpSpPr>
          <p:nvPr/>
        </p:nvGrpSpPr>
        <p:grpSpPr>
          <a:xfrm>
            <a:off x="7137377" y="2948472"/>
            <a:ext cx="4768911" cy="3090961"/>
            <a:chOff x="7842470" y="3259567"/>
            <a:chExt cx="6330730" cy="4103251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F71DCC9-76B6-CB53-9406-52E0FFCE7B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42470" y="3259567"/>
              <a:ext cx="6330730" cy="4103251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ECB37E7-29E5-7C7C-3923-543DF1E8F834}"/>
                </a:ext>
              </a:extLst>
            </p:cNvPr>
            <p:cNvSpPr/>
            <p:nvPr/>
          </p:nvSpPr>
          <p:spPr>
            <a:xfrm>
              <a:off x="13731824" y="3259567"/>
              <a:ext cx="441376" cy="2248348"/>
            </a:xfrm>
            <a:prstGeom prst="rect">
              <a:avLst/>
            </a:prstGeom>
            <a:solidFill>
              <a:srgbClr val="053C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7684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2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91846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b1c940a28d9f7ed7841dd66e388476ed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8c9fb4aa225d81f58c6fca2e551d2526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s0 xmlns="f0ee8362-fa7e-4bc9-ab88-7dcfb17cb19b" xsi:nil="true"/>
    <Named_x0020_Account xmlns="f0ee8362-fa7e-4bc9-ab88-7dcfb17cb19b">Microsoft</Named_x0020_Account>
    <Industries xmlns="f0ee8362-fa7e-4bc9-ab88-7dcfb17cb19b">
      <Value>Technology</Value>
    </Industries>
    <PlatTech xmlns="f0ee8362-fa7e-4bc9-ab88-7dcfb17cb19b" xsi:nil="true"/>
    <BusinessUnit xmlns="f0ee8362-fa7e-4bc9-ab88-7dcfb17cb19b">
      <Value>Custom Development</Value>
    </BusinessUnit>
    <Solutions xmlns="f0ee8362-fa7e-4bc9-ab88-7dcfb17cb19b">
      <Value>AI</Value>
    </Solutions>
    <ProjectCompletionDate xmlns="f0ee8362-fa7e-4bc9-ab88-7dcfb17cb19b" xsi:nil="true"/>
    <ApprovedByClient xmlns="f0ee8362-fa7e-4bc9-ab88-7dcfb17cb19b">false</ApprovedByClient>
  </documentManagement>
</p:properties>
</file>

<file path=customXml/itemProps1.xml><?xml version="1.0" encoding="utf-8"?>
<ds:datastoreItem xmlns:ds="http://schemas.openxmlformats.org/officeDocument/2006/customXml" ds:itemID="{AD2049EB-41CC-401C-9A62-7E7148D634CA}"/>
</file>

<file path=customXml/itemProps2.xml><?xml version="1.0" encoding="utf-8"?>
<ds:datastoreItem xmlns:ds="http://schemas.openxmlformats.org/officeDocument/2006/customXml" ds:itemID="{E5C9BBD3-DE76-46E9-95AC-2090DC426EE2}"/>
</file>

<file path=customXml/itemProps3.xml><?xml version="1.0" encoding="utf-8"?>
<ds:datastoreItem xmlns:ds="http://schemas.openxmlformats.org/officeDocument/2006/customXml" ds:itemID="{85DDC786-0A2C-473A-99BF-C51474163196}"/>
</file>

<file path=customXml/itemProps4.xml><?xml version="1.0" encoding="utf-8"?>
<ds:datastoreItem xmlns:ds="http://schemas.openxmlformats.org/officeDocument/2006/customXml" ds:itemID="{B57DF755-9197-4F95-A914-E0F0CD39E2BD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Poppins</vt:lpstr>
      <vt:lpstr>Office Theme</vt:lpstr>
      <vt:lpstr>Microsoft – Voice of the Customer Implementation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– Voice of the Customer Implementation</dc:title>
  <dc:creator>Brendan Murphy</dc:creator>
  <cp:lastModifiedBy>Brendan Murphy</cp:lastModifiedBy>
  <cp:revision>1</cp:revision>
  <dcterms:created xsi:type="dcterms:W3CDTF">2024-06-26T03:40:49Z</dcterms:created>
  <dcterms:modified xsi:type="dcterms:W3CDTF">2024-06-26T03:41:02Z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</Properties>
</file>