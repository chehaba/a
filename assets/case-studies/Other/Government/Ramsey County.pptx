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39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customXml" Target="../customXml/item4.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65FCF9-1FD2-4FE3-9380-CF3CEAC79F5C}" type="datetimeFigureOut">
              <a:rPr lang="en-US" smtClean="0"/>
              <a:t>9/28/2020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DC80A-73EF-43A1-9852-82147FFCD13A}" type="slidenum">
              <a:rPr lang="en-US" smtClean="0"/>
              <a:t>‹#›</a:t>
            </a:fld>
            <a:endParaRPr lang="en-US"/>
          </a:p>
        </p:txBody>
      </p:sp>
    </p:spTree>
    <p:extLst>
      <p:ext uri="{BB962C8B-B14F-4D97-AF65-F5344CB8AC3E}">
        <p14:creationId xmlns:p14="http://schemas.microsoft.com/office/powerpoint/2010/main" val="188237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6944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ADFC8D-B4F8-4CE1-9A64-52D721E8D9F6}"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7337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AD036A3-19F0-46D4-99F6-9859A0E4ECE0}"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pic>
        <p:nvPicPr>
          <p:cNvPr id="1026" name="Picture 2" descr="Image result for coronado island&quot;">
            <a:extLst>
              <a:ext uri="{FF2B5EF4-FFF2-40B4-BE49-F238E27FC236}">
                <a16:creationId xmlns:a16="http://schemas.microsoft.com/office/drawing/2014/main" id="{AA1E57E8-5BD3-425A-B527-6022B6D80BD1}"/>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b="1000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Tree>
    <p:extLst>
      <p:ext uri="{BB962C8B-B14F-4D97-AF65-F5344CB8AC3E}">
        <p14:creationId xmlns:p14="http://schemas.microsoft.com/office/powerpoint/2010/main" val="198417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074D95A-C65A-4160-95EC-CD2270B2DBD9}"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101600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B4BE810-6913-4802-9684-3BFBAFD7673E}"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56897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DA1D46C-A45C-4D1D-9F99-31DF21006346}"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30400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EC3714E-B28E-45D7-8CEC-FC5A61C8729C}"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69342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2050" name="Picture 2" descr="Image result for coronado island&quot;">
            <a:extLst>
              <a:ext uri="{FF2B5EF4-FFF2-40B4-BE49-F238E27FC236}">
                <a16:creationId xmlns:a16="http://schemas.microsoft.com/office/drawing/2014/main" id="{6A852825-1964-4B45-919A-2E8056770E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93" y="-14192"/>
            <a:ext cx="12238477" cy="687219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00E1596-3717-4532-821D-BFBB9F4206AB}"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1828929" y="2532447"/>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CD4D9476-FB4A-49DC-9ECA-F76016464E91}"/>
              </a:ext>
            </a:extLst>
          </p:cNvPr>
          <p:cNvSpPr/>
          <p:nvPr userDrawn="1"/>
        </p:nvSpPr>
        <p:spPr>
          <a:xfrm>
            <a:off x="0" y="0"/>
            <a:ext cx="12192000" cy="6858000"/>
          </a:xfrm>
          <a:prstGeom prst="rect">
            <a:avLst/>
          </a:prstGeom>
          <a:solidFill>
            <a:srgbClr val="004E59">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Tree>
    <p:extLst>
      <p:ext uri="{BB962C8B-B14F-4D97-AF65-F5344CB8AC3E}">
        <p14:creationId xmlns:p14="http://schemas.microsoft.com/office/powerpoint/2010/main" val="1508698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076941" y="6370233"/>
            <a:ext cx="2743459" cy="304800"/>
          </a:xfrm>
        </p:spPr>
        <p:txBody>
          <a:bodyPr/>
          <a:lstStyle>
            <a:lvl1pPr>
              <a:defRPr>
                <a:latin typeface="Segoe UI" panose="020B0502040204020203" pitchFamily="34" charset="0"/>
              </a:defRPr>
            </a:lvl1pPr>
          </a:lstStyle>
          <a:p>
            <a:fld id="{751B2337-F148-45E0-B0CA-F3F4494339C3}" type="datetime1">
              <a:rPr lang="en-US" smtClean="0"/>
              <a:t>9/28/2020</a:t>
            </a:fld>
            <a:endParaRPr lang="en-US"/>
          </a:p>
        </p:txBody>
      </p:sp>
      <p:sp>
        <p:nvSpPr>
          <p:cNvPr id="5" name="Footer Placeholder 4"/>
          <p:cNvSpPr>
            <a:spLocks noGrp="1"/>
          </p:cNvSpPr>
          <p:nvPr>
            <p:ph type="ftr" sz="quarter" idx="11"/>
          </p:nvPr>
        </p:nvSpPr>
        <p:spPr>
          <a:xfrm>
            <a:off x="3734060" y="6370233"/>
            <a:ext cx="4115189" cy="364224"/>
          </a:xfrm>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a:xfrm>
            <a:off x="832170" y="6318284"/>
            <a:ext cx="533400" cy="304800"/>
          </a:xfrm>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47889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3DF0DDB4-2B92-4524-BA50-4E6236147471}" type="datetime1">
              <a:rPr lang="en-US" smtClean="0"/>
              <a:t>9/28/2020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3894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6356EE55-C5B8-415F-AED0-4CCD7E6E5F67}" type="datetime1">
              <a:rPr lang="en-US" smtClean="0"/>
              <a:t>9/28/2020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36377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8E8C19F-F981-42C8-8CAF-FE385730F0B8}"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59098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DA36E03-16AB-4F46-A96E-D96355FE203D}"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20569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488D10D-2E8B-41BD-93A0-19A0853B7C21}"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8143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C9A6AEB-A2B7-440C-80D5-A8B29DCF13A7}"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71682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BEE4EB6F-F42F-4CEE-84DC-F80EB454DB00}" type="datetime1">
              <a:rPr lang="en-US" smtClean="0"/>
              <a:t>9/28/2020</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318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9058536A-DDAB-451E-9DB0-7736590DA9D0}" type="datetime1">
              <a:rPr lang="en-US" smtClean="0"/>
              <a:t>9/28/2020</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03034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9A2EEAEE-229C-4E83-9848-A8ED40BC5DF9}" type="datetime1">
              <a:rPr lang="en-US" smtClean="0"/>
              <a:t>9/28/2020</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3092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44215A03-07BC-475D-B798-77539CEE363A}" type="datetime1">
              <a:rPr lang="en-US" smtClean="0"/>
              <a:t>9/28/2020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97413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CE2615A-198E-4F2D-9959-C15334C0A40B}" type="datetime1">
              <a:rPr lang="en-US" smtClean="0"/>
              <a:t>9/28/2020</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429676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F916E09-BFDD-4B5E-8A63-1E34EFE1F718}" type="datetime1">
              <a:rPr lang="en-US" smtClean="0"/>
              <a:t>9/28/2020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669474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E97B6-79C9-457C-A893-4344E5355225}" type="datetime1">
              <a:rPr lang="en-US" smtClean="0"/>
              <a:t>9/28/2020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55386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3FCC4538-1558-47B5-8B18-297B083E933E}" type="datetime1">
              <a:rPr lang="en-US" smtClean="0"/>
              <a:t>9/28/2020</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883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8B48C75B-7104-410E-AB95-80B2C5979DAD}" type="datetime1">
              <a:rPr lang="en-US" smtClean="0"/>
              <a:t>9/28/2020</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2965620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63547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168F65FC-7790-41D1-919C-95EE2292F7B3}" type="datetime1">
              <a:rPr lang="en-US" smtClean="0"/>
              <a:t>9/28/2020</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05569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Ramsey County TFS to Azure DevOps Migration</a:t>
            </a:r>
          </a:p>
        </p:txBody>
      </p:sp>
      <p:sp>
        <p:nvSpPr>
          <p:cNvPr id="11" name="Rectangle 10">
            <a:extLst>
              <a:ext uri="{FF2B5EF4-FFF2-40B4-BE49-F238E27FC236}">
                <a16:creationId xmlns:a16="http://schemas.microsoft.com/office/drawing/2014/main" id="{33392E77-EB89-4D4D-9F34-762A2B9788B5}"/>
              </a:ext>
            </a:extLst>
          </p:cNvPr>
          <p:cNvSpPr/>
          <p:nvPr/>
        </p:nvSpPr>
        <p:spPr>
          <a:xfrm>
            <a:off x="10749645"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06"/>
            <a:endParaRPr lang="en-US" sz="1500" dirty="0">
              <a:solidFill>
                <a:prstClr val="white"/>
              </a:solidFill>
              <a:latin typeface="Segoe UI"/>
            </a:endParaRPr>
          </a:p>
        </p:txBody>
      </p:sp>
      <p:sp>
        <p:nvSpPr>
          <p:cNvPr id="5" name="TextBox 4">
            <a:extLst>
              <a:ext uri="{FF2B5EF4-FFF2-40B4-BE49-F238E27FC236}">
                <a16:creationId xmlns:a16="http://schemas.microsoft.com/office/drawing/2014/main" id="{71EB9311-5018-47E8-8513-3B43EB046859}"/>
              </a:ext>
            </a:extLst>
          </p:cNvPr>
          <p:cNvSpPr txBox="1"/>
          <p:nvPr/>
        </p:nvSpPr>
        <p:spPr>
          <a:xfrm>
            <a:off x="348561" y="1206090"/>
            <a:ext cx="9144916" cy="5581849"/>
          </a:xfrm>
          <a:prstGeom prst="rect">
            <a:avLst/>
          </a:prstGeom>
          <a:noFill/>
        </p:spPr>
        <p:txBody>
          <a:bodyPr wrap="square" rtlCol="0">
            <a:spAutoFit/>
          </a:bodyPr>
          <a:lstStyle/>
          <a:p>
            <a:pPr defTabSz="976806"/>
            <a:r>
              <a:rPr lang="en-US" sz="2333" b="1" dirty="0">
                <a:solidFill>
                  <a:srgbClr val="0096A9"/>
                </a:solidFill>
                <a:latin typeface="Segoe UI"/>
              </a:rPr>
              <a:t>Customer Challenge</a:t>
            </a:r>
          </a:p>
          <a:p>
            <a:pPr defTabSz="976806">
              <a:spcAft>
                <a:spcPts val="1200"/>
              </a:spcAft>
            </a:pPr>
            <a:r>
              <a:rPr lang="en-US" sz="1667" dirty="0">
                <a:solidFill>
                  <a:prstClr val="black"/>
                </a:solidFill>
                <a:latin typeface="Segoe UI"/>
              </a:rPr>
              <a:t>Ramsey County’s Software Development team used Team Foundation Server (TFS) 2010 and 2012. They self-hosted TFS on internal servers which were also maintained by the Ramsey County team. By self-hosting, Ramsey County had to pay for and maintain the servers that hosted TFS, including associated licensing costs of the software. The servers used were Windows Server 2008, which was a month away from End of Life. Across both TFS 2010 and TFS 2012 Ramsey County had 50 .NET projects under development.</a:t>
            </a:r>
            <a:endParaRPr lang="en-US" sz="1500" dirty="0">
              <a:solidFill>
                <a:prstClr val="black"/>
              </a:solidFill>
              <a:latin typeface="Segoe UI"/>
            </a:endParaRPr>
          </a:p>
          <a:p>
            <a:pPr defTabSz="976806"/>
            <a:r>
              <a:rPr lang="en-US" sz="2333" b="1" dirty="0">
                <a:solidFill>
                  <a:srgbClr val="0096A9"/>
                </a:solidFill>
                <a:latin typeface="Segoe UI"/>
              </a:rPr>
              <a:t>What We Did</a:t>
            </a:r>
          </a:p>
          <a:p>
            <a:pPr defTabSz="976806">
              <a:spcAft>
                <a:spcPts val="1200"/>
              </a:spcAft>
            </a:pPr>
            <a:r>
              <a:rPr lang="en-US" sz="1667" dirty="0">
                <a:solidFill>
                  <a:prstClr val="black"/>
                </a:solidFill>
                <a:latin typeface="Segoe UI"/>
              </a:rPr>
              <a:t>The initial engagement with Ramsey Country was to assess their specific migration needs. The end of this engagement yielded a report which outlined </a:t>
            </a:r>
            <a:r>
              <a:rPr lang="en-US" sz="1667" dirty="0" err="1">
                <a:solidFill>
                  <a:prstClr val="black"/>
                </a:solidFill>
                <a:latin typeface="Segoe UI"/>
              </a:rPr>
              <a:t>Affirma’s</a:t>
            </a:r>
            <a:r>
              <a:rPr lang="en-US" sz="1667" dirty="0">
                <a:solidFill>
                  <a:prstClr val="black"/>
                </a:solidFill>
                <a:latin typeface="Segoe UI"/>
              </a:rPr>
              <a:t> recommendations. Following this report, Affirma migrated the code and check-in history of the TFS projects to Azure DevOps Services (cloud). First the TFS servers were upgraded to Azure Dev Ops Server (on-premise), then using Microsoft’s migration tools to the Azure DevOps Services. Affirma was engaged to provide training and support for Ramsey County Developers to onboard using Azure DevOps into their Software Development Lifecycle.</a:t>
            </a:r>
            <a:endParaRPr lang="en-US" sz="1500" dirty="0">
              <a:solidFill>
                <a:prstClr val="black"/>
              </a:solidFill>
              <a:latin typeface="Segoe UI"/>
            </a:endParaRPr>
          </a:p>
          <a:p>
            <a:pPr defTabSz="976806"/>
            <a:r>
              <a:rPr lang="en-US" sz="2333" b="1" dirty="0">
                <a:solidFill>
                  <a:srgbClr val="0096A9"/>
                </a:solidFill>
                <a:latin typeface="Segoe UI"/>
              </a:rPr>
              <a:t>Results</a:t>
            </a:r>
          </a:p>
          <a:p>
            <a:pPr defTabSz="976806"/>
            <a:r>
              <a:rPr lang="en-US" sz="1667" dirty="0">
                <a:solidFill>
                  <a:prstClr val="black"/>
                </a:solidFill>
                <a:latin typeface="Segoe UI"/>
              </a:rPr>
              <a:t>The migration allowed Ramsey County to decommission their Windows Server 2008 machines to comply with End of Life. Their development team successfully transitioned their software development to Azure DevOps.</a:t>
            </a:r>
          </a:p>
        </p:txBody>
      </p:sp>
      <p:sp>
        <p:nvSpPr>
          <p:cNvPr id="6" name="Slide Number Placeholder 5">
            <a:extLst>
              <a:ext uri="{FF2B5EF4-FFF2-40B4-BE49-F238E27FC236}">
                <a16:creationId xmlns:a16="http://schemas.microsoft.com/office/drawing/2014/main" id="{381B42F6-E487-44AA-AC27-1733547D4879}"/>
              </a:ext>
            </a:extLst>
          </p:cNvPr>
          <p:cNvSpPr>
            <a:spLocks noGrp="1"/>
          </p:cNvSpPr>
          <p:nvPr>
            <p:ph type="sldNum" sz="quarter" idx="12"/>
          </p:nvPr>
        </p:nvSpPr>
        <p:spPr/>
        <p:txBody>
          <a:bodyPr/>
          <a:lstStyle/>
          <a:p>
            <a:pPr defTabSz="976806"/>
            <a:fld id="{49A40DB5-B054-4B52-B27D-446721D6CC27}" type="slidenum">
              <a:rPr lang="en-US">
                <a:solidFill>
                  <a:prstClr val="black">
                    <a:tint val="75000"/>
                  </a:prstClr>
                </a:solidFill>
              </a:rPr>
              <a:pPr defTabSz="976806"/>
              <a:t>1</a:t>
            </a:fld>
            <a:endParaRPr lang="en-US">
              <a:solidFill>
                <a:prstClr val="black">
                  <a:tint val="75000"/>
                </a:prstClr>
              </a:solidFill>
            </a:endParaRPr>
          </a:p>
        </p:txBody>
      </p:sp>
      <p:pic>
        <p:nvPicPr>
          <p:cNvPr id="12" name="Picture 11">
            <a:extLst>
              <a:ext uri="{FF2B5EF4-FFF2-40B4-BE49-F238E27FC236}">
                <a16:creationId xmlns:a16="http://schemas.microsoft.com/office/drawing/2014/main" id="{92AEA509-EBE7-478B-8C05-1C6F2FB6C85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pic>
        <p:nvPicPr>
          <p:cNvPr id="1028" name="Picture 4" descr="Azure DevOps Logo - Azure DevOps and Banking | Black Marble">
            <a:extLst>
              <a:ext uri="{FF2B5EF4-FFF2-40B4-BE49-F238E27FC236}">
                <a16:creationId xmlns:a16="http://schemas.microsoft.com/office/drawing/2014/main" id="{DD737BB3-4D7E-41D0-80E6-965317D6E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339" y="1630938"/>
            <a:ext cx="2518123" cy="4596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C70004A-ADF2-4380-B2FD-A7D8069A7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3182" y="1206089"/>
            <a:ext cx="2729021" cy="32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408834"/>
      </p:ext>
    </p:extLst>
  </p:cSld>
  <p:clrMapOvr>
    <a:masterClrMapping/>
  </p:clrMapOvr>
</p:sld>
</file>

<file path=ppt/theme/theme1.xml><?xml version="1.0" encoding="utf-8"?>
<a:theme xmlns:a="http://schemas.openxmlformats.org/drawingml/2006/main" name="2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DevOps</Value>
    </Solutions>
    <Industries xmlns="f0ee8362-fa7e-4bc9-ab88-7dcfb17cb19b">
      <Value>Government</Value>
    </Industries>
    <Notes0 xmlns="f0ee8362-fa7e-4bc9-ab88-7dcfb17cb19b" xsi:nil="true"/>
    <PlatTech xmlns="f0ee8362-fa7e-4bc9-ab88-7dcfb17cb19b">
      <Value>Azure DevOps</Value>
    </PlatTech>
    <Named_x0020_Account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8E95DF9-2997-4BD3-9C91-3EF6B70D2F3A}">
  <ds:schemaRefs>
    <ds:schemaRef ds:uri="http://schemas.microsoft.com/office/infopath/2007/PartnerControls"/>
    <ds:schemaRef ds:uri="http://www.w3.org/XML/1998/namespace"/>
    <ds:schemaRef ds:uri="http://schemas.microsoft.com/office/2006/documentManagement/types"/>
    <ds:schemaRef ds:uri="http://purl.org/dc/elements/1.1/"/>
    <ds:schemaRef ds:uri="0b603848-ec9b-4f0c-b42d-ae5d8eeb1b9b"/>
    <ds:schemaRef ds:uri="http://purl.org/dc/terms/"/>
    <ds:schemaRef ds:uri="http://schemas.microsoft.com/office/2006/metadata/properties"/>
    <ds:schemaRef ds:uri="http://schemas.openxmlformats.org/package/2006/metadata/core-properties"/>
    <ds:schemaRef ds:uri="d32e32f4-7a47-4a1a-8faa-b8e82aa8c412"/>
    <ds:schemaRef ds:uri="http://purl.org/dc/dcmitype/"/>
    <ds:schemaRef ds:uri="54243e05-8da7-404c-85e0-0480aaa26276"/>
    <ds:schemaRef ds:uri="357972b2-b7ed-48bc-bbb4-0804bacba9d2"/>
  </ds:schemaRefs>
</ds:datastoreItem>
</file>

<file path=customXml/itemProps2.xml><?xml version="1.0" encoding="utf-8"?>
<ds:datastoreItem xmlns:ds="http://schemas.openxmlformats.org/officeDocument/2006/customXml" ds:itemID="{80F2F51F-5730-46D0-AD65-9162EC256A0D}">
  <ds:schemaRefs>
    <ds:schemaRef ds:uri="http://schemas.microsoft.com/sharepoint/v3/contenttype/forms"/>
  </ds:schemaRefs>
</ds:datastoreItem>
</file>

<file path=customXml/itemProps3.xml><?xml version="1.0" encoding="utf-8"?>
<ds:datastoreItem xmlns:ds="http://schemas.openxmlformats.org/officeDocument/2006/customXml" ds:itemID="{C4FA671D-08D4-4AFE-9492-61BAF658D1FE}"/>
</file>

<file path=customXml/itemProps4.xml><?xml version="1.0" encoding="utf-8"?>
<ds:datastoreItem xmlns:ds="http://schemas.openxmlformats.org/officeDocument/2006/customXml" ds:itemID="{BBEFD73A-6584-438D-A08A-378F49D6B9DB}"/>
</file>

<file path=docProps/app.xml><?xml version="1.0" encoding="utf-8"?>
<Properties xmlns="http://schemas.openxmlformats.org/officeDocument/2006/extended-properties" xmlns:vt="http://schemas.openxmlformats.org/officeDocument/2006/docPropsVTypes">
  <TotalTime>98</TotalTime>
  <Words>235</Words>
  <Application>Microsoft Office PowerPoint</Application>
  <PresentationFormat>Widescreen</PresentationFormat>
  <Paragraphs>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2_Custom Design</vt:lpstr>
      <vt:lpstr>Ramsey County TFS to Azure DevOps Migration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Ramsey County DevOps</dc:title>
  <dc:creator>Maria Mejia-Henao</dc:creator>
  <cp:lastModifiedBy>Maria Mejia-Henao</cp:lastModifiedBy>
  <cp:revision>13</cp:revision>
  <dcterms:created xsi:type="dcterms:W3CDTF">2020-05-19T16:10:02Z</dcterms:created>
  <dcterms:modified xsi:type="dcterms:W3CDTF">2020-09-29T02:41:05Z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ies>
</file>