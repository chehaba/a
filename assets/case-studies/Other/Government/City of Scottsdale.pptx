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48141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42" d="100"/>
          <a:sy n="142" d="100"/>
        </p:scale>
        <p:origin x="94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4.xml"/><Relationship Id="rId4" Type="http://schemas.openxmlformats.org/officeDocument/2006/relationships/viewProps" Target="viewProps.xml"/><Relationship Id="rId9"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98A0D-DDCA-2A10-C54D-34A3AF6CD6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4E21BB-69AA-42F8-30B8-7EFA0CC80D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AE864F-973D-03AC-BA65-6A387CFC69AF}"/>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5" name="Footer Placeholder 4">
            <a:extLst>
              <a:ext uri="{FF2B5EF4-FFF2-40B4-BE49-F238E27FC236}">
                <a16:creationId xmlns:a16="http://schemas.microsoft.com/office/drawing/2014/main" id="{6F4CBB60-A2CE-1C8B-9732-45761F9ADD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AD740E-990C-BE69-633B-B74DE64F2B51}"/>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1688014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4F4CA-CA4B-E96B-D911-95E0A45A1B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228E06-A059-5497-0110-8252F9BCFE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68084-47B5-B305-FD64-FBE3DABCD30C}"/>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5" name="Footer Placeholder 4">
            <a:extLst>
              <a:ext uri="{FF2B5EF4-FFF2-40B4-BE49-F238E27FC236}">
                <a16:creationId xmlns:a16="http://schemas.microsoft.com/office/drawing/2014/main" id="{5457C92B-7AD0-1CE7-2F0B-89044F60BF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F7F7AC-E218-7C7F-759F-2D1A0FD18F86}"/>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3323405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CF39-9488-BA46-0EEE-63CD4BEF3D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DFD26E-FE91-38DA-A5FE-F3F2888E90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6A4236-2587-1F59-E98A-BFA970515C55}"/>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5" name="Footer Placeholder 4">
            <a:extLst>
              <a:ext uri="{FF2B5EF4-FFF2-40B4-BE49-F238E27FC236}">
                <a16:creationId xmlns:a16="http://schemas.microsoft.com/office/drawing/2014/main" id="{5B6889BC-9572-699B-F5A2-55E84F8EC7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C86B0-89AF-5A3B-E448-6F08676DDBF9}"/>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118981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A413-A38D-B541-6AEC-B4FA2A4757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500E32-CCC1-13FB-FBA8-5A7E16A1E0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BD5ED9-BE8C-F0A7-7FED-CAF83E4341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149DB-4DA6-5A94-D24D-8B701D2D5630}"/>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6" name="Footer Placeholder 5">
            <a:extLst>
              <a:ext uri="{FF2B5EF4-FFF2-40B4-BE49-F238E27FC236}">
                <a16:creationId xmlns:a16="http://schemas.microsoft.com/office/drawing/2014/main" id="{8E0D382C-4C6D-028E-9E4A-FEE1890A89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1F73F-FA29-7A3E-AD8C-0BEB41CB3FEF}"/>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2332247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74939-F618-2B37-F3E0-551FEF4EE4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68116D-A6BD-FEFA-3F3A-984A6A9BD4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2FAC8B-31F3-357C-0771-27D68CC866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6F556A-2A04-C4EC-4B16-A5DF98FDC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8CD8FF-E924-3E28-58AF-CD2CDDB527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F858C4-CAA3-78A0-EA2E-AA7370A44C30}"/>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8" name="Footer Placeholder 7">
            <a:extLst>
              <a:ext uri="{FF2B5EF4-FFF2-40B4-BE49-F238E27FC236}">
                <a16:creationId xmlns:a16="http://schemas.microsoft.com/office/drawing/2014/main" id="{F3FDE79D-807D-4D87-40C4-B400DA4EC6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D24686-3DFB-72FF-243C-26888C30E9EE}"/>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185643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D6F65-E941-280D-48F6-25CA4529F2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1FAA92-02DD-7012-0DDD-8EC81F7993FC}"/>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4" name="Footer Placeholder 3">
            <a:extLst>
              <a:ext uri="{FF2B5EF4-FFF2-40B4-BE49-F238E27FC236}">
                <a16:creationId xmlns:a16="http://schemas.microsoft.com/office/drawing/2014/main" id="{AE96BF80-F377-593F-C294-21EC59DDFE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D992C4-EE6B-D809-2A40-0E3A5DF5B958}"/>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3418375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D93DE6-2C27-B9F6-0038-0EC95D45747E}"/>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3" name="Footer Placeholder 2">
            <a:extLst>
              <a:ext uri="{FF2B5EF4-FFF2-40B4-BE49-F238E27FC236}">
                <a16:creationId xmlns:a16="http://schemas.microsoft.com/office/drawing/2014/main" id="{1D4C08F1-0297-3FFA-2C2F-F1BCC35602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51E63A-0A1A-B135-8AC6-7E0B253FF581}"/>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3927202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FB015-3F83-A6EA-C383-99E697ADDE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D9CFDB-B6B0-F604-38FE-BA27651552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408494-81E4-038E-A230-D4AB3E876B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C7A93-AE46-F4BA-AF32-7F5A89EEDB22}"/>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6" name="Footer Placeholder 5">
            <a:extLst>
              <a:ext uri="{FF2B5EF4-FFF2-40B4-BE49-F238E27FC236}">
                <a16:creationId xmlns:a16="http://schemas.microsoft.com/office/drawing/2014/main" id="{765C7205-2315-CC8D-F866-0E83979A4C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2F42FD-F0C1-6816-A5C9-A2F25B60D987}"/>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3951302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2A0BD-12F3-6FEE-4DF1-85F419651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1125C0-5C7F-C964-EF7F-89C82478FB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A7577D-FAC6-7E91-0A8A-4B30DBEDE8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9CFC57-72D2-DECC-7EE3-A9CCC7D5817D}"/>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6" name="Footer Placeholder 5">
            <a:extLst>
              <a:ext uri="{FF2B5EF4-FFF2-40B4-BE49-F238E27FC236}">
                <a16:creationId xmlns:a16="http://schemas.microsoft.com/office/drawing/2014/main" id="{16079DCF-9A01-1704-434C-C66CE1D82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E0BB1F-8486-3468-B692-4C65A16609C5}"/>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4214410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8052F-61B5-0099-B36C-B2BAD674F2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AE4834-30FD-E875-9AEE-774478A84A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3AB7B2-E099-2C3A-AB04-2D4789164B4D}"/>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5" name="Footer Placeholder 4">
            <a:extLst>
              <a:ext uri="{FF2B5EF4-FFF2-40B4-BE49-F238E27FC236}">
                <a16:creationId xmlns:a16="http://schemas.microsoft.com/office/drawing/2014/main" id="{E411CC22-DEA9-90D9-E9A7-FDCB95544A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D6806A-D650-A080-DBAE-A10F373E33DD}"/>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1315847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754B1D-16FC-E0F5-7A53-0F359D37F8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41EAD8-D6C9-084D-8CC2-3A0B79E7E2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A1770-0B1E-FC06-4372-2C1EBE9D5FA0}"/>
              </a:ext>
            </a:extLst>
          </p:cNvPr>
          <p:cNvSpPr>
            <a:spLocks noGrp="1"/>
          </p:cNvSpPr>
          <p:nvPr>
            <p:ph type="dt" sz="half" idx="10"/>
          </p:nvPr>
        </p:nvSpPr>
        <p:spPr/>
        <p:txBody>
          <a:bodyPr/>
          <a:lstStyle/>
          <a:p>
            <a:fld id="{2E3A0198-B301-43C4-8303-F814495072B7}" type="datetimeFigureOut">
              <a:rPr lang="en-US" smtClean="0"/>
              <a:t>12/8/2025</a:t>
            </a:fld>
            <a:endParaRPr lang="en-US"/>
          </a:p>
        </p:txBody>
      </p:sp>
      <p:sp>
        <p:nvSpPr>
          <p:cNvPr id="5" name="Footer Placeholder 4">
            <a:extLst>
              <a:ext uri="{FF2B5EF4-FFF2-40B4-BE49-F238E27FC236}">
                <a16:creationId xmlns:a16="http://schemas.microsoft.com/office/drawing/2014/main" id="{BEBB1737-936A-4D37-46FD-0D983C053F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A3863-B691-6B99-0D26-B2773F8181E7}"/>
              </a:ext>
            </a:extLst>
          </p:cNvPr>
          <p:cNvSpPr>
            <a:spLocks noGrp="1"/>
          </p:cNvSpPr>
          <p:nvPr>
            <p:ph type="sldNum" sz="quarter" idx="12"/>
          </p:nvPr>
        </p:nvSpPr>
        <p:spPr/>
        <p:txBody>
          <a:bodyPr/>
          <a:lstStyle/>
          <a:p>
            <a:fld id="{B7AD38DE-40FD-4A1F-9FC3-2263133358BF}" type="slidenum">
              <a:rPr lang="en-US" smtClean="0"/>
              <a:t>‹#›</a:t>
            </a:fld>
            <a:endParaRPr lang="en-US"/>
          </a:p>
        </p:txBody>
      </p:sp>
    </p:spTree>
    <p:extLst>
      <p:ext uri="{BB962C8B-B14F-4D97-AF65-F5344CB8AC3E}">
        <p14:creationId xmlns:p14="http://schemas.microsoft.com/office/powerpoint/2010/main" val="3361551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401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3E2FDA-8651-339E-4627-E3BDE170F0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C05319-A43D-49E4-F7EC-4003B6966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6ED0C3-7E1C-BF59-896B-86ABB72AF3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3A0198-B301-43C4-8303-F814495072B7}" type="datetimeFigureOut">
              <a:rPr lang="en-US" smtClean="0"/>
              <a:t>12/8/2025</a:t>
            </a:fld>
            <a:endParaRPr lang="en-US"/>
          </a:p>
        </p:txBody>
      </p:sp>
      <p:sp>
        <p:nvSpPr>
          <p:cNvPr id="5" name="Footer Placeholder 4">
            <a:extLst>
              <a:ext uri="{FF2B5EF4-FFF2-40B4-BE49-F238E27FC236}">
                <a16:creationId xmlns:a16="http://schemas.microsoft.com/office/drawing/2014/main" id="{81909CD7-7C8A-E0A4-5535-1E16C7F07C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0CF3F7-D8BE-AA96-219D-99BFEBD3A6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AD38DE-40FD-4A1F-9FC3-2263133358BF}" type="slidenum">
              <a:rPr lang="en-US" smtClean="0"/>
              <a:t>‹#›</a:t>
            </a:fld>
            <a:endParaRPr lang="en-US"/>
          </a:p>
        </p:txBody>
      </p:sp>
    </p:spTree>
    <p:extLst>
      <p:ext uri="{BB962C8B-B14F-4D97-AF65-F5344CB8AC3E}">
        <p14:creationId xmlns:p14="http://schemas.microsoft.com/office/powerpoint/2010/main" val="74259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0C4CA-986E-F708-F0B7-BFE72641E7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92A8B3-8A0F-B696-CBF1-61CC5CB7C230}"/>
              </a:ext>
            </a:extLst>
          </p:cNvPr>
          <p:cNvSpPr>
            <a:spLocks noGrp="1"/>
          </p:cNvSpPr>
          <p:nvPr>
            <p:ph type="ctrTitle"/>
          </p:nvPr>
        </p:nvSpPr>
        <p:spPr>
          <a:xfrm>
            <a:off x="634252" y="301170"/>
            <a:ext cx="11448890" cy="764390"/>
          </a:xfrm>
        </p:spPr>
        <p:txBody>
          <a:bodyPr>
            <a:noAutofit/>
          </a:bodyPr>
          <a:lstStyle/>
          <a:p>
            <a:pPr defTabSz="896533"/>
            <a:r>
              <a:rPr lang="en-US" dirty="0">
                <a:solidFill>
                  <a:srgbClr val="002060"/>
                </a:solidFill>
                <a:latin typeface="Poppins SemiBold"/>
                <a:cs typeface="Poppins SemiBold"/>
              </a:rPr>
              <a:t>City of Scottsdale Website</a:t>
            </a:r>
          </a:p>
        </p:txBody>
      </p:sp>
      <p:sp>
        <p:nvSpPr>
          <p:cNvPr id="2" name="Rectangle 1">
            <a:extLst>
              <a:ext uri="{FF2B5EF4-FFF2-40B4-BE49-F238E27FC236}">
                <a16:creationId xmlns:a16="http://schemas.microsoft.com/office/drawing/2014/main" id="{EC4338DC-5477-95A1-98CC-67DE377006CB}"/>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7F62F516-C9ED-459C-CFC8-78D747033942}"/>
              </a:ext>
            </a:extLst>
          </p:cNvPr>
          <p:cNvSpPr txBox="1"/>
          <p:nvPr/>
        </p:nvSpPr>
        <p:spPr>
          <a:xfrm>
            <a:off x="169218" y="1221043"/>
            <a:ext cx="4972843"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Business Need </a:t>
            </a:r>
          </a:p>
        </p:txBody>
      </p:sp>
      <p:sp>
        <p:nvSpPr>
          <p:cNvPr id="7" name="TextBox 6">
            <a:extLst>
              <a:ext uri="{FF2B5EF4-FFF2-40B4-BE49-F238E27FC236}">
                <a16:creationId xmlns:a16="http://schemas.microsoft.com/office/drawing/2014/main" id="{36E4325F-9F7D-469E-3D74-DF6EDF8164D9}"/>
              </a:ext>
            </a:extLst>
          </p:cNvPr>
          <p:cNvSpPr txBox="1"/>
          <p:nvPr/>
        </p:nvSpPr>
        <p:spPr>
          <a:xfrm>
            <a:off x="182856" y="2306613"/>
            <a:ext cx="498548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What We Did </a:t>
            </a:r>
          </a:p>
        </p:txBody>
      </p:sp>
      <p:sp>
        <p:nvSpPr>
          <p:cNvPr id="8" name="TextBox 7">
            <a:extLst>
              <a:ext uri="{FF2B5EF4-FFF2-40B4-BE49-F238E27FC236}">
                <a16:creationId xmlns:a16="http://schemas.microsoft.com/office/drawing/2014/main" id="{32EED5B7-6D9D-6E92-A3DA-3967FEB9EA57}"/>
              </a:ext>
            </a:extLst>
          </p:cNvPr>
          <p:cNvSpPr txBox="1"/>
          <p:nvPr/>
        </p:nvSpPr>
        <p:spPr>
          <a:xfrm>
            <a:off x="182856" y="4406892"/>
            <a:ext cx="497284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Results</a:t>
            </a:r>
          </a:p>
        </p:txBody>
      </p:sp>
      <p:sp>
        <p:nvSpPr>
          <p:cNvPr id="9" name="TextBox 8">
            <a:extLst>
              <a:ext uri="{FF2B5EF4-FFF2-40B4-BE49-F238E27FC236}">
                <a16:creationId xmlns:a16="http://schemas.microsoft.com/office/drawing/2014/main" id="{2634FB6D-BF0C-E4D0-1D96-9687198E2390}"/>
              </a:ext>
            </a:extLst>
          </p:cNvPr>
          <p:cNvSpPr txBox="1"/>
          <p:nvPr/>
        </p:nvSpPr>
        <p:spPr>
          <a:xfrm>
            <a:off x="164812" y="1446641"/>
            <a:ext cx="7249926" cy="830997"/>
          </a:xfrm>
          <a:prstGeom prst="rect">
            <a:avLst/>
          </a:prstGeom>
          <a:noFill/>
        </p:spPr>
        <p:txBody>
          <a:bodyPr wrap="square">
            <a:spAutoFit/>
          </a:bodyPr>
          <a:lstStyle/>
          <a:p>
            <a:r>
              <a:rPr lang="en-US" sz="1200" dirty="0"/>
              <a:t>The City of Scottsdale needed a modern, user-friendly website to improve resident engagement and make city services easier to discover. Their existing site lacked mobile responsiveness, had outdated navigation, and required significant effort for staff to update content. The City partnered with </a:t>
            </a:r>
            <a:r>
              <a:rPr lang="en-US" sz="1200" dirty="0" err="1"/>
              <a:t>Affirma</a:t>
            </a:r>
            <a:r>
              <a:rPr lang="en-US" sz="1200" dirty="0"/>
              <a:t> to redesign the experience, implement a scalable CMS, and ensure WCAG compliance.</a:t>
            </a:r>
          </a:p>
        </p:txBody>
      </p:sp>
      <p:sp>
        <p:nvSpPr>
          <p:cNvPr id="11" name="TextBox 10">
            <a:extLst>
              <a:ext uri="{FF2B5EF4-FFF2-40B4-BE49-F238E27FC236}">
                <a16:creationId xmlns:a16="http://schemas.microsoft.com/office/drawing/2014/main" id="{0AC384CF-9FCD-66AB-9ECD-7250F16D598D}"/>
              </a:ext>
            </a:extLst>
          </p:cNvPr>
          <p:cNvSpPr txBox="1"/>
          <p:nvPr/>
        </p:nvSpPr>
        <p:spPr>
          <a:xfrm>
            <a:off x="165808" y="2623775"/>
            <a:ext cx="7217625" cy="1815882"/>
          </a:xfrm>
          <a:prstGeom prst="rect">
            <a:avLst/>
          </a:prstGeom>
          <a:noFill/>
        </p:spPr>
        <p:txBody>
          <a:bodyPr wrap="square">
            <a:spAutoFit/>
          </a:bodyPr>
          <a:lstStyle/>
          <a:p>
            <a:pPr marL="285750" indent="-285750">
              <a:buFont typeface="Arial" panose="020B0604020202020204" pitchFamily="34" charset="0"/>
              <a:buChar char="•"/>
            </a:pPr>
            <a:r>
              <a:rPr lang="en-US" sz="1400" dirty="0"/>
              <a:t>Conducted discovery sessions and refined information architecture, sitemaps, and wireframes through multiple review cycles</a:t>
            </a:r>
          </a:p>
          <a:p>
            <a:pPr marL="285750" indent="-285750">
              <a:buFont typeface="Arial" panose="020B0604020202020204" pitchFamily="34" charset="0"/>
              <a:buChar char="•"/>
            </a:pPr>
            <a:r>
              <a:rPr lang="en-US" sz="1400" dirty="0"/>
              <a:t>Designed modern, responsive templates and applied branding across Sitefinity layouts, widgets, and custom components</a:t>
            </a:r>
          </a:p>
          <a:p>
            <a:pPr marL="285750" indent="-285750">
              <a:buFont typeface="Arial" panose="020B0604020202020204" pitchFamily="34" charset="0"/>
              <a:buChar char="•"/>
            </a:pPr>
            <a:r>
              <a:rPr lang="en-US" sz="1400" dirty="0"/>
              <a:t>Developed templates, configured analytics, performed WCAG AA reviews, and completed QA, UAT support, and content migration assistance</a:t>
            </a:r>
          </a:p>
          <a:p>
            <a:pPr marL="285750" indent="-285750">
              <a:buFont typeface="Arial" panose="020B0604020202020204" pitchFamily="34" charset="0"/>
              <a:buChar char="•"/>
            </a:pPr>
            <a:r>
              <a:rPr lang="en-US" sz="1400" dirty="0"/>
              <a:t>Provided Sitefinity training, documentation, and post-launch support to ensure smooth adoption and long-term maintainability.</a:t>
            </a:r>
          </a:p>
        </p:txBody>
      </p:sp>
      <p:sp>
        <p:nvSpPr>
          <p:cNvPr id="12" name="TextBox 11">
            <a:extLst>
              <a:ext uri="{FF2B5EF4-FFF2-40B4-BE49-F238E27FC236}">
                <a16:creationId xmlns:a16="http://schemas.microsoft.com/office/drawing/2014/main" id="{E2C808DF-7823-8B1E-B8DC-3A82E62B227E}"/>
              </a:ext>
            </a:extLst>
          </p:cNvPr>
          <p:cNvSpPr txBox="1"/>
          <p:nvPr/>
        </p:nvSpPr>
        <p:spPr>
          <a:xfrm>
            <a:off x="170215" y="4722966"/>
            <a:ext cx="7245257" cy="1815882"/>
          </a:xfrm>
          <a:prstGeom prst="rect">
            <a:avLst/>
          </a:prstGeom>
          <a:noFill/>
        </p:spPr>
        <p:txBody>
          <a:bodyPr wrap="square">
            <a:spAutoFit/>
          </a:bodyPr>
          <a:lstStyle/>
          <a:p>
            <a:pPr marL="116895" indent="-116895">
              <a:buFont typeface="Arial" panose="020B0604020202020204" pitchFamily="34" charset="0"/>
              <a:buChar char="•"/>
            </a:pPr>
            <a:r>
              <a:rPr lang="en-US" sz="1400" dirty="0">
                <a:solidFill>
                  <a:prstClr val="black"/>
                </a:solidFill>
              </a:rPr>
              <a:t>Delivered a modern, mobile-responsive website offering easier access to city services and improved citizen experience</a:t>
            </a:r>
          </a:p>
          <a:p>
            <a:pPr marL="116895" indent="-116895">
              <a:buFont typeface="Arial" panose="020B0604020202020204" pitchFamily="34" charset="0"/>
              <a:buChar char="•"/>
            </a:pPr>
            <a:r>
              <a:rPr lang="en-US" sz="1400" dirty="0">
                <a:solidFill>
                  <a:prstClr val="black"/>
                </a:solidFill>
              </a:rPr>
              <a:t>Streamlined navigation and structured content reduced time to find key services and information</a:t>
            </a:r>
          </a:p>
          <a:p>
            <a:pPr marL="116895" indent="-116895">
              <a:buFont typeface="Arial" panose="020B0604020202020204" pitchFamily="34" charset="0"/>
              <a:buChar char="•"/>
            </a:pPr>
            <a:r>
              <a:rPr lang="en-US" sz="1400" dirty="0">
                <a:solidFill>
                  <a:prstClr val="black"/>
                </a:solidFill>
              </a:rPr>
              <a:t>Staff gained a more efficient CMS with reusable templates and widgets, reducing effort for updates</a:t>
            </a:r>
          </a:p>
          <a:p>
            <a:pPr marL="116895" indent="-116895">
              <a:buFont typeface="Arial" panose="020B0604020202020204" pitchFamily="34" charset="0"/>
              <a:buChar char="•"/>
            </a:pPr>
            <a:r>
              <a:rPr lang="en-US" sz="1400" dirty="0">
                <a:solidFill>
                  <a:prstClr val="black"/>
                </a:solidFill>
              </a:rPr>
              <a:t>Successful launch supported by training, analytics setup, and ongoing support ensured a stable and sustainable digital platform.</a:t>
            </a:r>
          </a:p>
        </p:txBody>
      </p:sp>
      <p:pic>
        <p:nvPicPr>
          <p:cNvPr id="15" name="Picture 14">
            <a:extLst>
              <a:ext uri="{FF2B5EF4-FFF2-40B4-BE49-F238E27FC236}">
                <a16:creationId xmlns:a16="http://schemas.microsoft.com/office/drawing/2014/main" id="{DBAB8345-425C-A861-D377-4AAE00332B85}"/>
              </a:ext>
            </a:extLst>
          </p:cNvPr>
          <p:cNvPicPr>
            <a:picLocks noChangeAspect="1"/>
          </p:cNvPicPr>
          <p:nvPr/>
        </p:nvPicPr>
        <p:blipFill>
          <a:blip r:embed="rId2"/>
          <a:stretch>
            <a:fillRect/>
          </a:stretch>
        </p:blipFill>
        <p:spPr>
          <a:xfrm>
            <a:off x="7773017" y="2652825"/>
            <a:ext cx="4236127" cy="3703980"/>
          </a:xfrm>
          <a:prstGeom prst="rect">
            <a:avLst/>
          </a:prstGeom>
        </p:spPr>
      </p:pic>
      <p:pic>
        <p:nvPicPr>
          <p:cNvPr id="1033" name="Picture 9" descr="Scottsdale | Arizona Department of Revenue">
            <a:extLst>
              <a:ext uri="{FF2B5EF4-FFF2-40B4-BE49-F238E27FC236}">
                <a16:creationId xmlns:a16="http://schemas.microsoft.com/office/drawing/2014/main" id="{1E5C6464-A785-5E95-66FD-73CB602EA6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5272" y="301170"/>
            <a:ext cx="1708743" cy="1741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45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Value>Government</Value>
    </Industries>
    <ApprovedByClient xmlns="f0ee8362-fa7e-4bc9-ab88-7dcfb17cb19b">false</ApprovedByClient>
    <PlatTech xmlns="f0ee8362-fa7e-4bc9-ab88-7dcfb17cb19b">
      <Value>Sitefinity</Value>
    </PlatTech>
    <ProjectCompletionDate xmlns="f0ee8362-fa7e-4bc9-ab88-7dcfb17cb19b" xsi:nil="true"/>
    <BusinessUnit xmlns="f0ee8362-fa7e-4bc9-ab88-7dcfb17cb19b">
      <Value>Custom Development</Value>
    </BusinessUnit>
    <Solutions xmlns="f0ee8362-fa7e-4bc9-ab88-7dcfb17cb19b">
      <Value>Websites</Value>
    </Solutions>
  </documentManagement>
</p:properties>
</file>

<file path=customXml/itemProps1.xml><?xml version="1.0" encoding="utf-8"?>
<ds:datastoreItem xmlns:ds="http://schemas.openxmlformats.org/officeDocument/2006/customXml" ds:itemID="{7C44F292-CB48-46D8-82E7-DD7D9035654D}"/>
</file>

<file path=customXml/itemProps2.xml><?xml version="1.0" encoding="utf-8"?>
<ds:datastoreItem xmlns:ds="http://schemas.openxmlformats.org/officeDocument/2006/customXml" ds:itemID="{4FA5DD17-25D1-4B24-95B8-C59CD87A8D97}"/>
</file>

<file path=customXml/itemProps3.xml><?xml version="1.0" encoding="utf-8"?>
<ds:datastoreItem xmlns:ds="http://schemas.openxmlformats.org/officeDocument/2006/customXml" ds:itemID="{8F2664A9-7E1A-4851-8D5D-1D90B6111365}"/>
</file>

<file path=customXml/itemProps4.xml><?xml version="1.0" encoding="utf-8"?>
<ds:datastoreItem xmlns:ds="http://schemas.openxmlformats.org/officeDocument/2006/customXml" ds:itemID="{E336AD2B-98A5-44CD-A1F7-968AD8F0CA1E}"/>
</file>

<file path=docProps/app.xml><?xml version="1.0" encoding="utf-8"?>
<Properties xmlns="http://schemas.openxmlformats.org/officeDocument/2006/extended-properties" xmlns:vt="http://schemas.openxmlformats.org/officeDocument/2006/docPropsVTypes">
  <TotalTime>13</TotalTime>
  <Words>210</Words>
  <Application>Microsoft Office PowerPoint</Application>
  <PresentationFormat>Widescreen</PresentationFormat>
  <Paragraphs>13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Poppins</vt:lpstr>
      <vt:lpstr>Poppins SemiBold</vt:lpstr>
      <vt:lpstr>Segoe UI</vt:lpstr>
      <vt:lpstr>Office Theme</vt:lpstr>
      <vt:lpstr>City of Scottsdale Website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Brendan Murphy</dc:creator>
  <cp:lastModifiedBy>Brendan Murphy</cp:lastModifiedBy>
  <cp:revision>2</cp:revision>
  <dcterms:created xsi:type="dcterms:W3CDTF">2025-12-09T00:56:59Z</dcterms:created>
  <dcterms:modified xsi:type="dcterms:W3CDTF">2025-12-09T01:10:41Z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