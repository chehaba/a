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C95D_48074579.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8"/>
  </p:notesMasterIdLst>
  <p:sldIdLst>
    <p:sldId id="2147469662" r:id="rId6"/>
    <p:sldId id="21474696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34CAD1-CB3F-48DB-20AF-8598F36175EF}" name="Ashley Kennedy" initials="AK" userId="S::akennedy@affirma.com::59c9f254-7a9c-4ea9-82e6-3cb7b13ee59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E1A0AC-799D-ADE5-815A-ADCDB738B847}" v="2" dt="2025-03-28T15:18:11.6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42" d="100"/>
          <a:sy n="142" d="100"/>
        </p:scale>
        <p:origin x="138"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30E1A0AC-799D-ADE5-815A-ADCDB738B847}"/>
    <pc:docChg chg="addSld sldOrd">
      <pc:chgData name="Brendan Murphy" userId="S::bmurphy@affirma.com::e9f923b6-6d89-4d4e-a3b7-d9304b9d44ba" providerId="AD" clId="Web-{30E1A0AC-799D-ADE5-815A-ADCDB738B847}" dt="2025-03-28T15:18:11.623" v="1"/>
      <pc:docMkLst>
        <pc:docMk/>
      </pc:docMkLst>
      <pc:sldChg chg="add ord">
        <pc:chgData name="Brendan Murphy" userId="S::bmurphy@affirma.com::e9f923b6-6d89-4d4e-a3b7-d9304b9d44ba" providerId="AD" clId="Web-{30E1A0AC-799D-ADE5-815A-ADCDB738B847}" dt="2025-03-28T15:18:11.623" v="1"/>
        <pc:sldMkLst>
          <pc:docMk/>
          <pc:sldMk cId="2138765080" sldId="2147469662"/>
        </pc:sldMkLst>
      </pc:sldChg>
      <pc:sldMasterChg chg="addSldLayout">
        <pc:chgData name="Brendan Murphy" userId="S::bmurphy@affirma.com::e9f923b6-6d89-4d4e-a3b7-d9304b9d44ba" providerId="AD" clId="Web-{30E1A0AC-799D-ADE5-815A-ADCDB738B847}" dt="2025-03-28T15:18:08.373" v="0"/>
        <pc:sldMasterMkLst>
          <pc:docMk/>
          <pc:sldMasterMk cId="267356182" sldId="2147483648"/>
        </pc:sldMasterMkLst>
        <pc:sldLayoutChg chg="add">
          <pc:chgData name="Brendan Murphy" userId="S::bmurphy@affirma.com::e9f923b6-6d89-4d4e-a3b7-d9304b9d44ba" providerId="AD" clId="Web-{30E1A0AC-799D-ADE5-815A-ADCDB738B847}" dt="2025-03-28T15:18:08.373" v="0"/>
          <pc:sldLayoutMkLst>
            <pc:docMk/>
            <pc:sldMasterMk cId="267356182" sldId="2147483648"/>
            <pc:sldLayoutMk cId="2728979823" sldId="2147483660"/>
          </pc:sldLayoutMkLst>
        </pc:sldLayoutChg>
      </pc:sldMasterChg>
    </pc:docChg>
  </pc:docChgLst>
</pc:chgInfo>
</file>

<file path=ppt/comments/modernComment_7FFFC95D_48074579.xml><?xml version="1.0" encoding="utf-8"?>
<p188:cmLst xmlns:a="http://schemas.openxmlformats.org/drawingml/2006/main" xmlns:r="http://schemas.openxmlformats.org/officeDocument/2006/relationships" xmlns:p188="http://schemas.microsoft.com/office/powerpoint/2018/8/main">
  <p188:cm id="{3F127948-847D-4942-8E37-30B6D344CEB5}" authorId="{F534CAD1-CB3F-48DB-20AF-8598F36175EF}" created="2024-03-12T00:00:44.607">
    <pc:sldMkLst xmlns:pc="http://schemas.microsoft.com/office/powerpoint/2013/main/command">
      <pc:docMk/>
      <pc:sldMk cId="1208436089" sldId="2147469661"/>
    </pc:sldMkLst>
    <p188:txBody>
      <a:bodyPr/>
      <a:lstStyle/>
      <a:p>
        <a:r>
          <a:rPr lang="en-US"/>
          <a:t>[@Brendan Murphy] , can you review this case study and approve?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AB779-D592-4054-8D63-5627F79CB16A}" type="datetimeFigureOut">
              <a:rPr lang="en-US" smtClean="0"/>
              <a:t>3/28/2025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4BAEE0-1CB8-457B-A356-A85E5DA80637}" type="slidenum">
              <a:rPr lang="en-US" smtClean="0"/>
              <a:t>‹#›</a:t>
            </a:fld>
            <a:endParaRPr lang="en-US"/>
          </a:p>
        </p:txBody>
      </p:sp>
    </p:spTree>
    <p:extLst>
      <p:ext uri="{BB962C8B-B14F-4D97-AF65-F5344CB8AC3E}">
        <p14:creationId xmlns:p14="http://schemas.microsoft.com/office/powerpoint/2010/main" val="2924381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D8C75-AA68-CEF6-2ED6-D48D197AD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7BFCD-0E5B-9165-5A70-D23867275152}"/>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31CBC1C7-6AD3-F72D-E94B-1A52225167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07299B-A51D-67D4-4472-6E96BB9C8D3C}"/>
              </a:ext>
            </a:extLst>
          </p:cNvPr>
          <p:cNvSpPr>
            <a:spLocks noGrp="1"/>
          </p:cNvSpPr>
          <p:nvPr>
            <p:ph type="sldNum" sz="quarter" idx="10"/>
          </p:nvPr>
        </p:nvSpPr>
        <p:spPr/>
        <p:txBody>
          <a:bodyPr/>
          <a:lstStyle/>
          <a:p>
            <a:fld id="{5EE3F6CF-073A-4B4F-A2B7-08B9C7DBCB96}" type="slidenum">
              <a:rPr lang="en-US" smtClean="0"/>
              <a:t>2</a:t>
            </a:fld>
            <a:endParaRPr lang="en-US"/>
          </a:p>
        </p:txBody>
      </p:sp>
    </p:spTree>
    <p:extLst>
      <p:ext uri="{BB962C8B-B14F-4D97-AF65-F5344CB8AC3E}">
        <p14:creationId xmlns:p14="http://schemas.microsoft.com/office/powerpoint/2010/main" val="1095202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089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DE305-BC72-83A5-C7EC-C7CEE295D3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8A20F4-4936-AF81-1701-881D4CF2A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4C5CBC-E18F-03B8-204B-92E505C0F118}"/>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5" name="Footer Placeholder 4">
            <a:extLst>
              <a:ext uri="{FF2B5EF4-FFF2-40B4-BE49-F238E27FC236}">
                <a16:creationId xmlns:a16="http://schemas.microsoft.com/office/drawing/2014/main" id="{3EDBECB9-9472-D70E-7F16-89F9D0A257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14A14-F1E8-9347-564B-51056C0F7BB1}"/>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583497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EED5-2602-7565-B793-06B314C829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BB86F-3E65-DF37-3D22-3E059D047A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822C5F-DB5A-9FE9-2E8D-B44EC584720F}"/>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5" name="Footer Placeholder 4">
            <a:extLst>
              <a:ext uri="{FF2B5EF4-FFF2-40B4-BE49-F238E27FC236}">
                <a16:creationId xmlns:a16="http://schemas.microsoft.com/office/drawing/2014/main" id="{10A01A4B-7BB8-6B85-A387-096898072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6BADC-726C-03DE-87C0-7C1F9BE55D22}"/>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940785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389E-42C4-080B-EFC4-18E12E49DD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0A4665-9542-1A4E-C122-218922C5A0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07209C-7FB1-28B3-1A30-28171D7F40D2}"/>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5" name="Footer Placeholder 4">
            <a:extLst>
              <a:ext uri="{FF2B5EF4-FFF2-40B4-BE49-F238E27FC236}">
                <a16:creationId xmlns:a16="http://schemas.microsoft.com/office/drawing/2014/main" id="{17DE3A03-E752-4496-6D16-0E760E7C99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1079B0-2ADC-6B3E-4B1E-18EC3416E4DE}"/>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393766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E0490-E8BD-C054-541D-7028180507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4A9834-7B0F-75D5-4CD1-3E226CD209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0123B8-02F4-5715-C089-7DB4B7C672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9D94B7-4445-826A-9339-B46478D53804}"/>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6" name="Footer Placeholder 5">
            <a:extLst>
              <a:ext uri="{FF2B5EF4-FFF2-40B4-BE49-F238E27FC236}">
                <a16:creationId xmlns:a16="http://schemas.microsoft.com/office/drawing/2014/main" id="{84F15875-8098-964A-B25E-0FD7EFB981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C448F5-B5E4-371A-4580-F76094063E06}"/>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3295352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246E-F80D-EDFC-3EE2-F072F19507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2F5969-76C9-2BA4-10E5-63B577B366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1714E3-D948-87AF-9EC1-6BB1A7EC7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36E118-4F95-667D-BE08-BB1FAEA182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58621A-31D9-651D-3E94-D686FDB7E9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981724-B787-059A-90F3-5531FF0D5C89}"/>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8" name="Footer Placeholder 7">
            <a:extLst>
              <a:ext uri="{FF2B5EF4-FFF2-40B4-BE49-F238E27FC236}">
                <a16:creationId xmlns:a16="http://schemas.microsoft.com/office/drawing/2014/main" id="{C4A4F959-2FF9-77D7-3662-EA2EBB602E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8C0FE5-86C0-944A-DEA6-FC7FFCCCD9C6}"/>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4221035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878E-34BB-E156-4487-EB4F2CBB93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5B57EC-8975-55CA-22DB-D94069DC4C05}"/>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4" name="Footer Placeholder 3">
            <a:extLst>
              <a:ext uri="{FF2B5EF4-FFF2-40B4-BE49-F238E27FC236}">
                <a16:creationId xmlns:a16="http://schemas.microsoft.com/office/drawing/2014/main" id="{2F39DA87-69F0-723C-DB11-701C822B97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3E5772-1CE5-50D7-1E6D-CD53934DC487}"/>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4096234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F90AC6-640D-DF2C-A87F-2639C847D7A5}"/>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3" name="Footer Placeholder 2">
            <a:extLst>
              <a:ext uri="{FF2B5EF4-FFF2-40B4-BE49-F238E27FC236}">
                <a16:creationId xmlns:a16="http://schemas.microsoft.com/office/drawing/2014/main" id="{1BD19B1E-30E3-B309-DE0A-8C84E8B846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94D32E-B106-619F-FB13-49819A870136}"/>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326733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A5223-F3AE-6B58-C0D2-06BC8A1A9A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5DC218-5BA7-1EE9-5004-98E757CB7A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D62BAE-B6DC-171A-8222-C43F00A01C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5C54F7-7B38-EB14-C85B-FDE78212352F}"/>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6" name="Footer Placeholder 5">
            <a:extLst>
              <a:ext uri="{FF2B5EF4-FFF2-40B4-BE49-F238E27FC236}">
                <a16:creationId xmlns:a16="http://schemas.microsoft.com/office/drawing/2014/main" id="{F1466D1C-4FA0-CBBC-A3E8-4217D590DF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CC4D1F-49F2-4D28-5651-33EBF4505784}"/>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1571032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2CD36-85E3-6461-44EE-AD53838FA8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907B9D-CDE3-EE13-B834-0A9F0063A0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B6F7CB-98ED-E248-42FB-9194626AA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7BCFBA-9EC7-BCCB-59B8-C4B1608AF6B3}"/>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6" name="Footer Placeholder 5">
            <a:extLst>
              <a:ext uri="{FF2B5EF4-FFF2-40B4-BE49-F238E27FC236}">
                <a16:creationId xmlns:a16="http://schemas.microsoft.com/office/drawing/2014/main" id="{9F821DE1-1922-BC13-C9DA-A8B1299281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03240A-FE23-0F9E-5310-8591615DB027}"/>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1387298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9CB8-2C26-1390-DCCD-2F746772AA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473D9C-2A17-802E-844C-798D27EAAA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F35F00-3E4F-18A4-73B0-2A948F155686}"/>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5" name="Footer Placeholder 4">
            <a:extLst>
              <a:ext uri="{FF2B5EF4-FFF2-40B4-BE49-F238E27FC236}">
                <a16:creationId xmlns:a16="http://schemas.microsoft.com/office/drawing/2014/main" id="{BC614DBC-0634-61AC-6917-17D8889611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690572-CB55-7643-63CD-CE6BBC104A21}"/>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1683712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25D9F0-76FE-CDC3-E33F-75CACE8EDE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53F99C-E5BE-A824-61CE-D3FCF9EAC6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B3BC8-47A9-9534-6F00-42C702292B99}"/>
              </a:ext>
            </a:extLst>
          </p:cNvPr>
          <p:cNvSpPr>
            <a:spLocks noGrp="1"/>
          </p:cNvSpPr>
          <p:nvPr>
            <p:ph type="dt" sz="half" idx="10"/>
          </p:nvPr>
        </p:nvSpPr>
        <p:spPr/>
        <p:txBody>
          <a:bodyPr/>
          <a:lstStyle/>
          <a:p>
            <a:fld id="{A82CEC9C-37B1-41F6-B9CD-04203E2A0DE3}" type="datetimeFigureOut">
              <a:rPr lang="en-US" smtClean="0"/>
              <a:t>3/28/2025</a:t>
            </a:fld>
            <a:endParaRPr lang="en-US"/>
          </a:p>
        </p:txBody>
      </p:sp>
      <p:sp>
        <p:nvSpPr>
          <p:cNvPr id="5" name="Footer Placeholder 4">
            <a:extLst>
              <a:ext uri="{FF2B5EF4-FFF2-40B4-BE49-F238E27FC236}">
                <a16:creationId xmlns:a16="http://schemas.microsoft.com/office/drawing/2014/main" id="{E56BFA7B-9243-A580-D057-EC3A5F049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EE1394-9097-D083-9AB8-96081C16D2EB}"/>
              </a:ext>
            </a:extLst>
          </p:cNvPr>
          <p:cNvSpPr>
            <a:spLocks noGrp="1"/>
          </p:cNvSpPr>
          <p:nvPr>
            <p:ph type="sldNum" sz="quarter" idx="12"/>
          </p:nvPr>
        </p:nvSpPr>
        <p:spPr/>
        <p:txBody>
          <a:bodyPr/>
          <a:lstStyle/>
          <a:p>
            <a:fld id="{AABED876-671A-441C-905D-004CDC43328A}" type="slidenum">
              <a:rPr lang="en-US" smtClean="0"/>
              <a:t>‹#›</a:t>
            </a:fld>
            <a:endParaRPr lang="en-US"/>
          </a:p>
        </p:txBody>
      </p:sp>
    </p:spTree>
    <p:extLst>
      <p:ext uri="{BB962C8B-B14F-4D97-AF65-F5344CB8AC3E}">
        <p14:creationId xmlns:p14="http://schemas.microsoft.com/office/powerpoint/2010/main" val="133910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27289798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7E941F-EE35-24D9-D219-A64DB38E88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FB3046-04E6-F9D9-6BDF-449471E744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B7BFE-AB83-6A9E-D622-1AC06327C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2CEC9C-37B1-41F6-B9CD-04203E2A0DE3}" type="datetimeFigureOut">
              <a:rPr lang="en-US" smtClean="0"/>
              <a:t>3/28/2025</a:t>
            </a:fld>
            <a:endParaRPr lang="en-US"/>
          </a:p>
        </p:txBody>
      </p:sp>
      <p:sp>
        <p:nvSpPr>
          <p:cNvPr id="5" name="Footer Placeholder 4">
            <a:extLst>
              <a:ext uri="{FF2B5EF4-FFF2-40B4-BE49-F238E27FC236}">
                <a16:creationId xmlns:a16="http://schemas.microsoft.com/office/drawing/2014/main" id="{E285DBE6-5481-E5C8-CB01-3F24FDFDD7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0554D8-4DC5-CDDA-410D-FD7AA98189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BED876-671A-441C-905D-004CDC43328A}" type="slidenum">
              <a:rPr lang="en-US" smtClean="0"/>
              <a:t>‹#›</a:t>
            </a:fld>
            <a:endParaRPr lang="en-US"/>
          </a:p>
        </p:txBody>
      </p:sp>
    </p:spTree>
    <p:extLst>
      <p:ext uri="{BB962C8B-B14F-4D97-AF65-F5344CB8AC3E}">
        <p14:creationId xmlns:p14="http://schemas.microsoft.com/office/powerpoint/2010/main" val="267356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C95D_48074579.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805A3-82C0-59B7-7D08-557E6255B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F325A-15E3-16DB-0E37-5E9138E3F1D1}"/>
              </a:ext>
            </a:extLst>
          </p:cNvPr>
          <p:cNvSpPr>
            <a:spLocks noGrp="1"/>
          </p:cNvSpPr>
          <p:nvPr>
            <p:ph type="ctrTitle"/>
          </p:nvPr>
        </p:nvSpPr>
        <p:spPr/>
        <p:txBody>
          <a:bodyPr>
            <a:normAutofit/>
          </a:bodyPr>
          <a:lstStyle/>
          <a:p>
            <a:r>
              <a:rPr lang="en-US" dirty="0">
                <a:latin typeface="Poppins" panose="00000500000000000000" pitchFamily="2" charset="0"/>
                <a:cs typeface="Poppins" panose="00000500000000000000" pitchFamily="2" charset="0"/>
              </a:rPr>
              <a:t>King County Resource Management</a:t>
            </a:r>
          </a:p>
        </p:txBody>
      </p:sp>
      <p:sp>
        <p:nvSpPr>
          <p:cNvPr id="3" name="Rectangle 2">
            <a:extLst>
              <a:ext uri="{FF2B5EF4-FFF2-40B4-BE49-F238E27FC236}">
                <a16:creationId xmlns:a16="http://schemas.microsoft.com/office/drawing/2014/main" id="{CE700EBA-3407-BE1D-8B20-E26B91ACDB83}"/>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8"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rPr>
              <a:t>  </a:t>
            </a:r>
          </a:p>
        </p:txBody>
      </p:sp>
      <p:sp>
        <p:nvSpPr>
          <p:cNvPr id="5" name="Slide Number Placeholder 4">
            <a:extLst>
              <a:ext uri="{FF2B5EF4-FFF2-40B4-BE49-F238E27FC236}">
                <a16:creationId xmlns:a16="http://schemas.microsoft.com/office/drawing/2014/main" id="{03289286-A828-F5FD-3034-74B67DC8556D}"/>
              </a:ext>
            </a:extLst>
          </p:cNvPr>
          <p:cNvSpPr>
            <a:spLocks noGrp="1"/>
          </p:cNvSpPr>
          <p:nvPr>
            <p:ph type="sldNum" sz="quarter" idx="12"/>
          </p:nvPr>
        </p:nvSpPr>
        <p:spPr/>
        <p:txBody>
          <a:bodyPr/>
          <a:lstStyle/>
          <a:p>
            <a:fld id="{056F86DB-78DF-EB43-A6BE-40415A3A0052}" type="slidenum">
              <a:rPr lang="en-US" smtClean="0">
                <a:latin typeface="Poppins" panose="00000500000000000000" pitchFamily="2" charset="0"/>
                <a:cs typeface="Poppins" panose="00000500000000000000" pitchFamily="2" charset="0"/>
              </a:rPr>
              <a:pPr/>
              <a:t>1</a:t>
            </a:fld>
            <a:endParaRPr lang="en-US">
              <a:latin typeface="Poppins" panose="00000500000000000000" pitchFamily="2" charset="0"/>
              <a:cs typeface="Poppins" panose="00000500000000000000" pitchFamily="2" charset="0"/>
            </a:endParaRPr>
          </a:p>
        </p:txBody>
      </p:sp>
      <p:sp>
        <p:nvSpPr>
          <p:cNvPr id="13" name="TextBox 12">
            <a:extLst>
              <a:ext uri="{FF2B5EF4-FFF2-40B4-BE49-F238E27FC236}">
                <a16:creationId xmlns:a16="http://schemas.microsoft.com/office/drawing/2014/main" id="{AAA9248F-21EB-4DB7-5D6A-F55458D2F880}"/>
              </a:ext>
            </a:extLst>
          </p:cNvPr>
          <p:cNvSpPr txBox="1"/>
          <p:nvPr/>
        </p:nvSpPr>
        <p:spPr>
          <a:xfrm>
            <a:off x="3048000" y="3244334"/>
            <a:ext cx="6096000" cy="369332"/>
          </a:xfrm>
          <a:prstGeom prst="rect">
            <a:avLst/>
          </a:prstGeom>
          <a:noFill/>
        </p:spPr>
        <p:txBody>
          <a:bodyPr wrap="square">
            <a:spAutoFit/>
          </a:bodyPr>
          <a:lstStyle/>
          <a:p>
            <a:r>
              <a:rPr lang="en-US" dirty="0"/>
              <a:t> </a:t>
            </a:r>
          </a:p>
        </p:txBody>
      </p:sp>
      <p:sp>
        <p:nvSpPr>
          <p:cNvPr id="4" name="TextBox 3">
            <a:extLst>
              <a:ext uri="{FF2B5EF4-FFF2-40B4-BE49-F238E27FC236}">
                <a16:creationId xmlns:a16="http://schemas.microsoft.com/office/drawing/2014/main" id="{FBFD301F-74C9-8306-124A-8132DA01E239}"/>
              </a:ext>
            </a:extLst>
          </p:cNvPr>
          <p:cNvSpPr txBox="1"/>
          <p:nvPr/>
        </p:nvSpPr>
        <p:spPr>
          <a:xfrm>
            <a:off x="708968" y="1120424"/>
            <a:ext cx="4972843"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dirty="0">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EEC42B0E-ECCE-DB84-72AA-38B5C3BF4996}"/>
              </a:ext>
            </a:extLst>
          </p:cNvPr>
          <p:cNvSpPr txBox="1"/>
          <p:nvPr/>
        </p:nvSpPr>
        <p:spPr>
          <a:xfrm>
            <a:off x="708967" y="2207074"/>
            <a:ext cx="4985484"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dirty="0">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D08064FE-0FE0-A02B-5D02-EA8F9698F64B}"/>
              </a:ext>
            </a:extLst>
          </p:cNvPr>
          <p:cNvSpPr txBox="1"/>
          <p:nvPr/>
        </p:nvSpPr>
        <p:spPr>
          <a:xfrm>
            <a:off x="708967" y="4375166"/>
            <a:ext cx="4972844"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dirty="0">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1C213D7E-0A5A-B87F-AEB7-1713AF29323E}"/>
              </a:ext>
            </a:extLst>
          </p:cNvPr>
          <p:cNvSpPr txBox="1"/>
          <p:nvPr/>
        </p:nvSpPr>
        <p:spPr>
          <a:xfrm>
            <a:off x="708967" y="1414715"/>
            <a:ext cx="9260534" cy="769441"/>
          </a:xfrm>
          <a:prstGeom prst="rect">
            <a:avLst/>
          </a:prstGeom>
          <a:noFill/>
        </p:spPr>
        <p:txBody>
          <a:bodyPr wrap="square">
            <a:spAutoFit/>
          </a:bodyPr>
          <a:lstStyle/>
          <a:p>
            <a:r>
              <a:rPr lang="en-US" sz="1100" dirty="0">
                <a:solidFill>
                  <a:prstClr val="black"/>
                </a:solidFill>
                <a:latin typeface="Segoe UI"/>
              </a:rPr>
              <a:t>King County's Wastewater Treatment Division (WTD) required a comprehensive Resource Management Tool (RMT) to streamline and enhance their operations. The division faced challenges in managing resources efficiently, forecasting, project management, and reporting. The need was for a system built on robust technology that could handle dynamic project requirements, provide detailed forecasting and utilization insights, and support data-driven decision-making processes.</a:t>
            </a:r>
          </a:p>
        </p:txBody>
      </p:sp>
      <p:sp>
        <p:nvSpPr>
          <p:cNvPr id="12" name="TextBox 11">
            <a:extLst>
              <a:ext uri="{FF2B5EF4-FFF2-40B4-BE49-F238E27FC236}">
                <a16:creationId xmlns:a16="http://schemas.microsoft.com/office/drawing/2014/main" id="{F30102B5-4902-9EB0-1098-7763CE3224A4}"/>
              </a:ext>
            </a:extLst>
          </p:cNvPr>
          <p:cNvSpPr txBox="1"/>
          <p:nvPr/>
        </p:nvSpPr>
        <p:spPr>
          <a:xfrm>
            <a:off x="708967" y="2593446"/>
            <a:ext cx="6625283" cy="1785104"/>
          </a:xfrm>
          <a:prstGeom prst="rect">
            <a:avLst/>
          </a:prstGeom>
          <a:noFill/>
        </p:spPr>
        <p:txBody>
          <a:bodyPr wrap="square">
            <a:spAutoFit/>
          </a:bodyPr>
          <a:lstStyle/>
          <a:p>
            <a:pPr algn="l"/>
            <a:r>
              <a:rPr lang="en-US" sz="1100" dirty="0">
                <a:solidFill>
                  <a:prstClr val="black"/>
                </a:solidFill>
                <a:latin typeface="Segoe UI"/>
              </a:rPr>
              <a:t>Affirma, in collaboration with King County WTD, designed and developed the RMT from the ground up, leveraging Microsoft Azure Cloud technology. The development process involved several discovery sessions with WTD's business group to understand their specific needs and requirements. The tool's architecture and design were crafted to provide a scalable and flexible solution that included:</a:t>
            </a:r>
          </a:p>
          <a:p>
            <a:pPr algn="l"/>
            <a:endParaRPr lang="en-US" sz="1100" dirty="0">
              <a:solidFill>
                <a:prstClr val="black"/>
              </a:solidFill>
              <a:latin typeface="Segoe UI"/>
            </a:endParaRPr>
          </a:p>
          <a:p>
            <a:pPr marL="116895" indent="-116895">
              <a:buFont typeface="Arial" panose="020B0604020202020204" pitchFamily="34" charset="0"/>
              <a:buChar char="•"/>
            </a:pPr>
            <a:r>
              <a:rPr lang="en-US" sz="1100" dirty="0">
                <a:solidFill>
                  <a:prstClr val="black"/>
                </a:solidFill>
                <a:latin typeface="Segoe UI"/>
              </a:rPr>
              <a:t>Customized project and resource management features.</a:t>
            </a:r>
          </a:p>
          <a:p>
            <a:pPr marL="116895" indent="-116895">
              <a:buFont typeface="Arial" panose="020B0604020202020204" pitchFamily="34" charset="0"/>
              <a:buChar char="•"/>
            </a:pPr>
            <a:r>
              <a:rPr lang="en-US" sz="1100" dirty="0">
                <a:solidFill>
                  <a:prstClr val="black"/>
                </a:solidFill>
                <a:latin typeface="Segoe UI"/>
              </a:rPr>
              <a:t>Forecasting and utilization modules to help in planning and tracking.</a:t>
            </a:r>
          </a:p>
          <a:p>
            <a:pPr marL="116895" indent="-116895">
              <a:buFont typeface="Arial" panose="020B0604020202020204" pitchFamily="34" charset="0"/>
              <a:buChar char="•"/>
            </a:pPr>
            <a:r>
              <a:rPr lang="en-US" sz="1100" dirty="0">
                <a:solidFill>
                  <a:prstClr val="black"/>
                </a:solidFill>
                <a:latin typeface="Segoe UI"/>
              </a:rPr>
              <a:t>Detailed reporting and analytics capabilities for better insight into operations.</a:t>
            </a:r>
          </a:p>
          <a:p>
            <a:pPr marL="116895" indent="-116895">
              <a:buFont typeface="Arial" panose="020B0604020202020204" pitchFamily="34" charset="0"/>
              <a:buChar char="•"/>
            </a:pPr>
            <a:r>
              <a:rPr lang="en-US" sz="1100" dirty="0">
                <a:solidFill>
                  <a:prstClr val="black"/>
                </a:solidFill>
                <a:latin typeface="Segoe UI"/>
              </a:rPr>
              <a:t>Integration with existing systems for seamless data flow and consistency.</a:t>
            </a:r>
          </a:p>
          <a:p>
            <a:pPr marL="116895" indent="-116895">
              <a:buFont typeface="Arial" panose="020B0604020202020204" pitchFamily="34" charset="0"/>
              <a:buChar char="•"/>
            </a:pPr>
            <a:r>
              <a:rPr lang="en-US" sz="1100" dirty="0">
                <a:solidFill>
                  <a:prstClr val="black"/>
                </a:solidFill>
                <a:latin typeface="Segoe UI"/>
              </a:rPr>
              <a:t>User-friendly UI/UX designed for ease of use and efficiency.</a:t>
            </a:r>
          </a:p>
        </p:txBody>
      </p:sp>
      <p:sp>
        <p:nvSpPr>
          <p:cNvPr id="14" name="TextBox 13">
            <a:extLst>
              <a:ext uri="{FF2B5EF4-FFF2-40B4-BE49-F238E27FC236}">
                <a16:creationId xmlns:a16="http://schemas.microsoft.com/office/drawing/2014/main" id="{CF88223B-9F70-B7E1-3352-4163690943C6}"/>
              </a:ext>
            </a:extLst>
          </p:cNvPr>
          <p:cNvSpPr txBox="1"/>
          <p:nvPr/>
        </p:nvSpPr>
        <p:spPr>
          <a:xfrm>
            <a:off x="678480" y="4673849"/>
            <a:ext cx="6700220" cy="1754326"/>
          </a:xfrm>
          <a:prstGeom prst="rect">
            <a:avLst/>
          </a:prstGeom>
          <a:noFill/>
        </p:spPr>
        <p:txBody>
          <a:bodyPr wrap="square">
            <a:spAutoFit/>
          </a:bodyPr>
          <a:lstStyle/>
          <a:p>
            <a:pPr algn="l"/>
            <a:r>
              <a:rPr lang="en-US" sz="1200" dirty="0">
                <a:solidFill>
                  <a:prstClr val="black"/>
                </a:solidFill>
                <a:latin typeface="Segoe UI"/>
              </a:rPr>
              <a:t>The deployment of the RMT brought about significant improvements in King County WTD's resource management and operational efficiency. Key outcomes included:</a:t>
            </a:r>
          </a:p>
          <a:p>
            <a:pPr algn="l"/>
            <a:endParaRPr lang="en-US" sz="1200" dirty="0">
              <a:solidFill>
                <a:prstClr val="black"/>
              </a:solidFill>
              <a:latin typeface="Segoe UI"/>
            </a:endParaRPr>
          </a:p>
          <a:p>
            <a:pPr marL="116895" indent="-116895">
              <a:buFont typeface="Arial" panose="020B0604020202020204" pitchFamily="34" charset="0"/>
              <a:buChar char="•"/>
            </a:pPr>
            <a:r>
              <a:rPr lang="en-US" sz="1200" dirty="0">
                <a:solidFill>
                  <a:prstClr val="black"/>
                </a:solidFill>
                <a:latin typeface="Segoe UI"/>
              </a:rPr>
              <a:t>Enhanced forecasting accuracy and project management capabilities.</a:t>
            </a:r>
          </a:p>
          <a:p>
            <a:pPr marL="116895" indent="-116895">
              <a:buFont typeface="Arial" panose="020B0604020202020204" pitchFamily="34" charset="0"/>
              <a:buChar char="•"/>
            </a:pPr>
            <a:r>
              <a:rPr lang="en-US" sz="1200" dirty="0">
                <a:solidFill>
                  <a:prstClr val="black"/>
                </a:solidFill>
                <a:latin typeface="Segoe UI"/>
              </a:rPr>
              <a:t>Improved resource utilization and efficiency, reducing operational costs.</a:t>
            </a:r>
          </a:p>
          <a:p>
            <a:pPr marL="116895" indent="-116895">
              <a:buFont typeface="Arial" panose="020B0604020202020204" pitchFamily="34" charset="0"/>
              <a:buChar char="•"/>
            </a:pPr>
            <a:r>
              <a:rPr lang="en-US" sz="1200" dirty="0">
                <a:solidFill>
                  <a:prstClr val="black"/>
                </a:solidFill>
                <a:latin typeface="Segoe UI"/>
              </a:rPr>
              <a:t>Better decision-making supported by comprehensive reporting and analytics.</a:t>
            </a:r>
          </a:p>
          <a:p>
            <a:pPr marL="116895" indent="-116895">
              <a:buFont typeface="Arial" panose="020B0604020202020204" pitchFamily="34" charset="0"/>
              <a:buChar char="•"/>
            </a:pPr>
            <a:r>
              <a:rPr lang="en-US" sz="1200" dirty="0">
                <a:solidFill>
                  <a:prstClr val="black"/>
                </a:solidFill>
                <a:latin typeface="Segoe UI"/>
              </a:rPr>
              <a:t>Increased user adoption and satisfaction due to the intuitive design and usability of the tool.</a:t>
            </a:r>
          </a:p>
          <a:p>
            <a:pPr marL="116895" indent="-116895">
              <a:buFont typeface="Arial" panose="020B0604020202020204" pitchFamily="34" charset="0"/>
              <a:buChar char="•"/>
            </a:pPr>
            <a:r>
              <a:rPr lang="en-US" sz="1200" dirty="0">
                <a:solidFill>
                  <a:prstClr val="black"/>
                </a:solidFill>
                <a:latin typeface="Segoe UI"/>
              </a:rPr>
              <a:t>Successful handling of complex business rules and requirements, demonstrating the tool's flexibility and scalability.</a:t>
            </a:r>
          </a:p>
        </p:txBody>
      </p:sp>
      <p:pic>
        <p:nvPicPr>
          <p:cNvPr id="15" name="Picture 2" descr="https://upload.wikimedia.org/wikipedia/en/thumb/4/4c/Logo_of_King_County%2C_Washington.svg/800px-Logo_of_King_County%2C_Washington.svg.png">
            <a:extLst>
              <a:ext uri="{FF2B5EF4-FFF2-40B4-BE49-F238E27FC236}">
                <a16:creationId xmlns:a16="http://schemas.microsoft.com/office/drawing/2014/main" id="{AA27C681-6BC5-C110-8AC1-BE58ADFA86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48764" y="963888"/>
            <a:ext cx="1386659" cy="98106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A screenshot of a computer&#10;&#10;Description automatically generated">
            <a:extLst>
              <a:ext uri="{FF2B5EF4-FFF2-40B4-BE49-F238E27FC236}">
                <a16:creationId xmlns:a16="http://schemas.microsoft.com/office/drawing/2014/main" id="{DFE7E188-3CEA-20CB-9DA0-46E4FE1233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0191" y="2305046"/>
            <a:ext cx="4159546" cy="212671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screenshot of a computer&#10;&#10;Description automatically generated">
            <a:extLst>
              <a:ext uri="{FF2B5EF4-FFF2-40B4-BE49-F238E27FC236}">
                <a16:creationId xmlns:a16="http://schemas.microsoft.com/office/drawing/2014/main" id="{C46C7397-505F-7594-F402-33BEA86FBF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5378" y="4675750"/>
            <a:ext cx="4189172" cy="1628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7650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543279-B9BD-4685-8CF9-299075CC2D0E}"/>
              </a:ext>
            </a:extLst>
          </p:cNvPr>
          <p:cNvSpPr/>
          <p:nvPr/>
        </p:nvSpPr>
        <p:spPr>
          <a:xfrm>
            <a:off x="4676259" y="3908058"/>
            <a:ext cx="346982" cy="1171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24583">
              <a:defRPr/>
            </a:pPr>
            <a:endParaRPr lang="en-US" sz="836">
              <a:solidFill>
                <a:prstClr val="white"/>
              </a:solidFill>
              <a:latin typeface="Segoe UI"/>
            </a:endParaRPr>
          </a:p>
        </p:txBody>
      </p:sp>
      <p:sp>
        <p:nvSpPr>
          <p:cNvPr id="8" name="Rectangle 7">
            <a:extLst>
              <a:ext uri="{FF2B5EF4-FFF2-40B4-BE49-F238E27FC236}">
                <a16:creationId xmlns:a16="http://schemas.microsoft.com/office/drawing/2014/main" id="{2F6C91FC-AE5B-B626-9B5C-80E037135A09}"/>
              </a:ext>
            </a:extLst>
          </p:cNvPr>
          <p:cNvSpPr/>
          <p:nvPr/>
        </p:nvSpPr>
        <p:spPr>
          <a:xfrm>
            <a:off x="138730" y="0"/>
            <a:ext cx="12053270" cy="716457"/>
          </a:xfrm>
          <a:prstGeom prst="rect">
            <a:avLst/>
          </a:prstGeom>
          <a:solidFill>
            <a:srgbClr val="063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48"/>
          </a:p>
        </p:txBody>
      </p:sp>
      <p:sp>
        <p:nvSpPr>
          <p:cNvPr id="9" name="Rectangle 8">
            <a:extLst>
              <a:ext uri="{FF2B5EF4-FFF2-40B4-BE49-F238E27FC236}">
                <a16:creationId xmlns:a16="http://schemas.microsoft.com/office/drawing/2014/main" id="{87ED7CDC-A3C6-D850-C47B-D160258E5465}"/>
              </a:ext>
            </a:extLst>
          </p:cNvPr>
          <p:cNvSpPr/>
          <p:nvPr/>
        </p:nvSpPr>
        <p:spPr>
          <a:xfrm flipV="1">
            <a:off x="0" y="0"/>
            <a:ext cx="138730" cy="716457"/>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8096">
              <a:spcAft>
                <a:spcPts val="491"/>
              </a:spcAft>
              <a:defRPr/>
            </a:pPr>
            <a:r>
              <a:rPr lang="en-US" sz="1889">
                <a:solidFill>
                  <a:prstClr val="white"/>
                </a:solidFill>
                <a:latin typeface="Arial" panose="020B0604020202020204"/>
              </a:rPr>
              <a:t>  </a:t>
            </a:r>
          </a:p>
        </p:txBody>
      </p:sp>
      <p:sp>
        <p:nvSpPr>
          <p:cNvPr id="10" name="TextBox 9">
            <a:extLst>
              <a:ext uri="{FF2B5EF4-FFF2-40B4-BE49-F238E27FC236}">
                <a16:creationId xmlns:a16="http://schemas.microsoft.com/office/drawing/2014/main" id="{A4A06AFB-2F0A-2168-2380-EDB3870F430C}"/>
              </a:ext>
            </a:extLst>
          </p:cNvPr>
          <p:cNvSpPr txBox="1"/>
          <p:nvPr/>
        </p:nvSpPr>
        <p:spPr>
          <a:xfrm>
            <a:off x="277460" y="137267"/>
            <a:ext cx="4952125" cy="386131"/>
          </a:xfrm>
          <a:prstGeom prst="rect">
            <a:avLst/>
          </a:prstGeom>
          <a:noFill/>
        </p:spPr>
        <p:txBody>
          <a:bodyPr wrap="square">
            <a:spAutoFit/>
          </a:bodyPr>
          <a:lstStyle/>
          <a:p>
            <a:pPr defTabSz="311719">
              <a:spcBef>
                <a:spcPts val="818"/>
              </a:spcBef>
              <a:spcAft>
                <a:spcPts val="1227"/>
              </a:spcAft>
              <a:defRPr/>
            </a:pPr>
            <a:r>
              <a:rPr lang="en-US" sz="1909" spc="-150" dirty="0">
                <a:solidFill>
                  <a:schemeClr val="bg1"/>
                </a:solidFill>
                <a:latin typeface="Segoe UI" panose="020B0502040204020203" pitchFamily="34" charset="0"/>
                <a:cs typeface="Segoe UI" panose="020B0502040204020203" pitchFamily="34" charset="0"/>
              </a:rPr>
              <a:t>King County Resource Management Tool</a:t>
            </a:r>
          </a:p>
        </p:txBody>
      </p:sp>
      <p:sp>
        <p:nvSpPr>
          <p:cNvPr id="5" name="TextBox 4">
            <a:extLst>
              <a:ext uri="{FF2B5EF4-FFF2-40B4-BE49-F238E27FC236}">
                <a16:creationId xmlns:a16="http://schemas.microsoft.com/office/drawing/2014/main" id="{ACA693A9-BD5A-2907-E6AE-492698871AC1}"/>
              </a:ext>
            </a:extLst>
          </p:cNvPr>
          <p:cNvSpPr txBox="1"/>
          <p:nvPr/>
        </p:nvSpPr>
        <p:spPr>
          <a:xfrm>
            <a:off x="169218" y="853724"/>
            <a:ext cx="4972843"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dirty="0">
                <a:solidFill>
                  <a:srgbClr val="063A79"/>
                </a:solidFill>
                <a:latin typeface="Segoe UI" panose="020B0502040204020203" pitchFamily="34" charset="0"/>
                <a:cs typeface="Segoe UI" panose="020B0502040204020203" pitchFamily="34" charset="0"/>
              </a:rPr>
              <a:t>Business Need </a:t>
            </a:r>
          </a:p>
        </p:txBody>
      </p:sp>
      <p:sp>
        <p:nvSpPr>
          <p:cNvPr id="6" name="TextBox 5">
            <a:extLst>
              <a:ext uri="{FF2B5EF4-FFF2-40B4-BE49-F238E27FC236}">
                <a16:creationId xmlns:a16="http://schemas.microsoft.com/office/drawing/2014/main" id="{0CDEA1C1-06A6-221C-C428-87016F862D52}"/>
              </a:ext>
            </a:extLst>
          </p:cNvPr>
          <p:cNvSpPr txBox="1"/>
          <p:nvPr/>
        </p:nvSpPr>
        <p:spPr>
          <a:xfrm>
            <a:off x="169217" y="1819724"/>
            <a:ext cx="4985484"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dirty="0">
                <a:solidFill>
                  <a:srgbClr val="063A79"/>
                </a:solidFill>
                <a:latin typeface="Segoe UI" panose="020B0502040204020203" pitchFamily="34" charset="0"/>
                <a:cs typeface="Segoe UI" panose="020B0502040204020203" pitchFamily="34" charset="0"/>
              </a:rPr>
              <a:t>What We Did </a:t>
            </a:r>
          </a:p>
        </p:txBody>
      </p:sp>
      <p:sp>
        <p:nvSpPr>
          <p:cNvPr id="11" name="TextBox 10">
            <a:extLst>
              <a:ext uri="{FF2B5EF4-FFF2-40B4-BE49-F238E27FC236}">
                <a16:creationId xmlns:a16="http://schemas.microsoft.com/office/drawing/2014/main" id="{1140870D-C2B0-78A3-C62A-49C6AAD654C2}"/>
              </a:ext>
            </a:extLst>
          </p:cNvPr>
          <p:cNvSpPr txBox="1"/>
          <p:nvPr/>
        </p:nvSpPr>
        <p:spPr>
          <a:xfrm>
            <a:off x="169217" y="4248166"/>
            <a:ext cx="4972844" cy="298683"/>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600" b="1" dirty="0">
                <a:solidFill>
                  <a:srgbClr val="063A79"/>
                </a:solidFill>
                <a:latin typeface="Segoe UI" panose="020B0502040204020203" pitchFamily="34" charset="0"/>
                <a:cs typeface="Segoe UI" panose="020B0502040204020203" pitchFamily="34" charset="0"/>
              </a:rPr>
              <a:t>Results</a:t>
            </a:r>
          </a:p>
        </p:txBody>
      </p:sp>
      <p:sp>
        <p:nvSpPr>
          <p:cNvPr id="3" name="TextBox 2">
            <a:extLst>
              <a:ext uri="{FF2B5EF4-FFF2-40B4-BE49-F238E27FC236}">
                <a16:creationId xmlns:a16="http://schemas.microsoft.com/office/drawing/2014/main" id="{20CC4171-813C-2C23-3DD3-9918F44B9093}"/>
              </a:ext>
            </a:extLst>
          </p:cNvPr>
          <p:cNvSpPr txBox="1"/>
          <p:nvPr/>
        </p:nvSpPr>
        <p:spPr>
          <a:xfrm>
            <a:off x="169216" y="1148015"/>
            <a:ext cx="10312765" cy="600164"/>
          </a:xfrm>
          <a:prstGeom prst="rect">
            <a:avLst/>
          </a:prstGeom>
          <a:noFill/>
        </p:spPr>
        <p:txBody>
          <a:bodyPr wrap="square">
            <a:spAutoFit/>
          </a:bodyPr>
          <a:lstStyle/>
          <a:p>
            <a:r>
              <a:rPr lang="en-US" sz="1100" dirty="0">
                <a:solidFill>
                  <a:prstClr val="black"/>
                </a:solidFill>
                <a:latin typeface="Segoe UI"/>
              </a:rPr>
              <a:t>King County's Wastewater Treatment Division (WTD) required a comprehensive Resource Management Tool (RMT) to streamline and enhance their operations. The division faced challenges in managing resources efficiently, forecasting, project management, and reporting. The need was for a system built on robust technology that could handle dynamic project requirements, provide detailed forecasting and utilization insights, and support data-driven decision-making processes.</a:t>
            </a:r>
          </a:p>
        </p:txBody>
      </p:sp>
      <p:sp>
        <p:nvSpPr>
          <p:cNvPr id="15" name="TextBox 14">
            <a:extLst>
              <a:ext uri="{FF2B5EF4-FFF2-40B4-BE49-F238E27FC236}">
                <a16:creationId xmlns:a16="http://schemas.microsoft.com/office/drawing/2014/main" id="{511FCEC2-2FEA-88E8-76A8-393FD6E00741}"/>
              </a:ext>
            </a:extLst>
          </p:cNvPr>
          <p:cNvSpPr txBox="1"/>
          <p:nvPr/>
        </p:nvSpPr>
        <p:spPr>
          <a:xfrm>
            <a:off x="169217" y="2206096"/>
            <a:ext cx="6489863" cy="1954381"/>
          </a:xfrm>
          <a:prstGeom prst="rect">
            <a:avLst/>
          </a:prstGeom>
          <a:noFill/>
        </p:spPr>
        <p:txBody>
          <a:bodyPr wrap="square">
            <a:spAutoFit/>
          </a:bodyPr>
          <a:lstStyle/>
          <a:p>
            <a:pPr algn="l"/>
            <a:r>
              <a:rPr lang="en-US" sz="1100" dirty="0">
                <a:solidFill>
                  <a:prstClr val="black"/>
                </a:solidFill>
                <a:latin typeface="Segoe UI"/>
              </a:rPr>
              <a:t>Affirma, in collaboration with King County WTD, designed and developed the RMT from the ground up, leveraging Microsoft Azure Cloud technology. The development process involved several discovery sessions with WTD's business group to understand their specific needs and requirements. The tool's architecture and design were crafted to provide a scalable and flexible solution that included:</a:t>
            </a:r>
          </a:p>
          <a:p>
            <a:pPr algn="l"/>
            <a:endParaRPr lang="en-US" sz="1100" dirty="0">
              <a:solidFill>
                <a:prstClr val="black"/>
              </a:solidFill>
              <a:latin typeface="Segoe UI"/>
            </a:endParaRPr>
          </a:p>
          <a:p>
            <a:pPr marL="116895" indent="-116895">
              <a:buFont typeface="Arial" panose="020B0604020202020204" pitchFamily="34" charset="0"/>
              <a:buChar char="•"/>
            </a:pPr>
            <a:r>
              <a:rPr lang="en-US" sz="1100" dirty="0">
                <a:solidFill>
                  <a:prstClr val="black"/>
                </a:solidFill>
                <a:latin typeface="Segoe UI"/>
              </a:rPr>
              <a:t>Customized project and resource management features.</a:t>
            </a:r>
          </a:p>
          <a:p>
            <a:pPr marL="116895" indent="-116895">
              <a:buFont typeface="Arial" panose="020B0604020202020204" pitchFamily="34" charset="0"/>
              <a:buChar char="•"/>
            </a:pPr>
            <a:r>
              <a:rPr lang="en-US" sz="1100" dirty="0">
                <a:solidFill>
                  <a:prstClr val="black"/>
                </a:solidFill>
                <a:latin typeface="Segoe UI"/>
              </a:rPr>
              <a:t>Forecasting and utilization modules to help in planning and tracking.</a:t>
            </a:r>
          </a:p>
          <a:p>
            <a:pPr marL="116895" indent="-116895">
              <a:buFont typeface="Arial" panose="020B0604020202020204" pitchFamily="34" charset="0"/>
              <a:buChar char="•"/>
            </a:pPr>
            <a:r>
              <a:rPr lang="en-US" sz="1100" dirty="0">
                <a:solidFill>
                  <a:prstClr val="black"/>
                </a:solidFill>
                <a:latin typeface="Segoe UI"/>
              </a:rPr>
              <a:t>Detailed reporting and analytics capabilities for better insight into operations.</a:t>
            </a:r>
          </a:p>
          <a:p>
            <a:pPr marL="116895" indent="-116895">
              <a:buFont typeface="Arial" panose="020B0604020202020204" pitchFamily="34" charset="0"/>
              <a:buChar char="•"/>
            </a:pPr>
            <a:r>
              <a:rPr lang="en-US" sz="1100" dirty="0">
                <a:solidFill>
                  <a:prstClr val="black"/>
                </a:solidFill>
                <a:latin typeface="Segoe UI"/>
              </a:rPr>
              <a:t>Integration with existing systems for seamless data flow and consistency.</a:t>
            </a:r>
          </a:p>
          <a:p>
            <a:pPr marL="116895" indent="-116895">
              <a:buFont typeface="Arial" panose="020B0604020202020204" pitchFamily="34" charset="0"/>
              <a:buChar char="•"/>
            </a:pPr>
            <a:r>
              <a:rPr lang="en-US" sz="1100" dirty="0">
                <a:solidFill>
                  <a:prstClr val="black"/>
                </a:solidFill>
                <a:latin typeface="Segoe UI"/>
              </a:rPr>
              <a:t>User-friendly UI/UX designed for ease of use and efficiency.</a:t>
            </a:r>
          </a:p>
        </p:txBody>
      </p:sp>
      <p:sp>
        <p:nvSpPr>
          <p:cNvPr id="17" name="TextBox 16">
            <a:extLst>
              <a:ext uri="{FF2B5EF4-FFF2-40B4-BE49-F238E27FC236}">
                <a16:creationId xmlns:a16="http://schemas.microsoft.com/office/drawing/2014/main" id="{F1A8605A-FCEF-3A25-BD01-4152142D34D4}"/>
              </a:ext>
            </a:extLst>
          </p:cNvPr>
          <p:cNvSpPr txBox="1"/>
          <p:nvPr/>
        </p:nvSpPr>
        <p:spPr>
          <a:xfrm>
            <a:off x="138730" y="4546849"/>
            <a:ext cx="6459376" cy="1938992"/>
          </a:xfrm>
          <a:prstGeom prst="rect">
            <a:avLst/>
          </a:prstGeom>
          <a:noFill/>
        </p:spPr>
        <p:txBody>
          <a:bodyPr wrap="square">
            <a:spAutoFit/>
          </a:bodyPr>
          <a:lstStyle/>
          <a:p>
            <a:pPr algn="l"/>
            <a:r>
              <a:rPr lang="en-US" sz="1200" dirty="0">
                <a:solidFill>
                  <a:prstClr val="black"/>
                </a:solidFill>
                <a:latin typeface="Segoe UI"/>
              </a:rPr>
              <a:t>The deployment of the RMT brought about significant improvements in King County WTD's resource management and operational efficiency. Key outcomes included:</a:t>
            </a:r>
          </a:p>
          <a:p>
            <a:pPr algn="l"/>
            <a:endParaRPr lang="en-US" sz="1200" dirty="0">
              <a:solidFill>
                <a:prstClr val="black"/>
              </a:solidFill>
              <a:latin typeface="Segoe UI"/>
            </a:endParaRPr>
          </a:p>
          <a:p>
            <a:pPr marL="116895" indent="-116895">
              <a:buFont typeface="Arial" panose="020B0604020202020204" pitchFamily="34" charset="0"/>
              <a:buChar char="•"/>
            </a:pPr>
            <a:r>
              <a:rPr lang="en-US" sz="1200" dirty="0">
                <a:solidFill>
                  <a:prstClr val="black"/>
                </a:solidFill>
                <a:latin typeface="Segoe UI"/>
              </a:rPr>
              <a:t>Enhanced forecasting accuracy and project management capabilities.</a:t>
            </a:r>
          </a:p>
          <a:p>
            <a:pPr marL="116895" indent="-116895">
              <a:buFont typeface="Arial" panose="020B0604020202020204" pitchFamily="34" charset="0"/>
              <a:buChar char="•"/>
            </a:pPr>
            <a:r>
              <a:rPr lang="en-US" sz="1200" dirty="0">
                <a:solidFill>
                  <a:prstClr val="black"/>
                </a:solidFill>
                <a:latin typeface="Segoe UI"/>
              </a:rPr>
              <a:t>Improved resource utilization and efficiency, reducing operational costs.</a:t>
            </a:r>
          </a:p>
          <a:p>
            <a:pPr marL="116895" indent="-116895">
              <a:buFont typeface="Arial" panose="020B0604020202020204" pitchFamily="34" charset="0"/>
              <a:buChar char="•"/>
            </a:pPr>
            <a:r>
              <a:rPr lang="en-US" sz="1200" dirty="0">
                <a:solidFill>
                  <a:prstClr val="black"/>
                </a:solidFill>
                <a:latin typeface="Segoe UI"/>
              </a:rPr>
              <a:t>Better decision-making supported by comprehensive reporting and analytics.</a:t>
            </a:r>
          </a:p>
          <a:p>
            <a:pPr marL="116895" indent="-116895">
              <a:buFont typeface="Arial" panose="020B0604020202020204" pitchFamily="34" charset="0"/>
              <a:buChar char="•"/>
            </a:pPr>
            <a:r>
              <a:rPr lang="en-US" sz="1200" dirty="0">
                <a:solidFill>
                  <a:prstClr val="black"/>
                </a:solidFill>
                <a:latin typeface="Segoe UI"/>
              </a:rPr>
              <a:t>Increased user adoption and satisfaction due to the intuitive design and usability of the tool.</a:t>
            </a:r>
          </a:p>
          <a:p>
            <a:pPr marL="116895" indent="-116895">
              <a:buFont typeface="Arial" panose="020B0604020202020204" pitchFamily="34" charset="0"/>
              <a:buChar char="•"/>
            </a:pPr>
            <a:r>
              <a:rPr lang="en-US" sz="1200" dirty="0">
                <a:solidFill>
                  <a:prstClr val="black"/>
                </a:solidFill>
                <a:latin typeface="Segoe UI"/>
              </a:rPr>
              <a:t>Successful handling of complex business rules and requirements, demonstrating the tool's flexibility and scalability.</a:t>
            </a:r>
          </a:p>
        </p:txBody>
      </p:sp>
      <p:pic>
        <p:nvPicPr>
          <p:cNvPr id="18" name="Picture 2" descr="https://upload.wikimedia.org/wikipedia/en/thumb/4/4c/Logo_of_King_County%2C_Washington.svg/800px-Logo_of_King_County%2C_Washington.svg.png">
            <a:extLst>
              <a:ext uri="{FF2B5EF4-FFF2-40B4-BE49-F238E27FC236}">
                <a16:creationId xmlns:a16="http://schemas.microsoft.com/office/drawing/2014/main" id="{A1022CAF-2041-BAE3-5C18-844E39418B1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48764" y="963888"/>
            <a:ext cx="1386659" cy="98106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A screenshot of a computer&#10;&#10;Description automatically generated">
            <a:extLst>
              <a:ext uri="{FF2B5EF4-FFF2-40B4-BE49-F238E27FC236}">
                <a16:creationId xmlns:a16="http://schemas.microsoft.com/office/drawing/2014/main" id="{7D7A5350-600B-C33F-9F91-42E7474D30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9941" y="2192380"/>
            <a:ext cx="4159546" cy="21267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10;&#10;Description automatically generated">
            <a:extLst>
              <a:ext uri="{FF2B5EF4-FFF2-40B4-BE49-F238E27FC236}">
                <a16:creationId xmlns:a16="http://schemas.microsoft.com/office/drawing/2014/main" id="{8A9E20CC-C82C-024C-D1EF-DEDC2FC8A8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49941" y="4546849"/>
            <a:ext cx="4189172" cy="1628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436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Custom Development</Value>
    </Solutions>
    <Industries xmlns="f0ee8362-fa7e-4bc9-ab88-7dcfb17cb19b">
      <Value>Government</Value>
    </Industries>
    <Notes0 xmlns="f0ee8362-fa7e-4bc9-ab88-7dcfb17cb19b" xsi:nil="true"/>
    <PlatTech xmlns="f0ee8362-fa7e-4bc9-ab88-7dcfb17cb19b">
      <Value>.NET</Value>
    </PlatTech>
    <Named_x0020_Account xmlns="f0ee8362-fa7e-4bc9-ab88-7dcfb17cb19b" xsi:nil="true"/>
    <ProjectCompletionDate xmlns="f0ee8362-fa7e-4bc9-ab88-7dcfb17cb19b" xsi:nil="true"/>
    <ApprovedByClient xmlns="f0ee8362-fa7e-4bc9-ab88-7dcfb17cb19b">false</ApprovedByClien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EF5E8A6B-38E6-4A98-8E05-CCFAA52C304A}">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733298A2-ACAE-4571-83AC-E987635A70F5}">
  <ds:schemaRefs>
    <ds:schemaRef ds:uri="http://schemas.microsoft.com/sharepoint/v3/contenttype/forms"/>
  </ds:schemaRefs>
</ds:datastoreItem>
</file>

<file path=customXml/itemProps3.xml><?xml version="1.0" encoding="utf-8"?>
<ds:datastoreItem xmlns:ds="http://schemas.openxmlformats.org/officeDocument/2006/customXml" ds:itemID="{770CE01A-81CB-4AB1-8EB1-465E71A357DA}"/>
</file>

<file path=customXml/itemProps4.xml><?xml version="1.0" encoding="utf-8"?>
<ds:datastoreItem xmlns:ds="http://schemas.openxmlformats.org/officeDocument/2006/customXml" ds:itemID="{8268446B-B570-4B4E-821D-D3DB81F0F9C4}">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4</TotalTime>
  <Words>279</Words>
  <Application>Microsoft Office PowerPoint</Application>
  <PresentationFormat>Widescreen</PresentationFormat>
  <Paragraphs>21</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King County Resource Management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Brendan Murphy</dc:creator>
  <cp:lastModifiedBy>Brendan Murphy</cp:lastModifiedBy>
  <cp:revision>3</cp:revision>
  <dcterms:created xsi:type="dcterms:W3CDTF">2024-03-12T14:28:11Z</dcterms:created>
  <dcterms:modified xsi:type="dcterms:W3CDTF">2025-03-28T15:18:18Z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Platforms">
    <vt:lpwstr>;#.NET;#</vt:lpwstr>
  </property>
</Properties>
</file>