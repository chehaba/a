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10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9922B-4E81-412C-BC4D-FB7B41004CD1}"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EB4A5-168C-4A4F-B053-2654E4E5CE59}" type="slidenum">
              <a:rPr lang="en-US" smtClean="0"/>
              <a:t>‹#›</a:t>
            </a:fld>
            <a:endParaRPr lang="en-US"/>
          </a:p>
        </p:txBody>
      </p:sp>
    </p:spTree>
    <p:extLst>
      <p:ext uri="{BB962C8B-B14F-4D97-AF65-F5344CB8AC3E}">
        <p14:creationId xmlns:p14="http://schemas.microsoft.com/office/powerpoint/2010/main" val="1554551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90044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9645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29792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1663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365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9632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031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34023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08907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68008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35650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35565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37061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767976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0495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003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57930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3/12/2024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18192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297717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19825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4810671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19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839111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4213234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167976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ection Title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97830-EF50-B643-B994-D997482F2707}"/>
              </a:ext>
            </a:extLst>
          </p:cNvPr>
          <p:cNvSpPr/>
          <p:nvPr userDrawn="1"/>
        </p:nvSpPr>
        <p:spPr>
          <a:xfrm>
            <a:off x="6085837" y="0"/>
            <a:ext cx="6106163" cy="6857999"/>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922804" y="3046804"/>
            <a:ext cx="4415756" cy="1911276"/>
          </a:xfrm>
        </p:spPr>
        <p:txBody>
          <a:bodyPr anchor="t">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Title Placeholder</a:t>
            </a:r>
          </a:p>
        </p:txBody>
      </p:sp>
      <p:pic>
        <p:nvPicPr>
          <p:cNvPr id="13" name="Picture 12">
            <a:extLst>
              <a:ext uri="{FF2B5EF4-FFF2-40B4-BE49-F238E27FC236}">
                <a16:creationId xmlns:a16="http://schemas.microsoft.com/office/drawing/2014/main" id="{EA06EB43-50DE-5C43-AAC6-9C2DB54E885C}"/>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7949" t="2727" r="40534" b="23812"/>
          <a:stretch/>
        </p:blipFill>
        <p:spPr>
          <a:xfrm rot="5400000">
            <a:off x="7580032" y="2995634"/>
            <a:ext cx="3127936" cy="6096000"/>
          </a:xfrm>
          <a:prstGeom prst="rect">
            <a:avLst/>
          </a:prstGeom>
        </p:spPr>
      </p:pic>
      <p:sp>
        <p:nvSpPr>
          <p:cNvPr id="5" name="Text Placeholder 4">
            <a:extLst>
              <a:ext uri="{FF2B5EF4-FFF2-40B4-BE49-F238E27FC236}">
                <a16:creationId xmlns:a16="http://schemas.microsoft.com/office/drawing/2014/main" id="{A7342920-A5B1-934D-ADB8-26E82483F9D4}"/>
              </a:ext>
            </a:extLst>
          </p:cNvPr>
          <p:cNvSpPr>
            <a:spLocks noGrp="1"/>
          </p:cNvSpPr>
          <p:nvPr>
            <p:ph type="body" sz="quarter" idx="10" hasCustomPrompt="1"/>
          </p:nvPr>
        </p:nvSpPr>
        <p:spPr>
          <a:xfrm>
            <a:off x="6941818" y="1945416"/>
            <a:ext cx="4396742" cy="769915"/>
          </a:xfrm>
        </p:spPr>
        <p:txBody>
          <a:bodyPr/>
          <a:lstStyle>
            <a:lvl1pPr marL="0" indent="0">
              <a:buNone/>
              <a:defRPr sz="5600" b="0" i="0" spc="600">
                <a:solidFill>
                  <a:srgbClr val="FFD8A5"/>
                </a:solidFill>
                <a:latin typeface="Arial Narrow" panose="020B0604020202020204" pitchFamily="34" charset="0"/>
                <a:cs typeface="Arial Narrow" panose="020B0604020202020204" pitchFamily="34" charset="0"/>
              </a:defRPr>
            </a:lvl1pPr>
          </a:lstStyle>
          <a:p>
            <a:pPr lvl="0"/>
            <a:r>
              <a:rPr lang="en-US"/>
              <a:t>01</a:t>
            </a:r>
          </a:p>
        </p:txBody>
      </p:sp>
    </p:spTree>
    <p:extLst>
      <p:ext uri="{BB962C8B-B14F-4D97-AF65-F5344CB8AC3E}">
        <p14:creationId xmlns:p14="http://schemas.microsoft.com/office/powerpoint/2010/main" val="392421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3/12/2024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826753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0022" y="1133586"/>
            <a:ext cx="8256293" cy="4295920"/>
          </a:xfrm>
          <a:prstGeom prst="rect">
            <a:avLst/>
          </a:prstGeom>
          <a:noFill/>
        </p:spPr>
        <p:txBody>
          <a:bodyPr wrap="square" rtlCol="0">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117" b="1" i="0" u="none" strike="noStrike" kern="1200" cap="none" spc="0" normalizeH="0" baseline="0" noProof="0">
                <a:ln>
                  <a:noFill/>
                </a:ln>
                <a:solidFill>
                  <a:srgbClr val="0096A9"/>
                </a:solidFill>
                <a:effectLst/>
                <a:uLnTx/>
                <a:uFillTx/>
                <a:latin typeface="Segoe UI"/>
                <a:ea typeface="MS Mincho" panose="02020609040205080304" pitchFamily="49" charset="-128"/>
                <a:cs typeface="Segoe UI Light" panose="020B0502040204020203" pitchFamily="34" charset="0"/>
              </a:rPr>
              <a:t>Business Need</a:t>
            </a:r>
            <a:endParaRPr kumimoji="0" lang="en-US" altLang="ja-JP" sz="2117" b="1" i="0" u="none" strike="noStrike" kern="1200" cap="none" spc="0" normalizeH="0" baseline="0" noProof="0">
              <a:ln>
                <a:noFill/>
              </a:ln>
              <a:solidFill>
                <a:srgbClr val="0096A9"/>
              </a:solidFill>
              <a:effectLst/>
              <a:uLnTx/>
              <a:uFillTx/>
              <a:latin typeface="Segoe UI"/>
              <a:ea typeface="MS Mincho" panose="02020609040205080304" pitchFamily="49" charset="-128"/>
              <a:cs typeface="Segoe UI Light" panose="020B0502040204020203" pitchFamily="34" charset="0"/>
            </a:endParaRP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altLang="ja-JP"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DiversyFund</a:t>
            </a:r>
            <a:r>
              <a:rPr kumimoji="0" lang="en-US" altLang="ja-JP"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a leader in online crowdfunding real estate investments, was looking for assistance tracking lead source properly, mapping fields between their marketing automation platform (Pardot) and their CRM (Salesforce) as well as building reports within Pardot.</a:t>
            </a:r>
          </a:p>
          <a:p>
            <a:pPr marL="0" marR="0" lvl="0" indent="0" algn="l" defTabSz="976845"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prstClr val="black"/>
              </a:solidFill>
              <a:effectLst/>
              <a:uLnTx/>
              <a:uFillTx/>
              <a:latin typeface="Segoe UI" pitchFamily="34" charset="0"/>
              <a:ea typeface="+mn-ea"/>
              <a:cs typeface="Segoe UI" pitchFamily="34" charset="0"/>
            </a:endParaRP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117" b="1" i="0" u="none" strike="noStrike" kern="1200" cap="none" spc="0" normalizeH="0" baseline="0" noProof="0">
                <a:ln>
                  <a:noFill/>
                </a:ln>
                <a:solidFill>
                  <a:srgbClr val="0096A9"/>
                </a:solidFill>
                <a:effectLst/>
                <a:uLnTx/>
                <a:uFillTx/>
                <a:latin typeface="Segoe UI" panose="020B0502040204020203" pitchFamily="34" charset="0"/>
                <a:ea typeface="MS Mincho" panose="02020609040205080304" pitchFamily="49" charset="-128"/>
                <a:cs typeface="Segoe UI" panose="020B0502040204020203" pitchFamily="34" charset="0"/>
              </a:rPr>
              <a:t>What We Did</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Affirma reviewed </a:t>
            </a:r>
            <a:r>
              <a:rPr kumimoji="0" lang="en-US"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DiversyFund’s</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current tracking process and provided a findings and recommendations document to improve their lead source tracking. In addition, Affirma implemented the use of form handlers, created custom UTM Parameter fields in Pardot and Salesforce to track campaign lead source information from various channels. This involved extensive Q/A testing and coordination with IT teams to implement specific code on forms and landing pages. Affirma also created several reports within Pardot and Salesforce including new opportunities, closed-won opportunities and subscribers. </a:t>
            </a:r>
          </a:p>
          <a:p>
            <a:pPr marL="0" marR="0" lvl="0" indent="0" algn="l" defTabSz="976845"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endParaRP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Finally, Affirma created a variety of custom </a:t>
            </a:r>
            <a:r>
              <a:rPr kumimoji="0" lang="en-US"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DiversyFund</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branded email and landing page templates built within Pardot that preserves the “drag and drop” functionality for ease of use. Affirma continues to support </a:t>
            </a:r>
            <a:r>
              <a:rPr kumimoji="0" lang="en-US"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DiversyFund</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with Salesforce and Pardot needs.</a:t>
            </a:r>
          </a:p>
        </p:txBody>
      </p:sp>
      <p:sp>
        <p:nvSpPr>
          <p:cNvPr id="8" name="Title 1"/>
          <p:cNvSpPr txBox="1">
            <a:spLocks/>
          </p:cNvSpPr>
          <p:nvPr/>
        </p:nvSpPr>
        <p:spPr>
          <a:xfrm>
            <a:off x="376254" y="252444"/>
            <a:ext cx="8200060" cy="740283"/>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marL="0" marR="0" lvl="0" indent="0" algn="l" defTabSz="838166" rtl="0" eaLnBrk="1" fontAlgn="auto" latinLnBrk="0" hangingPunct="1">
              <a:lnSpc>
                <a:spcPct val="90000"/>
              </a:lnSpc>
              <a:spcBef>
                <a:spcPct val="0"/>
              </a:spcBef>
              <a:spcAft>
                <a:spcPts val="0"/>
              </a:spcAft>
              <a:buClrTx/>
              <a:buSzTx/>
              <a:buFontTx/>
              <a:buNone/>
              <a:tabLst/>
              <a:defRPr/>
            </a:pPr>
            <a:r>
              <a:rPr kumimoji="0" lang="en-US" sz="3167" b="0" i="0" u="none" strike="noStrike" kern="1200" cap="none" spc="0" normalizeH="0" baseline="0" noProof="0" err="1">
                <a:ln>
                  <a:noFill/>
                </a:ln>
                <a:solidFill>
                  <a:prstClr val="white"/>
                </a:solidFill>
                <a:effectLst/>
                <a:uLnTx/>
                <a:uFillTx/>
                <a:latin typeface="Segoe UI Light"/>
                <a:ea typeface="+mj-ea"/>
                <a:cs typeface="+mj-cs"/>
              </a:rPr>
              <a:t>DiversyFund</a:t>
            </a:r>
            <a:r>
              <a:rPr kumimoji="0" lang="en-US" sz="3167" b="0" i="0" u="none" strike="noStrike" kern="1200" cap="none" spc="0" normalizeH="0" baseline="0" noProof="0">
                <a:ln>
                  <a:noFill/>
                </a:ln>
                <a:solidFill>
                  <a:prstClr val="white"/>
                </a:solidFill>
                <a:effectLst/>
                <a:uLnTx/>
                <a:uFillTx/>
                <a:latin typeface="Segoe UI Light"/>
                <a:ea typeface="+mj-ea"/>
                <a:cs typeface="+mj-cs"/>
              </a:rPr>
              <a:t> – Marketing Support</a:t>
            </a:r>
          </a:p>
          <a:p>
            <a:pPr marL="0" marR="0" lvl="0" indent="0" algn="l" defTabSz="838166" rtl="0" eaLnBrk="1" fontAlgn="auto" latinLnBrk="0" hangingPunct="1">
              <a:lnSpc>
                <a:spcPct val="90000"/>
              </a:lnSpc>
              <a:spcBef>
                <a:spcPct val="0"/>
              </a:spcBef>
              <a:spcAft>
                <a:spcPts val="0"/>
              </a:spcAft>
              <a:buClrTx/>
              <a:buSzTx/>
              <a:buFontTx/>
              <a:buNone/>
              <a:tabLst/>
              <a:defRPr/>
            </a:pPr>
            <a:endParaRPr kumimoji="0" lang="en-US" sz="3529" b="0" i="0" u="none" strike="noStrike" kern="1200" cap="none" spc="219" normalizeH="0" baseline="0" noProof="0">
              <a:ln>
                <a:noFill/>
              </a:ln>
              <a:solidFill>
                <a:prstClr val="white"/>
              </a:solidFill>
              <a:effectLst/>
              <a:uLnTx/>
              <a:uFillTx/>
              <a:latin typeface="Segoe UI Light" panose="020B0502040204020203" pitchFamily="34" charset="0"/>
              <a:ea typeface="+mj-ea"/>
              <a:cs typeface="Segoe UI Light" panose="020B0502040204020203" pitchFamily="34" charset="0"/>
            </a:endParaRPr>
          </a:p>
        </p:txBody>
      </p:sp>
      <p:pic>
        <p:nvPicPr>
          <p:cNvPr id="1028" name="Picture 4" descr="Image result for DiversyFund logo">
            <a:extLst>
              <a:ext uri="{FF2B5EF4-FFF2-40B4-BE49-F238E27FC236}">
                <a16:creationId xmlns:a16="http://schemas.microsoft.com/office/drawing/2014/main" id="{DBB6E98E-38B0-45E4-BC7B-B012585E10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000" b="20436"/>
          <a:stretch/>
        </p:blipFill>
        <p:spPr bwMode="auto">
          <a:xfrm>
            <a:off x="8486289" y="1602642"/>
            <a:ext cx="3095098" cy="17506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2E46501-0D9F-0749-8C73-D7A22558109B}"/>
              </a:ext>
            </a:extLst>
          </p:cNvPr>
          <p:cNvSpPr txBox="1"/>
          <p:nvPr/>
        </p:nvSpPr>
        <p:spPr>
          <a:xfrm>
            <a:off x="3634946" y="5555158"/>
            <a:ext cx="6828147" cy="1246495"/>
          </a:xfrm>
          <a:prstGeom prst="rect">
            <a:avLst/>
          </a:prstGeom>
          <a:noFill/>
        </p:spPr>
        <p:txBody>
          <a:bodyPr wrap="square" rtlCol="0">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412"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The </a:t>
            </a:r>
            <a:r>
              <a:rPr kumimoji="0" lang="en-US"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Affirma</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team exceeded my expectations in the value they brought to our company. They collaborated seamlessly, shared their expertise generously and demonstrated a sense of urgency to meet our needs. They are excellent partners.”</a:t>
            </a:r>
          </a:p>
          <a:p>
            <a:pPr marL="0" marR="0" lvl="0" indent="0" algn="r"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 Vanessa Allen, DiversyFund</a:t>
            </a:r>
          </a:p>
        </p:txBody>
      </p:sp>
    </p:spTree>
    <p:extLst>
      <p:ext uri="{BB962C8B-B14F-4D97-AF65-F5344CB8AC3E}">
        <p14:creationId xmlns:p14="http://schemas.microsoft.com/office/powerpoint/2010/main" val="1424771303"/>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Financial Services</Value>
    </Industries>
    <Notes0 xmlns="f0ee8362-fa7e-4bc9-ab88-7dcfb17cb19b" xsi:nil="true"/>
    <Named_x0020_Account xmlns="f0ee8362-fa7e-4bc9-ab88-7dcfb17cb19b" xsi:nil="true"/>
    <PlatTech xmlns="f0ee8362-fa7e-4bc9-ab88-7dcfb17cb19b">
      <Value>Salesforce Pardot</Value>
      <Value>Salesforce</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1988BF0-6554-463F-BEEB-266491E8F830}"/>
</file>

<file path=customXml/itemProps2.xml><?xml version="1.0" encoding="utf-8"?>
<ds:datastoreItem xmlns:ds="http://schemas.openxmlformats.org/officeDocument/2006/customXml" ds:itemID="{02D12CDC-A476-412A-A8D5-9A88BAD12871}"/>
</file>

<file path=customXml/itemProps3.xml><?xml version="1.0" encoding="utf-8"?>
<ds:datastoreItem xmlns:ds="http://schemas.openxmlformats.org/officeDocument/2006/customXml" ds:itemID="{852DFCED-4784-4CBB-B32A-28662567778D}"/>
</file>

<file path=customXml/itemProps4.xml><?xml version="1.0" encoding="utf-8"?>
<ds:datastoreItem xmlns:ds="http://schemas.openxmlformats.org/officeDocument/2006/customXml" ds:itemID="{9E19902A-06AC-4DCD-9720-CEC536865507}"/>
</file>

<file path=docProps/app.xml><?xml version="1.0" encoding="utf-8"?>
<Properties xmlns="http://schemas.openxmlformats.org/officeDocument/2006/extended-properties" xmlns:vt="http://schemas.openxmlformats.org/officeDocument/2006/docPropsVTypes">
  <TotalTime>0</TotalTime>
  <Words>233</Words>
  <Application>Microsoft Office PowerPoint</Application>
  <PresentationFormat>Widescreen</PresentationFormat>
  <Paragraphs>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Segoe UI</vt:lpstr>
      <vt:lpstr>Segoe UI Light</vt:lpstr>
      <vt:lpstr>Segoe UI Semilight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Murphy</dc:creator>
  <cp:lastModifiedBy>Brendan Murphy</cp:lastModifiedBy>
  <cp:revision>1</cp:revision>
  <dcterms:created xsi:type="dcterms:W3CDTF">2024-03-12T20:53:18Z</dcterms:created>
  <dcterms:modified xsi:type="dcterms:W3CDTF">2024-03-12T20:54:05Z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;#Salesforce;#Salesforce Pardot;#</vt:lpwstr>
  </property>
</Properties>
</file>