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8"/>
  </p:notesMasterIdLst>
  <p:sldIdLst>
    <p:sldId id="2147469677" r:id="rId6"/>
    <p:sldId id="59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58361-B0A4-739D-FFE2-7853BAC99932}" v="9" dt="2025-03-25T17:13:06.331"/>
    <p1510:client id="{49C89B3B-A3C5-CEF6-80CB-FCAB30ADBBE4}" v="7" dt="2025-03-25T20:44:34.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49C89B3B-A3C5-CEF6-80CB-FCAB30ADBBE4}"/>
    <pc:docChg chg="addSld delSld modSld sldOrd">
      <pc:chgData name="Brendan Murphy" userId="S::bmurphy@affirma.com::e9f923b6-6d89-4d4e-a3b7-d9304b9d44ba" providerId="AD" clId="Web-{49C89B3B-A3C5-CEF6-80CB-FCAB30ADBBE4}" dt="2025-03-25T20:44:34.991" v="5"/>
      <pc:docMkLst>
        <pc:docMk/>
      </pc:docMkLst>
      <pc:sldChg chg="addSp delSp modSp">
        <pc:chgData name="Brendan Murphy" userId="S::bmurphy@affirma.com::e9f923b6-6d89-4d4e-a3b7-d9304b9d44ba" providerId="AD" clId="Web-{49C89B3B-A3C5-CEF6-80CB-FCAB30ADBBE4}" dt="2025-03-25T20:44:26.132" v="1"/>
        <pc:sldMkLst>
          <pc:docMk/>
          <pc:sldMk cId="306562662" sldId="597"/>
        </pc:sldMkLst>
        <pc:picChg chg="add del mod">
          <ac:chgData name="Brendan Murphy" userId="S::bmurphy@affirma.com::e9f923b6-6d89-4d4e-a3b7-d9304b9d44ba" providerId="AD" clId="Web-{49C89B3B-A3C5-CEF6-80CB-FCAB30ADBBE4}" dt="2025-03-25T20:44:26.132" v="1"/>
          <ac:picMkLst>
            <pc:docMk/>
            <pc:sldMk cId="306562662" sldId="597"/>
            <ac:picMk id="3" creationId="{423FE5F6-1D30-9673-4EE5-55A4B6523D60}"/>
          </ac:picMkLst>
        </pc:picChg>
      </pc:sldChg>
      <pc:sldChg chg="new del">
        <pc:chgData name="Brendan Murphy" userId="S::bmurphy@affirma.com::e9f923b6-6d89-4d4e-a3b7-d9304b9d44ba" providerId="AD" clId="Web-{49C89B3B-A3C5-CEF6-80CB-FCAB30ADBBE4}" dt="2025-03-25T20:44:33.725" v="4"/>
        <pc:sldMkLst>
          <pc:docMk/>
          <pc:sldMk cId="2170774334" sldId="598"/>
        </pc:sldMkLst>
      </pc:sldChg>
      <pc:sldChg chg="add ord">
        <pc:chgData name="Brendan Murphy" userId="S::bmurphy@affirma.com::e9f923b6-6d89-4d4e-a3b7-d9304b9d44ba" providerId="AD" clId="Web-{49C89B3B-A3C5-CEF6-80CB-FCAB30ADBBE4}" dt="2025-03-25T20:44:34.991" v="5"/>
        <pc:sldMkLst>
          <pc:docMk/>
          <pc:sldMk cId="725359389" sldId="2147469677"/>
        </pc:sldMkLst>
      </pc:sldChg>
      <pc:sldMasterChg chg="addSldLayout">
        <pc:chgData name="Brendan Murphy" userId="S::bmurphy@affirma.com::e9f923b6-6d89-4d4e-a3b7-d9304b9d44ba" providerId="AD" clId="Web-{49C89B3B-A3C5-CEF6-80CB-FCAB30ADBBE4}" dt="2025-03-25T20:44:31.366" v="3"/>
        <pc:sldMasterMkLst>
          <pc:docMk/>
          <pc:sldMasterMk cId="1451930912" sldId="2147483660"/>
        </pc:sldMasterMkLst>
        <pc:sldLayoutChg chg="add">
          <pc:chgData name="Brendan Murphy" userId="S::bmurphy@affirma.com::e9f923b6-6d89-4d4e-a3b7-d9304b9d44ba" providerId="AD" clId="Web-{49C89B3B-A3C5-CEF6-80CB-FCAB30ADBBE4}" dt="2025-03-25T20:44:31.366" v="3"/>
          <pc:sldLayoutMkLst>
            <pc:docMk/>
            <pc:sldMasterMk cId="1451930912" sldId="2147483660"/>
            <pc:sldLayoutMk cId="765349245" sldId="2147483685"/>
          </pc:sldLayoutMkLst>
        </pc:sldLayoutChg>
      </pc:sldMasterChg>
    </pc:docChg>
  </pc:docChgLst>
  <pc:docChgLst>
    <pc:chgData name="Brendan Murphy" userId="S::bmurphy@affirma.com::e9f923b6-6d89-4d4e-a3b7-d9304b9d44ba" providerId="AD" clId="Web-{0D458361-B0A4-739D-FFE2-7853BAC99932}"/>
    <pc:docChg chg="modSld">
      <pc:chgData name="Brendan Murphy" userId="S::bmurphy@affirma.com::e9f923b6-6d89-4d4e-a3b7-d9304b9d44ba" providerId="AD" clId="Web-{0D458361-B0A4-739D-FFE2-7853BAC99932}" dt="2025-03-25T17:13:06.253" v="7" actId="14100"/>
      <pc:docMkLst>
        <pc:docMk/>
      </pc:docMkLst>
      <pc:sldChg chg="modSp">
        <pc:chgData name="Brendan Murphy" userId="S::bmurphy@affirma.com::e9f923b6-6d89-4d4e-a3b7-d9304b9d44ba" providerId="AD" clId="Web-{0D458361-B0A4-739D-FFE2-7853BAC99932}" dt="2025-03-25T17:13:06.253" v="7" actId="14100"/>
        <pc:sldMkLst>
          <pc:docMk/>
          <pc:sldMk cId="306562662" sldId="597"/>
        </pc:sldMkLst>
        <pc:spChg chg="mod">
          <ac:chgData name="Brendan Murphy" userId="S::bmurphy@affirma.com::e9f923b6-6d89-4d4e-a3b7-d9304b9d44ba" providerId="AD" clId="Web-{0D458361-B0A4-739D-FFE2-7853BAC99932}" dt="2025-03-25T17:13:06.253" v="7" actId="14100"/>
          <ac:spMkLst>
            <pc:docMk/>
            <pc:sldMk cId="306562662" sldId="597"/>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A92FD-8D74-4B38-84FD-50D9EDB99937}" type="datetimeFigureOut">
              <a:rPr lang="en-US" smtClean="0"/>
              <a:t>3/25/2025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984D2E-3CD4-496F-821B-C928D801AA49}" type="slidenum">
              <a:rPr lang="en-US" smtClean="0"/>
              <a:t>‹#›</a:t>
            </a:fld>
            <a:endParaRPr lang="en-US"/>
          </a:p>
        </p:txBody>
      </p:sp>
    </p:spTree>
    <p:extLst>
      <p:ext uri="{BB962C8B-B14F-4D97-AF65-F5344CB8AC3E}">
        <p14:creationId xmlns:p14="http://schemas.microsoft.com/office/powerpoint/2010/main" val="3141834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04D85-4440-6AB6-DFF6-E07BAABC0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F21B5-4A9E-D42D-9291-168B18951B35}"/>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ED3C1FA0-2100-D833-E923-0A3A7B37B6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BBDC4E-ED68-3D18-D43A-DD362CBF2724}"/>
              </a:ext>
            </a:extLst>
          </p:cNvPr>
          <p:cNvSpPr>
            <a:spLocks noGrp="1"/>
          </p:cNvSpPr>
          <p:nvPr>
            <p:ph type="sldNum" sz="quarter" idx="10"/>
          </p:nvPr>
        </p:nvSpPr>
        <p:spPr/>
        <p:txBody>
          <a:bodyPr/>
          <a:lstStyle/>
          <a:p>
            <a:fld id="{5EE3F6CF-073A-4B4F-A2B7-08B9C7DBCB96}" type="slidenum">
              <a:rPr lang="en-US" smtClean="0"/>
              <a:t>3</a:t>
            </a:fld>
            <a:endParaRPr lang="en-US"/>
          </a:p>
        </p:txBody>
      </p:sp>
    </p:spTree>
    <p:extLst>
      <p:ext uri="{BB962C8B-B14F-4D97-AF65-F5344CB8AC3E}">
        <p14:creationId xmlns:p14="http://schemas.microsoft.com/office/powerpoint/2010/main" val="3646940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74351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52DFE1C-B3E2-49A9-8DCF-60BEE721173A}"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448169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CD32A81-FF11-4256-95E4-0BDCE63D8431}"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67748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D412660-31A3-4918-93C7-4330309AD5DD}"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828729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5D34734-34D7-44B2-811C-EA4F9450AF6C}"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95671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180F145-AFF1-43C9-A590-7367F344FD38}"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773873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2129614-ECFB-4E5D-953A-BE8EDF0C7FB3}"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dirty="0"/>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4140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94638B1-1463-4880-B55E-5C0714A1CDC5}"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45987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BCC260F-8F85-459A-8A4F-5F7790A7865D}"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921376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A31B4BD8-4335-4B5F-BCF5-814D7419DA87}" type="datetime1">
              <a:rPr lang="en-US" smtClean="0"/>
              <a:t>3/25/2025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894932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EA733B26-5DB0-481D-92F8-D1A96533ED97}" type="datetime1">
              <a:rPr lang="en-US" smtClean="0"/>
              <a:t>3/25/2025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748701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02F1310-444C-45F1-BC3E-AC1A4DCB200F}"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704548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55D8729-F62F-49C2-8D41-019BB7BED1C6}"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958049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2231A28-ED5C-487E-899B-0DDAE82F6BDF}"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271055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A975D60-5E3D-4377-BEFE-7B76B7C16A75}"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77018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DBA89476-6D8C-4404-9113-62B85CC9DB8E}" type="datetime1">
              <a:rPr lang="en-US" smtClean="0"/>
              <a:t>3/25/2025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dirty="0"/>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0965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7E47498A-9861-4D7C-9E9F-4C27266C95A2}" type="datetime1">
              <a:rPr lang="en-US" smtClean="0"/>
              <a:t>3/25/2025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92750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991AA31E-7230-4ED5-9257-C035A27B1C41}" type="datetime1">
              <a:rPr lang="en-US" smtClean="0"/>
              <a:t>3/25/2025</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926475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9AA2EEB5-849F-44DB-9B15-9741A7B3E3CB}" type="datetime1">
              <a:rPr lang="en-US" smtClean="0"/>
              <a:t>3/25/2025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3132702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endParaRPr lang="en-US" dirty="0"/>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0B3AB56-C3EA-49D2-957C-2166E28BE875}" type="datetime1">
              <a:rPr lang="en-US" smtClean="0"/>
              <a:t>3/25/2025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366937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0828E09A-EEED-4EC1-A04A-0CEBE0DB27D9}" type="datetime1">
              <a:rPr lang="en-US" smtClean="0"/>
              <a:t>3/25/2025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1257629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7A3C2A01-8525-4537-952B-8ADCBFFFDBC0}" type="datetime1">
              <a:rPr lang="en-US" smtClean="0"/>
              <a:t>3/25/2025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61616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DFB311B-08FE-4792-BFAA-7938FBF55972}" type="datetime1">
              <a:rPr lang="en-US" smtClean="0"/>
              <a:t>3/25/2025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46632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35706D34-DB1E-46CC-A326-C968D580C8F4}" type="datetime1">
              <a:rPr lang="en-US" smtClean="0"/>
              <a:t>3/25/2025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670721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dirty="0"/>
              <a:t>Click to edit Master text styles</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2788648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765349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05A54E1C-E2AD-46F4-BC0D-E4D125478D83}" type="datetime1">
              <a:rPr lang="en-US" smtClean="0"/>
              <a:t>3/25/2025</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1451930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5.xml"/><Relationship Id="rId5" Type="http://schemas.openxmlformats.org/officeDocument/2006/relationships/image" Target="../media/image13.jpe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13.jpe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EA6CF-C017-C16A-335F-F48DA570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8D247-1028-88A7-636F-6C4CB993D5C2}"/>
              </a:ext>
            </a:extLst>
          </p:cNvPr>
          <p:cNvSpPr>
            <a:spLocks noGrp="1"/>
          </p:cNvSpPr>
          <p:nvPr>
            <p:ph type="ctrTitle"/>
          </p:nvPr>
        </p:nvSpPr>
        <p:spPr/>
        <p:txBody>
          <a:bodyPr>
            <a:normAutofit/>
          </a:bodyPr>
          <a:lstStyle/>
          <a:p>
            <a:r>
              <a:rPr lang="en-US" dirty="0">
                <a:latin typeface="Poppins" panose="00000500000000000000" pitchFamily="2" charset="0"/>
                <a:cs typeface="Poppins" panose="00000500000000000000" pitchFamily="2" charset="0"/>
              </a:rPr>
              <a:t>Ossur -  Medical Record Product</a:t>
            </a:r>
          </a:p>
        </p:txBody>
      </p:sp>
      <p:sp>
        <p:nvSpPr>
          <p:cNvPr id="3" name="Rectangle 2">
            <a:extLst>
              <a:ext uri="{FF2B5EF4-FFF2-40B4-BE49-F238E27FC236}">
                <a16:creationId xmlns:a16="http://schemas.microsoft.com/office/drawing/2014/main" id="{B4CDA2DA-7F7D-E102-5C59-5989E93375FF}"/>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8" b="0" i="0" u="none" strike="noStrike" kern="1200" cap="none" spc="0" normalizeH="0" baseline="0" noProof="0">
                <a:ln>
                  <a:noFill/>
                </a:ln>
                <a:solidFill>
                  <a:prstClr val="white"/>
                </a:solidFill>
                <a:effectLst/>
                <a:uLnTx/>
                <a:uFillTx/>
                <a:latin typeface="Arial" panose="020B0604020202020204"/>
                <a:ea typeface="+mn-ea"/>
                <a:cs typeface="+mn-cs"/>
              </a:rPr>
              <a:t>  </a:t>
            </a:r>
          </a:p>
        </p:txBody>
      </p:sp>
      <p:sp>
        <p:nvSpPr>
          <p:cNvPr id="5" name="Slide Number Placeholder 4">
            <a:extLst>
              <a:ext uri="{FF2B5EF4-FFF2-40B4-BE49-F238E27FC236}">
                <a16:creationId xmlns:a16="http://schemas.microsoft.com/office/drawing/2014/main" id="{4796138B-13C9-4613-8876-8A2053198038}"/>
              </a:ext>
            </a:extLst>
          </p:cNvPr>
          <p:cNvSpPr>
            <a:spLocks noGrp="1"/>
          </p:cNvSpPr>
          <p:nvPr>
            <p:ph type="sldNum" sz="quarter" idx="12"/>
          </p:nvPr>
        </p:nvSpPr>
        <p:spPr/>
        <p:txBody>
          <a:bodyPr/>
          <a:lstStyle/>
          <a:p>
            <a:fld id="{056F86DB-78DF-EB43-A6BE-40415A3A0052}" type="slidenum">
              <a:rPr lang="en-US" smtClean="0"/>
              <a:pPr/>
              <a:t>1</a:t>
            </a:fld>
            <a:endParaRPr lang="en-US"/>
          </a:p>
        </p:txBody>
      </p:sp>
      <p:sp>
        <p:nvSpPr>
          <p:cNvPr id="6" name="TextBox 5">
            <a:extLst>
              <a:ext uri="{FF2B5EF4-FFF2-40B4-BE49-F238E27FC236}">
                <a16:creationId xmlns:a16="http://schemas.microsoft.com/office/drawing/2014/main" id="{7C858F63-8142-F0F8-E735-D70A4E76B14B}"/>
              </a:ext>
            </a:extLst>
          </p:cNvPr>
          <p:cNvSpPr txBox="1"/>
          <p:nvPr/>
        </p:nvSpPr>
        <p:spPr>
          <a:xfrm>
            <a:off x="334354" y="1474039"/>
            <a:ext cx="4966948" cy="4530599"/>
          </a:xfrm>
          <a:prstGeom prst="rect">
            <a:avLst/>
          </a:prstGeom>
          <a:noFill/>
        </p:spPr>
        <p:txBody>
          <a:bodyPr wrap="square" rtlCol="0">
            <a:spAutoFit/>
          </a:bodyPr>
          <a:lstStyle/>
          <a:p>
            <a:pPr marL="0" indent="0">
              <a:buNone/>
            </a:pPr>
            <a:r>
              <a:rPr lang="en-US" sz="2800" b="1" dirty="0">
                <a:solidFill>
                  <a:srgbClr val="008AD9"/>
                </a:solidFill>
                <a:latin typeface="Poppins" panose="00000500000000000000" pitchFamily="2" charset="0"/>
                <a:cs typeface="Poppins" panose="00000500000000000000" pitchFamily="2" charset="0"/>
              </a:rPr>
              <a:t>Business Need</a:t>
            </a:r>
          </a:p>
          <a:p>
            <a:pPr defTabSz="976845"/>
            <a:r>
              <a:rPr lang="en-US" sz="1167" dirty="0">
                <a:solidFill>
                  <a:prstClr val="black"/>
                </a:solidFill>
                <a:latin typeface="Poppins" panose="00000500000000000000" pitchFamily="2" charset="0"/>
                <a:cs typeface="Poppins" panose="00000500000000000000" pitchFamily="2" charset="0"/>
              </a:rPr>
              <a:t>Ossur Americas, a global leader in orthopedics, had a critical medical billing application that was failing for key customers. The current engaged team could not solve the complex business problems and there was no continuity for how to support and maintain the application going forward.</a:t>
            </a:r>
          </a:p>
          <a:p>
            <a:pPr defTabSz="976845">
              <a:lnSpc>
                <a:spcPct val="120000"/>
              </a:lnSpc>
            </a:pPr>
            <a:endParaRPr lang="en-US" sz="1167" dirty="0">
              <a:solidFill>
                <a:prstClr val="black"/>
              </a:solidFill>
              <a:latin typeface="Poppins" panose="00000500000000000000" pitchFamily="2" charset="0"/>
              <a:cs typeface="Poppins" panose="00000500000000000000" pitchFamily="2" charset="0"/>
            </a:endParaRPr>
          </a:p>
          <a:p>
            <a:pPr marL="0" indent="0">
              <a:buNone/>
            </a:pPr>
            <a:r>
              <a:rPr lang="en-US" sz="2400" b="1" dirty="0">
                <a:solidFill>
                  <a:srgbClr val="008AD9"/>
                </a:solidFill>
                <a:latin typeface="Poppins" panose="00000500000000000000" pitchFamily="2" charset="0"/>
                <a:cs typeface="Poppins" panose="00000500000000000000" pitchFamily="2" charset="0"/>
              </a:rPr>
              <a:t>What We Did</a:t>
            </a:r>
          </a:p>
          <a:p>
            <a:pPr defTabSz="976845"/>
            <a:r>
              <a:rPr lang="en-US" sz="1167" dirty="0">
                <a:solidFill>
                  <a:prstClr val="black"/>
                </a:solidFill>
                <a:latin typeface="Poppins" panose="00000500000000000000" pitchFamily="2" charset="0"/>
                <a:cs typeface="Poppins" panose="00000500000000000000" pitchFamily="2" charset="0"/>
              </a:rPr>
              <a:t>We rebuilt the failing medical billing application that was critical to the business. We evaluated their most critical business problems, bringing in expertise in Business, Finance, and Technology to reconcile complex billing algorithms. We assessed the overall architecture and provided findings and recommendations to stabilize the system. We also provided a comprehensive plan for maintaining the application going forward.</a:t>
            </a:r>
          </a:p>
          <a:p>
            <a:pPr defTabSz="976845"/>
            <a:endParaRPr lang="en-US" sz="1167" b="1" dirty="0">
              <a:solidFill>
                <a:prstClr val="black"/>
              </a:solidFill>
              <a:latin typeface="Poppins" panose="00000500000000000000" pitchFamily="2" charset="0"/>
              <a:cs typeface="Poppins" panose="00000500000000000000" pitchFamily="2" charset="0"/>
            </a:endParaRPr>
          </a:p>
          <a:p>
            <a:pPr marL="0" indent="0">
              <a:buNone/>
            </a:pPr>
            <a:r>
              <a:rPr lang="en-US" sz="2400" b="1" dirty="0">
                <a:solidFill>
                  <a:srgbClr val="008AD9"/>
                </a:solidFill>
                <a:latin typeface="Poppins" panose="00000500000000000000" pitchFamily="2" charset="0"/>
                <a:cs typeface="Poppins" panose="00000500000000000000" pitchFamily="2" charset="0"/>
              </a:rPr>
              <a:t>Results</a:t>
            </a:r>
          </a:p>
          <a:p>
            <a:pPr defTabSz="976845"/>
            <a:r>
              <a:rPr lang="en-US" sz="1167" dirty="0">
                <a:solidFill>
                  <a:prstClr val="black"/>
                </a:solidFill>
                <a:latin typeface="Poppins" panose="00000500000000000000" pitchFamily="2" charset="0"/>
                <a:cs typeface="Poppins" panose="00000500000000000000" pitchFamily="2" charset="0"/>
              </a:rPr>
              <a:t>We delivered an enterprise scale, market viable medical billing system that is exceeding customer expectations. The system is stable and maintained, monitored and improved by our team.  </a:t>
            </a:r>
          </a:p>
        </p:txBody>
      </p:sp>
      <p:grpSp>
        <p:nvGrpSpPr>
          <p:cNvPr id="7" name="Group 6">
            <a:extLst>
              <a:ext uri="{FF2B5EF4-FFF2-40B4-BE49-F238E27FC236}">
                <a16:creationId xmlns:a16="http://schemas.microsoft.com/office/drawing/2014/main" id="{335FBA54-BAE6-8C4F-3F7E-52A3CF9BAF70}"/>
              </a:ext>
            </a:extLst>
          </p:cNvPr>
          <p:cNvGrpSpPr/>
          <p:nvPr/>
        </p:nvGrpSpPr>
        <p:grpSpPr>
          <a:xfrm>
            <a:off x="5677019" y="2332389"/>
            <a:ext cx="4966948" cy="3415494"/>
            <a:chOff x="4109469" y="2855176"/>
            <a:chExt cx="5629207" cy="3870893"/>
          </a:xfrm>
        </p:grpSpPr>
        <p:pic>
          <p:nvPicPr>
            <p:cNvPr id="9" name="Picture 8">
              <a:extLst>
                <a:ext uri="{FF2B5EF4-FFF2-40B4-BE49-F238E27FC236}">
                  <a16:creationId xmlns:a16="http://schemas.microsoft.com/office/drawing/2014/main" id="{2CA3670B-9EA0-C9B2-FCE9-2F95C719E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9469" y="2855176"/>
              <a:ext cx="5629207" cy="3870893"/>
            </a:xfrm>
            <a:prstGeom prst="rect">
              <a:avLst/>
            </a:prstGeom>
          </p:spPr>
        </p:pic>
        <p:pic>
          <p:nvPicPr>
            <p:cNvPr id="10" name="Picture 9">
              <a:extLst>
                <a:ext uri="{FF2B5EF4-FFF2-40B4-BE49-F238E27FC236}">
                  <a16:creationId xmlns:a16="http://schemas.microsoft.com/office/drawing/2014/main" id="{37137696-EA66-1E75-C883-6CDA28EF3A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4820734" y="3136180"/>
              <a:ext cx="4213729" cy="2895692"/>
            </a:xfrm>
            <a:prstGeom prst="rect">
              <a:avLst/>
            </a:prstGeom>
            <a:noFill/>
            <a:ln w="9525">
              <a:solidFill>
                <a:schemeClr val="tx1"/>
              </a:solidFill>
            </a:ln>
          </p:spPr>
        </p:pic>
      </p:grpSp>
      <p:pic>
        <p:nvPicPr>
          <p:cNvPr id="11" name="Picture 4" descr="http://www.acuservecorp.com/assets/attachments/image/OSSUR_logo.jpg">
            <a:extLst>
              <a:ext uri="{FF2B5EF4-FFF2-40B4-BE49-F238E27FC236}">
                <a16:creationId xmlns:a16="http://schemas.microsoft.com/office/drawing/2014/main" id="{0B669652-6F24-DEB2-9C0F-9CF78BE062C5}"/>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53002" y="1474039"/>
            <a:ext cx="1981927" cy="524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3593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334354" y="281383"/>
            <a:ext cx="8498380" cy="740283"/>
          </a:xfrm>
          <a:prstGeom prst="rect">
            <a:avLst/>
          </a:prstGeom>
        </p:spPr>
        <p:txBody>
          <a:bodyPr lIns="91440" tIns="45720" rIns="91440" bIns="45720" anchor="t">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pPr defTabSz="838166"/>
            <a:r>
              <a:rPr lang="en-US" sz="3500" spc="219" dirty="0">
                <a:solidFill>
                  <a:prstClr val="white"/>
                </a:solidFill>
                <a:latin typeface="Segoe UI Light"/>
                <a:cs typeface="Segoe UI Light"/>
              </a:rPr>
              <a:t>Ossur – Medical Record Application</a:t>
            </a:r>
          </a:p>
          <a:p>
            <a:pPr defTabSz="838166"/>
            <a:endParaRPr lang="en-US" sz="3529" spc="219" dirty="0">
              <a:solidFill>
                <a:prstClr val="white"/>
              </a:solidFill>
              <a:latin typeface="Segoe UI Light" panose="020B0502040204020203" pitchFamily="34" charset="0"/>
              <a:cs typeface="Segoe UI Light" panose="020B0502040204020203" pitchFamily="34" charset="0"/>
            </a:endParaRPr>
          </a:p>
        </p:txBody>
      </p:sp>
      <p:sp>
        <p:nvSpPr>
          <p:cNvPr id="14" name="TextBox 13"/>
          <p:cNvSpPr txBox="1"/>
          <p:nvPr/>
        </p:nvSpPr>
        <p:spPr>
          <a:xfrm>
            <a:off x="334354" y="1474039"/>
            <a:ext cx="4966948" cy="4479368"/>
          </a:xfrm>
          <a:prstGeom prst="rect">
            <a:avLst/>
          </a:prstGeom>
          <a:noFill/>
        </p:spPr>
        <p:txBody>
          <a:bodyPr wrap="square" rtlCol="0">
            <a:spAutoFit/>
          </a:bodyPr>
          <a:lstStyle/>
          <a:p>
            <a:pPr defTabSz="976845">
              <a:lnSpc>
                <a:spcPct val="120000"/>
              </a:lnSpc>
            </a:pPr>
            <a:r>
              <a:rPr lang="en-US" sz="2667" b="1" dirty="0">
                <a:solidFill>
                  <a:srgbClr val="0096A9"/>
                </a:solidFill>
                <a:latin typeface="Segoe UI Light" panose="020B0502040204020203" pitchFamily="34" charset="0"/>
                <a:cs typeface="Segoe UI Light" panose="020B0502040204020203" pitchFamily="34" charset="0"/>
              </a:rPr>
              <a:t>Business Need</a:t>
            </a:r>
          </a:p>
          <a:p>
            <a:pPr defTabSz="976845"/>
            <a:r>
              <a:rPr lang="en-US" sz="1167" dirty="0" err="1">
                <a:solidFill>
                  <a:prstClr val="black"/>
                </a:solidFill>
                <a:latin typeface="Segoe UI" panose="020B0502040204020203" pitchFamily="34" charset="0"/>
                <a:cs typeface="Segoe UI" panose="020B0502040204020203" pitchFamily="34" charset="0"/>
              </a:rPr>
              <a:t>Ossur</a:t>
            </a:r>
            <a:r>
              <a:rPr lang="en-US" sz="1167" dirty="0">
                <a:solidFill>
                  <a:prstClr val="black"/>
                </a:solidFill>
                <a:latin typeface="Segoe UI" panose="020B0502040204020203" pitchFamily="34" charset="0"/>
                <a:cs typeface="Segoe UI" panose="020B0502040204020203" pitchFamily="34" charset="0"/>
              </a:rPr>
              <a:t> Americas, a global leader in orthopedics, had a critical medical billing application that was failing for key customers. The current engaged team could not solve the complex business problems and there was no continuity for how to support and maintain the application going forward.</a:t>
            </a:r>
          </a:p>
          <a:p>
            <a:pPr defTabSz="976845">
              <a:lnSpc>
                <a:spcPct val="120000"/>
              </a:lnSpc>
            </a:pPr>
            <a:endParaRPr lang="en-US" sz="1167" dirty="0">
              <a:solidFill>
                <a:prstClr val="black"/>
              </a:solidFill>
              <a:latin typeface="Segoe UI" panose="020B0502040204020203" pitchFamily="34" charset="0"/>
              <a:cs typeface="Segoe UI" panose="020B0502040204020203" pitchFamily="34" charset="0"/>
            </a:endParaRPr>
          </a:p>
          <a:p>
            <a:pPr defTabSz="976845">
              <a:lnSpc>
                <a:spcPct val="120000"/>
              </a:lnSpc>
            </a:pPr>
            <a:r>
              <a:rPr lang="en-US" sz="2667" b="1" dirty="0">
                <a:solidFill>
                  <a:srgbClr val="0096A9"/>
                </a:solidFill>
                <a:latin typeface="Segoe UI Light" panose="020B0502040204020203" pitchFamily="34" charset="0"/>
                <a:cs typeface="Segoe UI Light" panose="020B0502040204020203" pitchFamily="34" charset="0"/>
              </a:rPr>
              <a:t>What We Did </a:t>
            </a:r>
          </a:p>
          <a:p>
            <a:pPr defTabSz="976845"/>
            <a:r>
              <a:rPr lang="en-US" sz="1167" dirty="0">
                <a:solidFill>
                  <a:prstClr val="black"/>
                </a:solidFill>
                <a:latin typeface="Segoe UI" panose="020B0502040204020203" pitchFamily="34" charset="0"/>
                <a:cs typeface="Segoe UI" panose="020B0502040204020203" pitchFamily="34" charset="0"/>
              </a:rPr>
              <a:t>We rebuilt the failing medical billing application that was critical to the business. We evaluated their most critical business problems, bringing in expertise in Business, Finance, and Technology to reconcile complex billing algorithms. We assessed the overall architecture and provided findings and recommendations to stabilize the system. We also provided a comprehensive plan for maintaining the application going forward.</a:t>
            </a:r>
          </a:p>
          <a:p>
            <a:pPr defTabSz="976845"/>
            <a:endParaRPr lang="en-US" sz="1167" b="1" dirty="0">
              <a:solidFill>
                <a:prstClr val="black"/>
              </a:solidFill>
              <a:latin typeface="Segoe UI"/>
            </a:endParaRPr>
          </a:p>
          <a:p>
            <a:pPr defTabSz="976845">
              <a:lnSpc>
                <a:spcPct val="120000"/>
              </a:lnSpc>
            </a:pPr>
            <a:r>
              <a:rPr lang="en-US" sz="2667" b="1" dirty="0">
                <a:solidFill>
                  <a:srgbClr val="0096A9"/>
                </a:solidFill>
                <a:latin typeface="Segoe UI Light" panose="020B0502040204020203" pitchFamily="34" charset="0"/>
                <a:cs typeface="Segoe UI Light" panose="020B0502040204020203" pitchFamily="34" charset="0"/>
              </a:rPr>
              <a:t>Results</a:t>
            </a:r>
          </a:p>
          <a:p>
            <a:pPr defTabSz="976845"/>
            <a:r>
              <a:rPr lang="en-US" sz="1167" dirty="0">
                <a:solidFill>
                  <a:prstClr val="black"/>
                </a:solidFill>
                <a:latin typeface="Segoe UI" panose="020B0502040204020203" pitchFamily="34" charset="0"/>
                <a:cs typeface="Segoe UI" panose="020B0502040204020203" pitchFamily="34" charset="0"/>
              </a:rPr>
              <a:t>We delivered an enterprise scale, market viable medical billing system that is exceeding customer expectations. The system is stable and maintained, monitored and improved by our team.  </a:t>
            </a:r>
          </a:p>
        </p:txBody>
      </p:sp>
      <p:grpSp>
        <p:nvGrpSpPr>
          <p:cNvPr id="4" name="Group 3"/>
          <p:cNvGrpSpPr/>
          <p:nvPr/>
        </p:nvGrpSpPr>
        <p:grpSpPr>
          <a:xfrm>
            <a:off x="5677019" y="2332389"/>
            <a:ext cx="4966948" cy="3415494"/>
            <a:chOff x="4109469" y="2855176"/>
            <a:chExt cx="5629207" cy="3870893"/>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9469" y="2855176"/>
              <a:ext cx="5629207" cy="3870893"/>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4820734" y="3136180"/>
              <a:ext cx="4213729" cy="2895692"/>
            </a:xfrm>
            <a:prstGeom prst="rect">
              <a:avLst/>
            </a:prstGeom>
            <a:noFill/>
            <a:ln w="9525">
              <a:solidFill>
                <a:schemeClr val="tx1"/>
              </a:solidFill>
            </a:ln>
          </p:spPr>
        </p:pic>
      </p:grpSp>
      <p:pic>
        <p:nvPicPr>
          <p:cNvPr id="1028" name="Picture 4" descr="http://www.acuservecorp.com/assets/attachments/image/OSSUR_logo.jpg"/>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53002" y="1474039"/>
            <a:ext cx="1981927" cy="524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62662"/>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Value>Creative</Value>
    </BusinessUnit>
    <Solutions xmlns="f0ee8362-fa7e-4bc9-ab88-7dcfb17cb19b">
      <Value>Product Development</Value>
      <Value>UX/ UI Design</Value>
    </Solutions>
    <Industries xmlns="f0ee8362-fa7e-4bc9-ab88-7dcfb17cb19b">
      <Value>Healthcare</Value>
    </Industries>
    <Notes0 xmlns="f0ee8362-fa7e-4bc9-ab88-7dcfb17cb19b" xsi:nil="true"/>
    <PlatTech xmlns="f0ee8362-fa7e-4bc9-ab88-7dcfb17cb19b">
      <Value>.NET</Value>
      <Value>Azure</Value>
    </PlatTech>
    <Named_x0020_Account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AB1AA1-D9A0-40A0-A8DA-2EFF18D7019E}">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7E624A80-A88A-4BC9-BD0F-B65D879885BC}">
  <ds:schemaRefs>
    <ds:schemaRef ds:uri="http://schemas.microsoft.com/office/2006/metadata/customXsn"/>
  </ds:schemaRefs>
</ds:datastoreItem>
</file>

<file path=customXml/itemProps3.xml><?xml version="1.0" encoding="utf-8"?>
<ds:datastoreItem xmlns:ds="http://schemas.openxmlformats.org/officeDocument/2006/customXml" ds:itemID="{5941ACAF-9A2C-4883-B723-4480D7628E84}"/>
</file>

<file path=customXml/itemProps4.xml><?xml version="1.0" encoding="utf-8"?>
<ds:datastoreItem xmlns:ds="http://schemas.openxmlformats.org/officeDocument/2006/customXml" ds:itemID="{DC5237D6-BF70-4994-9925-6033E9656B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158</Words>
  <Application>Microsoft Office PowerPoint</Application>
  <PresentationFormat>Widescreen</PresentationFormat>
  <Paragraphs>10</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Custom Design</vt:lpstr>
      <vt:lpstr>Ossur -  Medical Record Product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Murphy</dc:creator>
  <cp:lastModifiedBy>Brendan Murphy</cp:lastModifiedBy>
  <cp:revision>6</cp:revision>
  <dcterms:created xsi:type="dcterms:W3CDTF">2020-12-03T22:59:23Z</dcterms:created>
  <dcterms:modified xsi:type="dcterms:W3CDTF">2025-03-25T20:44:38Z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Platforms">
    <vt:lpwstr>;#Azure;#.NET;#</vt:lpwstr>
  </property>
</Properties>
</file>