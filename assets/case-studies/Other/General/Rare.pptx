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sldIdLst>
    <p:sldId id="214746967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69464A-F164-A4D0-4C27-1846F8192657}" v="22" dt="2025-01-09T00:19:25.079"/>
    <p1510:client id="{CE57C151-5126-E518-CBE2-29224439CB59}" v="2" dt="2025-01-09T00:24:26.0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microsoft.com/office/2016/11/relationships/changesInfo" Target="changesInfos/changesInfo1.xml"/><Relationship Id="rId5" Type="http://schemas.openxmlformats.org/officeDocument/2006/relationships/slideMaster" Target="slideMasters/slideMaster1.xml"/><Relationship Id="rId10"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CE57C151-5126-E518-CBE2-29224439CB59}"/>
    <pc:docChg chg="addSld delSld">
      <pc:chgData name="Brendan Murphy" userId="S::bmurphy@affirma.com::e9f923b6-6d89-4d4e-a3b7-d9304b9d44ba" providerId="AD" clId="Web-{CE57C151-5126-E518-CBE2-29224439CB59}" dt="2025-01-09T00:24:26.010" v="1"/>
      <pc:docMkLst>
        <pc:docMk/>
      </pc:docMkLst>
      <pc:sldChg chg="del">
        <pc:chgData name="Brendan Murphy" userId="S::bmurphy@affirma.com::e9f923b6-6d89-4d4e-a3b7-d9304b9d44ba" providerId="AD" clId="Web-{CE57C151-5126-E518-CBE2-29224439CB59}" dt="2025-01-09T00:24:26.010" v="1"/>
        <pc:sldMkLst>
          <pc:docMk/>
          <pc:sldMk cId="100956240" sldId="4041"/>
        </pc:sldMkLst>
      </pc:sldChg>
      <pc:sldChg chg="add">
        <pc:chgData name="Brendan Murphy" userId="S::bmurphy@affirma.com::e9f923b6-6d89-4d4e-a3b7-d9304b9d44ba" providerId="AD" clId="Web-{CE57C151-5126-E518-CBE2-29224439CB59}" dt="2025-01-09T00:24:22.291" v="0"/>
        <pc:sldMkLst>
          <pc:docMk/>
          <pc:sldMk cId="1172889019" sldId="2147469677"/>
        </pc:sldMkLst>
      </pc:sldChg>
      <pc:sldMasterChg chg="addSldLayout">
        <pc:chgData name="Brendan Murphy" userId="S::bmurphy@affirma.com::e9f923b6-6d89-4d4e-a3b7-d9304b9d44ba" providerId="AD" clId="Web-{CE57C151-5126-E518-CBE2-29224439CB59}" dt="2025-01-09T00:24:22.291" v="0"/>
        <pc:sldMasterMkLst>
          <pc:docMk/>
          <pc:sldMasterMk cId="3831140649" sldId="2147483660"/>
        </pc:sldMasterMkLst>
        <pc:sldLayoutChg chg="add">
          <pc:chgData name="Brendan Murphy" userId="S::bmurphy@affirma.com::e9f923b6-6d89-4d4e-a3b7-d9304b9d44ba" providerId="AD" clId="Web-{CE57C151-5126-E518-CBE2-29224439CB59}" dt="2025-01-09T00:24:22.291" v="0"/>
          <pc:sldLayoutMkLst>
            <pc:docMk/>
            <pc:sldMasterMk cId="3831140649" sldId="2147483660"/>
            <pc:sldLayoutMk cId="2013567815" sldId="2147483685"/>
          </pc:sldLayoutMkLst>
        </pc:sldLayoutChg>
      </pc:sldMasterChg>
    </pc:docChg>
  </pc:docChgLst>
  <pc:docChgLst>
    <pc:chgData name="Brendan Murphy" userId="S::bmurphy@affirma.com::e9f923b6-6d89-4d4e-a3b7-d9304b9d44ba" providerId="AD" clId="Web-{C069464A-F164-A4D0-4C27-1846F8192657}"/>
    <pc:docChg chg="modSld">
      <pc:chgData name="Brendan Murphy" userId="S::bmurphy@affirma.com::e9f923b6-6d89-4d4e-a3b7-d9304b9d44ba" providerId="AD" clId="Web-{C069464A-F164-A4D0-4C27-1846F8192657}" dt="2025-01-09T00:19:25.079" v="13" actId="20577"/>
      <pc:docMkLst>
        <pc:docMk/>
      </pc:docMkLst>
      <pc:sldChg chg="modSp">
        <pc:chgData name="Brendan Murphy" userId="S::bmurphy@affirma.com::e9f923b6-6d89-4d4e-a3b7-d9304b9d44ba" providerId="AD" clId="Web-{C069464A-F164-A4D0-4C27-1846F8192657}" dt="2025-01-09T00:19:25.079" v="13" actId="20577"/>
        <pc:sldMkLst>
          <pc:docMk/>
          <pc:sldMk cId="100956240" sldId="4041"/>
        </pc:sldMkLst>
        <pc:spChg chg="mod">
          <ac:chgData name="Brendan Murphy" userId="S::bmurphy@affirma.com::e9f923b6-6d89-4d4e-a3b7-d9304b9d44ba" providerId="AD" clId="Web-{C069464A-F164-A4D0-4C27-1846F8192657}" dt="2025-01-09T00:19:25.079" v="13" actId="20577"/>
          <ac:spMkLst>
            <pc:docMk/>
            <pc:sldMk cId="100956240" sldId="4041"/>
            <ac:spMk id="4" creationId="{186DEB55-545F-420B-8EAA-281E53416E23}"/>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B5FE165-096F-487F-8435-22B7C977BBAC}" type="datetime1">
              <a:rPr lang="en-US" smtClean="0"/>
              <a:t>1/8/2025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701699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BA5D076-475A-402B-BFB3-BCB1DB0975A0}" type="datetime1">
              <a:rPr lang="en-US" smtClean="0"/>
              <a:t>1/8/2025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720454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7A68257-B1D1-45B7-A765-50CDBCA3FD86}" type="datetime1">
              <a:rPr lang="en-US" smtClean="0"/>
              <a:t>1/8/2025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622375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FB58377-F27B-4099-8D07-8CC83E9FF8E3}" type="datetime1">
              <a:rPr lang="en-US" smtClean="0"/>
              <a:t>1/8/2025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557195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6C74676-92AB-4545-938B-1B69D80DB240}" type="datetime1">
              <a:rPr lang="en-US" smtClean="0"/>
              <a:t>1/8/2025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678770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7A0B79CA-C4D9-4908-8B03-07B20BD050DE}" type="datetime1">
              <a:rPr lang="en-US" smtClean="0"/>
              <a:t>1/8/2025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521700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2390669" y="-1"/>
            <a:ext cx="14582669" cy="6858000"/>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2E6861D-08F0-455C-ABA0-53DFF2F796CF}" type="datetime1">
              <a:rPr lang="en-US" smtClean="0"/>
              <a:t>1/8/2025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843985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A828875-DE2A-4007-BCB0-00064EAA777B}" type="datetime1">
              <a:rPr lang="en-US" smtClean="0"/>
              <a:t>1/8/2025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9012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4F79BA1C-FAB8-4D2A-946A-62324E933EF1}" type="datetime1">
              <a:rPr lang="en-US" smtClean="0"/>
              <a:t>1/8/2025</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4237857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8FB3B390-3D70-4147-B0BB-53F5951107F8}" type="datetime1">
              <a:rPr lang="en-US" smtClean="0"/>
              <a:t>1/8/2025</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891669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6ABAB9D-96B1-4270-A3E0-6D838C6F3255}" type="datetime1">
              <a:rPr lang="en-US" smtClean="0"/>
              <a:t>1/8/2025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422995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CAA8423-91F7-4752-B324-734304431281}" type="datetime1">
              <a:rPr lang="en-US" smtClean="0"/>
              <a:t>1/8/2025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0505114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39BA845-8FAA-4FA8-BB03-FCE823510A90}" type="datetime1">
              <a:rPr lang="en-US" smtClean="0"/>
              <a:t>1/8/2025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8392996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406F59A-4A5A-4738-AC03-C9914EA55E29}" type="datetime1">
              <a:rPr lang="en-US" smtClean="0"/>
              <a:t>1/8/2025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7444178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77C5F32E-87BC-41F1-B9F5-46E5C7195E2E}" type="datetime1">
              <a:rPr lang="en-US" smtClean="0"/>
              <a:t>1/8/2025</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80312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D89D8D96-9103-4B38-8327-0EA0FFD24152}" type="datetime1">
              <a:rPr lang="en-US" smtClean="0"/>
              <a:t>1/8/2025</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0691582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D093AED9-3F5E-41D4-9FAD-F29D941B4B0A}" type="datetime1">
              <a:rPr lang="en-US" smtClean="0"/>
              <a:t>1/8/2025</a:t>
            </a:fld>
            <a:endParaRPr lang="en-US"/>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235742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50B76160-1DEB-464C-9113-9118CF4A908A}" type="datetime1">
              <a:rPr lang="en-US" smtClean="0"/>
              <a:t>1/8/2025</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8417131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1C78B21-3C28-439F-BCD3-284714CB9E0C}" type="datetime1">
              <a:rPr lang="en-US" smtClean="0"/>
              <a:t>1/8/2025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17729366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7541201-DC49-46F2-AC4F-0D60C1F63406}" type="datetime1">
              <a:rPr lang="en-US" smtClean="0"/>
              <a:t>1/8/2025</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87777570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6198244D-535E-48C4-8BC9-904AE7DD5AF1}" type="datetime1">
              <a:rPr lang="en-US" smtClean="0"/>
              <a:t>1/8/2025</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1328303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858EA56-0E20-4ACC-A046-BE609E544847}" type="datetime1">
              <a:rPr lang="en-US" smtClean="0"/>
              <a:t>1/8/2025</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0243802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4F0CBE8F-8AA2-4859-BE6D-C213C1FEDA0E}" type="datetime1">
              <a:rPr lang="en-US" smtClean="0"/>
              <a:t>1/8/2025</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32799427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a:p>
        </p:txBody>
      </p:sp>
    </p:spTree>
    <p:extLst>
      <p:ext uri="{BB962C8B-B14F-4D97-AF65-F5344CB8AC3E}">
        <p14:creationId xmlns:p14="http://schemas.microsoft.com/office/powerpoint/2010/main" val="34777014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Case Study Single Slide - Data Result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35678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6C1EC331-590E-4679-816A-DCB458BBD7AB}" type="datetime1">
              <a:rPr lang="en-US" smtClean="0"/>
              <a:t>1/8/2025</a:t>
            </a:fld>
            <a:endParaRPr lang="en-US"/>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38311406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Lst>
  <p:hf sldNum="0"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1572C-84D4-C9A5-401C-EEDF6E37F0A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3617F83-E063-9D7F-C4D7-30EF63AF1B5A}"/>
              </a:ext>
            </a:extLst>
          </p:cNvPr>
          <p:cNvSpPr>
            <a:spLocks noGrp="1"/>
          </p:cNvSpPr>
          <p:nvPr>
            <p:ph type="ctrTitle"/>
          </p:nvPr>
        </p:nvSpPr>
        <p:spPr>
          <a:xfrm>
            <a:off x="603283" y="388389"/>
            <a:ext cx="11088655" cy="764390"/>
          </a:xfrm>
        </p:spPr>
        <p:txBody>
          <a:bodyPr>
            <a:normAutofit/>
          </a:bodyPr>
          <a:lstStyle/>
          <a:p>
            <a:r>
              <a:rPr lang="en-US">
                <a:solidFill>
                  <a:srgbClr val="063A79"/>
                </a:solidFill>
                <a:latin typeface="Poppins" panose="00000500000000000000" pitchFamily="2" charset="0"/>
                <a:cs typeface="Poppins" panose="00000500000000000000" pitchFamily="2" charset="0"/>
              </a:rPr>
              <a:t>Rare Studies – CRM &amp; Data Engineering</a:t>
            </a:r>
          </a:p>
        </p:txBody>
      </p:sp>
      <p:sp>
        <p:nvSpPr>
          <p:cNvPr id="9" name="Rectangle 8">
            <a:extLst>
              <a:ext uri="{FF2B5EF4-FFF2-40B4-BE49-F238E27FC236}">
                <a16:creationId xmlns:a16="http://schemas.microsoft.com/office/drawing/2014/main" id="{30898117-D14F-D646-E410-EED94DBF6AC8}"/>
              </a:ext>
            </a:extLst>
          </p:cNvPr>
          <p:cNvSpPr/>
          <p:nvPr/>
        </p:nvSpPr>
        <p:spPr>
          <a:xfrm>
            <a:off x="10749643" y="6356805"/>
            <a:ext cx="798286" cy="2696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76845" rtl="0" eaLnBrk="1" fontAlgn="auto" latinLnBrk="0" hangingPunct="1">
              <a:lnSpc>
                <a:spcPct val="100000"/>
              </a:lnSpc>
              <a:spcBef>
                <a:spcPts val="0"/>
              </a:spcBef>
              <a:spcAft>
                <a:spcPts val="0"/>
              </a:spcAft>
              <a:buClrTx/>
              <a:buSzTx/>
              <a:buFontTx/>
              <a:buNone/>
              <a:tabLst/>
              <a:defRPr/>
            </a:pPr>
            <a:endParaRPr kumimoji="0" lang="en-US" sz="1923" b="0" i="0" u="none" strike="noStrike" kern="1200" cap="none" spc="0" normalizeH="0" baseline="0" noProof="0">
              <a:ln>
                <a:noFill/>
              </a:ln>
              <a:solidFill>
                <a:prstClr val="white"/>
              </a:solidFill>
              <a:effectLst/>
              <a:uLnTx/>
              <a:uFillTx/>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A02B8EE2-9EEC-A54E-65FE-06ADC72E9AE8}"/>
              </a:ext>
            </a:extLst>
          </p:cNvPr>
          <p:cNvSpPr txBox="1"/>
          <p:nvPr/>
        </p:nvSpPr>
        <p:spPr>
          <a:xfrm>
            <a:off x="246897" y="1068547"/>
            <a:ext cx="6525378" cy="4189930"/>
          </a:xfrm>
          <a:prstGeom prst="rect">
            <a:avLst/>
          </a:prstGeom>
          <a:noFill/>
        </p:spPr>
        <p:txBody>
          <a:bodyPr wrap="square" lIns="91440" tIns="45720" rIns="91440" bIns="45720" rtlCol="0" anchor="t">
            <a:spAutoFit/>
          </a:bodyPr>
          <a:lstStyle/>
          <a:p>
            <a:pPr defTabSz="976845"/>
            <a:r>
              <a:rPr lang="en-US" sz="2667">
                <a:solidFill>
                  <a:srgbClr val="F75714"/>
                </a:solidFill>
                <a:latin typeface="Segoe UI Light" panose="020B0502040204020203" pitchFamily="34" charset="0"/>
                <a:ea typeface="MS Mincho" panose="02020609040205080304" pitchFamily="49" charset="-128"/>
                <a:cs typeface="Segoe UI Light" panose="020B0502040204020203" pitchFamily="34" charset="0"/>
              </a:rPr>
              <a:t>Business Need</a:t>
            </a:r>
          </a:p>
          <a:p>
            <a:pPr defTabSz="976845"/>
            <a:r>
              <a:rPr lang="en-US" sz="1150" err="1">
                <a:solidFill>
                  <a:prstClr val="black"/>
                </a:solidFill>
                <a:latin typeface="Segoe UI Light"/>
                <a:cs typeface="Segoe UI Light"/>
              </a:rPr>
              <a:t>Affirma</a:t>
            </a:r>
            <a:r>
              <a:rPr lang="en-US" sz="1150">
                <a:solidFill>
                  <a:prstClr val="black"/>
                </a:solidFill>
                <a:latin typeface="Segoe UI Light"/>
                <a:cs typeface="Segoe UI Light"/>
              </a:rPr>
              <a:t> supports and extends Rare’s CRM instance for their highly popular game, Sea of Thieves. Having built trust in </a:t>
            </a:r>
            <a:r>
              <a:rPr lang="en-US" sz="1150" err="1">
                <a:solidFill>
                  <a:prstClr val="black"/>
                </a:solidFill>
                <a:latin typeface="Segoe UI Light"/>
                <a:cs typeface="Segoe UI Light"/>
              </a:rPr>
              <a:t>Affirma’s</a:t>
            </a:r>
            <a:r>
              <a:rPr lang="en-US" sz="1150">
                <a:solidFill>
                  <a:prstClr val="black"/>
                </a:solidFill>
                <a:latin typeface="Segoe UI Light"/>
                <a:cs typeface="Segoe UI Light"/>
              </a:rPr>
              <a:t> capabilities and service, the Rare team came to us, requesting for two high priority, business impact driven projects to be executed simultaneously:</a:t>
            </a:r>
          </a:p>
          <a:p>
            <a:pPr marL="285115" indent="-285115" defTabSz="976845">
              <a:buFontTx/>
              <a:buAutoNum type="arabicPeriod"/>
            </a:pPr>
            <a:r>
              <a:rPr lang="en-US" sz="1167">
                <a:solidFill>
                  <a:prstClr val="black"/>
                </a:solidFill>
                <a:latin typeface="Segoe UI Light" panose="020B0502040204020203" pitchFamily="34" charset="0"/>
                <a:cs typeface="Segoe UI Light" panose="020B0502040204020203" pitchFamily="34" charset="0"/>
              </a:rPr>
              <a:t>A new long-term end to end data handling solution that will migrate specific data currently housed in their data Warehouse by creating new pipelines for data flow leveraging existing data sources.</a:t>
            </a:r>
          </a:p>
          <a:p>
            <a:pPr marL="285115" indent="-285115" defTabSz="976845">
              <a:buFontTx/>
              <a:buAutoNum type="arabicPeriod"/>
            </a:pPr>
            <a:r>
              <a:rPr lang="en-US" sz="1167">
                <a:solidFill>
                  <a:prstClr val="black"/>
                </a:solidFill>
                <a:latin typeface="Segoe UI Light" panose="020B0502040204020203" pitchFamily="34" charset="0"/>
                <a:cs typeface="Segoe UI Light" panose="020B0502040204020203" pitchFamily="34" charset="0"/>
              </a:rPr>
              <a:t>A new solution for processing partner data to satisfy an immediate high priority business need and to extend into a long-term data extraction and processing solution, with three weeks execution time. </a:t>
            </a:r>
          </a:p>
          <a:p>
            <a:pPr defTabSz="976845"/>
            <a:endParaRPr lang="en-US" sz="1167">
              <a:solidFill>
                <a:prstClr val="black"/>
              </a:solidFill>
              <a:latin typeface="Segoe UI Light" panose="020B0502040204020203" pitchFamily="34" charset="0"/>
              <a:cs typeface="Segoe UI Light" panose="020B0502040204020203" pitchFamily="34" charset="0"/>
            </a:endParaRPr>
          </a:p>
          <a:p>
            <a:pPr defTabSz="976845"/>
            <a:r>
              <a:rPr lang="en-US" sz="2667">
                <a:solidFill>
                  <a:srgbClr val="F75714"/>
                </a:solidFill>
                <a:latin typeface="Segoe UI Light" panose="020B0502040204020203" pitchFamily="34" charset="0"/>
                <a:ea typeface="MS Mincho" panose="02020609040205080304" pitchFamily="49" charset="-128"/>
                <a:cs typeface="Segoe UI Light" panose="020B0502040204020203" pitchFamily="34" charset="0"/>
              </a:rPr>
              <a:t>What We Did</a:t>
            </a:r>
          </a:p>
          <a:p>
            <a:pPr defTabSz="976845">
              <a:lnSpc>
                <a:spcPct val="120000"/>
              </a:lnSpc>
            </a:pPr>
            <a:r>
              <a:rPr lang="en-US" sz="1167">
                <a:solidFill>
                  <a:prstClr val="black"/>
                </a:solidFill>
                <a:latin typeface="Segoe UI Light" panose="020B0502040204020203" pitchFamily="34" charset="0"/>
                <a:ea typeface="MS Mincho" panose="02020609040205080304" pitchFamily="49" charset="-128"/>
                <a:cs typeface="Segoe UI Light" panose="020B0502040204020203" pitchFamily="34" charset="0"/>
              </a:rPr>
              <a:t>The team designed, executed and delivered the two complex Azure Data Factory based solutions for the client within an unusual short timeframe. We delivered a POC and started the first project’s full development within a week from client’s request. Fully satisfied with that work, the client made the request for the second project within few days from the first POC. </a:t>
            </a:r>
          </a:p>
          <a:p>
            <a:pPr defTabSz="976845">
              <a:lnSpc>
                <a:spcPct val="120000"/>
              </a:lnSpc>
            </a:pPr>
            <a:r>
              <a:rPr lang="en-US" sz="1167">
                <a:solidFill>
                  <a:prstClr val="black"/>
                </a:solidFill>
                <a:latin typeface="Segoe UI Light" panose="020B0502040204020203" pitchFamily="34" charset="0"/>
                <a:ea typeface="MS Mincho" panose="02020609040205080304" pitchFamily="49" charset="-128"/>
                <a:cs typeface="Segoe UI Light" panose="020B0502040204020203" pitchFamily="34" charset="0"/>
              </a:rPr>
              <a:t>Our expertise in technologies required, knowledge of the RARE product and development environments and experience with the Microsoft landscape allowed us to deliver two solutions that are extensible, scalable, cost effective, and fully compliant.</a:t>
            </a:r>
          </a:p>
        </p:txBody>
      </p:sp>
      <p:pic>
        <p:nvPicPr>
          <p:cNvPr id="3" name="Picture 2" descr="Image result for Rare Logo">
            <a:extLst>
              <a:ext uri="{FF2B5EF4-FFF2-40B4-BE49-F238E27FC236}">
                <a16:creationId xmlns:a16="http://schemas.microsoft.com/office/drawing/2014/main" id="{F81FC282-4770-C24C-C256-D6D56F7037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3816" y="4092575"/>
            <a:ext cx="1452563" cy="21431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924DC34-F222-41D9-8AEF-D004FC1C5C9E}"/>
              </a:ext>
            </a:extLst>
          </p:cNvPr>
          <p:cNvSpPr txBox="1"/>
          <p:nvPr/>
        </p:nvSpPr>
        <p:spPr>
          <a:xfrm>
            <a:off x="246897" y="5258477"/>
            <a:ext cx="6525378" cy="1312282"/>
          </a:xfrm>
          <a:prstGeom prst="rect">
            <a:avLst/>
          </a:prstGeom>
          <a:noFill/>
        </p:spPr>
        <p:txBody>
          <a:bodyPr wrap="square" rtlCol="0">
            <a:spAutoFit/>
          </a:bodyPr>
          <a:lstStyle/>
          <a:p>
            <a:pPr defTabSz="976845"/>
            <a:r>
              <a:rPr lang="en-US" sz="2667">
                <a:solidFill>
                  <a:srgbClr val="F75714"/>
                </a:solidFill>
                <a:latin typeface="Segoe UI Light" panose="020B0502040204020203" pitchFamily="34" charset="0"/>
                <a:ea typeface="MS Mincho" panose="02020609040205080304" pitchFamily="49" charset="-128"/>
                <a:cs typeface="Segoe UI Light" panose="020B0502040204020203" pitchFamily="34" charset="0"/>
              </a:rPr>
              <a:t>Results</a:t>
            </a:r>
          </a:p>
          <a:p>
            <a:pPr marL="238115" indent="-238115" defTabSz="976845">
              <a:lnSpc>
                <a:spcPct val="120000"/>
              </a:lnSpc>
              <a:buFont typeface="Arial" panose="020B0604020202020204" pitchFamily="34" charset="0"/>
              <a:buChar char="•"/>
            </a:pPr>
            <a:r>
              <a:rPr lang="en-US" sz="1167">
                <a:solidFill>
                  <a:prstClr val="black"/>
                </a:solidFill>
                <a:latin typeface="Segoe UI Light" panose="020B0502040204020203" pitchFamily="34" charset="0"/>
                <a:ea typeface="MS Mincho" panose="02020609040205080304" pitchFamily="49" charset="-128"/>
                <a:cs typeface="Segoe UI Light" panose="020B0502040204020203" pitchFamily="34" charset="0"/>
              </a:rPr>
              <a:t>Both projects were completed ahead of schedule to and above the clients’ expectations. </a:t>
            </a:r>
          </a:p>
          <a:p>
            <a:pPr marL="238115" indent="-238115" defTabSz="976845">
              <a:lnSpc>
                <a:spcPct val="120000"/>
              </a:lnSpc>
              <a:buFont typeface="Arial" panose="020B0604020202020204" pitchFamily="34" charset="0"/>
              <a:buChar char="•"/>
            </a:pPr>
            <a:r>
              <a:rPr lang="en-US" sz="1167">
                <a:solidFill>
                  <a:prstClr val="black"/>
                </a:solidFill>
                <a:latin typeface="Segoe UI Light" panose="020B0502040204020203" pitchFamily="34" charset="0"/>
                <a:ea typeface="MS Mincho" panose="02020609040205080304" pitchFamily="49" charset="-128"/>
                <a:cs typeface="Segoe UI Light" panose="020B0502040204020203" pitchFamily="34" charset="0"/>
              </a:rPr>
              <a:t>Enhanced the clients’ ability to meet their short term and long term data handling needs: they can now process data on an optimal daily schedule to keep pace with business needs. </a:t>
            </a:r>
          </a:p>
          <a:p>
            <a:pPr defTabSz="976845"/>
            <a:endParaRPr lang="en-US" sz="1059">
              <a:solidFill>
                <a:prstClr val="black"/>
              </a:solidFill>
              <a:latin typeface="Segoe UI Light" panose="020B0502040204020203" pitchFamily="34" charset="0"/>
              <a:ea typeface="Calibri" panose="020F0502020204030204" pitchFamily="34" charset="0"/>
              <a:cs typeface="Segoe UI Light" panose="020B0502040204020203" pitchFamily="34" charset="0"/>
            </a:endParaRPr>
          </a:p>
        </p:txBody>
      </p:sp>
      <p:pic>
        <p:nvPicPr>
          <p:cNvPr id="6" name="Picture 4" descr="See the source image">
            <a:extLst>
              <a:ext uri="{FF2B5EF4-FFF2-40B4-BE49-F238E27FC236}">
                <a16:creationId xmlns:a16="http://schemas.microsoft.com/office/drawing/2014/main" id="{FC5C037A-034B-69A7-4B38-14171FF676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8578" y="1209675"/>
            <a:ext cx="4466526" cy="2635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28890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customXsn xmlns="http://schemas.microsoft.com/office/2006/metadata/customXsn">
  <xsnLocation/>
  <cached>True</cached>
  <openByDefault>False</openByDefault>
  <xsnScope/>
</customXs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 Development</Value>
      <Value>Customer Relationship Management</Value>
      <Value>Data and Analytics</Value>
    </BusinessUnit>
    <Solutions xmlns="f0ee8362-fa7e-4bc9-ab88-7dcfb17cb19b" xsi:nil="true"/>
    <Industries xmlns="f0ee8362-fa7e-4bc9-ab88-7dcfb17cb19b">
      <Value>Technology</Value>
    </Industries>
    <Notes0 xmlns="f0ee8362-fa7e-4bc9-ab88-7dcfb17cb19b" xsi:nil="true"/>
    <PlatTech xmlns="f0ee8362-fa7e-4bc9-ab88-7dcfb17cb19b">
      <Value>Azure Data Factory</Value>
      <Value>Dynamics</Value>
    </PlatTech>
    <Named_x0020_Account xmlns="f0ee8362-fa7e-4bc9-ab88-7dcfb17cb19b">Microsoft</Named_x0020_Account>
    <ProjectCompletionDate xmlns="f0ee8362-fa7e-4bc9-ab88-7dcfb17cb19b" xsi:nil="true"/>
    <ApprovedByClient xmlns="f0ee8362-fa7e-4bc9-ab88-7dcfb17cb19b">false</ApprovedByClient>
  </documentManagement>
</p:properties>
</file>

<file path=customXml/itemProps1.xml><?xml version="1.0" encoding="utf-8"?>
<ds:datastoreItem xmlns:ds="http://schemas.openxmlformats.org/officeDocument/2006/customXml" ds:itemID="{69C95FE2-6E69-4BF1-86D9-5E1CACBBC69A}">
  <ds:schemaRefs>
    <ds:schemaRef ds:uri="http://schemas.microsoft.com/office/2006/metadata/customXsn"/>
  </ds:schemaRefs>
</ds:datastoreItem>
</file>

<file path=customXml/itemProps2.xml><?xml version="1.0" encoding="utf-8"?>
<ds:datastoreItem xmlns:ds="http://schemas.openxmlformats.org/officeDocument/2006/customXml" ds:itemID="{16B36BAD-1AE9-4DC4-AAE4-F9229867E8F0}">
  <ds:schemaRefs>
    <ds:schemaRef ds:uri="http://schemas.microsoft.com/sharepoint/v3/contenttype/forms"/>
  </ds:schemaRefs>
</ds:datastoreItem>
</file>

<file path=customXml/itemProps3.xml><?xml version="1.0" encoding="utf-8"?>
<ds:datastoreItem xmlns:ds="http://schemas.openxmlformats.org/officeDocument/2006/customXml" ds:itemID="{13895CD6-2A5A-4B87-8B2C-123C4D6BEF88}"/>
</file>

<file path=customXml/itemProps4.xml><?xml version="1.0" encoding="utf-8"?>
<ds:datastoreItem xmlns:ds="http://schemas.openxmlformats.org/officeDocument/2006/customXml" ds:itemID="{7F793EB9-153A-4241-AA1A-0BE4A0B1A094}">
  <ds:schemaRefs>
    <ds:schemaRef ds:uri="f0ee8362-fa7e-4bc9-ab88-7dcfb17cb19b"/>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Custom Design</vt:lpstr>
      <vt:lpstr>Rare Studies – CRM &amp; Data Engineering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RARE Studios – Azure Data Factory Data Pipeline Implementations</dc:title>
  <dc:creator>Sophie Hu (Affirma)</dc:creator>
  <cp:revision>1</cp:revision>
  <dcterms:created xsi:type="dcterms:W3CDTF">2021-05-19T22:15:01Z</dcterms:created>
  <dcterms:modified xsi:type="dcterms:W3CDTF">2025-01-09T00:24:30Z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etDate">
    <vt:lpwstr>2021-05-19T22:15:00Z</vt:lpwstr>
  </property>
  <property fmtid="{D5CDD505-2E9C-101B-9397-08002B2CF9AE}" pid="4" name="MSIP_Label_f42aa342-8706-4288-bd11-ebb85995028c_Method">
    <vt:lpwstr>Standard</vt:lpwstr>
  </property>
  <property fmtid="{D5CDD505-2E9C-101B-9397-08002B2CF9AE}" pid="5" name="MSIP_Label_f42aa342-8706-4288-bd11-ebb85995028c_Name">
    <vt:lpwstr>Internal</vt:lpwstr>
  </property>
  <property fmtid="{D5CDD505-2E9C-101B-9397-08002B2CF9AE}" pid="6" name="MSIP_Label_f42aa342-8706-4288-bd11-ebb85995028c_SiteId">
    <vt:lpwstr>72f988bf-86f1-41af-91ab-2d7cd011db47</vt:lpwstr>
  </property>
  <property fmtid="{D5CDD505-2E9C-101B-9397-08002B2CF9AE}" pid="7" name="MSIP_Label_f42aa342-8706-4288-bd11-ebb85995028c_ActionId">
    <vt:lpwstr>52788954-78b6-4b4f-9530-c388e2b8fb33</vt:lpwstr>
  </property>
  <property fmtid="{D5CDD505-2E9C-101B-9397-08002B2CF9AE}" pid="8" name="MSIP_Label_f42aa342-8706-4288-bd11-ebb85995028c_ContentBits">
    <vt:lpwstr>0</vt:lpwstr>
  </property>
  <property fmtid="{D5CDD505-2E9C-101B-9397-08002B2CF9AE}" pid="9" name="ContentTypeId">
    <vt:lpwstr>0x0101000D23BCBB7020E34DAE994A365BA94206</vt:lpwstr>
  </property>
</Properties>
</file>