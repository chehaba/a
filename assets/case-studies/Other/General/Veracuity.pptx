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2076138987" r:id="rId6"/>
    <p:sldId id="207613898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BF65BB-E09D-DCF3-1610-CBADD1F8BEE7}" v="5" dt="2026-01-15T22:59:34.3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5FBF65BB-E09D-DCF3-1610-CBADD1F8BEE7}"/>
    <pc:docChg chg="modSld">
      <pc:chgData name="Brendan Murphy" userId="S::bmurphy@affirma.com::e9f923b6-6d89-4d4e-a3b7-d9304b9d44ba" providerId="AD" clId="Web-{5FBF65BB-E09D-DCF3-1610-CBADD1F8BEE7}" dt="2026-01-15T22:59:33.419" v="1"/>
      <pc:docMkLst>
        <pc:docMk/>
      </pc:docMkLst>
      <pc:sldChg chg="addSp delSp">
        <pc:chgData name="Brendan Murphy" userId="S::bmurphy@affirma.com::e9f923b6-6d89-4d4e-a3b7-d9304b9d44ba" providerId="AD" clId="Web-{5FBF65BB-E09D-DCF3-1610-CBADD1F8BEE7}" dt="2026-01-15T22:59:33.419" v="1"/>
        <pc:sldMkLst>
          <pc:docMk/>
          <pc:sldMk cId="1318650482" sldId="2076138988"/>
        </pc:sldMkLst>
        <pc:spChg chg="add del">
          <ac:chgData name="Brendan Murphy" userId="S::bmurphy@affirma.com::e9f923b6-6d89-4d4e-a3b7-d9304b9d44ba" providerId="AD" clId="Web-{5FBF65BB-E09D-DCF3-1610-CBADD1F8BEE7}" dt="2026-01-15T22:59:33.419" v="1"/>
          <ac:spMkLst>
            <pc:docMk/>
            <pc:sldMk cId="1318650482" sldId="2076138988"/>
            <ac:spMk id="4" creationId="{67A8A395-18DC-4196-93BE-062508E0E53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4998F-0959-F73A-8686-49097E8732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ADC4F-4265-9C9B-1A32-90BEF16D42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41D9FC-EC09-3C48-2AE9-1F454BD714AD}"/>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5" name="Footer Placeholder 4">
            <a:extLst>
              <a:ext uri="{FF2B5EF4-FFF2-40B4-BE49-F238E27FC236}">
                <a16:creationId xmlns:a16="http://schemas.microsoft.com/office/drawing/2014/main" id="{8DA9E7A3-B3CC-1907-389E-E3BF918E60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EE27F8-C722-3EFB-D791-987689A164F4}"/>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3824944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79B0-0B28-AE8C-8945-A5214E1458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DEA1FD-5BE4-9621-4179-7099B64DA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9980A-493D-D5F4-54D7-0D72CFB982A7}"/>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5" name="Footer Placeholder 4">
            <a:extLst>
              <a:ext uri="{FF2B5EF4-FFF2-40B4-BE49-F238E27FC236}">
                <a16:creationId xmlns:a16="http://schemas.microsoft.com/office/drawing/2014/main" id="{FCDD3F47-CB10-211E-CD69-576E4A640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68117-23E4-6839-9585-235E702B5677}"/>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306753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354F-6521-41D7-26E1-B020424AC2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9664E7-CA43-AAD9-0FD1-E71E0792AB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ACA8C0-8F08-B513-88F3-672F6750AE1B}"/>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5" name="Footer Placeholder 4">
            <a:extLst>
              <a:ext uri="{FF2B5EF4-FFF2-40B4-BE49-F238E27FC236}">
                <a16:creationId xmlns:a16="http://schemas.microsoft.com/office/drawing/2014/main" id="{CFF598CB-6F20-C0FF-D7A8-7567294447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C31B49-7B76-BCEC-71BC-F3E283FAFEDE}"/>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17059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B578-BEA2-EBB7-1A78-04DC30AD61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275C6-F4BD-43E2-59AB-79B39F5FF3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B833D3-6636-7DD0-16EC-D434CF0C91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258CC9-3B27-F517-0C61-A8410F4DDF98}"/>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6" name="Footer Placeholder 5">
            <a:extLst>
              <a:ext uri="{FF2B5EF4-FFF2-40B4-BE49-F238E27FC236}">
                <a16:creationId xmlns:a16="http://schemas.microsoft.com/office/drawing/2014/main" id="{2EFFC4EA-B292-1260-6AD4-CB96BDB1F1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608595-3455-7FAD-1184-885D42C1B44E}"/>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1384393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8496E-9DC9-86FB-33C6-92D903B984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2D62A0-5A76-EA04-AEC2-8E6D95FD0E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4D4EC6-8BD6-F7D4-FB44-FC3A7ADF3E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77D8B1-1717-B681-4747-6C25AC7A7C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29FC94-A6EC-D5C9-CD40-1A5709C88F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F0DA0A-64DC-1787-79D9-73E669F2B658}"/>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8" name="Footer Placeholder 7">
            <a:extLst>
              <a:ext uri="{FF2B5EF4-FFF2-40B4-BE49-F238E27FC236}">
                <a16:creationId xmlns:a16="http://schemas.microsoft.com/office/drawing/2014/main" id="{57316551-8BDE-7DD8-CC44-0E1689B0CC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E40E40-F24D-CA0C-5492-7832714A1F6F}"/>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3977162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718D3-586F-C1EB-AD34-3B0504B93F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EE0265-B31B-B1D8-49D0-59CFF9477EAB}"/>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4" name="Footer Placeholder 3">
            <a:extLst>
              <a:ext uri="{FF2B5EF4-FFF2-40B4-BE49-F238E27FC236}">
                <a16:creationId xmlns:a16="http://schemas.microsoft.com/office/drawing/2014/main" id="{7C9F48B1-D016-5DBA-935D-15964A03C7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B950BA-1726-6BA7-3A40-9DE146CFEBF5}"/>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3149252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1B915B-0092-9FE5-4F42-782442384330}"/>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3" name="Footer Placeholder 2">
            <a:extLst>
              <a:ext uri="{FF2B5EF4-FFF2-40B4-BE49-F238E27FC236}">
                <a16:creationId xmlns:a16="http://schemas.microsoft.com/office/drawing/2014/main" id="{923E99C9-623D-CFCD-70F4-028EF109D6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77D682-FD25-99B9-670D-8516C6FD4B77}"/>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1924479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AFEFC-2881-C5C5-FB91-A1E04FB84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43148A-026E-8E32-E52B-C8F6DE201F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5195DB-F45A-93FF-9E05-0E6C6F27C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BC4E21-A796-E8DD-B5DA-296E655F3A3C}"/>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6" name="Footer Placeholder 5">
            <a:extLst>
              <a:ext uri="{FF2B5EF4-FFF2-40B4-BE49-F238E27FC236}">
                <a16:creationId xmlns:a16="http://schemas.microsoft.com/office/drawing/2014/main" id="{97862E0E-8DB5-B8A8-D7C2-6B91DFAB6E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B1E7BD-7026-4A69-F5D3-16F4DF5DF6C8}"/>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4205050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A174F-D669-2179-41ED-FE56054EC9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A850E4-AF3A-68DF-213F-36B47B58CC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04A647-735B-2A8D-E226-2EF2057ED9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D447C7-29FB-EEFD-430B-B94D18C728E0}"/>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6" name="Footer Placeholder 5">
            <a:extLst>
              <a:ext uri="{FF2B5EF4-FFF2-40B4-BE49-F238E27FC236}">
                <a16:creationId xmlns:a16="http://schemas.microsoft.com/office/drawing/2014/main" id="{A6BC8EBB-6846-FF78-379A-DC94986F7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742A14-D7D2-B8A4-121E-6E814FE0AADD}"/>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2305162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D0CB-CC6B-F0E7-5D4D-D28488A8FA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422486-FC7D-02D9-B421-5D03CB1867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017D58-8AEB-52EE-7208-608E133E45B7}"/>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5" name="Footer Placeholder 4">
            <a:extLst>
              <a:ext uri="{FF2B5EF4-FFF2-40B4-BE49-F238E27FC236}">
                <a16:creationId xmlns:a16="http://schemas.microsoft.com/office/drawing/2014/main" id="{891C9623-30B9-9441-4E3A-4845C29CED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DA923-621A-7971-D8F6-B3610C4D92A2}"/>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429202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5AF170-FC22-7AD6-2826-E052267C76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3DB421-B645-6756-2D61-56CBA59AEF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E360B5-D31A-29DB-FB07-C49BB53BF7CB}"/>
              </a:ext>
            </a:extLst>
          </p:cNvPr>
          <p:cNvSpPr>
            <a:spLocks noGrp="1"/>
          </p:cNvSpPr>
          <p:nvPr>
            <p:ph type="dt" sz="half" idx="10"/>
          </p:nvPr>
        </p:nvSpPr>
        <p:spPr/>
        <p:txBody>
          <a:bodyPr/>
          <a:lstStyle/>
          <a:p>
            <a:fld id="{E21C5D09-E6D8-4F51-9519-B2638DD159DC}" type="datetimeFigureOut">
              <a:rPr lang="en-US" smtClean="0"/>
              <a:t>1/15/2026</a:t>
            </a:fld>
            <a:endParaRPr lang="en-US"/>
          </a:p>
        </p:txBody>
      </p:sp>
      <p:sp>
        <p:nvSpPr>
          <p:cNvPr id="5" name="Footer Placeholder 4">
            <a:extLst>
              <a:ext uri="{FF2B5EF4-FFF2-40B4-BE49-F238E27FC236}">
                <a16:creationId xmlns:a16="http://schemas.microsoft.com/office/drawing/2014/main" id="{51548868-5EA5-4995-0249-04B684AB2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CEF55-7828-AC13-5B22-59484F099FAD}"/>
              </a:ext>
            </a:extLst>
          </p:cNvPr>
          <p:cNvSpPr>
            <a:spLocks noGrp="1"/>
          </p:cNvSpPr>
          <p:nvPr>
            <p:ph type="sldNum" sz="quarter" idx="12"/>
          </p:nvPr>
        </p:nvSpPr>
        <p:spPr/>
        <p:txBody>
          <a:bodyPr/>
          <a:lstStyle/>
          <a:p>
            <a:fld id="{84EB74F4-5D02-4BF3-8970-291C593D11D6}" type="slidenum">
              <a:rPr lang="en-US" smtClean="0"/>
              <a:t>‹#›</a:t>
            </a:fld>
            <a:endParaRPr lang="en-US"/>
          </a:p>
        </p:txBody>
      </p:sp>
    </p:spTree>
    <p:extLst>
      <p:ext uri="{BB962C8B-B14F-4D97-AF65-F5344CB8AC3E}">
        <p14:creationId xmlns:p14="http://schemas.microsoft.com/office/powerpoint/2010/main" val="3536416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743537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FD2AC1-6B74-7AF3-09DF-019ED4C1F1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5AEF8D-4DA5-8B70-0562-A25DA8BCAB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7F0A1E-BB86-FE81-136F-3B8765AE3C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1C5D09-E6D8-4F51-9519-B2638DD159DC}" type="datetimeFigureOut">
              <a:rPr lang="en-US" smtClean="0"/>
              <a:t>1/15/2026</a:t>
            </a:fld>
            <a:endParaRPr lang="en-US"/>
          </a:p>
        </p:txBody>
      </p:sp>
      <p:sp>
        <p:nvSpPr>
          <p:cNvPr id="5" name="Footer Placeholder 4">
            <a:extLst>
              <a:ext uri="{FF2B5EF4-FFF2-40B4-BE49-F238E27FC236}">
                <a16:creationId xmlns:a16="http://schemas.microsoft.com/office/drawing/2014/main" id="{213FD8F6-0D97-59CF-C94A-0618106171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4BAC2F-80C4-7557-6A74-695C94D48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EB74F4-5D02-4BF3-8970-291C593D11D6}" type="slidenum">
              <a:rPr lang="en-US" smtClean="0"/>
              <a:t>‹#›</a:t>
            </a:fld>
            <a:endParaRPr lang="en-US"/>
          </a:p>
        </p:txBody>
      </p:sp>
    </p:spTree>
    <p:extLst>
      <p:ext uri="{BB962C8B-B14F-4D97-AF65-F5344CB8AC3E}">
        <p14:creationId xmlns:p14="http://schemas.microsoft.com/office/powerpoint/2010/main" val="3865111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3D3112-9E43-41EE-8CFE-62849C1BE439}"/>
              </a:ext>
            </a:extLst>
          </p:cNvPr>
          <p:cNvSpPr>
            <a:spLocks noGrp="1"/>
          </p:cNvSpPr>
          <p:nvPr>
            <p:ph type="sldNum" sz="quarter" idx="12"/>
          </p:nvPr>
        </p:nvSpPr>
        <p:spPr/>
        <p:txBody>
          <a:bodyPr/>
          <a:lstStyle/>
          <a:p>
            <a:fld id="{056F86DB-78DF-EB43-A6BE-40415A3A0052}" type="slidenum">
              <a:rPr lang="en-US" smtClean="0"/>
              <a:pPr/>
              <a:t>1</a:t>
            </a:fld>
            <a:endParaRPr lang="en-US"/>
          </a:p>
        </p:txBody>
      </p:sp>
      <p:sp>
        <p:nvSpPr>
          <p:cNvPr id="3" name="Title 2">
            <a:extLst>
              <a:ext uri="{FF2B5EF4-FFF2-40B4-BE49-F238E27FC236}">
                <a16:creationId xmlns:a16="http://schemas.microsoft.com/office/drawing/2014/main" id="{6239E961-BD3E-493F-81D9-9F565CF17B86}"/>
              </a:ext>
            </a:extLst>
          </p:cNvPr>
          <p:cNvSpPr>
            <a:spLocks noGrp="1"/>
          </p:cNvSpPr>
          <p:nvPr>
            <p:ph type="ctrTitle"/>
          </p:nvPr>
        </p:nvSpPr>
        <p:spPr/>
        <p:txBody>
          <a:bodyPr/>
          <a:lstStyle/>
          <a:p>
            <a:r>
              <a:rPr lang="en-US" err="1"/>
              <a:t>Veracuity</a:t>
            </a:r>
            <a:endParaRPr lang="en-US"/>
          </a:p>
        </p:txBody>
      </p:sp>
      <p:sp>
        <p:nvSpPr>
          <p:cNvPr id="4" name="Rectangle 3">
            <a:extLst>
              <a:ext uri="{FF2B5EF4-FFF2-40B4-BE49-F238E27FC236}">
                <a16:creationId xmlns:a16="http://schemas.microsoft.com/office/drawing/2014/main" id="{67A8A395-18DC-4196-93BE-062508E0E531}"/>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 name="Text Placeholder 3">
            <a:extLst>
              <a:ext uri="{FF2B5EF4-FFF2-40B4-BE49-F238E27FC236}">
                <a16:creationId xmlns:a16="http://schemas.microsoft.com/office/drawing/2014/main" id="{21AC8163-4844-4785-B226-F19A7F8E9E9A}"/>
              </a:ext>
            </a:extLst>
          </p:cNvPr>
          <p:cNvSpPr txBox="1">
            <a:spLocks/>
          </p:cNvSpPr>
          <p:nvPr/>
        </p:nvSpPr>
        <p:spPr>
          <a:xfrm>
            <a:off x="602822" y="1212662"/>
            <a:ext cx="4031044" cy="27987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rgbClr val="008AD9"/>
                </a:solidFill>
                <a:latin typeface="Arial" panose="020B0604020202020204" pitchFamily="34" charset="0"/>
                <a:cs typeface="Arial" panose="020B0604020202020204" pitchFamily="34" charset="0"/>
              </a:rPr>
              <a:t>Overview</a:t>
            </a:r>
          </a:p>
        </p:txBody>
      </p:sp>
      <p:sp>
        <p:nvSpPr>
          <p:cNvPr id="6" name="Text Placeholder 3">
            <a:extLst>
              <a:ext uri="{FF2B5EF4-FFF2-40B4-BE49-F238E27FC236}">
                <a16:creationId xmlns:a16="http://schemas.microsoft.com/office/drawing/2014/main" id="{DC9CC5CF-8227-4900-A90A-6B52028A8F78}"/>
              </a:ext>
            </a:extLst>
          </p:cNvPr>
          <p:cNvSpPr txBox="1">
            <a:spLocks/>
          </p:cNvSpPr>
          <p:nvPr/>
        </p:nvSpPr>
        <p:spPr>
          <a:xfrm>
            <a:off x="602822" y="1492535"/>
            <a:ext cx="4448572" cy="202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5000"/>
              </a:lnSpc>
              <a:spcBef>
                <a:spcPts val="0"/>
              </a:spcBef>
              <a:buNone/>
              <a:defRPr/>
            </a:pPr>
            <a:r>
              <a:rPr lang="en-US" sz="1200" err="1">
                <a:solidFill>
                  <a:prstClr val="black"/>
                </a:solidFill>
                <a:latin typeface="+mn-lt"/>
                <a:ea typeface="MS Mincho" panose="02020609040205080304" pitchFamily="49" charset="-128"/>
                <a:cs typeface="Segoe UI Light" panose="020B0502040204020203" pitchFamily="34" charset="0"/>
              </a:rPr>
              <a:t>Veracuity</a:t>
            </a:r>
            <a:r>
              <a:rPr lang="en-US" sz="1200">
                <a:solidFill>
                  <a:prstClr val="black"/>
                </a:solidFill>
                <a:latin typeface="+mn-lt"/>
                <a:ea typeface="MS Mincho" panose="02020609040205080304" pitchFamily="49" charset="-128"/>
                <a:cs typeface="Segoe UI Light" panose="020B0502040204020203" pitchFamily="34" charset="0"/>
              </a:rPr>
              <a:t> is a digital Health Care company that operates in the Pharmaceutical space, focusing on drug and vaccine safety. Their need was to develop an application around their intake process that would facilitate the collection of adverse drug and vaccine effects. These side effect data points drive a series of reports that were designed to provide analytics that convey valuable safety insights to both consumers and health care professionals.</a:t>
            </a:r>
            <a:endParaRPr kumimoji="0" lang="en-US" sz="1200" b="0" i="0" u="none" strike="noStrike" kern="1200" cap="none" spc="0" normalizeH="0" baseline="0" noProof="0">
              <a:ln>
                <a:noFill/>
              </a:ln>
              <a:solidFill>
                <a:prstClr val="black"/>
              </a:solidFill>
              <a:effectLst/>
              <a:uLnTx/>
              <a:uFillTx/>
              <a:latin typeface="+mn-lt"/>
              <a:ea typeface="MS Mincho" panose="02020609040205080304" pitchFamily="49" charset="-128"/>
              <a:cs typeface="Segoe UI Light" panose="020B0502040204020203" pitchFamily="34" charset="0"/>
            </a:endParaRPr>
          </a:p>
        </p:txBody>
      </p:sp>
      <p:sp>
        <p:nvSpPr>
          <p:cNvPr id="7" name="Text Placeholder 3">
            <a:extLst>
              <a:ext uri="{FF2B5EF4-FFF2-40B4-BE49-F238E27FC236}">
                <a16:creationId xmlns:a16="http://schemas.microsoft.com/office/drawing/2014/main" id="{EABE25CD-8A47-4673-8EED-BDE3A79F7BB3}"/>
              </a:ext>
            </a:extLst>
          </p:cNvPr>
          <p:cNvSpPr txBox="1">
            <a:spLocks/>
          </p:cNvSpPr>
          <p:nvPr/>
        </p:nvSpPr>
        <p:spPr>
          <a:xfrm>
            <a:off x="602822" y="4042849"/>
            <a:ext cx="4031044" cy="2796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rgbClr val="008AD9"/>
                </a:solidFill>
                <a:latin typeface="Arial" panose="020B0604020202020204" pitchFamily="34" charset="0"/>
                <a:cs typeface="Arial" panose="020B0604020202020204" pitchFamily="34" charset="0"/>
              </a:rPr>
              <a:t>What We Did</a:t>
            </a:r>
          </a:p>
        </p:txBody>
      </p:sp>
      <p:sp>
        <p:nvSpPr>
          <p:cNvPr id="8" name="Text Placeholder 3">
            <a:extLst>
              <a:ext uri="{FF2B5EF4-FFF2-40B4-BE49-F238E27FC236}">
                <a16:creationId xmlns:a16="http://schemas.microsoft.com/office/drawing/2014/main" id="{6F3A627C-7FD4-4FAF-AA30-54375D101E66}"/>
              </a:ext>
            </a:extLst>
          </p:cNvPr>
          <p:cNvSpPr txBox="1">
            <a:spLocks/>
          </p:cNvSpPr>
          <p:nvPr/>
        </p:nvSpPr>
        <p:spPr>
          <a:xfrm>
            <a:off x="602822" y="4322539"/>
            <a:ext cx="4448572" cy="12031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5000"/>
              </a:lnSpc>
              <a:spcBef>
                <a:spcPts val="0"/>
              </a:spcBef>
              <a:buNone/>
              <a:defRPr/>
            </a:pPr>
            <a:r>
              <a:rPr lang="en-US" sz="1200">
                <a:solidFill>
                  <a:prstClr val="black"/>
                </a:solidFill>
                <a:latin typeface="+mn-lt"/>
                <a:ea typeface="MS Mincho" panose="02020609040205080304" pitchFamily="49" charset="-128"/>
                <a:cs typeface="Segoe UI Light" panose="020B0502040204020203" pitchFamily="34" charset="0"/>
              </a:rPr>
              <a:t>Affirma was tasked with the development and delivery of a pair of web portals – </a:t>
            </a:r>
            <a:r>
              <a:rPr lang="en-US" sz="1200" err="1">
                <a:solidFill>
                  <a:prstClr val="black"/>
                </a:solidFill>
                <a:latin typeface="+mn-lt"/>
                <a:ea typeface="MS Mincho" panose="02020609040205080304" pitchFamily="49" charset="-128"/>
                <a:cs typeface="Segoe UI Light" panose="020B0502040204020203" pitchFamily="34" charset="0"/>
              </a:rPr>
              <a:t>DrugVisual</a:t>
            </a:r>
            <a:r>
              <a:rPr lang="en-US" sz="1200">
                <a:solidFill>
                  <a:prstClr val="black"/>
                </a:solidFill>
                <a:latin typeface="+mn-lt"/>
                <a:ea typeface="MS Mincho" panose="02020609040205080304" pitchFamily="49" charset="-128"/>
                <a:cs typeface="Segoe UI Light" panose="020B0502040204020203" pitchFamily="34" charset="0"/>
              </a:rPr>
              <a:t> and </a:t>
            </a:r>
            <a:r>
              <a:rPr lang="en-US" sz="1200" err="1">
                <a:solidFill>
                  <a:prstClr val="black"/>
                </a:solidFill>
                <a:latin typeface="+mn-lt"/>
                <a:ea typeface="MS Mincho" panose="02020609040205080304" pitchFamily="49" charset="-128"/>
                <a:cs typeface="Segoe UI Light" panose="020B0502040204020203" pitchFamily="34" charset="0"/>
              </a:rPr>
              <a:t>ReportDrugEvents</a:t>
            </a:r>
            <a:r>
              <a:rPr lang="en-US" sz="1200">
                <a:solidFill>
                  <a:prstClr val="black"/>
                </a:solidFill>
                <a:latin typeface="+mn-lt"/>
                <a:ea typeface="MS Mincho" panose="02020609040205080304" pitchFamily="49" charset="-128"/>
                <a:cs typeface="Segoe UI Light" panose="020B0502040204020203" pitchFamily="34" charset="0"/>
              </a:rPr>
              <a:t>. </a:t>
            </a:r>
            <a:r>
              <a:rPr lang="en-US" sz="1200" err="1">
                <a:solidFill>
                  <a:prstClr val="black"/>
                </a:solidFill>
                <a:latin typeface="+mn-lt"/>
                <a:ea typeface="MS Mincho" panose="02020609040205080304" pitchFamily="49" charset="-128"/>
                <a:cs typeface="Segoe UI Light" panose="020B0502040204020203" pitchFamily="34" charset="0"/>
              </a:rPr>
              <a:t>DrugVisual</a:t>
            </a:r>
            <a:r>
              <a:rPr lang="en-US" sz="1200">
                <a:solidFill>
                  <a:prstClr val="black"/>
                </a:solidFill>
                <a:latin typeface="+mn-lt"/>
                <a:ea typeface="MS Mincho" panose="02020609040205080304" pitchFamily="49" charset="-128"/>
                <a:cs typeface="Segoe UI Light" panose="020B0502040204020203" pitchFamily="34" charset="0"/>
              </a:rPr>
              <a:t> serves as a portal for consumers to access insights about specific drugs and possible side effects</a:t>
            </a:r>
            <a:endParaRPr kumimoji="0" lang="en-US" sz="1200" b="0" i="0" u="none" strike="noStrike" kern="1200" cap="none" spc="0" normalizeH="0" baseline="0" noProof="0">
              <a:ln>
                <a:noFill/>
              </a:ln>
              <a:solidFill>
                <a:prstClr val="black"/>
              </a:solidFill>
              <a:effectLst/>
              <a:uLnTx/>
              <a:uFillTx/>
              <a:latin typeface="+mn-lt"/>
              <a:ea typeface="MS Mincho" panose="02020609040205080304" pitchFamily="49" charset="-128"/>
              <a:cs typeface="Segoe UI Light" panose="020B0502040204020203" pitchFamily="34" charset="0"/>
            </a:endParaRPr>
          </a:p>
        </p:txBody>
      </p:sp>
      <p:sp>
        <p:nvSpPr>
          <p:cNvPr id="13" name="Text Placeholder 3">
            <a:extLst>
              <a:ext uri="{FF2B5EF4-FFF2-40B4-BE49-F238E27FC236}">
                <a16:creationId xmlns:a16="http://schemas.microsoft.com/office/drawing/2014/main" id="{90C92A0C-ADE7-4E73-988F-BC6317469CBA}"/>
              </a:ext>
            </a:extLst>
          </p:cNvPr>
          <p:cNvSpPr txBox="1">
            <a:spLocks/>
          </p:cNvSpPr>
          <p:nvPr/>
        </p:nvSpPr>
        <p:spPr>
          <a:xfrm>
            <a:off x="6096000" y="1767488"/>
            <a:ext cx="4448572" cy="160162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5000"/>
              </a:lnSpc>
              <a:spcBef>
                <a:spcPts val="0"/>
              </a:spcBef>
              <a:defRPr/>
            </a:pPr>
            <a:r>
              <a:rPr kumimoji="0" lang="en-US" sz="1200" b="0" i="0" u="none" strike="noStrike" kern="1200" cap="none" spc="0" normalizeH="0" baseline="0" noProof="0">
                <a:ln>
                  <a:noFill/>
                </a:ln>
                <a:solidFill>
                  <a:prstClr val="black"/>
                </a:solidFill>
                <a:effectLst/>
                <a:uLnTx/>
                <a:uFillTx/>
                <a:latin typeface="+mn-lt"/>
                <a:ea typeface="MS Mincho" panose="02020609040205080304" pitchFamily="49" charset="-128"/>
                <a:cs typeface="Segoe UI Light" panose="020B0502040204020203" pitchFamily="34" charset="0"/>
              </a:rPr>
              <a:t>Serves as a detailed, reliable, and accurate resource about drugs, vaccines, and interactions between them</a:t>
            </a:r>
          </a:p>
          <a:p>
            <a:pPr>
              <a:lnSpc>
                <a:spcPct val="135000"/>
              </a:lnSpc>
              <a:spcBef>
                <a:spcPts val="0"/>
              </a:spcBef>
              <a:defRPr/>
            </a:pPr>
            <a:r>
              <a:rPr lang="en-US" sz="1200">
                <a:solidFill>
                  <a:prstClr val="black"/>
                </a:solidFill>
                <a:latin typeface="+mn-lt"/>
                <a:ea typeface="MS Mincho" panose="02020609040205080304" pitchFamily="49" charset="-128"/>
                <a:cs typeface="Segoe UI Light" panose="020B0502040204020203" pitchFamily="34" charset="0"/>
              </a:rPr>
              <a:t>Is able to detect trends in Consumer concerns based on data entry, and deliver alerts and notifications to subscribers</a:t>
            </a:r>
          </a:p>
          <a:p>
            <a:pPr>
              <a:lnSpc>
                <a:spcPct val="135000"/>
              </a:lnSpc>
              <a:spcBef>
                <a:spcPts val="0"/>
              </a:spcBef>
              <a:defRPr/>
            </a:pPr>
            <a:r>
              <a:rPr kumimoji="0" lang="en-US" sz="1200" b="0" i="0" u="none" strike="noStrike" kern="1200" cap="none" spc="0" normalizeH="0" baseline="0" noProof="0">
                <a:ln>
                  <a:noFill/>
                </a:ln>
                <a:solidFill>
                  <a:prstClr val="black"/>
                </a:solidFill>
                <a:effectLst/>
                <a:uLnTx/>
                <a:uFillTx/>
                <a:latin typeface="+mn-lt"/>
                <a:ea typeface="MS Mincho" panose="02020609040205080304" pitchFamily="49" charset="-128"/>
                <a:cs typeface="Segoe UI Light" panose="020B0502040204020203" pitchFamily="34" charset="0"/>
              </a:rPr>
              <a:t>Social media monitoring augments trend detection</a:t>
            </a:r>
          </a:p>
          <a:p>
            <a:pPr>
              <a:lnSpc>
                <a:spcPct val="135000"/>
              </a:lnSpc>
              <a:spcBef>
                <a:spcPts val="0"/>
              </a:spcBef>
              <a:defRPr/>
            </a:pPr>
            <a:r>
              <a:rPr lang="en-US" sz="1200">
                <a:solidFill>
                  <a:prstClr val="black"/>
                </a:solidFill>
                <a:latin typeface="+mn-lt"/>
                <a:ea typeface="MS Mincho" panose="02020609040205080304" pitchFamily="49" charset="-128"/>
                <a:cs typeface="Segoe UI Light" panose="020B0502040204020203" pitchFamily="34" charset="0"/>
              </a:rPr>
              <a:t>Web and mobile apps available, ad-free &amp; consume-friendly</a:t>
            </a:r>
            <a:endParaRPr kumimoji="0" lang="en-US" sz="1200" b="0" i="0" u="none" strike="noStrike" kern="1200" cap="none" spc="0" normalizeH="0" baseline="0" noProof="0">
              <a:ln>
                <a:noFill/>
              </a:ln>
              <a:solidFill>
                <a:prstClr val="black"/>
              </a:solidFill>
              <a:effectLst/>
              <a:uLnTx/>
              <a:uFillTx/>
              <a:latin typeface="+mn-lt"/>
              <a:ea typeface="MS Mincho" panose="02020609040205080304" pitchFamily="49" charset="-128"/>
              <a:cs typeface="Segoe UI Light" panose="020B0502040204020203" pitchFamily="34" charset="0"/>
            </a:endParaRPr>
          </a:p>
        </p:txBody>
      </p:sp>
      <p:pic>
        <p:nvPicPr>
          <p:cNvPr id="14" name="Picture 2">
            <a:extLst>
              <a:ext uri="{FF2B5EF4-FFF2-40B4-BE49-F238E27FC236}">
                <a16:creationId xmlns:a16="http://schemas.microsoft.com/office/drawing/2014/main" id="{8C0F4EC3-21C4-43B8-86AC-78D963319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2235" y="1212662"/>
            <a:ext cx="2942040" cy="462823"/>
          </a:xfrm>
          <a:prstGeom prst="rect">
            <a:avLst/>
          </a:prstGeom>
          <a:noFill/>
          <a:extLst>
            <a:ext uri="{909E8E84-426E-40DD-AFC4-6F175D3DCCD1}">
              <a14:hiddenFill xmlns:a14="http://schemas.microsoft.com/office/drawing/2010/main">
                <a:solidFill>
                  <a:srgbClr val="FFFFFF"/>
                </a:solidFill>
              </a14:hiddenFill>
            </a:ext>
          </a:extLst>
        </p:spPr>
      </p:pic>
      <p:sp>
        <p:nvSpPr>
          <p:cNvPr id="15" name="Text Placeholder 3">
            <a:extLst>
              <a:ext uri="{FF2B5EF4-FFF2-40B4-BE49-F238E27FC236}">
                <a16:creationId xmlns:a16="http://schemas.microsoft.com/office/drawing/2014/main" id="{FD4F47AD-4FD1-4DDC-A579-86A538EA16A9}"/>
              </a:ext>
            </a:extLst>
          </p:cNvPr>
          <p:cNvSpPr txBox="1">
            <a:spLocks/>
          </p:cNvSpPr>
          <p:nvPr/>
        </p:nvSpPr>
        <p:spPr>
          <a:xfrm>
            <a:off x="6192235" y="4042849"/>
            <a:ext cx="4448572" cy="216553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5000"/>
              </a:lnSpc>
              <a:spcBef>
                <a:spcPts val="0"/>
              </a:spcBef>
              <a:defRPr/>
            </a:pPr>
            <a:r>
              <a:rPr kumimoji="0" lang="en-US" sz="1200" b="0" i="0" u="none" strike="noStrike" kern="1200" cap="none" spc="0" normalizeH="0" baseline="0" noProof="0">
                <a:ln>
                  <a:noFill/>
                </a:ln>
                <a:solidFill>
                  <a:prstClr val="black"/>
                </a:solidFill>
                <a:effectLst/>
                <a:uLnTx/>
                <a:uFillTx/>
                <a:latin typeface="+mn-lt"/>
                <a:ea typeface="MS Mincho" panose="02020609040205080304" pitchFamily="49" charset="-128"/>
                <a:cs typeface="Segoe UI Light" panose="020B0502040204020203" pitchFamily="34" charset="0"/>
              </a:rPr>
              <a:t>Serves as the vehicle for collecting and reporting adverse drug events</a:t>
            </a:r>
          </a:p>
          <a:p>
            <a:pPr>
              <a:lnSpc>
                <a:spcPct val="135000"/>
              </a:lnSpc>
              <a:spcBef>
                <a:spcPts val="0"/>
              </a:spcBef>
              <a:defRPr/>
            </a:pPr>
            <a:r>
              <a:rPr lang="en-US" sz="1200" dirty="0">
                <a:solidFill>
                  <a:prstClr val="black"/>
                </a:solidFill>
                <a:latin typeface="+mn-lt"/>
                <a:ea typeface="MS Mincho" panose="02020609040205080304" pitchFamily="49" charset="-128"/>
                <a:cs typeface="Segoe UI Light" panose="020B0502040204020203" pitchFamily="34" charset="0"/>
              </a:rPr>
              <a:t>The data from RDE drives the </a:t>
            </a:r>
            <a:r>
              <a:rPr lang="en-US" sz="1200" dirty="0" err="1">
                <a:solidFill>
                  <a:prstClr val="black"/>
                </a:solidFill>
                <a:latin typeface="+mn-lt"/>
                <a:ea typeface="MS Mincho" panose="02020609040205080304" pitchFamily="49" charset="-128"/>
                <a:cs typeface="Segoe UI Light" panose="020B0502040204020203" pitchFamily="34" charset="0"/>
              </a:rPr>
              <a:t>DrugVisual</a:t>
            </a:r>
            <a:r>
              <a:rPr lang="en-US" sz="1200" dirty="0">
                <a:solidFill>
                  <a:prstClr val="black"/>
                </a:solidFill>
                <a:latin typeface="+mn-lt"/>
                <a:ea typeface="MS Mincho" panose="02020609040205080304" pitchFamily="49" charset="-128"/>
                <a:cs typeface="Segoe UI Light" panose="020B0502040204020203" pitchFamily="34" charset="0"/>
              </a:rPr>
              <a:t> data store</a:t>
            </a:r>
          </a:p>
          <a:p>
            <a:pPr>
              <a:lnSpc>
                <a:spcPct val="135000"/>
              </a:lnSpc>
              <a:spcBef>
                <a:spcPts val="0"/>
              </a:spcBef>
              <a:defRPr/>
            </a:pPr>
            <a:r>
              <a:rPr kumimoji="0" lang="en-US" sz="1200" b="0" i="0" u="none" strike="noStrike" kern="1200" cap="none" spc="0" normalizeH="0" baseline="0" noProof="0" dirty="0">
                <a:ln>
                  <a:noFill/>
                </a:ln>
                <a:solidFill>
                  <a:prstClr val="black"/>
                </a:solidFill>
                <a:effectLst/>
                <a:uLnTx/>
                <a:uFillTx/>
                <a:latin typeface="+mn-lt"/>
                <a:ea typeface="MS Mincho" panose="02020609040205080304" pitchFamily="49" charset="-128"/>
                <a:cs typeface="Segoe UI Light" panose="020B0502040204020203" pitchFamily="34" charset="0"/>
              </a:rPr>
              <a:t>Adverse Events are automatically reported to the FDA</a:t>
            </a:r>
          </a:p>
          <a:p>
            <a:pPr>
              <a:lnSpc>
                <a:spcPct val="135000"/>
              </a:lnSpc>
              <a:spcBef>
                <a:spcPts val="0"/>
              </a:spcBef>
              <a:defRPr/>
            </a:pPr>
            <a:r>
              <a:rPr lang="en-US" sz="1200" dirty="0">
                <a:solidFill>
                  <a:prstClr val="black"/>
                </a:solidFill>
                <a:latin typeface="+mn-lt"/>
                <a:ea typeface="MS Mincho" panose="02020609040205080304" pitchFamily="49" charset="-128"/>
                <a:cs typeface="Segoe UI Light" panose="020B0502040204020203" pitchFamily="34" charset="0"/>
              </a:rPr>
              <a:t>Allows doctors and other health care professionals to track patient data and receive configured alerts on adverse events, with patient consent</a:t>
            </a:r>
          </a:p>
          <a:p>
            <a:pPr>
              <a:lnSpc>
                <a:spcPct val="135000"/>
              </a:lnSpc>
              <a:spcBef>
                <a:spcPts val="0"/>
              </a:spcBef>
              <a:defRPr/>
            </a:pPr>
            <a:r>
              <a:rPr kumimoji="0" lang="en-US" sz="1200" b="0" i="0" u="none" strike="noStrike" kern="1200" cap="none" spc="0" normalizeH="0" baseline="0" noProof="0" dirty="0">
                <a:ln>
                  <a:noFill/>
                </a:ln>
                <a:solidFill>
                  <a:prstClr val="black"/>
                </a:solidFill>
                <a:effectLst/>
                <a:uLnTx/>
                <a:uFillTx/>
                <a:latin typeface="+mn-lt"/>
                <a:ea typeface="MS Mincho" panose="02020609040205080304" pitchFamily="49" charset="-128"/>
                <a:cs typeface="Segoe UI Light" panose="020B0502040204020203" pitchFamily="34" charset="0"/>
              </a:rPr>
              <a:t>Web and mobile app</a:t>
            </a:r>
          </a:p>
        </p:txBody>
      </p:sp>
      <p:pic>
        <p:nvPicPr>
          <p:cNvPr id="16" name="Picture 4">
            <a:extLst>
              <a:ext uri="{FF2B5EF4-FFF2-40B4-BE49-F238E27FC236}">
                <a16:creationId xmlns:a16="http://schemas.microsoft.com/office/drawing/2014/main" id="{A8FF138B-70D1-41D5-A11A-514ABE6B6C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2235" y="3429000"/>
            <a:ext cx="4752438" cy="553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71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3D3112-9E43-41EE-8CFE-62849C1BE439}"/>
              </a:ext>
            </a:extLst>
          </p:cNvPr>
          <p:cNvSpPr>
            <a:spLocks noGrp="1"/>
          </p:cNvSpPr>
          <p:nvPr>
            <p:ph type="sldNum" sz="quarter" idx="12"/>
          </p:nvPr>
        </p:nvSpPr>
        <p:spPr/>
        <p:txBody>
          <a:bodyPr/>
          <a:lstStyle/>
          <a:p>
            <a:fld id="{056F86DB-78DF-EB43-A6BE-40415A3A0052}" type="slidenum">
              <a:rPr lang="en-US" smtClean="0"/>
              <a:pPr/>
              <a:t>2</a:t>
            </a:fld>
            <a:endParaRPr lang="en-US"/>
          </a:p>
        </p:txBody>
      </p:sp>
      <p:sp>
        <p:nvSpPr>
          <p:cNvPr id="3" name="Title 2">
            <a:extLst>
              <a:ext uri="{FF2B5EF4-FFF2-40B4-BE49-F238E27FC236}">
                <a16:creationId xmlns:a16="http://schemas.microsoft.com/office/drawing/2014/main" id="{6239E961-BD3E-493F-81D9-9F565CF17B86}"/>
              </a:ext>
            </a:extLst>
          </p:cNvPr>
          <p:cNvSpPr>
            <a:spLocks noGrp="1"/>
          </p:cNvSpPr>
          <p:nvPr>
            <p:ph type="ctrTitle"/>
          </p:nvPr>
        </p:nvSpPr>
        <p:spPr/>
        <p:txBody>
          <a:bodyPr/>
          <a:lstStyle/>
          <a:p>
            <a:r>
              <a:rPr lang="en-US" err="1"/>
              <a:t>Veracuity</a:t>
            </a:r>
            <a:r>
              <a:rPr lang="en-US"/>
              <a:t> – Portal UI</a:t>
            </a:r>
          </a:p>
        </p:txBody>
      </p:sp>
      <p:sp>
        <p:nvSpPr>
          <p:cNvPr id="4" name="Rectangle 3">
            <a:extLst>
              <a:ext uri="{FF2B5EF4-FFF2-40B4-BE49-F238E27FC236}">
                <a16:creationId xmlns:a16="http://schemas.microsoft.com/office/drawing/2014/main" id="{67A8A395-18DC-4196-93BE-062508E0E531}"/>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026" name="Picture 2">
            <a:extLst>
              <a:ext uri="{FF2B5EF4-FFF2-40B4-BE49-F238E27FC236}">
                <a16:creationId xmlns:a16="http://schemas.microsoft.com/office/drawing/2014/main" id="{2031AE3C-4681-4A8F-AFCF-C0CA091F8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385" y="1197622"/>
            <a:ext cx="2942040" cy="5548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500D439-C649-4DCF-947F-4B5AE95386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9297" y="1128768"/>
            <a:ext cx="4752438" cy="55396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0C6FF60-04E3-4056-BE7B-518073E53546}"/>
              </a:ext>
            </a:extLst>
          </p:cNvPr>
          <p:cNvPicPr>
            <a:picLocks noChangeAspect="1"/>
          </p:cNvPicPr>
          <p:nvPr/>
        </p:nvPicPr>
        <p:blipFill>
          <a:blip r:embed="rId4"/>
          <a:stretch>
            <a:fillRect/>
          </a:stretch>
        </p:blipFill>
        <p:spPr>
          <a:xfrm>
            <a:off x="603284" y="1868712"/>
            <a:ext cx="3640242" cy="4472786"/>
          </a:xfrm>
          <a:prstGeom prst="rect">
            <a:avLst/>
          </a:prstGeom>
          <a:ln>
            <a:solidFill>
              <a:schemeClr val="accent1">
                <a:lumMod val="60000"/>
                <a:lumOff val="40000"/>
              </a:schemeClr>
            </a:solidFill>
          </a:ln>
        </p:spPr>
      </p:pic>
      <p:pic>
        <p:nvPicPr>
          <p:cNvPr id="14" name="Picture 13">
            <a:extLst>
              <a:ext uri="{FF2B5EF4-FFF2-40B4-BE49-F238E27FC236}">
                <a16:creationId xmlns:a16="http://schemas.microsoft.com/office/drawing/2014/main" id="{2CAD13EF-525B-407F-9FEE-A8DDAEBF8AC1}"/>
              </a:ext>
            </a:extLst>
          </p:cNvPr>
          <p:cNvPicPr>
            <a:picLocks noChangeAspect="1"/>
          </p:cNvPicPr>
          <p:nvPr/>
        </p:nvPicPr>
        <p:blipFill>
          <a:blip r:embed="rId5"/>
          <a:stretch>
            <a:fillRect/>
          </a:stretch>
        </p:blipFill>
        <p:spPr>
          <a:xfrm>
            <a:off x="6233602" y="1867432"/>
            <a:ext cx="2411650" cy="1741866"/>
          </a:xfrm>
          <a:prstGeom prst="rect">
            <a:avLst/>
          </a:prstGeom>
          <a:ln>
            <a:solidFill>
              <a:schemeClr val="accent1">
                <a:lumMod val="60000"/>
                <a:lumOff val="40000"/>
              </a:schemeClr>
            </a:solidFill>
          </a:ln>
        </p:spPr>
      </p:pic>
      <p:pic>
        <p:nvPicPr>
          <p:cNvPr id="19" name="Picture 18">
            <a:extLst>
              <a:ext uri="{FF2B5EF4-FFF2-40B4-BE49-F238E27FC236}">
                <a16:creationId xmlns:a16="http://schemas.microsoft.com/office/drawing/2014/main" id="{8A8F99FF-7F54-46B8-A62E-5AB2AC38709A}"/>
              </a:ext>
            </a:extLst>
          </p:cNvPr>
          <p:cNvPicPr>
            <a:picLocks noChangeAspect="1"/>
          </p:cNvPicPr>
          <p:nvPr/>
        </p:nvPicPr>
        <p:blipFill>
          <a:blip r:embed="rId6"/>
          <a:stretch>
            <a:fillRect/>
          </a:stretch>
        </p:blipFill>
        <p:spPr>
          <a:xfrm>
            <a:off x="6233602" y="3653716"/>
            <a:ext cx="2391501" cy="2686503"/>
          </a:xfrm>
          <a:prstGeom prst="rect">
            <a:avLst/>
          </a:prstGeom>
          <a:ln>
            <a:solidFill>
              <a:schemeClr val="accent1">
                <a:lumMod val="60000"/>
                <a:lumOff val="40000"/>
              </a:schemeClr>
            </a:solidFill>
          </a:ln>
        </p:spPr>
      </p:pic>
      <p:pic>
        <p:nvPicPr>
          <p:cNvPr id="20" name="Picture 19">
            <a:extLst>
              <a:ext uri="{FF2B5EF4-FFF2-40B4-BE49-F238E27FC236}">
                <a16:creationId xmlns:a16="http://schemas.microsoft.com/office/drawing/2014/main" id="{09DC61E0-5A42-4252-9D73-7B286E47ACD1}"/>
              </a:ext>
            </a:extLst>
          </p:cNvPr>
          <p:cNvPicPr>
            <a:picLocks noChangeAspect="1"/>
          </p:cNvPicPr>
          <p:nvPr/>
        </p:nvPicPr>
        <p:blipFill>
          <a:blip r:embed="rId7"/>
          <a:stretch>
            <a:fillRect/>
          </a:stretch>
        </p:blipFill>
        <p:spPr>
          <a:xfrm>
            <a:off x="8711418" y="1867432"/>
            <a:ext cx="2877297" cy="4472787"/>
          </a:xfrm>
          <a:prstGeom prst="rect">
            <a:avLst/>
          </a:prstGeom>
          <a:ln>
            <a:solidFill>
              <a:schemeClr val="accent1">
                <a:lumMod val="60000"/>
                <a:lumOff val="40000"/>
              </a:schemeClr>
            </a:solidFill>
          </a:ln>
        </p:spPr>
      </p:pic>
    </p:spTree>
    <p:extLst>
      <p:ext uri="{BB962C8B-B14F-4D97-AF65-F5344CB8AC3E}">
        <p14:creationId xmlns:p14="http://schemas.microsoft.com/office/powerpoint/2010/main" val="1318650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Product Development</Value>
    </Solutions>
    <Industries xmlns="f0ee8362-fa7e-4bc9-ab88-7dcfb17cb19b">
      <Value>Healthcare</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63CE66-1B7C-438E-9902-79B4A4E29055}">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4949B418-06B0-4C94-BA7C-28CD02AF9F11}">
  <ds:schemaRefs>
    <ds:schemaRef ds:uri="http://schemas.microsoft.com/sharepoint/v3/contenttype/forms"/>
  </ds:schemaRefs>
</ds:datastoreItem>
</file>

<file path=customXml/itemProps3.xml><?xml version="1.0" encoding="utf-8"?>
<ds:datastoreItem xmlns:ds="http://schemas.openxmlformats.org/officeDocument/2006/customXml" ds:itemID="{AC079C7B-3272-466C-9185-AB3470533F27}">
  <ds:schemaRefs>
    <ds:schemaRef ds:uri="http://schemas.microsoft.com/office/2006/metadata/customXsn"/>
  </ds:schemaRefs>
</ds:datastoreItem>
</file>

<file path=customXml/itemProps4.xml><?xml version="1.0" encoding="utf-8"?>
<ds:datastoreItem xmlns:ds="http://schemas.openxmlformats.org/officeDocument/2006/customXml" ds:itemID="{EE874E05-27DF-4078-8647-22E6324063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TotalTime>
  <Words>230</Words>
  <Application>Microsoft Office PowerPoint</Application>
  <PresentationFormat>Widescreen</PresentationFormat>
  <Paragraphs>19</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Veracuity</vt:lpstr>
      <vt:lpstr>Veracuity – Portal UI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Veracuity</dc:title>
  <dc:creator>Brendan Murphy</dc:creator>
  <cp:lastModifiedBy>Brendan Murphy</cp:lastModifiedBy>
  <cp:revision>4</cp:revision>
  <dcterms:created xsi:type="dcterms:W3CDTF">2024-04-12T00:15:08Z</dcterms:created>
  <dcterms:modified xsi:type="dcterms:W3CDTF">2026-01-15T22:59:42Z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