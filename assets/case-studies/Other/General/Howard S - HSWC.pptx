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5"/>
  </p:sldMasterIdLst>
  <p:notesMasterIdLst>
    <p:notesMasterId r:id="rId8"/>
  </p:notesMasterIdLst>
  <p:sldIdLst>
    <p:sldId id="2147469687" r:id="rId6"/>
    <p:sldId id="2147469686"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014" autoAdjust="0"/>
    <p:restoredTop sz="94660"/>
  </p:normalViewPr>
  <p:slideViewPr>
    <p:cSldViewPr snapToGrid="0">
      <p:cViewPr varScale="1">
        <p:scale>
          <a:sx n="150" d="100"/>
          <a:sy n="150" d="100"/>
        </p:scale>
        <p:origin x="624" y="1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customXml" Target="../customXml/item3.xml"/><Relationship Id="rId7" Type="http://schemas.openxmlformats.org/officeDocument/2006/relationships/slide" Target="slides/slide2.xml"/><Relationship Id="rId12" Type="http://schemas.openxmlformats.org/officeDocument/2006/relationships/tableStyles" Target="tableStyle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theme" Target="theme/theme1.xml"/><Relationship Id="rId5" Type="http://schemas.openxmlformats.org/officeDocument/2006/relationships/slideMaster" Target="slideMasters/slideMaster1.xml"/><Relationship Id="rId10" Type="http://schemas.openxmlformats.org/officeDocument/2006/relationships/viewProps" Target="viewProps.xml"/><Relationship Id="rId4" Type="http://schemas.openxmlformats.org/officeDocument/2006/relationships/customXml" Target="../customXml/item4.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68E4BA7-D414-4504-9C60-8AB746A9D2A5}" type="datetimeFigureOut">
              <a:rPr lang="en-US" smtClean="0"/>
              <a:t>10/17/2025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B42FC78-54FA-4715-A719-746F6027D06F}" type="slidenum">
              <a:rPr lang="en-US" smtClean="0"/>
              <a:t>‹#›</a:t>
            </a:fld>
            <a:endParaRPr lang="en-US"/>
          </a:p>
        </p:txBody>
      </p:sp>
    </p:spTree>
    <p:extLst>
      <p:ext uri="{BB962C8B-B14F-4D97-AF65-F5344CB8AC3E}">
        <p14:creationId xmlns:p14="http://schemas.microsoft.com/office/powerpoint/2010/main" val="12516236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54050" y="1162050"/>
            <a:ext cx="5573713" cy="31369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EE3F6CF-073A-4B4F-A2B7-08B9C7DBCB96}"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3089202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240362-104B-6465-2F51-924C7A81CD9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6D63551-63BF-3FBE-5D8C-DCB15A1393A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AE977EA-D8E5-53C9-25E1-FF73BCC1D06A}"/>
              </a:ext>
            </a:extLst>
          </p:cNvPr>
          <p:cNvSpPr>
            <a:spLocks noGrp="1"/>
          </p:cNvSpPr>
          <p:nvPr>
            <p:ph type="dt" sz="half" idx="10"/>
          </p:nvPr>
        </p:nvSpPr>
        <p:spPr/>
        <p:txBody>
          <a:bodyPr/>
          <a:lstStyle/>
          <a:p>
            <a:fld id="{AA281B1C-3C57-4A7C-A0EF-3BDF6ACB7231}" type="datetimeFigureOut">
              <a:rPr lang="en-US" smtClean="0"/>
              <a:t>10/17/2025</a:t>
            </a:fld>
            <a:endParaRPr lang="en-US"/>
          </a:p>
        </p:txBody>
      </p:sp>
      <p:sp>
        <p:nvSpPr>
          <p:cNvPr id="5" name="Footer Placeholder 4">
            <a:extLst>
              <a:ext uri="{FF2B5EF4-FFF2-40B4-BE49-F238E27FC236}">
                <a16:creationId xmlns:a16="http://schemas.microsoft.com/office/drawing/2014/main" id="{7BD2FF4F-2D09-9204-38CA-97B567EF04E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BDA45CA-1B0F-3DE0-DFB6-B4575BB1D278}"/>
              </a:ext>
            </a:extLst>
          </p:cNvPr>
          <p:cNvSpPr>
            <a:spLocks noGrp="1"/>
          </p:cNvSpPr>
          <p:nvPr>
            <p:ph type="sldNum" sz="quarter" idx="12"/>
          </p:nvPr>
        </p:nvSpPr>
        <p:spPr/>
        <p:txBody>
          <a:bodyPr/>
          <a:lstStyle/>
          <a:p>
            <a:fld id="{C8BE1936-098E-4400-8C97-F1504A953E87}" type="slidenum">
              <a:rPr lang="en-US" smtClean="0"/>
              <a:t>‹#›</a:t>
            </a:fld>
            <a:endParaRPr lang="en-US"/>
          </a:p>
        </p:txBody>
      </p:sp>
    </p:spTree>
    <p:extLst>
      <p:ext uri="{BB962C8B-B14F-4D97-AF65-F5344CB8AC3E}">
        <p14:creationId xmlns:p14="http://schemas.microsoft.com/office/powerpoint/2010/main" val="37266480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6A36BD-9361-7608-1F24-FA6C0BC681B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A7B7D88-8770-B584-9420-CEB19882915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C696206-E6EB-1AA7-6E12-684FC5890E73}"/>
              </a:ext>
            </a:extLst>
          </p:cNvPr>
          <p:cNvSpPr>
            <a:spLocks noGrp="1"/>
          </p:cNvSpPr>
          <p:nvPr>
            <p:ph type="dt" sz="half" idx="10"/>
          </p:nvPr>
        </p:nvSpPr>
        <p:spPr/>
        <p:txBody>
          <a:bodyPr/>
          <a:lstStyle/>
          <a:p>
            <a:fld id="{AA281B1C-3C57-4A7C-A0EF-3BDF6ACB7231}" type="datetimeFigureOut">
              <a:rPr lang="en-US" smtClean="0"/>
              <a:t>10/17/2025</a:t>
            </a:fld>
            <a:endParaRPr lang="en-US"/>
          </a:p>
        </p:txBody>
      </p:sp>
      <p:sp>
        <p:nvSpPr>
          <p:cNvPr id="5" name="Footer Placeholder 4">
            <a:extLst>
              <a:ext uri="{FF2B5EF4-FFF2-40B4-BE49-F238E27FC236}">
                <a16:creationId xmlns:a16="http://schemas.microsoft.com/office/drawing/2014/main" id="{75999654-6FBA-1AD1-E9FC-1CECF15432D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76660F5-18EA-619E-A4C7-CC4C6C55AE5D}"/>
              </a:ext>
            </a:extLst>
          </p:cNvPr>
          <p:cNvSpPr>
            <a:spLocks noGrp="1"/>
          </p:cNvSpPr>
          <p:nvPr>
            <p:ph type="sldNum" sz="quarter" idx="12"/>
          </p:nvPr>
        </p:nvSpPr>
        <p:spPr/>
        <p:txBody>
          <a:bodyPr/>
          <a:lstStyle/>
          <a:p>
            <a:fld id="{C8BE1936-098E-4400-8C97-F1504A953E87}" type="slidenum">
              <a:rPr lang="en-US" smtClean="0"/>
              <a:t>‹#›</a:t>
            </a:fld>
            <a:endParaRPr lang="en-US"/>
          </a:p>
        </p:txBody>
      </p:sp>
    </p:spTree>
    <p:extLst>
      <p:ext uri="{BB962C8B-B14F-4D97-AF65-F5344CB8AC3E}">
        <p14:creationId xmlns:p14="http://schemas.microsoft.com/office/powerpoint/2010/main" val="14709707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D969BE-2903-1732-4B5A-D1FB391A15B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4E4D12F-2026-0BED-6C50-01FFC072D9E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B7DE132-51AB-7C91-AA02-28F394EDA3E6}"/>
              </a:ext>
            </a:extLst>
          </p:cNvPr>
          <p:cNvSpPr>
            <a:spLocks noGrp="1"/>
          </p:cNvSpPr>
          <p:nvPr>
            <p:ph type="dt" sz="half" idx="10"/>
          </p:nvPr>
        </p:nvSpPr>
        <p:spPr/>
        <p:txBody>
          <a:bodyPr/>
          <a:lstStyle/>
          <a:p>
            <a:fld id="{AA281B1C-3C57-4A7C-A0EF-3BDF6ACB7231}" type="datetimeFigureOut">
              <a:rPr lang="en-US" smtClean="0"/>
              <a:t>10/17/2025</a:t>
            </a:fld>
            <a:endParaRPr lang="en-US"/>
          </a:p>
        </p:txBody>
      </p:sp>
      <p:sp>
        <p:nvSpPr>
          <p:cNvPr id="5" name="Footer Placeholder 4">
            <a:extLst>
              <a:ext uri="{FF2B5EF4-FFF2-40B4-BE49-F238E27FC236}">
                <a16:creationId xmlns:a16="http://schemas.microsoft.com/office/drawing/2014/main" id="{CD70293B-E43B-5271-CC36-085DAA2B315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B9310A5-178C-7032-F362-E93327AB99A5}"/>
              </a:ext>
            </a:extLst>
          </p:cNvPr>
          <p:cNvSpPr>
            <a:spLocks noGrp="1"/>
          </p:cNvSpPr>
          <p:nvPr>
            <p:ph type="sldNum" sz="quarter" idx="12"/>
          </p:nvPr>
        </p:nvSpPr>
        <p:spPr/>
        <p:txBody>
          <a:bodyPr/>
          <a:lstStyle/>
          <a:p>
            <a:fld id="{C8BE1936-098E-4400-8C97-F1504A953E87}" type="slidenum">
              <a:rPr lang="en-US" smtClean="0"/>
              <a:t>‹#›</a:t>
            </a:fld>
            <a:endParaRPr lang="en-US"/>
          </a:p>
        </p:txBody>
      </p:sp>
    </p:spTree>
    <p:extLst>
      <p:ext uri="{BB962C8B-B14F-4D97-AF65-F5344CB8AC3E}">
        <p14:creationId xmlns:p14="http://schemas.microsoft.com/office/powerpoint/2010/main" val="2786521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00BA9D-4F63-DCB6-705C-59B9AFF107C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CFB5413-33B1-0CF6-4F77-BEADA591078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607ACDD-BAF8-BDBB-8E51-E740323CF93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B6BC8B0-D4D5-9C4D-08B5-7E3546C176F5}"/>
              </a:ext>
            </a:extLst>
          </p:cNvPr>
          <p:cNvSpPr>
            <a:spLocks noGrp="1"/>
          </p:cNvSpPr>
          <p:nvPr>
            <p:ph type="dt" sz="half" idx="10"/>
          </p:nvPr>
        </p:nvSpPr>
        <p:spPr/>
        <p:txBody>
          <a:bodyPr/>
          <a:lstStyle/>
          <a:p>
            <a:fld id="{AA281B1C-3C57-4A7C-A0EF-3BDF6ACB7231}" type="datetimeFigureOut">
              <a:rPr lang="en-US" smtClean="0"/>
              <a:t>10/17/2025</a:t>
            </a:fld>
            <a:endParaRPr lang="en-US"/>
          </a:p>
        </p:txBody>
      </p:sp>
      <p:sp>
        <p:nvSpPr>
          <p:cNvPr id="6" name="Footer Placeholder 5">
            <a:extLst>
              <a:ext uri="{FF2B5EF4-FFF2-40B4-BE49-F238E27FC236}">
                <a16:creationId xmlns:a16="http://schemas.microsoft.com/office/drawing/2014/main" id="{A7322BA3-2FFE-0579-877E-55157179E25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2221F49-8294-C138-0DD5-BF92310AA4B0}"/>
              </a:ext>
            </a:extLst>
          </p:cNvPr>
          <p:cNvSpPr>
            <a:spLocks noGrp="1"/>
          </p:cNvSpPr>
          <p:nvPr>
            <p:ph type="sldNum" sz="quarter" idx="12"/>
          </p:nvPr>
        </p:nvSpPr>
        <p:spPr/>
        <p:txBody>
          <a:bodyPr/>
          <a:lstStyle/>
          <a:p>
            <a:fld id="{C8BE1936-098E-4400-8C97-F1504A953E87}" type="slidenum">
              <a:rPr lang="en-US" smtClean="0"/>
              <a:t>‹#›</a:t>
            </a:fld>
            <a:endParaRPr lang="en-US"/>
          </a:p>
        </p:txBody>
      </p:sp>
    </p:spTree>
    <p:extLst>
      <p:ext uri="{BB962C8B-B14F-4D97-AF65-F5344CB8AC3E}">
        <p14:creationId xmlns:p14="http://schemas.microsoft.com/office/powerpoint/2010/main" val="37062899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FF6A68-A0F8-1B24-7307-BA9C71E289D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BCE77EB-754F-07A5-E87C-9AE47BDEF87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4D6E6D5-EDCF-0233-334F-A1AF776BA2A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924167F-FD85-535B-32A7-CA51AE213A1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863F3CE-1D76-4779-0F27-2B4AF3C0F5B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0E2E3D9-5CFB-9A29-0A19-D296F42F278C}"/>
              </a:ext>
            </a:extLst>
          </p:cNvPr>
          <p:cNvSpPr>
            <a:spLocks noGrp="1"/>
          </p:cNvSpPr>
          <p:nvPr>
            <p:ph type="dt" sz="half" idx="10"/>
          </p:nvPr>
        </p:nvSpPr>
        <p:spPr/>
        <p:txBody>
          <a:bodyPr/>
          <a:lstStyle/>
          <a:p>
            <a:fld id="{AA281B1C-3C57-4A7C-A0EF-3BDF6ACB7231}" type="datetimeFigureOut">
              <a:rPr lang="en-US" smtClean="0"/>
              <a:t>10/17/2025</a:t>
            </a:fld>
            <a:endParaRPr lang="en-US"/>
          </a:p>
        </p:txBody>
      </p:sp>
      <p:sp>
        <p:nvSpPr>
          <p:cNvPr id="8" name="Footer Placeholder 7">
            <a:extLst>
              <a:ext uri="{FF2B5EF4-FFF2-40B4-BE49-F238E27FC236}">
                <a16:creationId xmlns:a16="http://schemas.microsoft.com/office/drawing/2014/main" id="{0B3A60A6-4CF5-C51A-487E-D7D1A9533F8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2F82414-3239-5DFF-BEB4-0DB247A40888}"/>
              </a:ext>
            </a:extLst>
          </p:cNvPr>
          <p:cNvSpPr>
            <a:spLocks noGrp="1"/>
          </p:cNvSpPr>
          <p:nvPr>
            <p:ph type="sldNum" sz="quarter" idx="12"/>
          </p:nvPr>
        </p:nvSpPr>
        <p:spPr/>
        <p:txBody>
          <a:bodyPr/>
          <a:lstStyle/>
          <a:p>
            <a:fld id="{C8BE1936-098E-4400-8C97-F1504A953E87}" type="slidenum">
              <a:rPr lang="en-US" smtClean="0"/>
              <a:t>‹#›</a:t>
            </a:fld>
            <a:endParaRPr lang="en-US"/>
          </a:p>
        </p:txBody>
      </p:sp>
    </p:spTree>
    <p:extLst>
      <p:ext uri="{BB962C8B-B14F-4D97-AF65-F5344CB8AC3E}">
        <p14:creationId xmlns:p14="http://schemas.microsoft.com/office/powerpoint/2010/main" val="25102822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DA6088-1146-F4C1-60E5-826911DED86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B3DF248-C89B-F5F7-D4A1-151C66D1D548}"/>
              </a:ext>
            </a:extLst>
          </p:cNvPr>
          <p:cNvSpPr>
            <a:spLocks noGrp="1"/>
          </p:cNvSpPr>
          <p:nvPr>
            <p:ph type="dt" sz="half" idx="10"/>
          </p:nvPr>
        </p:nvSpPr>
        <p:spPr/>
        <p:txBody>
          <a:bodyPr/>
          <a:lstStyle/>
          <a:p>
            <a:fld id="{AA281B1C-3C57-4A7C-A0EF-3BDF6ACB7231}" type="datetimeFigureOut">
              <a:rPr lang="en-US" smtClean="0"/>
              <a:t>10/17/2025</a:t>
            </a:fld>
            <a:endParaRPr lang="en-US"/>
          </a:p>
        </p:txBody>
      </p:sp>
      <p:sp>
        <p:nvSpPr>
          <p:cNvPr id="4" name="Footer Placeholder 3">
            <a:extLst>
              <a:ext uri="{FF2B5EF4-FFF2-40B4-BE49-F238E27FC236}">
                <a16:creationId xmlns:a16="http://schemas.microsoft.com/office/drawing/2014/main" id="{97A7E30F-95CD-5A49-3584-AF1A1BC3492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C0381BA-2C9E-6EED-3E18-2F98DC7A3ED8}"/>
              </a:ext>
            </a:extLst>
          </p:cNvPr>
          <p:cNvSpPr>
            <a:spLocks noGrp="1"/>
          </p:cNvSpPr>
          <p:nvPr>
            <p:ph type="sldNum" sz="quarter" idx="12"/>
          </p:nvPr>
        </p:nvSpPr>
        <p:spPr/>
        <p:txBody>
          <a:bodyPr/>
          <a:lstStyle/>
          <a:p>
            <a:fld id="{C8BE1936-098E-4400-8C97-F1504A953E87}" type="slidenum">
              <a:rPr lang="en-US" smtClean="0"/>
              <a:t>‹#›</a:t>
            </a:fld>
            <a:endParaRPr lang="en-US"/>
          </a:p>
        </p:txBody>
      </p:sp>
    </p:spTree>
    <p:extLst>
      <p:ext uri="{BB962C8B-B14F-4D97-AF65-F5344CB8AC3E}">
        <p14:creationId xmlns:p14="http://schemas.microsoft.com/office/powerpoint/2010/main" val="29969953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4C04FDE-0198-9288-D2D8-8465775CF3E3}"/>
              </a:ext>
            </a:extLst>
          </p:cNvPr>
          <p:cNvSpPr>
            <a:spLocks noGrp="1"/>
          </p:cNvSpPr>
          <p:nvPr>
            <p:ph type="dt" sz="half" idx="10"/>
          </p:nvPr>
        </p:nvSpPr>
        <p:spPr/>
        <p:txBody>
          <a:bodyPr/>
          <a:lstStyle/>
          <a:p>
            <a:fld id="{AA281B1C-3C57-4A7C-A0EF-3BDF6ACB7231}" type="datetimeFigureOut">
              <a:rPr lang="en-US" smtClean="0"/>
              <a:t>10/17/2025</a:t>
            </a:fld>
            <a:endParaRPr lang="en-US"/>
          </a:p>
        </p:txBody>
      </p:sp>
      <p:sp>
        <p:nvSpPr>
          <p:cNvPr id="3" name="Footer Placeholder 2">
            <a:extLst>
              <a:ext uri="{FF2B5EF4-FFF2-40B4-BE49-F238E27FC236}">
                <a16:creationId xmlns:a16="http://schemas.microsoft.com/office/drawing/2014/main" id="{0922AECA-6BFB-6734-3175-5C1D0B8522F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49B3163-C1C9-B633-44D5-59E9EF64142A}"/>
              </a:ext>
            </a:extLst>
          </p:cNvPr>
          <p:cNvSpPr>
            <a:spLocks noGrp="1"/>
          </p:cNvSpPr>
          <p:nvPr>
            <p:ph type="sldNum" sz="quarter" idx="12"/>
          </p:nvPr>
        </p:nvSpPr>
        <p:spPr/>
        <p:txBody>
          <a:bodyPr/>
          <a:lstStyle/>
          <a:p>
            <a:fld id="{C8BE1936-098E-4400-8C97-F1504A953E87}" type="slidenum">
              <a:rPr lang="en-US" smtClean="0"/>
              <a:t>‹#›</a:t>
            </a:fld>
            <a:endParaRPr lang="en-US"/>
          </a:p>
        </p:txBody>
      </p:sp>
    </p:spTree>
    <p:extLst>
      <p:ext uri="{BB962C8B-B14F-4D97-AF65-F5344CB8AC3E}">
        <p14:creationId xmlns:p14="http://schemas.microsoft.com/office/powerpoint/2010/main" val="33887387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50C951-599E-EAF4-0767-E84B2294B96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05E0A6B-71C6-EE74-ABD6-FE3277496EB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9E65B7F-3CC5-DC83-73AC-9263C182D23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4AC56DE-A1B0-8268-84E8-6F017EE933A8}"/>
              </a:ext>
            </a:extLst>
          </p:cNvPr>
          <p:cNvSpPr>
            <a:spLocks noGrp="1"/>
          </p:cNvSpPr>
          <p:nvPr>
            <p:ph type="dt" sz="half" idx="10"/>
          </p:nvPr>
        </p:nvSpPr>
        <p:spPr/>
        <p:txBody>
          <a:bodyPr/>
          <a:lstStyle/>
          <a:p>
            <a:fld id="{AA281B1C-3C57-4A7C-A0EF-3BDF6ACB7231}" type="datetimeFigureOut">
              <a:rPr lang="en-US" smtClean="0"/>
              <a:t>10/17/2025</a:t>
            </a:fld>
            <a:endParaRPr lang="en-US"/>
          </a:p>
        </p:txBody>
      </p:sp>
      <p:sp>
        <p:nvSpPr>
          <p:cNvPr id="6" name="Footer Placeholder 5">
            <a:extLst>
              <a:ext uri="{FF2B5EF4-FFF2-40B4-BE49-F238E27FC236}">
                <a16:creationId xmlns:a16="http://schemas.microsoft.com/office/drawing/2014/main" id="{7FF3E470-2040-F32B-8FE3-639B65FB2A1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DBB5078-A22B-7737-8527-1F0D26A854B1}"/>
              </a:ext>
            </a:extLst>
          </p:cNvPr>
          <p:cNvSpPr>
            <a:spLocks noGrp="1"/>
          </p:cNvSpPr>
          <p:nvPr>
            <p:ph type="sldNum" sz="quarter" idx="12"/>
          </p:nvPr>
        </p:nvSpPr>
        <p:spPr/>
        <p:txBody>
          <a:bodyPr/>
          <a:lstStyle/>
          <a:p>
            <a:fld id="{C8BE1936-098E-4400-8C97-F1504A953E87}" type="slidenum">
              <a:rPr lang="en-US" smtClean="0"/>
              <a:t>‹#›</a:t>
            </a:fld>
            <a:endParaRPr lang="en-US"/>
          </a:p>
        </p:txBody>
      </p:sp>
    </p:spTree>
    <p:extLst>
      <p:ext uri="{BB962C8B-B14F-4D97-AF65-F5344CB8AC3E}">
        <p14:creationId xmlns:p14="http://schemas.microsoft.com/office/powerpoint/2010/main" val="17288079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12CB24-29F1-EFA4-679D-6EBF15CB8D0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F8D37D2-8508-4A99-2627-6726361D596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6C39994-EA25-C0F7-478B-9E159DBA3F1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CD35224-A6F3-110D-9A5D-E3570CD9AA1E}"/>
              </a:ext>
            </a:extLst>
          </p:cNvPr>
          <p:cNvSpPr>
            <a:spLocks noGrp="1"/>
          </p:cNvSpPr>
          <p:nvPr>
            <p:ph type="dt" sz="half" idx="10"/>
          </p:nvPr>
        </p:nvSpPr>
        <p:spPr/>
        <p:txBody>
          <a:bodyPr/>
          <a:lstStyle/>
          <a:p>
            <a:fld id="{AA281B1C-3C57-4A7C-A0EF-3BDF6ACB7231}" type="datetimeFigureOut">
              <a:rPr lang="en-US" smtClean="0"/>
              <a:t>10/17/2025</a:t>
            </a:fld>
            <a:endParaRPr lang="en-US"/>
          </a:p>
        </p:txBody>
      </p:sp>
      <p:sp>
        <p:nvSpPr>
          <p:cNvPr id="6" name="Footer Placeholder 5">
            <a:extLst>
              <a:ext uri="{FF2B5EF4-FFF2-40B4-BE49-F238E27FC236}">
                <a16:creationId xmlns:a16="http://schemas.microsoft.com/office/drawing/2014/main" id="{BE629B34-29DC-93F5-FABB-D5FFF61491C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A09563E-48F8-8768-0B64-88D382FB23B3}"/>
              </a:ext>
            </a:extLst>
          </p:cNvPr>
          <p:cNvSpPr>
            <a:spLocks noGrp="1"/>
          </p:cNvSpPr>
          <p:nvPr>
            <p:ph type="sldNum" sz="quarter" idx="12"/>
          </p:nvPr>
        </p:nvSpPr>
        <p:spPr/>
        <p:txBody>
          <a:bodyPr/>
          <a:lstStyle/>
          <a:p>
            <a:fld id="{C8BE1936-098E-4400-8C97-F1504A953E87}" type="slidenum">
              <a:rPr lang="en-US" smtClean="0"/>
              <a:t>‹#›</a:t>
            </a:fld>
            <a:endParaRPr lang="en-US"/>
          </a:p>
        </p:txBody>
      </p:sp>
    </p:spTree>
    <p:extLst>
      <p:ext uri="{BB962C8B-B14F-4D97-AF65-F5344CB8AC3E}">
        <p14:creationId xmlns:p14="http://schemas.microsoft.com/office/powerpoint/2010/main" val="7155062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CC726D-F3FA-4BAE-D6E5-14459D495F9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88AAE0F-BB51-754A-C7BD-FC06CE2988F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67DD471-5659-772C-D19C-E93E191A3D7F}"/>
              </a:ext>
            </a:extLst>
          </p:cNvPr>
          <p:cNvSpPr>
            <a:spLocks noGrp="1"/>
          </p:cNvSpPr>
          <p:nvPr>
            <p:ph type="dt" sz="half" idx="10"/>
          </p:nvPr>
        </p:nvSpPr>
        <p:spPr/>
        <p:txBody>
          <a:bodyPr/>
          <a:lstStyle/>
          <a:p>
            <a:fld id="{AA281B1C-3C57-4A7C-A0EF-3BDF6ACB7231}" type="datetimeFigureOut">
              <a:rPr lang="en-US" smtClean="0"/>
              <a:t>10/17/2025</a:t>
            </a:fld>
            <a:endParaRPr lang="en-US"/>
          </a:p>
        </p:txBody>
      </p:sp>
      <p:sp>
        <p:nvSpPr>
          <p:cNvPr id="5" name="Footer Placeholder 4">
            <a:extLst>
              <a:ext uri="{FF2B5EF4-FFF2-40B4-BE49-F238E27FC236}">
                <a16:creationId xmlns:a16="http://schemas.microsoft.com/office/drawing/2014/main" id="{44CC1460-41B3-DEFB-6DB4-BBC9AB9F925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DADB529-207C-74F5-EF96-E6F264FAA109}"/>
              </a:ext>
            </a:extLst>
          </p:cNvPr>
          <p:cNvSpPr>
            <a:spLocks noGrp="1"/>
          </p:cNvSpPr>
          <p:nvPr>
            <p:ph type="sldNum" sz="quarter" idx="12"/>
          </p:nvPr>
        </p:nvSpPr>
        <p:spPr/>
        <p:txBody>
          <a:bodyPr/>
          <a:lstStyle/>
          <a:p>
            <a:fld id="{C8BE1936-098E-4400-8C97-F1504A953E87}" type="slidenum">
              <a:rPr lang="en-US" smtClean="0"/>
              <a:t>‹#›</a:t>
            </a:fld>
            <a:endParaRPr lang="en-US"/>
          </a:p>
        </p:txBody>
      </p:sp>
    </p:spTree>
    <p:extLst>
      <p:ext uri="{BB962C8B-B14F-4D97-AF65-F5344CB8AC3E}">
        <p14:creationId xmlns:p14="http://schemas.microsoft.com/office/powerpoint/2010/main" val="39350733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33C5F3C-0C95-BB79-8099-508339ED5D4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89ED64E-86CA-1AFF-02DA-77A44C977B4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84ACD1A-78D0-2A62-BCD9-5E67A737F96C}"/>
              </a:ext>
            </a:extLst>
          </p:cNvPr>
          <p:cNvSpPr>
            <a:spLocks noGrp="1"/>
          </p:cNvSpPr>
          <p:nvPr>
            <p:ph type="dt" sz="half" idx="10"/>
          </p:nvPr>
        </p:nvSpPr>
        <p:spPr/>
        <p:txBody>
          <a:bodyPr/>
          <a:lstStyle/>
          <a:p>
            <a:fld id="{AA281B1C-3C57-4A7C-A0EF-3BDF6ACB7231}" type="datetimeFigureOut">
              <a:rPr lang="en-US" smtClean="0"/>
              <a:t>10/17/2025</a:t>
            </a:fld>
            <a:endParaRPr lang="en-US"/>
          </a:p>
        </p:txBody>
      </p:sp>
      <p:sp>
        <p:nvSpPr>
          <p:cNvPr id="5" name="Footer Placeholder 4">
            <a:extLst>
              <a:ext uri="{FF2B5EF4-FFF2-40B4-BE49-F238E27FC236}">
                <a16:creationId xmlns:a16="http://schemas.microsoft.com/office/drawing/2014/main" id="{729B1603-6659-F79C-7113-0E796806D68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1100843-6EF4-079E-5E43-F3F96DDDB0B8}"/>
              </a:ext>
            </a:extLst>
          </p:cNvPr>
          <p:cNvSpPr>
            <a:spLocks noGrp="1"/>
          </p:cNvSpPr>
          <p:nvPr>
            <p:ph type="sldNum" sz="quarter" idx="12"/>
          </p:nvPr>
        </p:nvSpPr>
        <p:spPr/>
        <p:txBody>
          <a:bodyPr/>
          <a:lstStyle/>
          <a:p>
            <a:fld id="{C8BE1936-098E-4400-8C97-F1504A953E87}" type="slidenum">
              <a:rPr lang="en-US" smtClean="0"/>
              <a:t>‹#›</a:t>
            </a:fld>
            <a:endParaRPr lang="en-US"/>
          </a:p>
        </p:txBody>
      </p:sp>
    </p:spTree>
    <p:extLst>
      <p:ext uri="{BB962C8B-B14F-4D97-AF65-F5344CB8AC3E}">
        <p14:creationId xmlns:p14="http://schemas.microsoft.com/office/powerpoint/2010/main" val="237138962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2_Case Study Single Slide - Data Results">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0E93CEEC-4F06-5349-BB63-F02B2B211B29}"/>
              </a:ext>
            </a:extLst>
          </p:cNvPr>
          <p:cNvSpPr>
            <a:spLocks noGrp="1"/>
          </p:cNvSpPr>
          <p:nvPr>
            <p:ph type="ctrTitle" hasCustomPrompt="1"/>
          </p:nvPr>
        </p:nvSpPr>
        <p:spPr>
          <a:xfrm>
            <a:off x="603284" y="388389"/>
            <a:ext cx="5065999" cy="764390"/>
          </a:xfrm>
        </p:spPr>
        <p:txBody>
          <a:bodyPr anchor="b">
            <a:normAutofit/>
          </a:bodyPr>
          <a:lstStyle>
            <a:lvl1pPr algn="l">
              <a:defRPr sz="4000" b="0" i="0">
                <a:solidFill>
                  <a:srgbClr val="008AD9"/>
                </a:solidFill>
                <a:latin typeface="Arial" panose="020B0604020202020204" pitchFamily="34" charset="0"/>
                <a:cs typeface="Arial" panose="020B0604020202020204" pitchFamily="34" charset="0"/>
              </a:defRPr>
            </a:lvl1pPr>
          </a:lstStyle>
          <a:p>
            <a:r>
              <a:rPr lang="en-US"/>
              <a:t>Company Name</a:t>
            </a:r>
          </a:p>
        </p:txBody>
      </p:sp>
      <p:sp>
        <p:nvSpPr>
          <p:cNvPr id="10" name="Rectangle 9">
            <a:extLst>
              <a:ext uri="{FF2B5EF4-FFF2-40B4-BE49-F238E27FC236}">
                <a16:creationId xmlns:a16="http://schemas.microsoft.com/office/drawing/2014/main" id="{7CD2D898-C1E4-1C4E-B41C-23A7E59AE640}"/>
              </a:ext>
            </a:extLst>
          </p:cNvPr>
          <p:cNvSpPr/>
          <p:nvPr userDrawn="1"/>
        </p:nvSpPr>
        <p:spPr>
          <a:xfrm flipV="1">
            <a:off x="0" y="365239"/>
            <a:ext cx="243068" cy="764390"/>
          </a:xfrm>
          <a:prstGeom prst="rect">
            <a:avLst/>
          </a:prstGeom>
          <a:solidFill>
            <a:srgbClr val="FF8E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  </a:t>
            </a:r>
          </a:p>
        </p:txBody>
      </p:sp>
      <p:pic>
        <p:nvPicPr>
          <p:cNvPr id="23" name="Picture 22">
            <a:extLst>
              <a:ext uri="{FF2B5EF4-FFF2-40B4-BE49-F238E27FC236}">
                <a16:creationId xmlns:a16="http://schemas.microsoft.com/office/drawing/2014/main" id="{0438C21C-6688-CD47-9B39-2BD825F592A9}"/>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603284" y="6440198"/>
            <a:ext cx="767123" cy="264231"/>
          </a:xfrm>
          <a:prstGeom prst="rect">
            <a:avLst/>
          </a:prstGeom>
        </p:spPr>
      </p:pic>
      <p:sp>
        <p:nvSpPr>
          <p:cNvPr id="4" name="Text Placeholder 3">
            <a:extLst>
              <a:ext uri="{FF2B5EF4-FFF2-40B4-BE49-F238E27FC236}">
                <a16:creationId xmlns:a16="http://schemas.microsoft.com/office/drawing/2014/main" id="{E5DB3430-93CA-9540-9380-D85F161C9580}"/>
              </a:ext>
            </a:extLst>
          </p:cNvPr>
          <p:cNvSpPr>
            <a:spLocks noGrp="1"/>
          </p:cNvSpPr>
          <p:nvPr>
            <p:ph type="body" sz="quarter" idx="20"/>
          </p:nvPr>
        </p:nvSpPr>
        <p:spPr>
          <a:xfrm>
            <a:off x="603250" y="1450136"/>
            <a:ext cx="5066030" cy="4795100"/>
          </a:xfrm>
        </p:spPr>
        <p:txBody>
          <a:bodyPr/>
          <a:lstStyle>
            <a:lvl1pPr marL="0" indent="0">
              <a:lnSpc>
                <a:spcPct val="150000"/>
              </a:lnSpc>
              <a:buNone/>
              <a:defRPr sz="1600">
                <a:solidFill>
                  <a:schemeClr val="tx1">
                    <a:lumMod val="75000"/>
                    <a:lumOff val="25000"/>
                  </a:schemeClr>
                </a:solidFill>
              </a:defRPr>
            </a:lvl1pPr>
            <a:lvl2pPr>
              <a:lnSpc>
                <a:spcPct val="150000"/>
              </a:lnSpc>
              <a:defRPr sz="1400">
                <a:solidFill>
                  <a:schemeClr val="tx1">
                    <a:lumMod val="75000"/>
                    <a:lumOff val="25000"/>
                  </a:schemeClr>
                </a:solidFill>
              </a:defRPr>
            </a:lvl2pPr>
            <a:lvl3pPr>
              <a:lnSpc>
                <a:spcPct val="150000"/>
              </a:lnSpc>
              <a:defRPr sz="1400">
                <a:solidFill>
                  <a:schemeClr val="tx1">
                    <a:lumMod val="75000"/>
                    <a:lumOff val="25000"/>
                  </a:schemeClr>
                </a:solidFill>
              </a:defRPr>
            </a:lvl3pPr>
            <a:lvl4pPr>
              <a:lnSpc>
                <a:spcPct val="150000"/>
              </a:lnSpc>
              <a:defRPr sz="1400">
                <a:solidFill>
                  <a:schemeClr val="tx1">
                    <a:lumMod val="75000"/>
                    <a:lumOff val="25000"/>
                  </a:schemeClr>
                </a:solidFill>
              </a:defRPr>
            </a:lvl4pPr>
            <a:lvl5pPr>
              <a:lnSpc>
                <a:spcPct val="150000"/>
              </a:lnSpc>
              <a:defRPr sz="14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9010063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Content: Title only">
    <p:spTree>
      <p:nvGrpSpPr>
        <p:cNvPr id="1" name=""/>
        <p:cNvGrpSpPr/>
        <p:nvPr/>
      </p:nvGrpSpPr>
      <p:grpSpPr>
        <a:xfrm>
          <a:off x="0" y="0"/>
          <a:ext cx="0" cy="0"/>
          <a:chOff x="0" y="0"/>
          <a:chExt cx="0" cy="0"/>
        </a:xfrm>
      </p:grpSpPr>
      <p:sp>
        <p:nvSpPr>
          <p:cNvPr id="8" name="Slide Number Placeholder 5">
            <a:extLst>
              <a:ext uri="{FF2B5EF4-FFF2-40B4-BE49-F238E27FC236}">
                <a16:creationId xmlns:a16="http://schemas.microsoft.com/office/drawing/2014/main" id="{6C0C770B-B4AF-E443-922A-886366399C36}"/>
              </a:ext>
            </a:extLst>
          </p:cNvPr>
          <p:cNvSpPr>
            <a:spLocks noGrp="1"/>
          </p:cNvSpPr>
          <p:nvPr>
            <p:ph type="sldNum" sz="quarter" idx="12"/>
          </p:nvPr>
        </p:nvSpPr>
        <p:spPr>
          <a:xfrm>
            <a:off x="8845516" y="6454780"/>
            <a:ext cx="2743200" cy="154809"/>
          </a:xfrm>
        </p:spPr>
        <p:txBody>
          <a:bodyPr/>
          <a:lstStyle>
            <a:lvl1pPr>
              <a:defRPr sz="700">
                <a:solidFill>
                  <a:schemeClr val="tx1">
                    <a:lumMod val="85000"/>
                    <a:lumOff val="15000"/>
                  </a:schemeClr>
                </a:solidFill>
              </a:defRPr>
            </a:lvl1pPr>
          </a:lstStyle>
          <a:p>
            <a:fld id="{056F86DB-78DF-EB43-A6BE-40415A3A0052}" type="slidenum">
              <a:rPr lang="en-US" smtClean="0"/>
              <a:pPr/>
              <a:t>‹#›</a:t>
            </a:fld>
            <a:endParaRPr lang="en-US"/>
          </a:p>
        </p:txBody>
      </p:sp>
      <p:sp>
        <p:nvSpPr>
          <p:cNvPr id="9" name="Title 1">
            <a:extLst>
              <a:ext uri="{FF2B5EF4-FFF2-40B4-BE49-F238E27FC236}">
                <a16:creationId xmlns:a16="http://schemas.microsoft.com/office/drawing/2014/main" id="{0E93CEEC-4F06-5349-BB63-F02B2B211B29}"/>
              </a:ext>
            </a:extLst>
          </p:cNvPr>
          <p:cNvSpPr>
            <a:spLocks noGrp="1"/>
          </p:cNvSpPr>
          <p:nvPr>
            <p:ph type="ctrTitle" hasCustomPrompt="1"/>
          </p:nvPr>
        </p:nvSpPr>
        <p:spPr>
          <a:xfrm>
            <a:off x="603284" y="388389"/>
            <a:ext cx="10985432" cy="764390"/>
          </a:xfrm>
        </p:spPr>
        <p:txBody>
          <a:bodyPr anchor="b">
            <a:normAutofit/>
          </a:bodyPr>
          <a:lstStyle>
            <a:lvl1pPr algn="l">
              <a:defRPr sz="4000" b="0" i="0">
                <a:solidFill>
                  <a:srgbClr val="063A79"/>
                </a:solidFill>
                <a:latin typeface="Arial" panose="020B0604020202020204" pitchFamily="34" charset="0"/>
                <a:cs typeface="Arial" panose="020B0604020202020204" pitchFamily="34" charset="0"/>
              </a:defRPr>
            </a:lvl1pPr>
          </a:lstStyle>
          <a:p>
            <a:r>
              <a:rPr lang="en-US"/>
              <a:t>Placeholder for Title</a:t>
            </a:r>
          </a:p>
        </p:txBody>
      </p:sp>
      <p:pic>
        <p:nvPicPr>
          <p:cNvPr id="20" name="Picture 19">
            <a:extLst>
              <a:ext uri="{FF2B5EF4-FFF2-40B4-BE49-F238E27FC236}">
                <a16:creationId xmlns:a16="http://schemas.microsoft.com/office/drawing/2014/main" id="{60499D1E-B5BB-3141-A0F0-C62AD4413DC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603284" y="6440198"/>
            <a:ext cx="767123" cy="264231"/>
          </a:xfrm>
          <a:prstGeom prst="rect">
            <a:avLst/>
          </a:prstGeom>
        </p:spPr>
      </p:pic>
    </p:spTree>
    <p:extLst>
      <p:ext uri="{BB962C8B-B14F-4D97-AF65-F5344CB8AC3E}">
        <p14:creationId xmlns:p14="http://schemas.microsoft.com/office/powerpoint/2010/main" val="16654239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71FBB39-6524-B284-2A0E-51CC739E704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194A231-C1A9-4FC4-03D3-63EEFF00194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2845F42-8763-3949-41C4-B6499148819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A281B1C-3C57-4A7C-A0EF-3BDF6ACB7231}" type="datetimeFigureOut">
              <a:rPr lang="en-US" smtClean="0"/>
              <a:t>10/17/2025</a:t>
            </a:fld>
            <a:endParaRPr lang="en-US"/>
          </a:p>
        </p:txBody>
      </p:sp>
      <p:sp>
        <p:nvSpPr>
          <p:cNvPr id="5" name="Footer Placeholder 4">
            <a:extLst>
              <a:ext uri="{FF2B5EF4-FFF2-40B4-BE49-F238E27FC236}">
                <a16:creationId xmlns:a16="http://schemas.microsoft.com/office/drawing/2014/main" id="{39B1DDE7-AE80-CF3D-1FA2-0CE0531F053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3AE1A82D-6A53-ED14-C67A-BEF29CFE0CC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8BE1936-098E-4400-8C97-F1504A953E87}" type="slidenum">
              <a:rPr lang="en-US" smtClean="0"/>
              <a:t>‹#›</a:t>
            </a:fld>
            <a:endParaRPr lang="en-US"/>
          </a:p>
        </p:txBody>
      </p:sp>
    </p:spTree>
    <p:extLst>
      <p:ext uri="{BB962C8B-B14F-4D97-AF65-F5344CB8AC3E}">
        <p14:creationId xmlns:p14="http://schemas.microsoft.com/office/powerpoint/2010/main" val="284408303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CA693A9-BD5A-2907-E6AE-492698871AC1}"/>
              </a:ext>
            </a:extLst>
          </p:cNvPr>
          <p:cNvSpPr txBox="1"/>
          <p:nvPr/>
        </p:nvSpPr>
        <p:spPr>
          <a:xfrm>
            <a:off x="169218" y="1249567"/>
            <a:ext cx="4972843" cy="298683"/>
          </a:xfrm>
          <a:prstGeom prst="rect">
            <a:avLst/>
          </a:prstGeom>
          <a:noFill/>
        </p:spPr>
        <p:txBody>
          <a:bodyPr rot="0" spcFirstLastPara="0" vertOverflow="overflow" horzOverflow="overflow" vert="horz" wrap="square" lIns="51955" tIns="25977" rIns="51955" bIns="25977" numCol="1" spcCol="0" rtlCol="0" fromWordArt="0" anchor="t" anchorCtr="0" forceAA="0" compatLnSpc="1">
            <a:prstTxWarp prst="textNoShape">
              <a:avLst/>
            </a:prstTxWarp>
            <a:spAutoFit/>
          </a:bodyPr>
          <a:lstStyle/>
          <a:p>
            <a:pPr fontAlgn="base">
              <a:defRPr/>
            </a:pPr>
            <a:r>
              <a:rPr lang="en-US" sz="1600" b="1">
                <a:solidFill>
                  <a:srgbClr val="008AD9"/>
                </a:solidFill>
                <a:latin typeface="Poppins" panose="00000500000000000000" pitchFamily="2" charset="0"/>
                <a:cs typeface="Poppins" panose="00000500000000000000" pitchFamily="2" charset="0"/>
              </a:rPr>
              <a:t>Business Need </a:t>
            </a:r>
          </a:p>
        </p:txBody>
      </p:sp>
      <p:sp>
        <p:nvSpPr>
          <p:cNvPr id="6" name="TextBox 5">
            <a:extLst>
              <a:ext uri="{FF2B5EF4-FFF2-40B4-BE49-F238E27FC236}">
                <a16:creationId xmlns:a16="http://schemas.microsoft.com/office/drawing/2014/main" id="{0CDEA1C1-06A6-221C-C428-87016F862D52}"/>
              </a:ext>
            </a:extLst>
          </p:cNvPr>
          <p:cNvSpPr txBox="1"/>
          <p:nvPr/>
        </p:nvSpPr>
        <p:spPr>
          <a:xfrm>
            <a:off x="156576" y="2564165"/>
            <a:ext cx="4985484" cy="298683"/>
          </a:xfrm>
          <a:prstGeom prst="rect">
            <a:avLst/>
          </a:prstGeom>
          <a:noFill/>
        </p:spPr>
        <p:txBody>
          <a:bodyPr rot="0" spcFirstLastPara="0" vertOverflow="overflow" horzOverflow="overflow" vert="horz" wrap="square" lIns="51955" tIns="25977" rIns="51955" bIns="25977" numCol="1" spcCol="0" rtlCol="0" fromWordArt="0" anchor="t" anchorCtr="0" forceAA="0" compatLnSpc="1">
            <a:prstTxWarp prst="textNoShape">
              <a:avLst/>
            </a:prstTxWarp>
            <a:spAutoFit/>
          </a:bodyPr>
          <a:lstStyle/>
          <a:p>
            <a:pPr fontAlgn="base">
              <a:defRPr/>
            </a:pPr>
            <a:r>
              <a:rPr lang="en-US" sz="1600" b="1" dirty="0">
                <a:solidFill>
                  <a:srgbClr val="008AD9"/>
                </a:solidFill>
                <a:latin typeface="Poppins" panose="00000500000000000000" pitchFamily="2" charset="0"/>
                <a:cs typeface="Poppins" panose="00000500000000000000" pitchFamily="2" charset="0"/>
              </a:rPr>
              <a:t>What We Did </a:t>
            </a:r>
          </a:p>
        </p:txBody>
      </p:sp>
      <p:sp>
        <p:nvSpPr>
          <p:cNvPr id="11" name="TextBox 10">
            <a:extLst>
              <a:ext uri="{FF2B5EF4-FFF2-40B4-BE49-F238E27FC236}">
                <a16:creationId xmlns:a16="http://schemas.microsoft.com/office/drawing/2014/main" id="{1140870D-C2B0-78A3-C62A-49C6AAD654C2}"/>
              </a:ext>
            </a:extLst>
          </p:cNvPr>
          <p:cNvSpPr txBox="1"/>
          <p:nvPr/>
        </p:nvSpPr>
        <p:spPr>
          <a:xfrm>
            <a:off x="162896" y="5034857"/>
            <a:ext cx="4972844" cy="298683"/>
          </a:xfrm>
          <a:prstGeom prst="rect">
            <a:avLst/>
          </a:prstGeom>
          <a:noFill/>
        </p:spPr>
        <p:txBody>
          <a:bodyPr rot="0" spcFirstLastPara="0" vertOverflow="overflow" horzOverflow="overflow" vert="horz" wrap="square" lIns="51955" tIns="25977" rIns="51955" bIns="25977" numCol="1" spcCol="0" rtlCol="0" fromWordArt="0" anchor="t" anchorCtr="0" forceAA="0" compatLnSpc="1">
            <a:prstTxWarp prst="textNoShape">
              <a:avLst/>
            </a:prstTxWarp>
            <a:spAutoFit/>
          </a:bodyPr>
          <a:lstStyle/>
          <a:p>
            <a:pPr fontAlgn="base">
              <a:defRPr/>
            </a:pPr>
            <a:r>
              <a:rPr lang="en-US" sz="1600" b="1">
                <a:solidFill>
                  <a:srgbClr val="008AD9"/>
                </a:solidFill>
                <a:latin typeface="Poppins" panose="00000500000000000000" pitchFamily="2" charset="0"/>
                <a:cs typeface="Poppins" panose="00000500000000000000" pitchFamily="2" charset="0"/>
              </a:rPr>
              <a:t>Results</a:t>
            </a:r>
          </a:p>
        </p:txBody>
      </p:sp>
      <p:sp>
        <p:nvSpPr>
          <p:cNvPr id="3" name="TextBox 2">
            <a:extLst>
              <a:ext uri="{FF2B5EF4-FFF2-40B4-BE49-F238E27FC236}">
                <a16:creationId xmlns:a16="http://schemas.microsoft.com/office/drawing/2014/main" id="{20CC4171-813C-2C23-3DD3-9918F44B9093}"/>
              </a:ext>
            </a:extLst>
          </p:cNvPr>
          <p:cNvSpPr txBox="1"/>
          <p:nvPr/>
        </p:nvSpPr>
        <p:spPr>
          <a:xfrm>
            <a:off x="138731" y="1583223"/>
            <a:ext cx="7049469" cy="1107996"/>
          </a:xfrm>
          <a:prstGeom prst="rect">
            <a:avLst/>
          </a:prstGeom>
          <a:noFill/>
        </p:spPr>
        <p:txBody>
          <a:bodyPr wrap="square">
            <a:spAutoFit/>
          </a:bodyPr>
          <a:lstStyle/>
          <a:p>
            <a:r>
              <a:rPr lang="en-US" sz="1100" dirty="0">
                <a:solidFill>
                  <a:prstClr val="black"/>
                </a:solidFill>
                <a:latin typeface="Poppins" panose="00000500000000000000" pitchFamily="2" charset="0"/>
                <a:cs typeface="Poppins" panose="00000500000000000000" pitchFamily="2" charset="0"/>
              </a:rPr>
              <a:t>HSWC was managing time entry, estimate management, and other project management tasks using Excel &amp; complex VBA customizations. This approach has become unsustainable, creating a significant manual burden resulting in a suboptimal user experience and integration inefficiency. Additionally, data is dispersed across multiple sheets, leading to errors in lookups and calculations. HSWC sought </a:t>
            </a:r>
            <a:r>
              <a:rPr lang="en-US" sz="1100" dirty="0" err="1">
                <a:solidFill>
                  <a:prstClr val="black"/>
                </a:solidFill>
                <a:latin typeface="Poppins" panose="00000500000000000000" pitchFamily="2" charset="0"/>
                <a:cs typeface="Poppins" panose="00000500000000000000" pitchFamily="2" charset="0"/>
              </a:rPr>
              <a:t>Affirma’s</a:t>
            </a:r>
            <a:r>
              <a:rPr lang="en-US" sz="1100" dirty="0">
                <a:solidFill>
                  <a:prstClr val="black"/>
                </a:solidFill>
                <a:latin typeface="Poppins" panose="00000500000000000000" pitchFamily="2" charset="0"/>
                <a:cs typeface="Poppins" panose="00000500000000000000" pitchFamily="2" charset="0"/>
              </a:rPr>
              <a:t> help to modernize its time tracking &amp; project management process.</a:t>
            </a:r>
          </a:p>
        </p:txBody>
      </p:sp>
      <p:sp>
        <p:nvSpPr>
          <p:cNvPr id="15" name="TextBox 14">
            <a:extLst>
              <a:ext uri="{FF2B5EF4-FFF2-40B4-BE49-F238E27FC236}">
                <a16:creationId xmlns:a16="http://schemas.microsoft.com/office/drawing/2014/main" id="{511FCEC2-2FEA-88E8-76A8-393FD6E00741}"/>
              </a:ext>
            </a:extLst>
          </p:cNvPr>
          <p:cNvSpPr txBox="1"/>
          <p:nvPr/>
        </p:nvSpPr>
        <p:spPr>
          <a:xfrm>
            <a:off x="169218" y="2862847"/>
            <a:ext cx="7018983" cy="1954381"/>
          </a:xfrm>
          <a:prstGeom prst="rect">
            <a:avLst/>
          </a:prstGeom>
          <a:noFill/>
        </p:spPr>
        <p:txBody>
          <a:bodyPr wrap="square">
            <a:spAutoFit/>
          </a:bodyPr>
          <a:lstStyle/>
          <a:p>
            <a:pPr algn="l"/>
            <a:r>
              <a:rPr lang="en-US" sz="1100" dirty="0" err="1">
                <a:solidFill>
                  <a:prstClr val="black"/>
                </a:solidFill>
                <a:latin typeface="Poppins" panose="00000500000000000000" pitchFamily="2" charset="0"/>
                <a:cs typeface="Poppins" panose="00000500000000000000" pitchFamily="2" charset="0"/>
              </a:rPr>
              <a:t>Affirma</a:t>
            </a:r>
            <a:r>
              <a:rPr lang="en-US" sz="1100" dirty="0">
                <a:solidFill>
                  <a:prstClr val="black"/>
                </a:solidFill>
                <a:latin typeface="Poppins" panose="00000500000000000000" pitchFamily="2" charset="0"/>
                <a:cs typeface="Poppins" panose="00000500000000000000" pitchFamily="2" charset="0"/>
              </a:rPr>
              <a:t>, designed and developed a custom project management system from the ground up, leveraging Microsoft Azure Cloud technology. The development process involved several discovery sessions understanding the nuance business complexity in tracking time and how those are used to calculate project profitability.</a:t>
            </a:r>
          </a:p>
          <a:p>
            <a:pPr algn="l"/>
            <a:endParaRPr lang="en-US" sz="1100" dirty="0">
              <a:solidFill>
                <a:prstClr val="black"/>
              </a:solidFill>
              <a:latin typeface="Poppins" panose="00000500000000000000" pitchFamily="2" charset="0"/>
              <a:cs typeface="Poppins" panose="00000500000000000000" pitchFamily="2" charset="0"/>
            </a:endParaRPr>
          </a:p>
          <a:p>
            <a:pPr marL="116890" indent="-116890">
              <a:buFont typeface="Arial" panose="020B0604020202020204" pitchFamily="34" charset="0"/>
              <a:buChar char="•"/>
            </a:pPr>
            <a:r>
              <a:rPr lang="en-US" sz="1100" dirty="0">
                <a:solidFill>
                  <a:prstClr val="black"/>
                </a:solidFill>
                <a:latin typeface="Poppins" panose="00000500000000000000" pitchFamily="2" charset="0"/>
                <a:cs typeface="Poppins" panose="00000500000000000000" pitchFamily="2" charset="0"/>
              </a:rPr>
              <a:t>Customized project and resource management features</a:t>
            </a:r>
          </a:p>
          <a:p>
            <a:pPr marL="116890" indent="-116890">
              <a:buFont typeface="Arial" panose="020B0604020202020204" pitchFamily="34" charset="0"/>
              <a:buChar char="•"/>
            </a:pPr>
            <a:r>
              <a:rPr lang="en-US" sz="1100" dirty="0">
                <a:solidFill>
                  <a:prstClr val="black"/>
                </a:solidFill>
                <a:latin typeface="Poppins" panose="00000500000000000000" pitchFamily="2" charset="0"/>
                <a:cs typeface="Poppins" panose="00000500000000000000" pitchFamily="2" charset="0"/>
              </a:rPr>
              <a:t>Pivot style matrix for time entry by supervisors</a:t>
            </a:r>
          </a:p>
          <a:p>
            <a:pPr marL="116890" indent="-116890">
              <a:buFont typeface="Arial" panose="020B0604020202020204" pitchFamily="34" charset="0"/>
              <a:buChar char="•"/>
            </a:pPr>
            <a:r>
              <a:rPr lang="en-US" sz="1100" dirty="0">
                <a:solidFill>
                  <a:prstClr val="black"/>
                </a:solidFill>
                <a:latin typeface="Poppins" panose="00000500000000000000" pitchFamily="2" charset="0"/>
                <a:cs typeface="Poppins" panose="00000500000000000000" pitchFamily="2" charset="0"/>
              </a:rPr>
              <a:t>Reporting to track project budget, actuals, projected &amp; forecasted profits/loss</a:t>
            </a:r>
          </a:p>
          <a:p>
            <a:pPr marL="116890" indent="-116890">
              <a:buFont typeface="Arial" panose="020B0604020202020204" pitchFamily="34" charset="0"/>
              <a:buChar char="•"/>
            </a:pPr>
            <a:r>
              <a:rPr lang="en-US" sz="1100" dirty="0">
                <a:solidFill>
                  <a:prstClr val="black"/>
                </a:solidFill>
                <a:latin typeface="Poppins" panose="00000500000000000000" pitchFamily="2" charset="0"/>
                <a:cs typeface="Poppins" panose="00000500000000000000" pitchFamily="2" charset="0"/>
              </a:rPr>
              <a:t>Integration with existing systems for seamless data flow and consistency</a:t>
            </a:r>
          </a:p>
          <a:p>
            <a:pPr marL="116890" indent="-116890">
              <a:buFont typeface="Arial" panose="020B0604020202020204" pitchFamily="34" charset="0"/>
              <a:buChar char="•"/>
            </a:pPr>
            <a:r>
              <a:rPr lang="en-US" sz="1100" dirty="0">
                <a:solidFill>
                  <a:prstClr val="black"/>
                </a:solidFill>
                <a:latin typeface="Poppins" panose="00000500000000000000" pitchFamily="2" charset="0"/>
                <a:cs typeface="Poppins" panose="00000500000000000000" pitchFamily="2" charset="0"/>
              </a:rPr>
              <a:t>App for iPhone &amp; Android users to record time entry in field</a:t>
            </a:r>
          </a:p>
          <a:p>
            <a:pPr marL="116890" indent="-116890">
              <a:buFont typeface="Arial" panose="020B0604020202020204" pitchFamily="34" charset="0"/>
              <a:buChar char="•"/>
            </a:pPr>
            <a:r>
              <a:rPr lang="en-US" sz="1100" dirty="0">
                <a:solidFill>
                  <a:prstClr val="black"/>
                </a:solidFill>
                <a:latin typeface="Poppins" panose="00000500000000000000" pitchFamily="2" charset="0"/>
                <a:cs typeface="Poppins" panose="00000500000000000000" pitchFamily="2" charset="0"/>
              </a:rPr>
              <a:t>Super User-friendly UI/UX designed for ease of use and efficiency</a:t>
            </a:r>
          </a:p>
        </p:txBody>
      </p:sp>
      <p:sp>
        <p:nvSpPr>
          <p:cNvPr id="17" name="TextBox 16">
            <a:extLst>
              <a:ext uri="{FF2B5EF4-FFF2-40B4-BE49-F238E27FC236}">
                <a16:creationId xmlns:a16="http://schemas.microsoft.com/office/drawing/2014/main" id="{F1A8605A-FCEF-3A25-BD01-4152142D34D4}"/>
              </a:ext>
            </a:extLst>
          </p:cNvPr>
          <p:cNvSpPr txBox="1"/>
          <p:nvPr/>
        </p:nvSpPr>
        <p:spPr>
          <a:xfrm>
            <a:off x="138730" y="5347136"/>
            <a:ext cx="6459376" cy="769441"/>
          </a:xfrm>
          <a:prstGeom prst="rect">
            <a:avLst/>
          </a:prstGeom>
          <a:noFill/>
        </p:spPr>
        <p:txBody>
          <a:bodyPr wrap="square">
            <a:spAutoFit/>
          </a:bodyPr>
          <a:lstStyle/>
          <a:p>
            <a:pPr marL="116890" indent="-116890">
              <a:buFont typeface="Arial" panose="020B0604020202020204" pitchFamily="34" charset="0"/>
              <a:buChar char="•"/>
            </a:pPr>
            <a:r>
              <a:rPr lang="en-US" sz="1100" dirty="0">
                <a:solidFill>
                  <a:prstClr val="black"/>
                </a:solidFill>
                <a:latin typeface="Poppins" panose="00000500000000000000" pitchFamily="2" charset="0"/>
                <a:cs typeface="Poppins" panose="00000500000000000000" pitchFamily="2" charset="0"/>
              </a:rPr>
              <a:t>High data accuracy and no manual procedures</a:t>
            </a:r>
          </a:p>
          <a:p>
            <a:pPr marL="116890" indent="-116890">
              <a:buFont typeface="Arial" panose="020B0604020202020204" pitchFamily="34" charset="0"/>
              <a:buChar char="•"/>
            </a:pPr>
            <a:r>
              <a:rPr lang="en-US" sz="1100" dirty="0">
                <a:solidFill>
                  <a:prstClr val="black"/>
                </a:solidFill>
                <a:latin typeface="Poppins" panose="00000500000000000000" pitchFamily="2" charset="0"/>
                <a:cs typeface="Poppins" panose="00000500000000000000" pitchFamily="2" charset="0"/>
              </a:rPr>
              <a:t>Better visibility into Budget vs Actual Project costs</a:t>
            </a:r>
          </a:p>
          <a:p>
            <a:pPr marL="116890" indent="-116890">
              <a:buFont typeface="Arial" panose="020B0604020202020204" pitchFamily="34" charset="0"/>
              <a:buChar char="•"/>
            </a:pPr>
            <a:r>
              <a:rPr lang="en-US" sz="1100" dirty="0">
                <a:solidFill>
                  <a:prstClr val="black"/>
                </a:solidFill>
                <a:latin typeface="Poppins" panose="00000500000000000000" pitchFamily="2" charset="0"/>
                <a:cs typeface="Poppins" panose="00000500000000000000" pitchFamily="2" charset="0"/>
              </a:rPr>
              <a:t>Enhanced forecasting accuracy and project management capabilities</a:t>
            </a:r>
          </a:p>
          <a:p>
            <a:pPr marL="116890" indent="-116890">
              <a:buFont typeface="Arial" panose="020B0604020202020204" pitchFamily="34" charset="0"/>
              <a:buChar char="•"/>
            </a:pPr>
            <a:r>
              <a:rPr lang="en-US" sz="1100" dirty="0">
                <a:solidFill>
                  <a:prstClr val="black"/>
                </a:solidFill>
                <a:latin typeface="Poppins" panose="00000500000000000000" pitchFamily="2" charset="0"/>
                <a:cs typeface="Poppins" panose="00000500000000000000" pitchFamily="2" charset="0"/>
              </a:rPr>
              <a:t>Increased user adoption and satisfaction from intuitive design and usability of the tool</a:t>
            </a:r>
          </a:p>
        </p:txBody>
      </p:sp>
      <p:sp>
        <p:nvSpPr>
          <p:cNvPr id="19" name="Title 18">
            <a:extLst>
              <a:ext uri="{FF2B5EF4-FFF2-40B4-BE49-F238E27FC236}">
                <a16:creationId xmlns:a16="http://schemas.microsoft.com/office/drawing/2014/main" id="{48D910BD-5459-BB36-A4DA-EA197F5C3F24}"/>
              </a:ext>
            </a:extLst>
          </p:cNvPr>
          <p:cNvSpPr>
            <a:spLocks noGrp="1"/>
          </p:cNvSpPr>
          <p:nvPr>
            <p:ph type="ctrTitle"/>
          </p:nvPr>
        </p:nvSpPr>
        <p:spPr>
          <a:xfrm>
            <a:off x="366990" y="275696"/>
            <a:ext cx="10479976" cy="764390"/>
          </a:xfrm>
        </p:spPr>
        <p:txBody>
          <a:bodyPr>
            <a:normAutofit fontScale="90000"/>
          </a:bodyPr>
          <a:lstStyle/>
          <a:p>
            <a:r>
              <a:rPr lang="en-US" dirty="0">
                <a:solidFill>
                  <a:srgbClr val="063A79"/>
                </a:solidFill>
                <a:latin typeface="Poppins" panose="00000500000000000000" pitchFamily="2" charset="0"/>
                <a:cs typeface="Poppins" panose="00000500000000000000" pitchFamily="2" charset="0"/>
              </a:rPr>
              <a:t>Howard S. Wright – Time Management Tool</a:t>
            </a:r>
          </a:p>
        </p:txBody>
      </p:sp>
      <p:pic>
        <p:nvPicPr>
          <p:cNvPr id="1028" name="Picture 4" descr="Howard S. Wright Construction (a Balfour Beatty Company) - Phoenix, Arizona  Permits and New Projects">
            <a:extLst>
              <a:ext uri="{FF2B5EF4-FFF2-40B4-BE49-F238E27FC236}">
                <a16:creationId xmlns:a16="http://schemas.microsoft.com/office/drawing/2014/main" id="{6A646BAE-57F1-356D-17B8-FC1FFC24622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92979" y="5172512"/>
            <a:ext cx="4569853" cy="1468882"/>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1">
            <a:extLst>
              <a:ext uri="{FF2B5EF4-FFF2-40B4-BE49-F238E27FC236}">
                <a16:creationId xmlns:a16="http://schemas.microsoft.com/office/drawing/2014/main" id="{258C26C0-91CE-07FC-49CE-DA9BBE0F346E}"/>
              </a:ext>
            </a:extLst>
          </p:cNvPr>
          <p:cNvPicPr>
            <a:picLocks noChangeAspect="1"/>
          </p:cNvPicPr>
          <p:nvPr/>
        </p:nvPicPr>
        <p:blipFill>
          <a:blip r:embed="rId4"/>
          <a:stretch>
            <a:fillRect/>
          </a:stretch>
        </p:blipFill>
        <p:spPr>
          <a:xfrm>
            <a:off x="7392979" y="1652507"/>
            <a:ext cx="4569853" cy="3382350"/>
          </a:xfrm>
          <a:prstGeom prst="rect">
            <a:avLst/>
          </a:prstGeom>
        </p:spPr>
      </p:pic>
    </p:spTree>
    <p:extLst>
      <p:ext uri="{BB962C8B-B14F-4D97-AF65-F5344CB8AC3E}">
        <p14:creationId xmlns:p14="http://schemas.microsoft.com/office/powerpoint/2010/main" val="30818249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30D54D-59E6-9C83-C2C2-8DCFB7EE4A0A}"/>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097B348-6478-E7DB-DD50-7F88BC9A40D6}"/>
              </a:ext>
            </a:extLst>
          </p:cNvPr>
          <p:cNvSpPr>
            <a:spLocks noGrp="1"/>
          </p:cNvSpPr>
          <p:nvPr>
            <p:ph type="sldNum" sz="quarter" idx="12"/>
          </p:nvPr>
        </p:nvSpPr>
        <p:spPr/>
        <p:txBody>
          <a:bodyPr/>
          <a:lstStyle/>
          <a:p>
            <a:fld id="{49A40DB5-B054-4B52-B27D-446721D6CC27}" type="slidenum">
              <a:rPr lang="en-US" smtClean="0"/>
              <a:pPr/>
              <a:t>2</a:t>
            </a:fld>
            <a:endParaRPr lang="en-US"/>
          </a:p>
        </p:txBody>
      </p:sp>
      <p:pic>
        <p:nvPicPr>
          <p:cNvPr id="3" name="Picture 2">
            <a:extLst>
              <a:ext uri="{FF2B5EF4-FFF2-40B4-BE49-F238E27FC236}">
                <a16:creationId xmlns:a16="http://schemas.microsoft.com/office/drawing/2014/main" id="{1EBF54BE-E254-C7D1-24D4-50D3CF18FFEA}"/>
              </a:ext>
            </a:extLst>
          </p:cNvPr>
          <p:cNvPicPr>
            <a:picLocks noChangeAspect="1"/>
          </p:cNvPicPr>
          <p:nvPr/>
        </p:nvPicPr>
        <p:blipFill>
          <a:blip r:embed="rId2"/>
          <a:stretch>
            <a:fillRect/>
          </a:stretch>
        </p:blipFill>
        <p:spPr>
          <a:xfrm>
            <a:off x="514606" y="248411"/>
            <a:ext cx="11162787" cy="5862320"/>
          </a:xfrm>
          <a:prstGeom prst="rect">
            <a:avLst/>
          </a:prstGeom>
        </p:spPr>
      </p:pic>
    </p:spTree>
    <p:extLst>
      <p:ext uri="{BB962C8B-B14F-4D97-AF65-F5344CB8AC3E}">
        <p14:creationId xmlns:p14="http://schemas.microsoft.com/office/powerpoint/2010/main" val="11079006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mso-contentType ?>
<customXsn xmlns="http://schemas.microsoft.com/office/2006/metadata/customXsn">
  <xsnLocation/>
  <cached>True</cached>
  <openByDefault>False</openByDefault>
  <xsnScope/>
</customXsn>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0D23BCBB7020E34DAE994A365BA94206" ma:contentTypeVersion="12" ma:contentTypeDescription="Create a new document." ma:contentTypeScope="" ma:versionID="b1c940a28d9f7ed7841dd66e388476ed">
  <xsd:schema xmlns:xsd="http://www.w3.org/2001/XMLSchema" xmlns:xs="http://www.w3.org/2001/XMLSchema" xmlns:p="http://schemas.microsoft.com/office/2006/metadata/properties" xmlns:ns2="f0ee8362-fa7e-4bc9-ab88-7dcfb17cb19b" targetNamespace="http://schemas.microsoft.com/office/2006/metadata/properties" ma:root="true" ma:fieldsID="8c9fb4aa225d81f58c6fca2e551d2526" ns2:_="">
    <xsd:import namespace="f0ee8362-fa7e-4bc9-ab88-7dcfb17cb19b"/>
    <xsd:element name="properties">
      <xsd:complexType>
        <xsd:sequence>
          <xsd:element name="documentManagement">
            <xsd:complexType>
              <xsd:all>
                <xsd:element ref="ns2:BusinessUnit" minOccurs="0"/>
                <xsd:element ref="ns2:Industries" minOccurs="0"/>
                <xsd:element ref="ns2:Solutions" minOccurs="0"/>
                <xsd:element ref="ns2:PlatTech" minOccurs="0"/>
                <xsd:element ref="ns2:Notes0" minOccurs="0"/>
                <xsd:element ref="ns2:Named_x0020_Account" minOccurs="0"/>
                <xsd:element ref="ns2:MediaServiceMetadata" minOccurs="0"/>
                <xsd:element ref="ns2:MediaServiceFastMetadata" minOccurs="0"/>
                <xsd:element ref="ns2:MediaServiceSearchProperties" minOccurs="0"/>
                <xsd:element ref="ns2:MediaServiceObjectDetectorVersions" minOccurs="0"/>
                <xsd:element ref="ns2:ProjectCompletionDate" minOccurs="0"/>
                <xsd:element ref="ns2:ApprovedByClien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0ee8362-fa7e-4bc9-ab88-7dcfb17cb19b" elementFormDefault="qualified">
    <xsd:import namespace="http://schemas.microsoft.com/office/2006/documentManagement/types"/>
    <xsd:import namespace="http://schemas.microsoft.com/office/infopath/2007/PartnerControls"/>
    <xsd:element name="BusinessUnit" ma:index="8" nillable="true" ma:displayName="Business Unit" ma:internalName="BusinessUnit">
      <xsd:complexType>
        <xsd:complexContent>
          <xsd:extension base="dms:MultiChoice">
            <xsd:sequence>
              <xsd:element name="Value" maxOccurs="unbounded" minOccurs="0" nillable="true">
                <xsd:simpleType>
                  <xsd:restriction base="dms:Choice">
                    <xsd:enumeration value="Business Process Outsourcing"/>
                    <xsd:enumeration value="Content and Change Management"/>
                    <xsd:enumeration value="Creative"/>
                    <xsd:enumeration value="Custom Development"/>
                    <xsd:enumeration value="Customer Relationship Management"/>
                    <xsd:enumeration value="Data and Analytics"/>
                    <xsd:enumeration value="Engagement Marketing"/>
                    <xsd:enumeration value="Infrastructure"/>
                    <xsd:enumeration value="Marketing Services"/>
                    <xsd:enumeration value="Modern Workplace"/>
                    <xsd:enumeration value="NetSuite"/>
                  </xsd:restriction>
                </xsd:simpleType>
              </xsd:element>
            </xsd:sequence>
          </xsd:extension>
        </xsd:complexContent>
      </xsd:complexType>
    </xsd:element>
    <xsd:element name="Industries" ma:index="9" nillable="true" ma:displayName="Industries" ma:format="Dropdown" ma:internalName="Industries">
      <xsd:complexType>
        <xsd:complexContent>
          <xsd:extension base="dms:MultiChoice">
            <xsd:sequence>
              <xsd:element name="Value" maxOccurs="unbounded" minOccurs="0" nillable="true">
                <xsd:simpleType>
                  <xsd:restriction base="dms:Choice">
                    <xsd:enumeration value="Aerospace"/>
                    <xsd:enumeration value="Agriculture"/>
                    <xsd:enumeration value="Agriculture Food"/>
                    <xsd:enumeration value="AI / AI Models"/>
                    <xsd:enumeration value="B2B"/>
                    <xsd:enumeration value="B2C"/>
                    <xsd:enumeration value="Chemical"/>
                    <xsd:enumeration value="Construction"/>
                    <xsd:enumeration value="Defence"/>
                    <xsd:enumeration value="Education"/>
                    <xsd:enumeration value="Energy"/>
                    <xsd:enumeration value="Engineering"/>
                    <xsd:enumeration value="Entertainment"/>
                    <xsd:enumeration value="Financial Services"/>
                    <xsd:enumeration value="Food"/>
                    <xsd:enumeration value="Government"/>
                    <xsd:enumeration value="Healthcare"/>
                    <xsd:enumeration value="Hospitality"/>
                    <xsd:enumeration value="Legal"/>
                    <xsd:enumeration value="Life Sciences"/>
                    <xsd:enumeration value="Manufacturing"/>
                    <xsd:enumeration value="Media"/>
                    <xsd:enumeration value="Non-Profit"/>
                    <xsd:enumeration value="Real Estate"/>
                    <xsd:enumeration value="Retail"/>
                    <xsd:enumeration value="Services"/>
                    <xsd:enumeration value="Technology"/>
                    <xsd:enumeration value="Telecommunications"/>
                    <xsd:enumeration value="Transportation"/>
                    <xsd:enumeration value="Water"/>
                    <xsd:enumeration value="Wellness"/>
                    <xsd:enumeration value="BPO"/>
                  </xsd:restriction>
                </xsd:simpleType>
              </xsd:element>
            </xsd:sequence>
          </xsd:extension>
        </xsd:complexContent>
      </xsd:complexType>
    </xsd:element>
    <xsd:element name="Solutions" ma:index="10" nillable="true" ma:displayName="Solutions" ma:format="Dropdown" ma:internalName="Solutions">
      <xsd:complexType>
        <xsd:complexContent>
          <xsd:extension base="dms:MultiChoice">
            <xsd:sequence>
              <xsd:element name="Value" maxOccurs="unbounded" minOccurs="0" nillable="true">
                <xsd:simpleType>
                  <xsd:restriction base="dms:Choice">
                    <xsd:enumeration value="ABM Marketing"/>
                    <xsd:enumeration value="AI"/>
                    <xsd:enumeration value="Audit"/>
                    <xsd:enumeration value="Change Management"/>
                    <xsd:enumeration value="Cloud"/>
                    <xsd:enumeration value="Configurations"/>
                    <xsd:enumeration value="Content"/>
                    <xsd:enumeration value="Customer &amp; Partner Support BPO"/>
                    <xsd:enumeration value="Customer / Partner Portal"/>
                    <xsd:enumeration value="Custom Search"/>
                    <xsd:enumeration value="Cybersecurity"/>
                    <xsd:enumeration value="Data Analytics"/>
                    <xsd:enumeration value="Design"/>
                    <xsd:enumeration value="Email Campaigns"/>
                    <xsd:enumeration value="Event support"/>
                    <xsd:enumeration value="HelpDesk Outsourcing BPO"/>
                    <xsd:enumeration value="Integrations"/>
                    <xsd:enumeration value="Intranet / Extranet"/>
                    <xsd:enumeration value="IoT"/>
                    <xsd:enumeration value="Link Building"/>
                    <xsd:enumeration value="Marketing Automation"/>
                    <xsd:enumeration value="Marketing Strategy"/>
                    <xsd:enumeration value="Marketing Technology"/>
                    <xsd:enumeration value="Migrations"/>
                    <xsd:enumeration value="Mobile Application"/>
                    <xsd:enumeration value="Organic Social Media"/>
                    <xsd:enumeration value="PPC"/>
                    <xsd:enumeration value="Personas &amp; Journey Mapping"/>
                    <xsd:enumeration value="Process Automation"/>
                    <xsd:enumeration value="Product Development"/>
                    <xsd:enumeration value="Research"/>
                    <xsd:enumeration value="SEO/ AEO"/>
                    <xsd:enumeration value="SPFx"/>
                    <xsd:enumeration value="Training"/>
                    <xsd:enumeration value="UX/ UI Design"/>
                    <xsd:enumeration value="Video Production"/>
                    <xsd:enumeration value="Webinars"/>
                    <xsd:enumeration value="Websites"/>
                    <xsd:enumeration value="DevOps"/>
                  </xsd:restriction>
                </xsd:simpleType>
              </xsd:element>
            </xsd:sequence>
          </xsd:extension>
        </xsd:complexContent>
      </xsd:complexType>
    </xsd:element>
    <xsd:element name="PlatTech" ma:index="11" nillable="true" ma:displayName="Platform / Technology" ma:format="Dropdown" ma:internalName="PlatTech">
      <xsd:complexType>
        <xsd:complexContent>
          <xsd:extension base="dms:MultiChoice">
            <xsd:sequence>
              <xsd:element name="Value" maxOccurs="unbounded" minOccurs="0" nillable="true">
                <xsd:simpleType>
                  <xsd:restriction base="dms:Choice">
                    <xsd:enumeration value=".NET"/>
                    <xsd:enumeration value="Android App"/>
                    <xsd:enumeration value="AWS"/>
                    <xsd:enumeration value="Angular"/>
                    <xsd:enumeration value="Azure"/>
                    <xsd:enumeration value="Azure DevOps"/>
                    <xsd:enumeration value="Boomi"/>
                    <xsd:enumeration value="Drupal"/>
                    <xsd:enumeration value="Dynamics"/>
                    <xsd:enumeration value="Flutter"/>
                    <xsd:enumeration value="GCP"/>
                    <xsd:enumeration value="Google"/>
                    <xsd:enumeration value="Great Plains"/>
                    <xsd:enumeration value="Hootsuite"/>
                    <xsd:enumeration value="HubSpot"/>
                    <xsd:enumeration value="iOS App"/>
                    <xsd:enumeration value="Java"/>
                    <xsd:enumeration value="Kentico"/>
                    <xsd:enumeration value="Looker Studio"/>
                    <xsd:enumeration value="Mobile App"/>
                    <xsd:enumeration value="Marketo / Adobe"/>
                    <xsd:enumeration value="NetSuite"/>
                    <xsd:enumeration value="O365"/>
                    <xsd:enumeration value="OneDrive"/>
                    <xsd:enumeration value="PowerSuite"/>
                    <xsd:enumeration value="Power BI"/>
                    <xsd:enumeration value="QuickBooks"/>
                    <xsd:enumeration value="React"/>
                    <xsd:enumeration value="React Native"/>
                    <xsd:enumeration value="Sage"/>
                    <xsd:enumeration value="Salesforce"/>
                    <xsd:enumeration value="Salesforce Experience Cloud"/>
                    <xsd:enumeration value="Salesforce Marketing Cloud"/>
                    <xsd:enumeration value="Salesforce CPQ"/>
                    <xsd:enumeration value="Salesforce Pardot"/>
                    <xsd:enumeration value="SharePoint"/>
                    <xsd:enumeration value="Shopify"/>
                    <xsd:enumeration value="Sitecore"/>
                    <xsd:enumeration value="Sitefinity"/>
                    <xsd:enumeration value="Snowflake"/>
                    <xsd:enumeration value="Sprinklr"/>
                    <xsd:enumeration value="SproutSocial"/>
                    <xsd:enumeration value="Tableau"/>
                    <xsd:enumeration value="WP Engine"/>
                    <xsd:enumeration value="Webflow"/>
                    <xsd:enumeration value="WooCommerce"/>
                    <xsd:enumeration value="WordPress"/>
                    <xsd:enumeration value="Zoho"/>
                    <xsd:enumeration value="Power Apps"/>
                    <xsd:enumeration value="Teams"/>
                    <xsd:enumeration value="Azure Data Factory"/>
                    <xsd:enumeration value="Zendesk"/>
                    <xsd:enumeration value="Business Central"/>
                    <xsd:enumeration value="Viva"/>
                  </xsd:restriction>
                </xsd:simpleType>
              </xsd:element>
            </xsd:sequence>
          </xsd:extension>
        </xsd:complexContent>
      </xsd:complexType>
    </xsd:element>
    <xsd:element name="Notes0" ma:index="12" nillable="true" ma:displayName="Notes" ma:internalName="Notes0">
      <xsd:simpleType>
        <xsd:restriction base="dms:Text">
          <xsd:maxLength value="255"/>
        </xsd:restriction>
      </xsd:simpleType>
    </xsd:element>
    <xsd:element name="Named_x0020_Account" ma:index="13" nillable="true" ma:displayName="Named Account" ma:format="Dropdown" ma:internalName="Named_x0020_Account">
      <xsd:simpleType>
        <xsd:restriction base="dms:Choice">
          <xsd:enumeration value="Microsoft"/>
          <xsd:enumeration value="Meta"/>
          <xsd:enumeration value="Amazon"/>
        </xsd:restriction>
      </xsd:simpleType>
    </xsd:element>
    <xsd:element name="MediaServiceMetadata" ma:index="14" nillable="true" ma:displayName="MediaServiceMetadata" ma:hidden="true" ma:internalName="MediaServiceMetadata" ma:readOnly="true">
      <xsd:simpleType>
        <xsd:restriction base="dms:Note"/>
      </xsd:simpleType>
    </xsd:element>
    <xsd:element name="MediaServiceFastMetadata" ma:index="15" nillable="true" ma:displayName="MediaServiceFastMetadata" ma:hidden="true" ma:internalName="MediaServiceFastMetadata" ma:readOnly="true">
      <xsd:simpleType>
        <xsd:restriction base="dms:Note"/>
      </xsd:simpleType>
    </xsd:element>
    <xsd:element name="MediaServiceSearchProperties" ma:index="16" nillable="true" ma:displayName="MediaServiceSearchProperties" ma:hidden="true" ma:internalName="MediaServiceSearchProperties" ma:readOnly="true">
      <xsd:simpleType>
        <xsd:restriction base="dms:Note"/>
      </xsd:simpleType>
    </xsd:element>
    <xsd:element name="MediaServiceObjectDetectorVersions" ma:index="17" nillable="true" ma:displayName="MediaServiceObjectDetectorVersions" ma:hidden="true" ma:indexed="true" ma:internalName="MediaServiceObjectDetectorVersions" ma:readOnly="true">
      <xsd:simpleType>
        <xsd:restriction base="dms:Text"/>
      </xsd:simpleType>
    </xsd:element>
    <xsd:element name="ProjectCompletionDate" ma:index="18" nillable="true" ma:displayName="Project Completion Date" ma:format="DateOnly" ma:internalName="ProjectCompletionDate">
      <xsd:simpleType>
        <xsd:restriction base="dms:DateTime"/>
      </xsd:simpleType>
    </xsd:element>
    <xsd:element name="ApprovedByClient" ma:index="19" nillable="true" ma:displayName="Approved By Client" ma:default="0" ma:format="Dropdown" ma:internalName="ApprovedByClient">
      <xsd:simpleType>
        <xsd:restriction base="dms:Boolea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4.xml><?xml version="1.0" encoding="utf-8"?>
<p:properties xmlns:p="http://schemas.microsoft.com/office/2006/metadata/properties" xmlns:xsi="http://www.w3.org/2001/XMLSchema-instance" xmlns:pc="http://schemas.microsoft.com/office/infopath/2007/PartnerControls">
  <documentManagement>
    <Notes0 xmlns="f0ee8362-fa7e-4bc9-ab88-7dcfb17cb19b" xsi:nil="true"/>
    <Named_x0020_Account xmlns="f0ee8362-fa7e-4bc9-ab88-7dcfb17cb19b" xsi:nil="true"/>
    <Industries xmlns="f0ee8362-fa7e-4bc9-ab88-7dcfb17cb19b">
      <Value>Construction</Value>
    </Industries>
    <PlatTech xmlns="f0ee8362-fa7e-4bc9-ab88-7dcfb17cb19b" xsi:nil="true"/>
    <BusinessUnit xmlns="f0ee8362-fa7e-4bc9-ab88-7dcfb17cb19b">
      <Value>Custom Development</Value>
    </BusinessUnit>
    <Solutions xmlns="f0ee8362-fa7e-4bc9-ab88-7dcfb17cb19b" xsi:nil="true"/>
    <ProjectCompletionDate xmlns="f0ee8362-fa7e-4bc9-ab88-7dcfb17cb19b" xsi:nil="true"/>
    <ApprovedByClient xmlns="f0ee8362-fa7e-4bc9-ab88-7dcfb17cb19b">false</ApprovedByClient>
  </documentManagement>
</p:properties>
</file>

<file path=customXml/itemProps1.xml><?xml version="1.0" encoding="utf-8"?>
<ds:datastoreItem xmlns:ds="http://schemas.openxmlformats.org/officeDocument/2006/customXml" ds:itemID="{BCB02534-2E76-430D-A2A4-1E53458B89EA}">
  <ds:schemaRefs>
    <ds:schemaRef ds:uri="http://schemas.microsoft.com/office/2006/metadata/customXsn"/>
  </ds:schemaRefs>
</ds:datastoreItem>
</file>

<file path=customXml/itemProps2.xml><?xml version="1.0" encoding="utf-8"?>
<ds:datastoreItem xmlns:ds="http://schemas.openxmlformats.org/officeDocument/2006/customXml" ds:itemID="{4EF57C4B-ACC9-4510-AD1E-68153B8BC9B8}">
  <ds:schemaRefs>
    <ds:schemaRef ds:uri="http://schemas.microsoft.com/sharepoint/v3/contenttype/forms"/>
  </ds:schemaRefs>
</ds:datastoreItem>
</file>

<file path=customXml/itemProps3.xml><?xml version="1.0" encoding="utf-8"?>
<ds:datastoreItem xmlns:ds="http://schemas.openxmlformats.org/officeDocument/2006/customXml" ds:itemID="{AED40B0E-0C35-4F3A-8FCA-79B0266943D6}"/>
</file>

<file path=customXml/itemProps4.xml><?xml version="1.0" encoding="utf-8"?>
<ds:datastoreItem xmlns:ds="http://schemas.openxmlformats.org/officeDocument/2006/customXml" ds:itemID="{D6C0240B-E924-47D4-A3AA-2CB1B902DC79}">
  <ds:schemaRefs>
    <ds:schemaRef ds:uri="http://schemas.microsoft.com/office/2006/documentManagement/types"/>
    <ds:schemaRef ds:uri="http://purl.org/dc/terms/"/>
    <ds:schemaRef ds:uri="http://www.w3.org/XML/1998/namespace"/>
    <ds:schemaRef ds:uri="http://schemas.openxmlformats.org/package/2006/metadata/core-properties"/>
    <ds:schemaRef ds:uri="http://purl.org/dc/elements/1.1/"/>
    <ds:schemaRef ds:uri="http://schemas.microsoft.com/office/2006/metadata/properties"/>
    <ds:schemaRef ds:uri="http://schemas.microsoft.com/office/infopath/2007/PartnerControls"/>
    <ds:schemaRef ds:uri="f0ee8362-fa7e-4bc9-ab88-7dcfb17cb19b"/>
    <ds:schemaRef ds:uri="http://purl.org/dc/dcmitype/"/>
  </ds:schemaRefs>
</ds:datastoreItem>
</file>

<file path=docProps/app.xml><?xml version="1.0" encoding="utf-8"?>
<Properties xmlns="http://schemas.openxmlformats.org/officeDocument/2006/extended-properties" xmlns:vt="http://schemas.openxmlformats.org/officeDocument/2006/docPropsVTypes">
  <TotalTime>0</TotalTime>
  <Words>232</Words>
  <Application>Microsoft Office PowerPoint</Application>
  <PresentationFormat>Widescreen</PresentationFormat>
  <Paragraphs>19</Paragraphs>
  <Slides>2</Slides>
  <Notes>1</Notes>
  <HiddenSlides>0</HiddenSlides>
  <MMClips>0</MMClips>
  <ScaleCrop>false</ScaleCrop>
  <HeadingPairs>
    <vt:vector size="4" baseType="variant">
      <vt:variant>
        <vt:lpstr>Theme</vt:lpstr>
      </vt:variant>
      <vt:variant>
        <vt:i4>1</vt:i4>
      </vt:variant>
      <vt:variant>
        <vt:lpstr>Slide Titles</vt:lpstr>
      </vt:variant>
      <vt:variant>
        <vt:i4>2</vt:i4>
      </vt:variant>
    </vt:vector>
  </HeadingPairs>
  <TitlesOfParts>
    <vt:vector size="3" baseType="lpstr">
      <vt:lpstr>Office Theme</vt:lpstr>
      <vt:lpstr>Howard S. Wright – Time Management Tool</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Brendan Murphy</dc:creator>
  <cp:lastModifiedBy>Brendan Murphy</cp:lastModifiedBy>
  <cp:revision>8</cp:revision>
  <dcterms:created xsi:type="dcterms:W3CDTF">2025-02-28T00:48:56Z</dcterms:created>
  <dcterms:modified xsi:type="dcterms:W3CDTF">2025-10-17T14:17:05Z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0x0101000D23BCBB7020E34DAE994A365BA94206</vt:lpwstr>
  </property>
</Properties>
</file>