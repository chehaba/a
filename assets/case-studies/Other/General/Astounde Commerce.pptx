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10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6EF42-4EB1-4DA8-AE1B-24758BE87BE9}"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E27841-D233-4DE1-A652-B9E24EBD69FE}" type="slidenum">
              <a:rPr lang="en-US" smtClean="0"/>
              <a:t>‹#›</a:t>
            </a:fld>
            <a:endParaRPr lang="en-US"/>
          </a:p>
        </p:txBody>
      </p:sp>
    </p:spTree>
    <p:extLst>
      <p:ext uri="{BB962C8B-B14F-4D97-AF65-F5344CB8AC3E}">
        <p14:creationId xmlns:p14="http://schemas.microsoft.com/office/powerpoint/2010/main" val="393600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34719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39168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90331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39247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798777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2116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9858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86756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64081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8623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08270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39702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176972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58850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97862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8921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954369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3/12/2024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04203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1498103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3064233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188237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24076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278250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41533255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334597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ection Title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97830-EF50-B643-B994-D997482F2707}"/>
              </a:ext>
            </a:extLst>
          </p:cNvPr>
          <p:cNvSpPr/>
          <p:nvPr userDrawn="1"/>
        </p:nvSpPr>
        <p:spPr>
          <a:xfrm>
            <a:off x="6085837" y="0"/>
            <a:ext cx="6106163" cy="6857999"/>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922804" y="3046804"/>
            <a:ext cx="4415756" cy="1911276"/>
          </a:xfrm>
        </p:spPr>
        <p:txBody>
          <a:bodyPr anchor="t">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Title Placeholder</a:t>
            </a:r>
          </a:p>
        </p:txBody>
      </p:sp>
      <p:pic>
        <p:nvPicPr>
          <p:cNvPr id="13" name="Picture 12">
            <a:extLst>
              <a:ext uri="{FF2B5EF4-FFF2-40B4-BE49-F238E27FC236}">
                <a16:creationId xmlns:a16="http://schemas.microsoft.com/office/drawing/2014/main" id="{EA06EB43-50DE-5C43-AAC6-9C2DB54E885C}"/>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7949" t="2727" r="40534" b="23812"/>
          <a:stretch/>
        </p:blipFill>
        <p:spPr>
          <a:xfrm rot="5400000">
            <a:off x="7580032" y="2995634"/>
            <a:ext cx="3127936" cy="6096000"/>
          </a:xfrm>
          <a:prstGeom prst="rect">
            <a:avLst/>
          </a:prstGeom>
        </p:spPr>
      </p:pic>
      <p:sp>
        <p:nvSpPr>
          <p:cNvPr id="5" name="Text Placeholder 4">
            <a:extLst>
              <a:ext uri="{FF2B5EF4-FFF2-40B4-BE49-F238E27FC236}">
                <a16:creationId xmlns:a16="http://schemas.microsoft.com/office/drawing/2014/main" id="{A7342920-A5B1-934D-ADB8-26E82483F9D4}"/>
              </a:ext>
            </a:extLst>
          </p:cNvPr>
          <p:cNvSpPr>
            <a:spLocks noGrp="1"/>
          </p:cNvSpPr>
          <p:nvPr>
            <p:ph type="body" sz="quarter" idx="10" hasCustomPrompt="1"/>
          </p:nvPr>
        </p:nvSpPr>
        <p:spPr>
          <a:xfrm>
            <a:off x="6941818" y="1945416"/>
            <a:ext cx="4396742" cy="769915"/>
          </a:xfrm>
        </p:spPr>
        <p:txBody>
          <a:bodyPr/>
          <a:lstStyle>
            <a:lvl1pPr marL="0" indent="0">
              <a:buNone/>
              <a:defRPr sz="5600" b="0" i="0" spc="600">
                <a:solidFill>
                  <a:srgbClr val="FFD8A5"/>
                </a:solidFill>
                <a:latin typeface="Arial Narrow" panose="020B0604020202020204" pitchFamily="34" charset="0"/>
                <a:cs typeface="Arial Narrow" panose="020B0604020202020204" pitchFamily="34" charset="0"/>
              </a:defRPr>
            </a:lvl1pPr>
          </a:lstStyle>
          <a:p>
            <a:pPr lvl="0"/>
            <a:r>
              <a:rPr lang="en-US"/>
              <a:t>01</a:t>
            </a:r>
          </a:p>
        </p:txBody>
      </p:sp>
    </p:spTree>
    <p:extLst>
      <p:ext uri="{BB962C8B-B14F-4D97-AF65-F5344CB8AC3E}">
        <p14:creationId xmlns:p14="http://schemas.microsoft.com/office/powerpoint/2010/main" val="261147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3/12/2024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29579375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197419" y="262069"/>
            <a:ext cx="11763098" cy="740283"/>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marL="0" marR="0" lvl="0" indent="0" algn="l" defTabSz="838166" rtl="0" eaLnBrk="1" fontAlgn="auto" latinLnBrk="0" hangingPunct="1">
              <a:lnSpc>
                <a:spcPct val="90000"/>
              </a:lnSpc>
              <a:spcBef>
                <a:spcPct val="0"/>
              </a:spcBef>
              <a:spcAft>
                <a:spcPts val="0"/>
              </a:spcAft>
              <a:buClrTx/>
              <a:buSzTx/>
              <a:buFontTx/>
              <a:buNone/>
              <a:tabLst/>
              <a:defRPr/>
            </a:pPr>
            <a:r>
              <a:rPr kumimoji="0" lang="en-US" sz="3167" b="0" i="0" u="none" strike="noStrike" kern="1200" cap="none" spc="0" normalizeH="0" baseline="0" noProof="0">
                <a:ln>
                  <a:noFill/>
                </a:ln>
                <a:solidFill>
                  <a:prstClr val="white"/>
                </a:solidFill>
                <a:effectLst/>
                <a:uLnTx/>
                <a:uFillTx/>
                <a:latin typeface="Segoe UI Light"/>
                <a:ea typeface="+mj-ea"/>
                <a:cs typeface="+mj-cs"/>
              </a:rPr>
              <a:t>Astound Commerce – Marketing Consulting &amp; Implementation</a:t>
            </a:r>
          </a:p>
        </p:txBody>
      </p:sp>
      <p:pic>
        <p:nvPicPr>
          <p:cNvPr id="1028" name="Picture 4" descr="https://pbs.twimg.com/profile_images/602776839107514368/10xgFwZ2.png"/>
          <p:cNvPicPr>
            <a:picLocks noChangeAspect="1" noChangeArrowheads="1"/>
          </p:cNvPicPr>
          <p:nvPr/>
        </p:nvPicPr>
        <p:blipFill rotWithShape="1">
          <a:blip r:embed="rId3">
            <a:extLst>
              <a:ext uri="{28A0092B-C50C-407E-A947-70E740481C1C}">
                <a14:useLocalDpi xmlns:a14="http://schemas.microsoft.com/office/drawing/2010/main" val="0"/>
              </a:ext>
            </a:extLst>
          </a:blip>
          <a:srcRect t="34524" b="35522"/>
          <a:stretch/>
        </p:blipFill>
        <p:spPr bwMode="auto">
          <a:xfrm>
            <a:off x="9547023" y="1617486"/>
            <a:ext cx="2246659" cy="6729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43457" y="1199510"/>
            <a:ext cx="8501217" cy="2086982"/>
          </a:xfrm>
          <a:prstGeom prst="rect">
            <a:avLst/>
          </a:prstGeom>
        </p:spPr>
        <p:txBody>
          <a:bodyPr wrap="square">
            <a:spAutoFit/>
          </a:bodyPr>
          <a:lstStyle/>
          <a:p>
            <a:pPr marL="0" marR="0" lvl="0" indent="0" algn="l" defTabSz="976845" rtl="0" eaLnBrk="1" fontAlgn="auto" latinLnBrk="0" hangingPunct="1">
              <a:lnSpc>
                <a:spcPct val="110000"/>
              </a:lnSpc>
              <a:spcBef>
                <a:spcPts val="0"/>
              </a:spcBef>
              <a:spcAft>
                <a:spcPts val="0"/>
              </a:spcAft>
              <a:buClrTx/>
              <a:buSzTx/>
              <a:buFontTx/>
              <a:buNone/>
              <a:tabLst/>
              <a:defRPr/>
            </a:pPr>
            <a:r>
              <a:rPr kumimoji="0" lang="en-US" sz="2117" b="1" i="0" u="none" strike="noStrike" kern="1200" cap="none" spc="0" normalizeH="0" baseline="0" noProof="0">
                <a:ln>
                  <a:noFill/>
                </a:ln>
                <a:solidFill>
                  <a:srgbClr val="0096A9"/>
                </a:solidFill>
                <a:effectLst/>
                <a:uLnTx/>
                <a:uFillTx/>
                <a:latin typeface="Segoe UI"/>
                <a:ea typeface="MS Mincho" panose="02020609040205080304" pitchFamily="49" charset="-128"/>
                <a:cs typeface="Segoe UI Light" panose="020B0502040204020203" pitchFamily="34" charset="0"/>
              </a:rPr>
              <a:t>Business</a:t>
            </a:r>
            <a:r>
              <a:rPr kumimoji="0" lang="en-US" sz="2117" b="1" i="0" u="none" strike="noStrike" kern="1200" cap="none" spc="0" normalizeH="0" baseline="0" noProof="0">
                <a:ln>
                  <a:noFill/>
                </a:ln>
                <a:solidFill>
                  <a:srgbClr val="0096A9"/>
                </a:solidFill>
                <a:effectLst/>
                <a:uLnTx/>
                <a:uFillTx/>
                <a:latin typeface="Segoe UI"/>
                <a:ea typeface="+mn-ea"/>
                <a:cs typeface="Segoe UI Light" panose="020B0502040204020203" pitchFamily="34" charset="0"/>
              </a:rPr>
              <a:t> </a:t>
            </a:r>
            <a:r>
              <a:rPr kumimoji="0" lang="en-US" sz="2117" b="1" i="0" u="none" strike="noStrike" kern="1200" cap="none" spc="0" normalizeH="0" baseline="0" noProof="0">
                <a:ln>
                  <a:noFill/>
                </a:ln>
                <a:solidFill>
                  <a:srgbClr val="0096A9"/>
                </a:solidFill>
                <a:effectLst/>
                <a:uLnTx/>
                <a:uFillTx/>
                <a:latin typeface="Segoe UI"/>
                <a:ea typeface="MS Mincho" panose="02020609040205080304" pitchFamily="49" charset="-128"/>
                <a:cs typeface="Segoe UI Light" panose="020B0502040204020203" pitchFamily="34" charset="0"/>
              </a:rPr>
              <a:t>Need</a:t>
            </a:r>
            <a:endParaRPr kumimoji="0" lang="en-US" sz="1059" b="1" i="0" u="none" strike="noStrike" kern="1200" cap="none" spc="0" normalizeH="0" baseline="0" noProof="0">
              <a:ln>
                <a:noFill/>
              </a:ln>
              <a:solidFill>
                <a:srgbClr val="0096A9"/>
              </a:solidFill>
              <a:effectLst/>
              <a:uLnTx/>
              <a:uFillTx/>
              <a:latin typeface="Segoe UI"/>
              <a:ea typeface="MS Mincho" panose="02020609040205080304" pitchFamily="49" charset="-128"/>
              <a:cs typeface="Segoe UI" panose="020B0502040204020203" pitchFamily="34" charset="0"/>
            </a:endParaRP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Astound Commerce is a global consulting firm specializing in ecommerce solutions for enterprise organizations. Astound came to Affirma looking to improve their marketing strategy and communication between sales and marketing teams. They weren’t effectively leveraging customer engagement data, and had no formal campaign strategy in place. They asked Affirma to help them select a marketing automation platform, develop marketing strategy, and implement the platform.  </a:t>
            </a:r>
            <a:endParaRPr kumimoji="0" lang="en-US" sz="150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76845" rtl="0" eaLnBrk="1" fontAlgn="auto" latinLnBrk="0" hangingPunct="1">
              <a:lnSpc>
                <a:spcPct val="12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11" name="Rectangle 10"/>
          <p:cNvSpPr/>
          <p:nvPr/>
        </p:nvSpPr>
        <p:spPr>
          <a:xfrm>
            <a:off x="561102" y="3060193"/>
            <a:ext cx="10834263" cy="2075183"/>
          </a:xfrm>
          <a:prstGeom prst="rect">
            <a:avLst/>
          </a:prstGeom>
        </p:spPr>
        <p:txBody>
          <a:bodyPr wrap="squar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2117" b="1" i="0" u="none" strike="noStrike" kern="1200" cap="none" spc="0" normalizeH="0" baseline="0" noProof="0">
                <a:ln>
                  <a:noFill/>
                </a:ln>
                <a:solidFill>
                  <a:srgbClr val="0096A9"/>
                </a:solidFill>
                <a:effectLst/>
                <a:uLnTx/>
                <a:uFillTx/>
                <a:latin typeface="Segoe UI" panose="020B0502040204020203" pitchFamily="34" charset="0"/>
                <a:ea typeface="MS Mincho" panose="02020609040205080304" pitchFamily="49" charset="-128"/>
                <a:cs typeface="Segoe UI" panose="020B0502040204020203" pitchFamily="34" charset="0"/>
              </a:rPr>
              <a:t>What We Did</a:t>
            </a:r>
            <a:br>
              <a:rPr kumimoji="0" lang="en-US" sz="1765" b="0" i="0" u="none" strike="noStrike" kern="1200" cap="none" spc="0" normalizeH="0" baseline="0" noProof="0">
                <a:ln>
                  <a:noFill/>
                </a:ln>
                <a:solidFill>
                  <a:srgbClr val="F75714"/>
                </a:solidFill>
                <a:effectLst/>
                <a:uLnTx/>
                <a:uFillTx/>
                <a:latin typeface="Segoe UI" panose="020B0502040204020203" pitchFamily="34" charset="0"/>
                <a:ea typeface="MS Mincho" panose="02020609040205080304" pitchFamily="49" charset="-128"/>
                <a:cs typeface="Segoe UI" panose="020B0502040204020203" pitchFamily="34" charset="0"/>
              </a:rPr>
            </a:b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Astound selected Pardot as their marketing automation platform. Affirma partnered with Salesforce’s Pardot Implementation team to support Astound during the project. Working in collaboration with Salesforce, Affirma helped align the Pardot solution to </a:t>
            </a:r>
            <a:r>
              <a:rPr kumimoji="0" lang="en-US" sz="1500" b="0" i="0" u="none" strike="noStrike" kern="1200" cap="none" spc="0" normalizeH="0" baseline="0" noProof="0" err="1">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Astound’s</a:t>
            </a:r>
            <a:r>
              <a:rPr kumimoji="0" lang="en-US" sz="1500"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 business needs. Our team helped Astound pilot several different campaigns and begin measuring success; helping define customer segmentation, create landing pages and run campaigns across multiple channels. Astound saw immediate increases in lead conversion and has continued to successfully leverage Pardot since the launch. </a:t>
            </a:r>
          </a:p>
          <a:p>
            <a:pPr marL="0" marR="0" lvl="0" indent="0" algn="l" defTabSz="976845" rtl="0" eaLnBrk="1" fontAlgn="auto" latinLnBrk="0" hangingPunct="1">
              <a:lnSpc>
                <a:spcPct val="120000"/>
              </a:lnSpc>
              <a:spcBef>
                <a:spcPts val="0"/>
              </a:spcBef>
              <a:spcAft>
                <a:spcPts val="0"/>
              </a:spcAft>
              <a:buClrTx/>
              <a:buSzTx/>
              <a:buFontTx/>
              <a:buNone/>
              <a:tabLst/>
              <a:defRPr/>
            </a:pPr>
            <a:endParaRPr kumimoji="0" lang="en-US" sz="1235" b="0" i="0" u="none" strike="noStrike" kern="1200" cap="none" spc="0" normalizeH="0" baseline="0" noProof="0">
              <a:ln>
                <a:noFill/>
              </a:ln>
              <a:solidFill>
                <a:srgbClr val="000000"/>
              </a:solidFill>
              <a:effectLst/>
              <a:uLnTx/>
              <a:uFillTx/>
              <a:latin typeface="Segoe UI" panose="020B0502040204020203" pitchFamily="34" charset="0"/>
              <a:ea typeface="MS Mincho" panose="02020609040205080304" pitchFamily="49" charset="-128"/>
              <a:cs typeface="Segoe UI" panose="020B0502040204020203" pitchFamily="34" charset="0"/>
            </a:endParaRPr>
          </a:p>
        </p:txBody>
      </p:sp>
      <p:sp>
        <p:nvSpPr>
          <p:cNvPr id="7" name="Rectangle 6">
            <a:extLst>
              <a:ext uri="{FF2B5EF4-FFF2-40B4-BE49-F238E27FC236}">
                <a16:creationId xmlns:a16="http://schemas.microsoft.com/office/drawing/2014/main" id="{E1C315A6-5FC6-4B02-97CB-04928509692A}"/>
              </a:ext>
            </a:extLst>
          </p:cNvPr>
          <p:cNvSpPr/>
          <p:nvPr/>
        </p:nvSpPr>
        <p:spPr>
          <a:xfrm>
            <a:off x="1094869" y="5141211"/>
            <a:ext cx="10352777" cy="1580946"/>
          </a:xfrm>
          <a:prstGeom prst="rect">
            <a:avLst/>
          </a:prstGeom>
        </p:spPr>
        <p:txBody>
          <a:bodyPr wrap="square">
            <a:spAutoFit/>
          </a:bodyPr>
          <a:lstStyle/>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“Our team at Salesforce Pardot supported Astound Commerce during their implementation of the Pardot marketing automation platform. We partnered with Affirma in this effort to ensure continuity and success for the client. Collaborating with Affirma has had a huge impact on the success of </a:t>
            </a:r>
            <a:r>
              <a:rPr kumimoji="0" lang="en-US" sz="1167" b="0" i="1" u="none" strike="noStrike" kern="1200" cap="none" spc="0" normalizeH="0" baseline="0" noProof="0" err="1">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Astound’s</a:t>
            </a: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 marketing automation initiative due to their deep knowledge of the platform and the client’s needs. Their expertise allowed for a seamless rollout of marketing campaigns using Pardot. I would definitely recommend Affirma.”</a:t>
            </a: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 </a:t>
            </a: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Richard </a:t>
            </a:r>
            <a:r>
              <a:rPr kumimoji="0" lang="en-US" sz="1167" b="0" i="1" u="none" strike="noStrike" kern="1200" cap="none" spc="0" normalizeH="0" baseline="0" noProof="0" err="1">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Felle</a:t>
            </a: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 | Implementation Specialist </a:t>
            </a: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167" b="0" i="1" u="none" strike="noStrike" kern="1200" cap="none" spc="0" normalizeH="0" baseline="0" noProof="0">
                <a:ln>
                  <a:noFill/>
                </a:ln>
                <a:solidFill>
                  <a:prstClr val="black"/>
                </a:solidFill>
                <a:effectLst/>
                <a:uLnTx/>
                <a:uFillTx/>
                <a:latin typeface="Segoe UI" panose="020B0502040204020203" pitchFamily="34" charset="0"/>
                <a:ea typeface="Calibri" panose="020F0502020204030204" pitchFamily="34" charset="0"/>
                <a:cs typeface="Segoe UI" panose="020B0502040204020203" pitchFamily="34" charset="0"/>
              </a:rPr>
              <a:t>Pardot, a Salesforce Company</a:t>
            </a:r>
          </a:p>
        </p:txBody>
      </p:sp>
    </p:spTree>
    <p:extLst>
      <p:ext uri="{BB962C8B-B14F-4D97-AF65-F5344CB8AC3E}">
        <p14:creationId xmlns:p14="http://schemas.microsoft.com/office/powerpoint/2010/main" val="3595695917"/>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 xsi:nil="true"/>
    <PlatTech xmlns="f0ee8362-fa7e-4bc9-ab88-7dcfb17cb19b">
      <Value>Salesforce Pardot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3F5E9526-CEB8-4115-8B64-81C781821DE3}"/>
</file>

<file path=customXml/itemProps2.xml><?xml version="1.0" encoding="utf-8"?>
<ds:datastoreItem xmlns:ds="http://schemas.openxmlformats.org/officeDocument/2006/customXml" ds:itemID="{17A3231C-C311-47F5-8D07-446E13CBA312}"/>
</file>

<file path=customXml/itemProps3.xml><?xml version="1.0" encoding="utf-8"?>
<ds:datastoreItem xmlns:ds="http://schemas.openxmlformats.org/officeDocument/2006/customXml" ds:itemID="{503C4306-05B4-492B-BB1A-256ACF1AF067}"/>
</file>

<file path=customXml/itemProps4.xml><?xml version="1.0" encoding="utf-8"?>
<ds:datastoreItem xmlns:ds="http://schemas.openxmlformats.org/officeDocument/2006/customXml" ds:itemID="{26ED22E3-DC02-4B42-A861-3A2A127D05AE}"/>
</file>

<file path=docProps/app.xml><?xml version="1.0" encoding="utf-8"?>
<Properties xmlns="http://schemas.openxmlformats.org/officeDocument/2006/extended-properties" xmlns:vt="http://schemas.openxmlformats.org/officeDocument/2006/docPropsVTypes">
  <TotalTime>0</TotalTime>
  <Words>265</Words>
  <Application>Microsoft Office PowerPoint</Application>
  <PresentationFormat>Widescreen</PresentationFormat>
  <Paragraphs>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Segoe UI</vt:lpstr>
      <vt:lpstr>Segoe UI Light</vt:lpstr>
      <vt:lpstr>Segoe UI Semilight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Astounde Commerce</dc:title>
  <dc:creator>Brendan Murphy</dc:creator>
  <cp:lastModifiedBy>Brendan Murphy</cp:lastModifiedBy>
  <cp:revision>1</cp:revision>
  <dcterms:created xsi:type="dcterms:W3CDTF">2024-03-12T20:46:50Z</dcterms:created>
  <dcterms:modified xsi:type="dcterms:W3CDTF">2024-03-12T20:47:11Z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