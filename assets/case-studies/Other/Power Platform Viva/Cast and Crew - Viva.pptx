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sldIdLst>
    <p:sldId id="214748142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EF066E-DCCB-0E73-0509-B06F3EEBEB53}" v="4" dt="2025-12-09T00:47:33.3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S::bmurphy@affirma.com::e9f923b6-6d89-4d4e-a3b7-d9304b9d44ba" providerId="AD" clId="Web-{68EF066E-DCCB-0E73-0509-B06F3EEBEB53}"/>
    <pc:docChg chg="addSld delSld">
      <pc:chgData name="Brendan Murphy" userId="S::bmurphy@affirma.com::e9f923b6-6d89-4d4e-a3b7-d9304b9d44ba" providerId="AD" clId="Web-{68EF066E-DCCB-0E73-0509-B06F3EEBEB53}" dt="2025-12-09T00:47:33.344" v="3"/>
      <pc:docMkLst>
        <pc:docMk/>
      </pc:docMkLst>
      <pc:sldChg chg="del">
        <pc:chgData name="Brendan Murphy" userId="S::bmurphy@affirma.com::e9f923b6-6d89-4d4e-a3b7-d9304b9d44ba" providerId="AD" clId="Web-{68EF066E-DCCB-0E73-0509-B06F3EEBEB53}" dt="2025-12-09T00:47:33.344" v="3"/>
        <pc:sldMkLst>
          <pc:docMk/>
          <pc:sldMk cId="109857222" sldId="256"/>
        </pc:sldMkLst>
      </pc:sldChg>
      <pc:sldChg chg="add del">
        <pc:chgData name="Brendan Murphy" userId="S::bmurphy@affirma.com::e9f923b6-6d89-4d4e-a3b7-d9304b9d44ba" providerId="AD" clId="Web-{68EF066E-DCCB-0E73-0509-B06F3EEBEB53}" dt="2025-12-09T00:47:32.375" v="2"/>
        <pc:sldMkLst>
          <pc:docMk/>
          <pc:sldMk cId="1965825625" sldId="2147481426"/>
        </pc:sldMkLst>
      </pc:sldChg>
      <pc:sldMasterChg chg="addSldLayout">
        <pc:chgData name="Brendan Murphy" userId="S::bmurphy@affirma.com::e9f923b6-6d89-4d4e-a3b7-d9304b9d44ba" providerId="AD" clId="Web-{68EF066E-DCCB-0E73-0509-B06F3EEBEB53}" dt="2025-12-09T00:47:27.922" v="0"/>
        <pc:sldMasterMkLst>
          <pc:docMk/>
          <pc:sldMasterMk cId="2460954070" sldId="2147483660"/>
        </pc:sldMasterMkLst>
        <pc:sldLayoutChg chg="add">
          <pc:chgData name="Brendan Murphy" userId="S::bmurphy@affirma.com::e9f923b6-6d89-4d4e-a3b7-d9304b9d44ba" providerId="AD" clId="Web-{68EF066E-DCCB-0E73-0509-B06F3EEBEB53}" dt="2025-12-09T00:47:27.922" v="0"/>
          <pc:sldLayoutMkLst>
            <pc:docMk/>
            <pc:sldMasterMk cId="2460954070" sldId="2147483660"/>
            <pc:sldLayoutMk cId="312012783" sldId="214748367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20127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83002-B52B-47B2-B3D0-A191BA031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433827-9A71-3DE4-CB47-25AB338FE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252" y="301170"/>
            <a:ext cx="11448890" cy="764390"/>
          </a:xfrm>
        </p:spPr>
        <p:txBody>
          <a:bodyPr>
            <a:noAutofit/>
          </a:bodyPr>
          <a:lstStyle/>
          <a:p>
            <a:pPr defTabSz="896533"/>
            <a:r>
              <a:rPr lang="en-US" dirty="0">
                <a:solidFill>
                  <a:srgbClr val="002060"/>
                </a:solidFill>
                <a:latin typeface="Poppins SemiBold"/>
                <a:cs typeface="Poppins SemiBold"/>
              </a:rPr>
              <a:t>Cast &amp; Crew Viva Engage Deployment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6071F4-9F5D-8F4C-CCDF-205843D794BA}"/>
              </a:ext>
            </a:extLst>
          </p:cNvPr>
          <p:cNvSpPr/>
          <p:nvPr/>
        </p:nvSpPr>
        <p:spPr>
          <a:xfrm>
            <a:off x="10749644" y="6356805"/>
            <a:ext cx="798286" cy="269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768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2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B45969-11CE-273D-EDC8-6CD2A29768AF}"/>
              </a:ext>
            </a:extLst>
          </p:cNvPr>
          <p:cNvSpPr txBox="1"/>
          <p:nvPr/>
        </p:nvSpPr>
        <p:spPr>
          <a:xfrm>
            <a:off x="169218" y="1221043"/>
            <a:ext cx="4972843" cy="2371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955" tIns="25977" rIns="51955" bIns="2597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fontAlgn="base">
              <a:defRPr/>
            </a:pPr>
            <a:r>
              <a:rPr lang="en-US" sz="1200" b="1" dirty="0">
                <a:solidFill>
                  <a:srgbClr val="063A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Business Need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286D48-DD21-F76E-F85A-DA63E83A5430}"/>
              </a:ext>
            </a:extLst>
          </p:cNvPr>
          <p:cNvSpPr txBox="1"/>
          <p:nvPr/>
        </p:nvSpPr>
        <p:spPr>
          <a:xfrm>
            <a:off x="181858" y="2479695"/>
            <a:ext cx="4985484" cy="2371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955" tIns="25977" rIns="51955" bIns="2597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fontAlgn="base">
              <a:defRPr/>
            </a:pPr>
            <a:r>
              <a:rPr lang="en-US" sz="1200" b="1" dirty="0">
                <a:solidFill>
                  <a:srgbClr val="063A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 We Did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F9015-56E3-F009-B57B-5F51FD14BD3F}"/>
              </a:ext>
            </a:extLst>
          </p:cNvPr>
          <p:cNvSpPr txBox="1"/>
          <p:nvPr/>
        </p:nvSpPr>
        <p:spPr>
          <a:xfrm>
            <a:off x="181858" y="4627430"/>
            <a:ext cx="4972844" cy="2371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955" tIns="25977" rIns="51955" bIns="2597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fontAlgn="base">
              <a:defRPr/>
            </a:pPr>
            <a:r>
              <a:rPr lang="en-US" sz="1200" b="1" dirty="0">
                <a:solidFill>
                  <a:srgbClr val="063A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4B617F-EB6E-FDEB-D25F-0545F09EFDEA}"/>
              </a:ext>
            </a:extLst>
          </p:cNvPr>
          <p:cNvSpPr txBox="1"/>
          <p:nvPr/>
        </p:nvSpPr>
        <p:spPr>
          <a:xfrm>
            <a:off x="164811" y="1446641"/>
            <a:ext cx="83912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400" dirty="0"/>
              <a:t>Cast &amp; Crew needed a secure, well-governed rollout of Viva Engage to improve organization-wide communication and community engagement. The team required proper role-based permissions, alignment with internal compliance policies, and clear configuration guidance to ensure adoption and safe usage across their employee base.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14E984-3E8D-7052-A2A6-98395E74E326}"/>
              </a:ext>
            </a:extLst>
          </p:cNvPr>
          <p:cNvSpPr txBox="1"/>
          <p:nvPr/>
        </p:nvSpPr>
        <p:spPr>
          <a:xfrm>
            <a:off x="164810" y="2796857"/>
            <a:ext cx="835390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Led project kickoff, discovery, and requirements validation to align Viva Engage setup with Cast &amp; Crew’s compliance and communication needs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Configured Viva Engage including communities, permissions, and security settings tailored to employee roles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Implemented governance controls including usage policy upload, password policies (if required), and external access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Delivered analytics insights, Microsoft best-practice documentation, and post-cutover support for a smooth transition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8DC60E-2955-569E-7F73-46966042D072}"/>
              </a:ext>
            </a:extLst>
          </p:cNvPr>
          <p:cNvSpPr txBox="1"/>
          <p:nvPr/>
        </p:nvSpPr>
        <p:spPr>
          <a:xfrm>
            <a:off x="169217" y="4943504"/>
            <a:ext cx="838588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6895" indent="-116895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</a:rPr>
              <a:t>A fully configured and secure Viva Engage environment aligned to Cast &amp; Crew’s policies</a:t>
            </a:r>
          </a:p>
          <a:p>
            <a:pPr marL="116895" indent="-116895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</a:rPr>
              <a:t>Clear governance structure enabling safe communication and community engagement across the organization</a:t>
            </a:r>
          </a:p>
          <a:p>
            <a:pPr marL="116895" indent="-116895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</a:rPr>
              <a:t>Improved visibility into usage and engagement through analytics and reporting</a:t>
            </a:r>
          </a:p>
          <a:p>
            <a:pPr marL="116895" indent="-116895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</a:rPr>
              <a:t>Confident adoption supported by best-practice documentation and </a:t>
            </a:r>
            <a:r>
              <a:rPr lang="en-US" sz="1400" dirty="0" err="1">
                <a:solidFill>
                  <a:prstClr val="black"/>
                </a:solidFill>
              </a:rPr>
              <a:t>Affirma’s</a:t>
            </a:r>
            <a:r>
              <a:rPr lang="en-US" sz="1400" dirty="0">
                <a:solidFill>
                  <a:prstClr val="black"/>
                </a:solidFill>
              </a:rPr>
              <a:t> post-launch assistance</a:t>
            </a:r>
          </a:p>
        </p:txBody>
      </p:sp>
      <p:sp>
        <p:nvSpPr>
          <p:cNvPr id="3" name="AutoShape 2" descr="Microsoft Viva Engage (formerly Yammer) Reviews 2025: Pricing &amp; Features -  Tekpon">
            <a:extLst>
              <a:ext uri="{FF2B5EF4-FFF2-40B4-BE49-F238E27FC236}">
                <a16:creationId xmlns:a16="http://schemas.microsoft.com/office/drawing/2014/main" id="{B14DF4C3-8BD2-568E-9F2C-72D36E1269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8" name="Picture 6" descr="Viva Engage - Wikipedia">
            <a:extLst>
              <a:ext uri="{FF2B5EF4-FFF2-40B4-BE49-F238E27FC236}">
                <a16:creationId xmlns:a16="http://schemas.microsoft.com/office/drawing/2014/main" id="{0646A59A-F80B-A8A1-88A5-8EA5BD35F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2818" y="2280358"/>
            <a:ext cx="1829959" cy="1829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3265A2-A951-BB93-1A84-FAAC1E70040B}"/>
              </a:ext>
            </a:extLst>
          </p:cNvPr>
          <p:cNvSpPr txBox="1"/>
          <p:nvPr/>
        </p:nvSpPr>
        <p:spPr>
          <a:xfrm>
            <a:off x="9162154" y="4574172"/>
            <a:ext cx="2511286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/>
                <a:cs typeface="Poppins"/>
              </a:rPr>
              <a:t>Viva Engage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965825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provedByClient xmlns="f0ee8362-fa7e-4bc9-ab88-7dcfb17cb19b">false</ApprovedByClient>
    <Notes0 xmlns="f0ee8362-fa7e-4bc9-ab88-7dcfb17cb19b" xsi:nil="true"/>
    <Named_x0020_Account xmlns="f0ee8362-fa7e-4bc9-ab88-7dcfb17cb19b" xsi:nil="true"/>
    <Industries xmlns="f0ee8362-fa7e-4bc9-ab88-7dcfb17cb19b">
      <Value>Media</Value>
    </Industries>
    <PlatTech xmlns="f0ee8362-fa7e-4bc9-ab88-7dcfb17cb19b">
      <Value>Viva</Value>
    </PlatTech>
    <ProjectCompletionDate xmlns="f0ee8362-fa7e-4bc9-ab88-7dcfb17cb19b" xsi:nil="true"/>
    <BusinessUnit xmlns="f0ee8362-fa7e-4bc9-ab88-7dcfb17cb19b">
      <Value>Modern Workplace</Value>
    </BusinessUnit>
    <Solutions xmlns="f0ee8362-fa7e-4bc9-ab88-7dcfb17cb19b" xsi:nil="true"/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DE4308D-02AB-4E0A-A656-4F1FB94BC6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CBD749D-FFE8-4E78-A68B-353075F3AA1B}">
  <ds:schemaRefs>
    <ds:schemaRef ds:uri="http://schemas.microsoft.com/office/2006/metadata/customXsn"/>
  </ds:schemaRefs>
</ds:datastoreItem>
</file>

<file path=customXml/itemProps3.xml><?xml version="1.0" encoding="utf-8"?>
<ds:datastoreItem xmlns:ds="http://schemas.openxmlformats.org/officeDocument/2006/customXml" ds:itemID="{13C27593-E07A-4013-A3FB-C188F4AD2938}">
  <ds:schemaRefs>
    <ds:schemaRef ds:uri="http://schemas.microsoft.com/office/2006/metadata/properties"/>
    <ds:schemaRef ds:uri="http://schemas.microsoft.com/office/infopath/2007/PartnerControls"/>
    <ds:schemaRef ds:uri="f0ee8362-fa7e-4bc9-ab88-7dcfb17cb19b"/>
  </ds:schemaRefs>
</ds:datastoreItem>
</file>

<file path=customXml/itemProps4.xml><?xml version="1.0" encoding="utf-8"?>
<ds:datastoreItem xmlns:ds="http://schemas.openxmlformats.org/officeDocument/2006/customXml" ds:itemID="{051FC3A2-4415-4765-BDB1-C991C88A3D87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Cast &amp; Crew Viva Engage Deployment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2025-12-09T00:47:22Z</dcterms:created>
  <dcterms:modified xsi:type="dcterms:W3CDTF">2025-12-09T00:47:34Z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