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modernComment_7BBF5E10_A3A2EFDB.xml" ContentType="application/vnd.ms-powerpoint.comments+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5"/>
  </p:sldMasterIdLst>
  <p:notesMasterIdLst>
    <p:notesMasterId r:id="rId8"/>
  </p:notesMasterIdLst>
  <p:sldIdLst>
    <p:sldId id="4059" r:id="rId6"/>
    <p:sldId id="2076139024"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5F223A4-DDB4-B0AE-9B09-3CF2F71D9169}" name="Brendan Murphy" initials="BM" userId="Brendan Murphy" providerId="Non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D2B0282-B89C-DBEE-794C-6F0D893FB70B}" v="7" dt="2025-08-22T17:24:51.45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14" autoAdjust="0"/>
    <p:restoredTop sz="94660"/>
  </p:normalViewPr>
  <p:slideViewPr>
    <p:cSldViewPr snapToGrid="0">
      <p:cViewPr varScale="1">
        <p:scale>
          <a:sx n="159" d="100"/>
          <a:sy n="159" d="100"/>
        </p:scale>
        <p:origin x="306" y="1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 Target="slides/slide2.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theme" Target="theme/theme1.xml"/><Relationship Id="rId5" Type="http://schemas.openxmlformats.org/officeDocument/2006/relationships/slideMaster" Target="slideMasters/slideMaster1.xml"/><Relationship Id="rId15" Type="http://schemas.microsoft.com/office/2018/10/relationships/authors" Target="authors.xml"/><Relationship Id="rId10" Type="http://schemas.openxmlformats.org/officeDocument/2006/relationships/viewProps" Target="viewProps.xml"/><Relationship Id="rId4" Type="http://schemas.openxmlformats.org/officeDocument/2006/relationships/customXml" Target="../customXml/item4.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endan Murphy" userId="S::bmurphy@affirma.com::e9f923b6-6d89-4d4e-a3b7-d9304b9d44ba" providerId="AD" clId="Web-{2D2B0282-B89C-DBEE-794C-6F0D893FB70B}"/>
    <pc:docChg chg="modSld">
      <pc:chgData name="Brendan Murphy" userId="S::bmurphy@affirma.com::e9f923b6-6d89-4d4e-a3b7-d9304b9d44ba" providerId="AD" clId="Web-{2D2B0282-B89C-DBEE-794C-6F0D893FB70B}" dt="2025-08-22T17:24:51.278" v="3" actId="20577"/>
      <pc:docMkLst>
        <pc:docMk/>
      </pc:docMkLst>
      <pc:sldChg chg="modSp">
        <pc:chgData name="Brendan Murphy" userId="S::bmurphy@affirma.com::e9f923b6-6d89-4d4e-a3b7-d9304b9d44ba" providerId="AD" clId="Web-{2D2B0282-B89C-DBEE-794C-6F0D893FB70B}" dt="2025-08-22T17:24:51.278" v="3" actId="20577"/>
        <pc:sldMkLst>
          <pc:docMk/>
          <pc:sldMk cId="1290996331" sldId="4059"/>
        </pc:sldMkLst>
        <pc:spChg chg="mod">
          <ac:chgData name="Brendan Murphy" userId="S::bmurphy@affirma.com::e9f923b6-6d89-4d4e-a3b7-d9304b9d44ba" providerId="AD" clId="Web-{2D2B0282-B89C-DBEE-794C-6F0D893FB70B}" dt="2025-08-22T17:24:51.278" v="3" actId="20577"/>
          <ac:spMkLst>
            <pc:docMk/>
            <pc:sldMk cId="1290996331" sldId="4059"/>
            <ac:spMk id="19" creationId="{D48AA3D6-1B5D-4FB7-99D0-BAF1A9AA6124}"/>
          </ac:spMkLst>
        </pc:spChg>
      </pc:sldChg>
    </pc:docChg>
  </pc:docChgLst>
</pc:chgInfo>
</file>

<file path=ppt/comments/modernComment_7BBF5E10_A3A2EFDB.xml><?xml version="1.0" encoding="utf-8"?>
<p188:cmLst xmlns:a="http://schemas.openxmlformats.org/drawingml/2006/main" xmlns:r="http://schemas.openxmlformats.org/officeDocument/2006/relationships" xmlns:p188="http://schemas.microsoft.com/office/powerpoint/2018/8/main">
  <p188:cm id="{A43E3F77-37A7-4AD4-BA24-CDF28A50508C}" authorId="{65F223A4-DDB4-B0AE-9B09-3CF2F71D9169}" status="resolved" created="2023-01-02T21:57:45.203">
    <pc:sldMkLst xmlns:pc="http://schemas.microsoft.com/office/powerpoint/2013/main/command">
      <pc:docMk/>
      <pc:sldMk cId="2745364443" sldId="2076139024"/>
    </pc:sldMkLst>
    <p188:txBody>
      <a:bodyPr/>
      <a:lstStyle/>
      <a:p>
        <a:r>
          <a:rPr lang="en-US"/>
          <a:t>[@Shaena Grossman] let's add some more screenshots which David Rowland can give us</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B0E7EE6-1CE1-4ECD-B427-C8E16197023E}" type="datetimeFigureOut">
              <a:rPr lang="en-US" smtClean="0"/>
              <a:t>8/22/2025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B1CF45-09CC-4974-B863-1ADF07AF329D}" type="slidenum">
              <a:rPr lang="en-US" smtClean="0"/>
              <a:t>‹#›</a:t>
            </a:fld>
            <a:endParaRPr lang="en-US"/>
          </a:p>
        </p:txBody>
      </p:sp>
    </p:spTree>
    <p:extLst>
      <p:ext uri="{BB962C8B-B14F-4D97-AF65-F5344CB8AC3E}">
        <p14:creationId xmlns:p14="http://schemas.microsoft.com/office/powerpoint/2010/main" val="41420244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54050" y="1162050"/>
            <a:ext cx="5573713" cy="31369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EE3F6CF-073A-4B4F-A2B7-08B9C7DBCB9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680877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54050" y="1162050"/>
            <a:ext cx="5573713" cy="31369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EE3F6CF-073A-4B4F-A2B7-08B9C7DBCB9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296214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2BD974-B88E-5F56-D713-BA9A63C641A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017A0C6-0553-51C2-A377-8DBC2FBB43D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B7E74C1-4264-62D2-7525-0A4FF75B6804}"/>
              </a:ext>
            </a:extLst>
          </p:cNvPr>
          <p:cNvSpPr>
            <a:spLocks noGrp="1"/>
          </p:cNvSpPr>
          <p:nvPr>
            <p:ph type="dt" sz="half" idx="10"/>
          </p:nvPr>
        </p:nvSpPr>
        <p:spPr/>
        <p:txBody>
          <a:bodyPr/>
          <a:lstStyle/>
          <a:p>
            <a:fld id="{68FCD861-F04E-4FEE-A31E-30C0F7139A37}" type="datetimeFigureOut">
              <a:rPr lang="en-US" smtClean="0"/>
              <a:t>8/22/2025</a:t>
            </a:fld>
            <a:endParaRPr lang="en-US"/>
          </a:p>
        </p:txBody>
      </p:sp>
      <p:sp>
        <p:nvSpPr>
          <p:cNvPr id="5" name="Footer Placeholder 4">
            <a:extLst>
              <a:ext uri="{FF2B5EF4-FFF2-40B4-BE49-F238E27FC236}">
                <a16:creationId xmlns:a16="http://schemas.microsoft.com/office/drawing/2014/main" id="{B6DF4437-6609-AB12-E638-845A5C0866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12720F-EC16-A4DE-2E71-A5B3240FB68B}"/>
              </a:ext>
            </a:extLst>
          </p:cNvPr>
          <p:cNvSpPr>
            <a:spLocks noGrp="1"/>
          </p:cNvSpPr>
          <p:nvPr>
            <p:ph type="sldNum" sz="quarter" idx="12"/>
          </p:nvPr>
        </p:nvSpPr>
        <p:spPr/>
        <p:txBody>
          <a:bodyPr/>
          <a:lstStyle/>
          <a:p>
            <a:fld id="{76DBCD2D-4CEE-4EE9-916D-5E668A74C227}" type="slidenum">
              <a:rPr lang="en-US" smtClean="0"/>
              <a:t>‹#›</a:t>
            </a:fld>
            <a:endParaRPr lang="en-US"/>
          </a:p>
        </p:txBody>
      </p:sp>
    </p:spTree>
    <p:extLst>
      <p:ext uri="{BB962C8B-B14F-4D97-AF65-F5344CB8AC3E}">
        <p14:creationId xmlns:p14="http://schemas.microsoft.com/office/powerpoint/2010/main" val="18322897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7172DE-596C-28C1-58DB-C040057A3FF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BD86983-4DA9-F998-C5BC-EC3F5DEF7B1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1BF410A-6E8B-298F-975E-C160253EACF7}"/>
              </a:ext>
            </a:extLst>
          </p:cNvPr>
          <p:cNvSpPr>
            <a:spLocks noGrp="1"/>
          </p:cNvSpPr>
          <p:nvPr>
            <p:ph type="dt" sz="half" idx="10"/>
          </p:nvPr>
        </p:nvSpPr>
        <p:spPr/>
        <p:txBody>
          <a:bodyPr/>
          <a:lstStyle/>
          <a:p>
            <a:fld id="{68FCD861-F04E-4FEE-A31E-30C0F7139A37}" type="datetimeFigureOut">
              <a:rPr lang="en-US" smtClean="0"/>
              <a:t>8/22/2025</a:t>
            </a:fld>
            <a:endParaRPr lang="en-US"/>
          </a:p>
        </p:txBody>
      </p:sp>
      <p:sp>
        <p:nvSpPr>
          <p:cNvPr id="5" name="Footer Placeholder 4">
            <a:extLst>
              <a:ext uri="{FF2B5EF4-FFF2-40B4-BE49-F238E27FC236}">
                <a16:creationId xmlns:a16="http://schemas.microsoft.com/office/drawing/2014/main" id="{970B4A14-6A24-9EEC-2C86-C4ECD158AB1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560E3E2-1D04-3EEE-649B-0A279AF327D1}"/>
              </a:ext>
            </a:extLst>
          </p:cNvPr>
          <p:cNvSpPr>
            <a:spLocks noGrp="1"/>
          </p:cNvSpPr>
          <p:nvPr>
            <p:ph type="sldNum" sz="quarter" idx="12"/>
          </p:nvPr>
        </p:nvSpPr>
        <p:spPr/>
        <p:txBody>
          <a:bodyPr/>
          <a:lstStyle/>
          <a:p>
            <a:fld id="{76DBCD2D-4CEE-4EE9-916D-5E668A74C227}" type="slidenum">
              <a:rPr lang="en-US" smtClean="0"/>
              <a:t>‹#›</a:t>
            </a:fld>
            <a:endParaRPr lang="en-US"/>
          </a:p>
        </p:txBody>
      </p:sp>
    </p:spTree>
    <p:extLst>
      <p:ext uri="{BB962C8B-B14F-4D97-AF65-F5344CB8AC3E}">
        <p14:creationId xmlns:p14="http://schemas.microsoft.com/office/powerpoint/2010/main" val="15071049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6CE39D-2844-FF1E-8950-7E70E28BC0A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25B6B14-90EE-760F-F812-B67B2B28E23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E3F5E64-1F6E-B303-AA8C-FBE89ABC0408}"/>
              </a:ext>
            </a:extLst>
          </p:cNvPr>
          <p:cNvSpPr>
            <a:spLocks noGrp="1"/>
          </p:cNvSpPr>
          <p:nvPr>
            <p:ph type="dt" sz="half" idx="10"/>
          </p:nvPr>
        </p:nvSpPr>
        <p:spPr/>
        <p:txBody>
          <a:bodyPr/>
          <a:lstStyle/>
          <a:p>
            <a:fld id="{68FCD861-F04E-4FEE-A31E-30C0F7139A37}" type="datetimeFigureOut">
              <a:rPr lang="en-US" smtClean="0"/>
              <a:t>8/22/2025</a:t>
            </a:fld>
            <a:endParaRPr lang="en-US"/>
          </a:p>
        </p:txBody>
      </p:sp>
      <p:sp>
        <p:nvSpPr>
          <p:cNvPr id="5" name="Footer Placeholder 4">
            <a:extLst>
              <a:ext uri="{FF2B5EF4-FFF2-40B4-BE49-F238E27FC236}">
                <a16:creationId xmlns:a16="http://schemas.microsoft.com/office/drawing/2014/main" id="{88D78F35-1716-6FC2-73FF-33EA454BFC7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B8DCEE-89FB-FAA0-3711-EA49631A2F52}"/>
              </a:ext>
            </a:extLst>
          </p:cNvPr>
          <p:cNvSpPr>
            <a:spLocks noGrp="1"/>
          </p:cNvSpPr>
          <p:nvPr>
            <p:ph type="sldNum" sz="quarter" idx="12"/>
          </p:nvPr>
        </p:nvSpPr>
        <p:spPr/>
        <p:txBody>
          <a:bodyPr/>
          <a:lstStyle/>
          <a:p>
            <a:fld id="{76DBCD2D-4CEE-4EE9-916D-5E668A74C227}" type="slidenum">
              <a:rPr lang="en-US" smtClean="0"/>
              <a:t>‹#›</a:t>
            </a:fld>
            <a:endParaRPr lang="en-US"/>
          </a:p>
        </p:txBody>
      </p:sp>
    </p:spTree>
    <p:extLst>
      <p:ext uri="{BB962C8B-B14F-4D97-AF65-F5344CB8AC3E}">
        <p14:creationId xmlns:p14="http://schemas.microsoft.com/office/powerpoint/2010/main" val="18645446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99B574-C9BF-0CE2-B539-19503991F2F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4F68187-CC90-9ADB-C1E3-98D142049BA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6668AB2-DD2D-E265-9D60-58559A8B058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7E8914A-8A0B-353D-2FF2-C8647A3C7D9C}"/>
              </a:ext>
            </a:extLst>
          </p:cNvPr>
          <p:cNvSpPr>
            <a:spLocks noGrp="1"/>
          </p:cNvSpPr>
          <p:nvPr>
            <p:ph type="dt" sz="half" idx="10"/>
          </p:nvPr>
        </p:nvSpPr>
        <p:spPr/>
        <p:txBody>
          <a:bodyPr/>
          <a:lstStyle/>
          <a:p>
            <a:fld id="{68FCD861-F04E-4FEE-A31E-30C0F7139A37}" type="datetimeFigureOut">
              <a:rPr lang="en-US" smtClean="0"/>
              <a:t>8/22/2025</a:t>
            </a:fld>
            <a:endParaRPr lang="en-US"/>
          </a:p>
        </p:txBody>
      </p:sp>
      <p:sp>
        <p:nvSpPr>
          <p:cNvPr id="6" name="Footer Placeholder 5">
            <a:extLst>
              <a:ext uri="{FF2B5EF4-FFF2-40B4-BE49-F238E27FC236}">
                <a16:creationId xmlns:a16="http://schemas.microsoft.com/office/drawing/2014/main" id="{AC2285E3-DF4D-1981-256F-A053CBA77A8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4E084CC-F64A-3D86-E21F-891E5B563D95}"/>
              </a:ext>
            </a:extLst>
          </p:cNvPr>
          <p:cNvSpPr>
            <a:spLocks noGrp="1"/>
          </p:cNvSpPr>
          <p:nvPr>
            <p:ph type="sldNum" sz="quarter" idx="12"/>
          </p:nvPr>
        </p:nvSpPr>
        <p:spPr/>
        <p:txBody>
          <a:bodyPr/>
          <a:lstStyle/>
          <a:p>
            <a:fld id="{76DBCD2D-4CEE-4EE9-916D-5E668A74C227}" type="slidenum">
              <a:rPr lang="en-US" smtClean="0"/>
              <a:t>‹#›</a:t>
            </a:fld>
            <a:endParaRPr lang="en-US"/>
          </a:p>
        </p:txBody>
      </p:sp>
    </p:spTree>
    <p:extLst>
      <p:ext uri="{BB962C8B-B14F-4D97-AF65-F5344CB8AC3E}">
        <p14:creationId xmlns:p14="http://schemas.microsoft.com/office/powerpoint/2010/main" val="4113017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F60C0-7D56-934B-BC04-F7A76F11F9C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F75E02F-51AF-EB98-EEC8-9D81FDE6503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BFF6802-4334-9752-ADCD-F35FC8EED32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A180DEC-828C-623D-2A55-2782636E021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396A9D7-DAD2-8B56-BC93-F6242F24F4B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820588C-517D-BE3D-DAF5-5BB29AA853CC}"/>
              </a:ext>
            </a:extLst>
          </p:cNvPr>
          <p:cNvSpPr>
            <a:spLocks noGrp="1"/>
          </p:cNvSpPr>
          <p:nvPr>
            <p:ph type="dt" sz="half" idx="10"/>
          </p:nvPr>
        </p:nvSpPr>
        <p:spPr/>
        <p:txBody>
          <a:bodyPr/>
          <a:lstStyle/>
          <a:p>
            <a:fld id="{68FCD861-F04E-4FEE-A31E-30C0F7139A37}" type="datetimeFigureOut">
              <a:rPr lang="en-US" smtClean="0"/>
              <a:t>8/22/2025</a:t>
            </a:fld>
            <a:endParaRPr lang="en-US"/>
          </a:p>
        </p:txBody>
      </p:sp>
      <p:sp>
        <p:nvSpPr>
          <p:cNvPr id="8" name="Footer Placeholder 7">
            <a:extLst>
              <a:ext uri="{FF2B5EF4-FFF2-40B4-BE49-F238E27FC236}">
                <a16:creationId xmlns:a16="http://schemas.microsoft.com/office/drawing/2014/main" id="{77907B3C-56E0-F939-13FF-625BA36C435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119D849-7C22-7178-422F-F1B703866EC7}"/>
              </a:ext>
            </a:extLst>
          </p:cNvPr>
          <p:cNvSpPr>
            <a:spLocks noGrp="1"/>
          </p:cNvSpPr>
          <p:nvPr>
            <p:ph type="sldNum" sz="quarter" idx="12"/>
          </p:nvPr>
        </p:nvSpPr>
        <p:spPr/>
        <p:txBody>
          <a:bodyPr/>
          <a:lstStyle/>
          <a:p>
            <a:fld id="{76DBCD2D-4CEE-4EE9-916D-5E668A74C227}" type="slidenum">
              <a:rPr lang="en-US" smtClean="0"/>
              <a:t>‹#›</a:t>
            </a:fld>
            <a:endParaRPr lang="en-US"/>
          </a:p>
        </p:txBody>
      </p:sp>
    </p:spTree>
    <p:extLst>
      <p:ext uri="{BB962C8B-B14F-4D97-AF65-F5344CB8AC3E}">
        <p14:creationId xmlns:p14="http://schemas.microsoft.com/office/powerpoint/2010/main" val="41018268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AB4C36-76FC-DB15-41DF-B645307DAB9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BC7F416-DBF7-500D-F35A-9A4788878741}"/>
              </a:ext>
            </a:extLst>
          </p:cNvPr>
          <p:cNvSpPr>
            <a:spLocks noGrp="1"/>
          </p:cNvSpPr>
          <p:nvPr>
            <p:ph type="dt" sz="half" idx="10"/>
          </p:nvPr>
        </p:nvSpPr>
        <p:spPr/>
        <p:txBody>
          <a:bodyPr/>
          <a:lstStyle/>
          <a:p>
            <a:fld id="{68FCD861-F04E-4FEE-A31E-30C0F7139A37}" type="datetimeFigureOut">
              <a:rPr lang="en-US" smtClean="0"/>
              <a:t>8/22/2025</a:t>
            </a:fld>
            <a:endParaRPr lang="en-US"/>
          </a:p>
        </p:txBody>
      </p:sp>
      <p:sp>
        <p:nvSpPr>
          <p:cNvPr id="4" name="Footer Placeholder 3">
            <a:extLst>
              <a:ext uri="{FF2B5EF4-FFF2-40B4-BE49-F238E27FC236}">
                <a16:creationId xmlns:a16="http://schemas.microsoft.com/office/drawing/2014/main" id="{46D28397-7076-2B4A-D805-BAA78C2BCF0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E53AD5D-8EE9-6F07-7F9E-911605DDA97D}"/>
              </a:ext>
            </a:extLst>
          </p:cNvPr>
          <p:cNvSpPr>
            <a:spLocks noGrp="1"/>
          </p:cNvSpPr>
          <p:nvPr>
            <p:ph type="sldNum" sz="quarter" idx="12"/>
          </p:nvPr>
        </p:nvSpPr>
        <p:spPr/>
        <p:txBody>
          <a:bodyPr/>
          <a:lstStyle/>
          <a:p>
            <a:fld id="{76DBCD2D-4CEE-4EE9-916D-5E668A74C227}" type="slidenum">
              <a:rPr lang="en-US" smtClean="0"/>
              <a:t>‹#›</a:t>
            </a:fld>
            <a:endParaRPr lang="en-US"/>
          </a:p>
        </p:txBody>
      </p:sp>
    </p:spTree>
    <p:extLst>
      <p:ext uri="{BB962C8B-B14F-4D97-AF65-F5344CB8AC3E}">
        <p14:creationId xmlns:p14="http://schemas.microsoft.com/office/powerpoint/2010/main" val="25417487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5BB27A6-0CE0-9CDF-4D01-0D6F7B3FC3AE}"/>
              </a:ext>
            </a:extLst>
          </p:cNvPr>
          <p:cNvSpPr>
            <a:spLocks noGrp="1"/>
          </p:cNvSpPr>
          <p:nvPr>
            <p:ph type="dt" sz="half" idx="10"/>
          </p:nvPr>
        </p:nvSpPr>
        <p:spPr/>
        <p:txBody>
          <a:bodyPr/>
          <a:lstStyle/>
          <a:p>
            <a:fld id="{68FCD861-F04E-4FEE-A31E-30C0F7139A37}" type="datetimeFigureOut">
              <a:rPr lang="en-US" smtClean="0"/>
              <a:t>8/22/2025</a:t>
            </a:fld>
            <a:endParaRPr lang="en-US"/>
          </a:p>
        </p:txBody>
      </p:sp>
      <p:sp>
        <p:nvSpPr>
          <p:cNvPr id="3" name="Footer Placeholder 2">
            <a:extLst>
              <a:ext uri="{FF2B5EF4-FFF2-40B4-BE49-F238E27FC236}">
                <a16:creationId xmlns:a16="http://schemas.microsoft.com/office/drawing/2014/main" id="{F5E8BD25-6637-DD76-5F56-7CEB893E78F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DD17AC0-4528-33FB-D353-624E8CF05089}"/>
              </a:ext>
            </a:extLst>
          </p:cNvPr>
          <p:cNvSpPr>
            <a:spLocks noGrp="1"/>
          </p:cNvSpPr>
          <p:nvPr>
            <p:ph type="sldNum" sz="quarter" idx="12"/>
          </p:nvPr>
        </p:nvSpPr>
        <p:spPr/>
        <p:txBody>
          <a:bodyPr/>
          <a:lstStyle/>
          <a:p>
            <a:fld id="{76DBCD2D-4CEE-4EE9-916D-5E668A74C227}" type="slidenum">
              <a:rPr lang="en-US" smtClean="0"/>
              <a:t>‹#›</a:t>
            </a:fld>
            <a:endParaRPr lang="en-US"/>
          </a:p>
        </p:txBody>
      </p:sp>
    </p:spTree>
    <p:extLst>
      <p:ext uri="{BB962C8B-B14F-4D97-AF65-F5344CB8AC3E}">
        <p14:creationId xmlns:p14="http://schemas.microsoft.com/office/powerpoint/2010/main" val="23608012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6969D3-2F57-561E-6E96-FD5B0E4AF26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D7444D5-703F-2235-5C86-C4997476B5C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2D268B1-1115-E2ED-252A-D6875231984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B6A9344-EBA0-D6CE-C06D-D6DE8AF1A954}"/>
              </a:ext>
            </a:extLst>
          </p:cNvPr>
          <p:cNvSpPr>
            <a:spLocks noGrp="1"/>
          </p:cNvSpPr>
          <p:nvPr>
            <p:ph type="dt" sz="half" idx="10"/>
          </p:nvPr>
        </p:nvSpPr>
        <p:spPr/>
        <p:txBody>
          <a:bodyPr/>
          <a:lstStyle/>
          <a:p>
            <a:fld id="{68FCD861-F04E-4FEE-A31E-30C0F7139A37}" type="datetimeFigureOut">
              <a:rPr lang="en-US" smtClean="0"/>
              <a:t>8/22/2025</a:t>
            </a:fld>
            <a:endParaRPr lang="en-US"/>
          </a:p>
        </p:txBody>
      </p:sp>
      <p:sp>
        <p:nvSpPr>
          <p:cNvPr id="6" name="Footer Placeholder 5">
            <a:extLst>
              <a:ext uri="{FF2B5EF4-FFF2-40B4-BE49-F238E27FC236}">
                <a16:creationId xmlns:a16="http://schemas.microsoft.com/office/drawing/2014/main" id="{26F316E4-42B9-1DCE-0210-E66BC615B9C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D2FC7CD-1CB6-2EB6-CDD4-73B662E95FCD}"/>
              </a:ext>
            </a:extLst>
          </p:cNvPr>
          <p:cNvSpPr>
            <a:spLocks noGrp="1"/>
          </p:cNvSpPr>
          <p:nvPr>
            <p:ph type="sldNum" sz="quarter" idx="12"/>
          </p:nvPr>
        </p:nvSpPr>
        <p:spPr/>
        <p:txBody>
          <a:bodyPr/>
          <a:lstStyle/>
          <a:p>
            <a:fld id="{76DBCD2D-4CEE-4EE9-916D-5E668A74C227}" type="slidenum">
              <a:rPr lang="en-US" smtClean="0"/>
              <a:t>‹#›</a:t>
            </a:fld>
            <a:endParaRPr lang="en-US"/>
          </a:p>
        </p:txBody>
      </p:sp>
    </p:spTree>
    <p:extLst>
      <p:ext uri="{BB962C8B-B14F-4D97-AF65-F5344CB8AC3E}">
        <p14:creationId xmlns:p14="http://schemas.microsoft.com/office/powerpoint/2010/main" val="18265087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D1C098-8071-0943-7B5F-673FDC37D4A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8D1EE3F-7A0D-0BAD-40BC-8C1A278F7D7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0490EE8-5D4F-AE1B-D4DF-172BA98BB55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B439A45-7E77-9EBF-9D0C-F4BFA9BB125B}"/>
              </a:ext>
            </a:extLst>
          </p:cNvPr>
          <p:cNvSpPr>
            <a:spLocks noGrp="1"/>
          </p:cNvSpPr>
          <p:nvPr>
            <p:ph type="dt" sz="half" idx="10"/>
          </p:nvPr>
        </p:nvSpPr>
        <p:spPr/>
        <p:txBody>
          <a:bodyPr/>
          <a:lstStyle/>
          <a:p>
            <a:fld id="{68FCD861-F04E-4FEE-A31E-30C0F7139A37}" type="datetimeFigureOut">
              <a:rPr lang="en-US" smtClean="0"/>
              <a:t>8/22/2025</a:t>
            </a:fld>
            <a:endParaRPr lang="en-US"/>
          </a:p>
        </p:txBody>
      </p:sp>
      <p:sp>
        <p:nvSpPr>
          <p:cNvPr id="6" name="Footer Placeholder 5">
            <a:extLst>
              <a:ext uri="{FF2B5EF4-FFF2-40B4-BE49-F238E27FC236}">
                <a16:creationId xmlns:a16="http://schemas.microsoft.com/office/drawing/2014/main" id="{013B9166-0C56-F110-F4A7-42EFFE2645E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D68412D-D771-DF4F-9C94-0012C050982B}"/>
              </a:ext>
            </a:extLst>
          </p:cNvPr>
          <p:cNvSpPr>
            <a:spLocks noGrp="1"/>
          </p:cNvSpPr>
          <p:nvPr>
            <p:ph type="sldNum" sz="quarter" idx="12"/>
          </p:nvPr>
        </p:nvSpPr>
        <p:spPr/>
        <p:txBody>
          <a:bodyPr/>
          <a:lstStyle/>
          <a:p>
            <a:fld id="{76DBCD2D-4CEE-4EE9-916D-5E668A74C227}" type="slidenum">
              <a:rPr lang="en-US" smtClean="0"/>
              <a:t>‹#›</a:t>
            </a:fld>
            <a:endParaRPr lang="en-US"/>
          </a:p>
        </p:txBody>
      </p:sp>
    </p:spTree>
    <p:extLst>
      <p:ext uri="{BB962C8B-B14F-4D97-AF65-F5344CB8AC3E}">
        <p14:creationId xmlns:p14="http://schemas.microsoft.com/office/powerpoint/2010/main" val="16384690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5B5D4E-3620-FEE1-7C50-FCDDFD0BE2A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03155BA-AB63-C6E2-0EC8-48BB2FFE3FE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73075BE-E962-D798-4E4B-1001B3E49966}"/>
              </a:ext>
            </a:extLst>
          </p:cNvPr>
          <p:cNvSpPr>
            <a:spLocks noGrp="1"/>
          </p:cNvSpPr>
          <p:nvPr>
            <p:ph type="dt" sz="half" idx="10"/>
          </p:nvPr>
        </p:nvSpPr>
        <p:spPr/>
        <p:txBody>
          <a:bodyPr/>
          <a:lstStyle/>
          <a:p>
            <a:fld id="{68FCD861-F04E-4FEE-A31E-30C0F7139A37}" type="datetimeFigureOut">
              <a:rPr lang="en-US" smtClean="0"/>
              <a:t>8/22/2025</a:t>
            </a:fld>
            <a:endParaRPr lang="en-US"/>
          </a:p>
        </p:txBody>
      </p:sp>
      <p:sp>
        <p:nvSpPr>
          <p:cNvPr id="5" name="Footer Placeholder 4">
            <a:extLst>
              <a:ext uri="{FF2B5EF4-FFF2-40B4-BE49-F238E27FC236}">
                <a16:creationId xmlns:a16="http://schemas.microsoft.com/office/drawing/2014/main" id="{A904FFE6-FDA9-7805-A46F-B75ABD2B84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438D058-B4C6-C259-7A50-EA602CBD26AA}"/>
              </a:ext>
            </a:extLst>
          </p:cNvPr>
          <p:cNvSpPr>
            <a:spLocks noGrp="1"/>
          </p:cNvSpPr>
          <p:nvPr>
            <p:ph type="sldNum" sz="quarter" idx="12"/>
          </p:nvPr>
        </p:nvSpPr>
        <p:spPr/>
        <p:txBody>
          <a:bodyPr/>
          <a:lstStyle/>
          <a:p>
            <a:fld id="{76DBCD2D-4CEE-4EE9-916D-5E668A74C227}" type="slidenum">
              <a:rPr lang="en-US" smtClean="0"/>
              <a:t>‹#›</a:t>
            </a:fld>
            <a:endParaRPr lang="en-US"/>
          </a:p>
        </p:txBody>
      </p:sp>
    </p:spTree>
    <p:extLst>
      <p:ext uri="{BB962C8B-B14F-4D97-AF65-F5344CB8AC3E}">
        <p14:creationId xmlns:p14="http://schemas.microsoft.com/office/powerpoint/2010/main" val="24641065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F07B142-AACB-053F-7645-975A662047F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8F59252-A2DC-5F1B-EE4C-2CFE23F4D82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790E216-2D58-ABD2-90AE-66520B62C3D9}"/>
              </a:ext>
            </a:extLst>
          </p:cNvPr>
          <p:cNvSpPr>
            <a:spLocks noGrp="1"/>
          </p:cNvSpPr>
          <p:nvPr>
            <p:ph type="dt" sz="half" idx="10"/>
          </p:nvPr>
        </p:nvSpPr>
        <p:spPr/>
        <p:txBody>
          <a:bodyPr/>
          <a:lstStyle/>
          <a:p>
            <a:fld id="{68FCD861-F04E-4FEE-A31E-30C0F7139A37}" type="datetimeFigureOut">
              <a:rPr lang="en-US" smtClean="0"/>
              <a:t>8/22/2025</a:t>
            </a:fld>
            <a:endParaRPr lang="en-US"/>
          </a:p>
        </p:txBody>
      </p:sp>
      <p:sp>
        <p:nvSpPr>
          <p:cNvPr id="5" name="Footer Placeholder 4">
            <a:extLst>
              <a:ext uri="{FF2B5EF4-FFF2-40B4-BE49-F238E27FC236}">
                <a16:creationId xmlns:a16="http://schemas.microsoft.com/office/drawing/2014/main" id="{92C7AC39-EF06-0F46-267E-B03DAA61F89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EAAD48D-D0CA-87EB-5C2C-518AC203C987}"/>
              </a:ext>
            </a:extLst>
          </p:cNvPr>
          <p:cNvSpPr>
            <a:spLocks noGrp="1"/>
          </p:cNvSpPr>
          <p:nvPr>
            <p:ph type="sldNum" sz="quarter" idx="12"/>
          </p:nvPr>
        </p:nvSpPr>
        <p:spPr/>
        <p:txBody>
          <a:bodyPr/>
          <a:lstStyle/>
          <a:p>
            <a:fld id="{76DBCD2D-4CEE-4EE9-916D-5E668A74C227}" type="slidenum">
              <a:rPr lang="en-US" smtClean="0"/>
              <a:t>‹#›</a:t>
            </a:fld>
            <a:endParaRPr lang="en-US"/>
          </a:p>
        </p:txBody>
      </p:sp>
    </p:spTree>
    <p:extLst>
      <p:ext uri="{BB962C8B-B14F-4D97-AF65-F5344CB8AC3E}">
        <p14:creationId xmlns:p14="http://schemas.microsoft.com/office/powerpoint/2010/main" val="22089846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2DD69DB-6ECC-81F3-EA61-02AFEFE12B3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6777AF1-2B6E-7039-6003-FC8BEFA3FBF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F000EE-4EB4-FD52-D9B4-658F9D12CF3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8FCD861-F04E-4FEE-A31E-30C0F7139A37}" type="datetimeFigureOut">
              <a:rPr lang="en-US" smtClean="0"/>
              <a:t>8/22/2025</a:t>
            </a:fld>
            <a:endParaRPr lang="en-US"/>
          </a:p>
        </p:txBody>
      </p:sp>
      <p:sp>
        <p:nvSpPr>
          <p:cNvPr id="5" name="Footer Placeholder 4">
            <a:extLst>
              <a:ext uri="{FF2B5EF4-FFF2-40B4-BE49-F238E27FC236}">
                <a16:creationId xmlns:a16="http://schemas.microsoft.com/office/drawing/2014/main" id="{163995F4-6421-3EB8-6DC5-BD695B4E7DE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4C8EE38-004C-D4A5-DDE6-05F4FE0DD22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6DBCD2D-4CEE-4EE9-916D-5E668A74C227}" type="slidenum">
              <a:rPr lang="en-US" smtClean="0"/>
              <a:t>‹#›</a:t>
            </a:fld>
            <a:endParaRPr lang="en-US"/>
          </a:p>
        </p:txBody>
      </p:sp>
    </p:spTree>
    <p:extLst>
      <p:ext uri="{BB962C8B-B14F-4D97-AF65-F5344CB8AC3E}">
        <p14:creationId xmlns:p14="http://schemas.microsoft.com/office/powerpoint/2010/main" val="27192820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hyperlink" Target="https://youtu.be/YNlLputKAJQ" TargetMode="External"/></Relationships>
</file>

<file path=ppt/slides/_rels/slide2.xml.rels><?xml version="1.0" encoding="UTF-8" standalone="yes"?>
<Relationships xmlns="http://schemas.openxmlformats.org/package/2006/relationships"><Relationship Id="rId3" Type="http://schemas.microsoft.com/office/2018/10/relationships/comments" Target="../comments/modernComment_7BBF5E10_A3A2EFDB.xml"/><Relationship Id="rId2" Type="http://schemas.openxmlformats.org/officeDocument/2006/relationships/notesSlide" Target="../notesSlides/notesSlide2.xml"/><Relationship Id="rId1" Type="http://schemas.openxmlformats.org/officeDocument/2006/relationships/slideLayout" Target="../slideLayouts/slideLayout6.xml"/><Relationship Id="rId5" Type="http://schemas.openxmlformats.org/officeDocument/2006/relationships/image" Target="../media/image5.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96543279-B9BD-4685-8CF9-299075CC2D0E}"/>
              </a:ext>
            </a:extLst>
          </p:cNvPr>
          <p:cNvSpPr/>
          <p:nvPr/>
        </p:nvSpPr>
        <p:spPr>
          <a:xfrm>
            <a:off x="10749643" y="6356805"/>
            <a:ext cx="798286" cy="2696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76845"/>
            <a:endParaRPr lang="en-US" sz="1923">
              <a:solidFill>
                <a:prstClr val="white"/>
              </a:solidFill>
              <a:latin typeface="Segoe UI"/>
            </a:endParaRPr>
          </a:p>
        </p:txBody>
      </p:sp>
      <p:sp>
        <p:nvSpPr>
          <p:cNvPr id="2" name="Title 1">
            <a:extLst>
              <a:ext uri="{FF2B5EF4-FFF2-40B4-BE49-F238E27FC236}">
                <a16:creationId xmlns:a16="http://schemas.microsoft.com/office/drawing/2014/main" id="{B0088F94-B25D-4165-A05B-C919FE124538}"/>
              </a:ext>
            </a:extLst>
          </p:cNvPr>
          <p:cNvSpPr>
            <a:spLocks noGrp="1"/>
          </p:cNvSpPr>
          <p:nvPr>
            <p:ph type="title"/>
          </p:nvPr>
        </p:nvSpPr>
        <p:spPr>
          <a:xfrm>
            <a:off x="329957" y="511063"/>
            <a:ext cx="11117167" cy="533400"/>
          </a:xfrm>
        </p:spPr>
        <p:txBody>
          <a:bodyPr>
            <a:normAutofit fontScale="90000"/>
          </a:bodyPr>
          <a:lstStyle/>
          <a:p>
            <a:r>
              <a:rPr lang="en-US">
                <a:solidFill>
                  <a:srgbClr val="1B3F77"/>
                </a:solidFill>
              </a:rPr>
              <a:t>Bernhard Connect - IoT Data &amp; Analysis Platform</a:t>
            </a:r>
          </a:p>
        </p:txBody>
      </p:sp>
      <p:sp>
        <p:nvSpPr>
          <p:cNvPr id="14" name="TextBox 13">
            <a:extLst>
              <a:ext uri="{FF2B5EF4-FFF2-40B4-BE49-F238E27FC236}">
                <a16:creationId xmlns:a16="http://schemas.microsoft.com/office/drawing/2014/main" id="{FD99A635-2A56-467B-A7D1-824BE84FF2A9}"/>
              </a:ext>
            </a:extLst>
          </p:cNvPr>
          <p:cNvSpPr txBox="1"/>
          <p:nvPr/>
        </p:nvSpPr>
        <p:spPr>
          <a:xfrm>
            <a:off x="359487" y="1233816"/>
            <a:ext cx="5481353" cy="1768113"/>
          </a:xfrm>
          <a:prstGeom prst="rect">
            <a:avLst/>
          </a:prstGeom>
          <a:noFill/>
        </p:spPr>
        <p:txBody>
          <a:bodyPr rot="0" spcFirstLastPara="0" vertOverflow="overflow" horzOverflow="overflow" vert="horz" wrap="square" lIns="76200" tIns="38100" rIns="76200" bIns="38100" numCol="1" spcCol="0" rtlCol="0" fromWordArt="0" anchor="t" anchorCtr="0" forceAA="0" compatLnSpc="1">
            <a:prstTxWarp prst="textNoShape">
              <a:avLst/>
            </a:prstTxWarp>
            <a:spAutoFit/>
          </a:bodyPr>
          <a:lstStyle/>
          <a:p>
            <a:pPr defTabSz="761939"/>
            <a:r>
              <a:rPr lang="en-US" sz="2000" b="1" dirty="0">
                <a:solidFill>
                  <a:srgbClr val="008AD9"/>
                </a:solidFill>
                <a:latin typeface="Segoe UI" panose="020B0502040204020203" pitchFamily="34" charset="0"/>
                <a:cs typeface="Segoe UI" panose="020B0502040204020203" pitchFamily="34" charset="0"/>
              </a:rPr>
              <a:t>Business Need </a:t>
            </a:r>
          </a:p>
          <a:p>
            <a:pPr defTabSz="761939">
              <a:lnSpc>
                <a:spcPct val="114000"/>
              </a:lnSpc>
            </a:pPr>
            <a:r>
              <a:rPr lang="en-US" sz="1333" dirty="0">
                <a:solidFill>
                  <a:prstClr val="black"/>
                </a:solidFill>
                <a:latin typeface="Segoe UI"/>
              </a:rPr>
              <a:t>Bernhard hired Affirma to architect and implement an IOT solution for HVAC systems to enable their customers to both reduce costs and meet energy efficiency pledges. In order to differentiate themselves in the market as well as satisfy energy efficiency demands of their customers, Bernhard needed custom software built to collect, analyze and display energy usage data. </a:t>
            </a:r>
          </a:p>
        </p:txBody>
      </p:sp>
      <p:sp>
        <p:nvSpPr>
          <p:cNvPr id="15" name="TextBox 14">
            <a:extLst>
              <a:ext uri="{FF2B5EF4-FFF2-40B4-BE49-F238E27FC236}">
                <a16:creationId xmlns:a16="http://schemas.microsoft.com/office/drawing/2014/main" id="{3C0E083A-9794-43E4-845A-EF206C668490}"/>
              </a:ext>
            </a:extLst>
          </p:cNvPr>
          <p:cNvSpPr txBox="1"/>
          <p:nvPr/>
        </p:nvSpPr>
        <p:spPr>
          <a:xfrm>
            <a:off x="359487" y="3123393"/>
            <a:ext cx="5341743" cy="1768113"/>
          </a:xfrm>
          <a:prstGeom prst="rect">
            <a:avLst/>
          </a:prstGeom>
          <a:noFill/>
        </p:spPr>
        <p:txBody>
          <a:bodyPr rot="0" spcFirstLastPara="0" vertOverflow="overflow" horzOverflow="overflow" vert="horz" wrap="square" lIns="76200" tIns="38100" rIns="76200" bIns="38100" numCol="1" spcCol="0" rtlCol="0" fromWordArt="0" anchor="t" anchorCtr="0" forceAA="0" compatLnSpc="1">
            <a:prstTxWarp prst="textNoShape">
              <a:avLst/>
            </a:prstTxWarp>
            <a:spAutoFit/>
          </a:bodyPr>
          <a:lstStyle/>
          <a:p>
            <a:pPr defTabSz="761939"/>
            <a:r>
              <a:rPr lang="en-US" sz="2000" b="1" dirty="0">
                <a:solidFill>
                  <a:srgbClr val="008AD9"/>
                </a:solidFill>
                <a:latin typeface="Segoe UI" panose="020B0502040204020203" pitchFamily="34" charset="0"/>
                <a:cs typeface="Segoe UI" panose="020B0502040204020203" pitchFamily="34" charset="0"/>
              </a:rPr>
              <a:t>What We Did </a:t>
            </a:r>
          </a:p>
          <a:p>
            <a:pPr defTabSz="761939">
              <a:lnSpc>
                <a:spcPct val="114000"/>
              </a:lnSpc>
            </a:pPr>
            <a:r>
              <a:rPr lang="en-US" sz="1333" dirty="0">
                <a:solidFill>
                  <a:prstClr val="black"/>
                </a:solidFill>
                <a:latin typeface="Segoe UI"/>
              </a:rPr>
              <a:t>After we scoped the required specifications of this tool, </a:t>
            </a:r>
            <a:r>
              <a:rPr lang="en-US" sz="1333" dirty="0" err="1">
                <a:solidFill>
                  <a:prstClr val="black"/>
                </a:solidFill>
                <a:latin typeface="Segoe UI"/>
              </a:rPr>
              <a:t>Affirma’s</a:t>
            </a:r>
            <a:r>
              <a:rPr lang="en-US" sz="1333" dirty="0">
                <a:solidFill>
                  <a:prstClr val="black"/>
                </a:solidFill>
                <a:latin typeface="Segoe UI"/>
              </a:rPr>
              <a:t> 25-person team created multiple workstreams to ensure that:</a:t>
            </a:r>
          </a:p>
          <a:p>
            <a:pPr marL="238115" indent="-238115" defTabSz="761939">
              <a:lnSpc>
                <a:spcPct val="114000"/>
              </a:lnSpc>
              <a:buFont typeface="Arial" panose="020B0604020202020204" pitchFamily="34" charset="0"/>
              <a:buChar char="•"/>
            </a:pPr>
            <a:r>
              <a:rPr lang="en-US" sz="1333" dirty="0">
                <a:solidFill>
                  <a:prstClr val="black"/>
                </a:solidFill>
                <a:latin typeface="Segoe UI"/>
              </a:rPr>
              <a:t>Hardware was configured to meet all requirements</a:t>
            </a:r>
          </a:p>
          <a:p>
            <a:pPr marL="238115" indent="-238115" defTabSz="761939">
              <a:lnSpc>
                <a:spcPct val="114000"/>
              </a:lnSpc>
              <a:buFont typeface="Arial" panose="020B0604020202020204" pitchFamily="34" charset="0"/>
              <a:buChar char="•"/>
            </a:pPr>
            <a:r>
              <a:rPr lang="en-US" sz="1333" dirty="0">
                <a:solidFill>
                  <a:prstClr val="black"/>
                </a:solidFill>
                <a:latin typeface="Segoe UI"/>
              </a:rPr>
              <a:t>User interface (UI) was intuitive and easy to access</a:t>
            </a:r>
          </a:p>
          <a:p>
            <a:pPr marL="238115" indent="-238115" defTabSz="761939">
              <a:lnSpc>
                <a:spcPct val="114000"/>
              </a:lnSpc>
              <a:buFont typeface="Arial" panose="020B0604020202020204" pitchFamily="34" charset="0"/>
              <a:buChar char="•"/>
            </a:pPr>
            <a:r>
              <a:rPr lang="en-US" sz="1333" dirty="0">
                <a:solidFill>
                  <a:prstClr val="black"/>
                </a:solidFill>
                <a:latin typeface="Segoe UI"/>
              </a:rPr>
              <a:t>Tool captures data, transmits it to the cloud, and makes it consumable for Bernhard consultants</a:t>
            </a:r>
          </a:p>
        </p:txBody>
      </p:sp>
      <p:pic>
        <p:nvPicPr>
          <p:cNvPr id="18" name="Picture 10" descr="Chart, bar chart&#10;&#10;Description automatically generated">
            <a:extLst>
              <a:ext uri="{FF2B5EF4-FFF2-40B4-BE49-F238E27FC236}">
                <a16:creationId xmlns:a16="http://schemas.microsoft.com/office/drawing/2014/main" id="{155343A1-93CD-4492-BB9F-C274AB1E34C4}"/>
              </a:ext>
            </a:extLst>
          </p:cNvPr>
          <p:cNvPicPr>
            <a:picLocks noChangeAspect="1"/>
          </p:cNvPicPr>
          <p:nvPr/>
        </p:nvPicPr>
        <p:blipFill>
          <a:blip r:embed="rId3"/>
          <a:stretch>
            <a:fillRect/>
          </a:stretch>
        </p:blipFill>
        <p:spPr>
          <a:xfrm>
            <a:off x="6783507" y="1299202"/>
            <a:ext cx="4554686" cy="2519603"/>
          </a:xfrm>
          <a:prstGeom prst="rect">
            <a:avLst/>
          </a:prstGeom>
        </p:spPr>
      </p:pic>
      <p:sp>
        <p:nvSpPr>
          <p:cNvPr id="19" name="TextBox 18">
            <a:extLst>
              <a:ext uri="{FF2B5EF4-FFF2-40B4-BE49-F238E27FC236}">
                <a16:creationId xmlns:a16="http://schemas.microsoft.com/office/drawing/2014/main" id="{D48AA3D6-1B5D-4FB7-99D0-BAF1A9AA6124}"/>
              </a:ext>
            </a:extLst>
          </p:cNvPr>
          <p:cNvSpPr txBox="1"/>
          <p:nvPr/>
        </p:nvSpPr>
        <p:spPr>
          <a:xfrm>
            <a:off x="359487" y="5012972"/>
            <a:ext cx="5481353" cy="1130246"/>
          </a:xfrm>
          <a:prstGeom prst="rect">
            <a:avLst/>
          </a:prstGeom>
          <a:noFill/>
        </p:spPr>
        <p:txBody>
          <a:bodyPr rot="0" spcFirstLastPara="0" vertOverflow="overflow" horzOverflow="overflow" vert="horz" wrap="square" lIns="76200" tIns="38100" rIns="76200" bIns="38100" numCol="1" spcCol="0" rtlCol="0" fromWordArt="0" anchor="t" anchorCtr="0" forceAA="0" compatLnSpc="1">
            <a:prstTxWarp prst="textNoShape">
              <a:avLst/>
            </a:prstTxWarp>
            <a:spAutoFit/>
          </a:bodyPr>
          <a:lstStyle/>
          <a:p>
            <a:pPr defTabSz="761939"/>
            <a:r>
              <a:rPr lang="en-US" sz="2000" b="1" dirty="0">
                <a:solidFill>
                  <a:srgbClr val="008AD9"/>
                </a:solidFill>
                <a:latin typeface="Segoe UI"/>
                <a:cs typeface="Segoe UI"/>
              </a:rPr>
              <a:t>Results</a:t>
            </a:r>
          </a:p>
          <a:p>
            <a:pPr defTabSz="761939">
              <a:lnSpc>
                <a:spcPct val="110000"/>
              </a:lnSpc>
              <a:spcBef>
                <a:spcPts val="833"/>
              </a:spcBef>
            </a:pPr>
            <a:r>
              <a:rPr lang="en-US" sz="1300" dirty="0">
                <a:solidFill>
                  <a:prstClr val="black"/>
                </a:solidFill>
                <a:latin typeface="Segoe UI"/>
              </a:rPr>
              <a:t>Bernhard began using the custom build product with great success on significant projects, and the tool is now commercially viable and a fully usable product.</a:t>
            </a:r>
            <a:endParaRPr lang="en-US" sz="1300" dirty="0">
              <a:solidFill>
                <a:prstClr val="black"/>
              </a:solidFill>
              <a:latin typeface="Segoe UI"/>
              <a:cs typeface="Segoe UI"/>
            </a:endParaRPr>
          </a:p>
        </p:txBody>
      </p:sp>
      <p:pic>
        <p:nvPicPr>
          <p:cNvPr id="12" name="Picture 11">
            <a:hlinkClick r:id="rId4"/>
            <a:extLst>
              <a:ext uri="{FF2B5EF4-FFF2-40B4-BE49-F238E27FC236}">
                <a16:creationId xmlns:a16="http://schemas.microsoft.com/office/drawing/2014/main" id="{820A32D5-4FAC-4B08-BBC1-43851CF04852}"/>
              </a:ext>
            </a:extLst>
          </p:cNvPr>
          <p:cNvPicPr>
            <a:picLocks noChangeAspect="1"/>
          </p:cNvPicPr>
          <p:nvPr/>
        </p:nvPicPr>
        <p:blipFill>
          <a:blip r:embed="rId5"/>
          <a:stretch>
            <a:fillRect/>
          </a:stretch>
        </p:blipFill>
        <p:spPr>
          <a:xfrm>
            <a:off x="6783506" y="4022672"/>
            <a:ext cx="4490421" cy="2379137"/>
          </a:xfrm>
          <a:prstGeom prst="rect">
            <a:avLst/>
          </a:prstGeom>
        </p:spPr>
      </p:pic>
      <p:sp>
        <p:nvSpPr>
          <p:cNvPr id="3" name="Rectangle 2">
            <a:extLst>
              <a:ext uri="{FF2B5EF4-FFF2-40B4-BE49-F238E27FC236}">
                <a16:creationId xmlns:a16="http://schemas.microsoft.com/office/drawing/2014/main" id="{ABA7F308-9826-49C3-D90C-006553B35591}"/>
              </a:ext>
            </a:extLst>
          </p:cNvPr>
          <p:cNvSpPr/>
          <p:nvPr/>
        </p:nvSpPr>
        <p:spPr>
          <a:xfrm>
            <a:off x="0" y="273627"/>
            <a:ext cx="228600" cy="914400"/>
          </a:xfrm>
          <a:prstGeom prst="rect">
            <a:avLst/>
          </a:prstGeom>
          <a:solidFill>
            <a:srgbClr val="FA930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86C136E3-8091-6C09-4EDE-D8BBB07514D1}"/>
              </a:ext>
            </a:extLst>
          </p:cNvPr>
          <p:cNvSpPr/>
          <p:nvPr/>
        </p:nvSpPr>
        <p:spPr>
          <a:xfrm flipV="1">
            <a:off x="11450235" y="365239"/>
            <a:ext cx="741765" cy="764390"/>
          </a:xfrm>
          <a:prstGeom prst="rect">
            <a:avLst/>
          </a:prstGeom>
          <a:solidFill>
            <a:srgbClr val="FF8E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pic>
        <p:nvPicPr>
          <p:cNvPr id="6" name="Picture 5">
            <a:extLst>
              <a:ext uri="{FF2B5EF4-FFF2-40B4-BE49-F238E27FC236}">
                <a16:creationId xmlns:a16="http://schemas.microsoft.com/office/drawing/2014/main" id="{F9EB8FBB-D7FE-217E-C65E-9646905C0212}"/>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11497363" y="400065"/>
            <a:ext cx="644398" cy="644398"/>
          </a:xfrm>
          <a:prstGeom prst="rect">
            <a:avLst/>
          </a:prstGeom>
        </p:spPr>
      </p:pic>
    </p:spTree>
    <p:extLst>
      <p:ext uri="{BB962C8B-B14F-4D97-AF65-F5344CB8AC3E}">
        <p14:creationId xmlns:p14="http://schemas.microsoft.com/office/powerpoint/2010/main" val="12909963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96543279-B9BD-4685-8CF9-299075CC2D0E}"/>
              </a:ext>
            </a:extLst>
          </p:cNvPr>
          <p:cNvSpPr/>
          <p:nvPr/>
        </p:nvSpPr>
        <p:spPr>
          <a:xfrm>
            <a:off x="10749643" y="6356805"/>
            <a:ext cx="798286" cy="2696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76845"/>
            <a:endParaRPr lang="en-US" sz="1923">
              <a:solidFill>
                <a:prstClr val="white"/>
              </a:solidFill>
              <a:latin typeface="Segoe UI"/>
            </a:endParaRPr>
          </a:p>
        </p:txBody>
      </p:sp>
      <p:sp>
        <p:nvSpPr>
          <p:cNvPr id="2" name="Title 1">
            <a:extLst>
              <a:ext uri="{FF2B5EF4-FFF2-40B4-BE49-F238E27FC236}">
                <a16:creationId xmlns:a16="http://schemas.microsoft.com/office/drawing/2014/main" id="{B0088F94-B25D-4165-A05B-C919FE124538}"/>
              </a:ext>
            </a:extLst>
          </p:cNvPr>
          <p:cNvSpPr>
            <a:spLocks noGrp="1"/>
          </p:cNvSpPr>
          <p:nvPr>
            <p:ph type="title"/>
          </p:nvPr>
        </p:nvSpPr>
        <p:spPr>
          <a:xfrm>
            <a:off x="329957" y="494926"/>
            <a:ext cx="11117167" cy="533400"/>
          </a:xfrm>
        </p:spPr>
        <p:txBody>
          <a:bodyPr>
            <a:normAutofit fontScale="90000"/>
          </a:bodyPr>
          <a:lstStyle/>
          <a:p>
            <a:r>
              <a:rPr lang="en-US">
                <a:solidFill>
                  <a:srgbClr val="1B3F77"/>
                </a:solidFill>
              </a:rPr>
              <a:t>Bernhard Connect - IoT Data &amp; Analysis Platform</a:t>
            </a:r>
          </a:p>
        </p:txBody>
      </p:sp>
      <p:sp>
        <p:nvSpPr>
          <p:cNvPr id="3" name="Rectangle 2">
            <a:extLst>
              <a:ext uri="{FF2B5EF4-FFF2-40B4-BE49-F238E27FC236}">
                <a16:creationId xmlns:a16="http://schemas.microsoft.com/office/drawing/2014/main" id="{150E417E-E2F8-F332-B767-28A30F1D494D}"/>
              </a:ext>
            </a:extLst>
          </p:cNvPr>
          <p:cNvSpPr/>
          <p:nvPr/>
        </p:nvSpPr>
        <p:spPr>
          <a:xfrm>
            <a:off x="0" y="273627"/>
            <a:ext cx="228600" cy="914400"/>
          </a:xfrm>
          <a:prstGeom prst="rect">
            <a:avLst/>
          </a:prstGeom>
          <a:solidFill>
            <a:srgbClr val="FA930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image">
            <a:extLst>
              <a:ext uri="{FF2B5EF4-FFF2-40B4-BE49-F238E27FC236}">
                <a16:creationId xmlns:a16="http://schemas.microsoft.com/office/drawing/2014/main" id="{7C6E0133-54DC-72D6-A2C9-2F03827A435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09401" y="1188027"/>
            <a:ext cx="6173197" cy="2890471"/>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1030" name="Picture 6" descr="image">
            <a:extLst>
              <a:ext uri="{FF2B5EF4-FFF2-40B4-BE49-F238E27FC236}">
                <a16:creationId xmlns:a16="http://schemas.microsoft.com/office/drawing/2014/main" id="{A75DA5E0-E79D-43B9-C985-83AA62EAEA8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4542" y="4298010"/>
            <a:ext cx="7761403" cy="2328421"/>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EECCA4A8-6FB8-3C96-2915-BBB3830D4826}"/>
              </a:ext>
            </a:extLst>
          </p:cNvPr>
          <p:cNvSpPr txBox="1"/>
          <p:nvPr/>
        </p:nvSpPr>
        <p:spPr>
          <a:xfrm>
            <a:off x="8561657" y="4800500"/>
            <a:ext cx="3424397" cy="1600438"/>
          </a:xfrm>
          <a:prstGeom prst="rect">
            <a:avLst/>
          </a:prstGeom>
          <a:noFill/>
        </p:spPr>
        <p:txBody>
          <a:bodyPr wrap="square" lIns="91440" tIns="45720" rIns="91440" bIns="45720" rtlCol="0" anchor="t">
            <a:spAutoFit/>
          </a:bodyPr>
          <a:lstStyle/>
          <a:p>
            <a:pPr algn="ctr">
              <a:spcBef>
                <a:spcPts val="600"/>
              </a:spcBef>
            </a:pPr>
            <a:r>
              <a:rPr lang="en-US" b="1">
                <a:solidFill>
                  <a:srgbClr val="002060"/>
                </a:solidFill>
                <a:latin typeface="Arial" panose="020B0604020202020204" pitchFamily="34" charset="0"/>
                <a:ea typeface="MS Mincho"/>
                <a:cs typeface="Arial" panose="020B0604020202020204" pitchFamily="34" charset="0"/>
              </a:rPr>
              <a:t>Bentonville Electric Meter Pulse Data Counts </a:t>
            </a:r>
          </a:p>
          <a:p>
            <a:pPr marL="170815" indent="-170815">
              <a:spcBef>
                <a:spcPts val="600"/>
              </a:spcBef>
              <a:buFont typeface="Arial" panose="020B0604020202020204" pitchFamily="34" charset="0"/>
              <a:buChar char="•"/>
            </a:pPr>
            <a:r>
              <a:rPr lang="en-US" sz="1300" b="1">
                <a:latin typeface="Segoe UI "/>
                <a:ea typeface="MS Mincho"/>
                <a:cs typeface="Segoe UI Light"/>
              </a:rPr>
              <a:t>Blue Line</a:t>
            </a:r>
            <a:r>
              <a:rPr lang="en-US" sz="1300">
                <a:latin typeface="Segoe UI "/>
                <a:ea typeface="MS Mincho"/>
                <a:cs typeface="Segoe UI Light"/>
              </a:rPr>
              <a:t>: electricity usage from an IoT equipped electric meter</a:t>
            </a:r>
          </a:p>
          <a:p>
            <a:pPr marL="170815" indent="-170815">
              <a:spcBef>
                <a:spcPts val="600"/>
              </a:spcBef>
              <a:buFont typeface="Arial" panose="020B0604020202020204" pitchFamily="34" charset="0"/>
              <a:buChar char="•"/>
            </a:pPr>
            <a:r>
              <a:rPr lang="en-US" sz="1300" b="1">
                <a:latin typeface="Segoe UI "/>
                <a:ea typeface="MS Mincho"/>
                <a:cs typeface="Segoe UI Light"/>
              </a:rPr>
              <a:t>Orange Line: </a:t>
            </a:r>
            <a:r>
              <a:rPr lang="en-US" sz="1300">
                <a:latin typeface="Segoe UI "/>
                <a:ea typeface="MS Mincho"/>
                <a:cs typeface="Segoe UI Light"/>
              </a:rPr>
              <a:t>predicted usage from one of Affirma’s Machine Learning models</a:t>
            </a:r>
            <a:endParaRPr lang="en-US" sz="1300">
              <a:latin typeface="Segoe UI "/>
              <a:ea typeface="MS Mincho" panose="02020609040205080304" pitchFamily="49" charset="-128"/>
              <a:cs typeface="Segoe UI Light" panose="020B0502040204020203" pitchFamily="34" charset="0"/>
            </a:endParaRPr>
          </a:p>
        </p:txBody>
      </p:sp>
    </p:spTree>
    <p:extLst>
      <p:ext uri="{BB962C8B-B14F-4D97-AF65-F5344CB8AC3E}">
        <p14:creationId xmlns:p14="http://schemas.microsoft.com/office/powerpoint/2010/main" val="27453644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mso-contentType ?>
<customXsn xmlns="http://schemas.microsoft.com/office/2006/metadata/customXsn">
  <xsnLocation/>
  <cached>True</cached>
  <openByDefault>False</openByDefault>
  <xsnScope/>
</customXsn>
</file>

<file path=customXml/item3.xml><?xml version="1.0" encoding="utf-8"?>
<ct:contentTypeSchema xmlns:ct="http://schemas.microsoft.com/office/2006/metadata/contentType" xmlns:ma="http://schemas.microsoft.com/office/2006/metadata/properties/metaAttributes" ct:_="" ma:_="" ma:contentTypeName="Document" ma:contentTypeID="0x0101000D23BCBB7020E34DAE994A365BA94206" ma:contentTypeVersion="12" ma:contentTypeDescription="Create a new document." ma:contentTypeScope="" ma:versionID="b1c940a28d9f7ed7841dd66e388476ed">
  <xsd:schema xmlns:xsd="http://www.w3.org/2001/XMLSchema" xmlns:xs="http://www.w3.org/2001/XMLSchema" xmlns:p="http://schemas.microsoft.com/office/2006/metadata/properties" xmlns:ns2="f0ee8362-fa7e-4bc9-ab88-7dcfb17cb19b" targetNamespace="http://schemas.microsoft.com/office/2006/metadata/properties" ma:root="true" ma:fieldsID="8c9fb4aa225d81f58c6fca2e551d2526" ns2:_="">
    <xsd:import namespace="f0ee8362-fa7e-4bc9-ab88-7dcfb17cb19b"/>
    <xsd:element name="properties">
      <xsd:complexType>
        <xsd:sequence>
          <xsd:element name="documentManagement">
            <xsd:complexType>
              <xsd:all>
                <xsd:element ref="ns2:BusinessUnit" minOccurs="0"/>
                <xsd:element ref="ns2:Industries" minOccurs="0"/>
                <xsd:element ref="ns2:Solutions" minOccurs="0"/>
                <xsd:element ref="ns2:PlatTech" minOccurs="0"/>
                <xsd:element ref="ns2:Notes0" minOccurs="0"/>
                <xsd:element ref="ns2:Named_x0020_Account" minOccurs="0"/>
                <xsd:element ref="ns2:MediaServiceMetadata" minOccurs="0"/>
                <xsd:element ref="ns2:MediaServiceFastMetadata" minOccurs="0"/>
                <xsd:element ref="ns2:MediaServiceSearchProperties" minOccurs="0"/>
                <xsd:element ref="ns2:MediaServiceObjectDetectorVersions" minOccurs="0"/>
                <xsd:element ref="ns2:ProjectCompletionDate" minOccurs="0"/>
                <xsd:element ref="ns2:ApprovedByCli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ee8362-fa7e-4bc9-ab88-7dcfb17cb19b" elementFormDefault="qualified">
    <xsd:import namespace="http://schemas.microsoft.com/office/2006/documentManagement/types"/>
    <xsd:import namespace="http://schemas.microsoft.com/office/infopath/2007/PartnerControls"/>
    <xsd:element name="BusinessUnit" ma:index="8" nillable="true" ma:displayName="Business Unit" ma:internalName="BusinessUnit">
      <xsd:complexType>
        <xsd:complexContent>
          <xsd:extension base="dms:MultiChoice">
            <xsd:sequence>
              <xsd:element name="Value" maxOccurs="unbounded" minOccurs="0" nillable="true">
                <xsd:simpleType>
                  <xsd:restriction base="dms:Choice">
                    <xsd:enumeration value="Business Process Outsourcing"/>
                    <xsd:enumeration value="Content and Change Management"/>
                    <xsd:enumeration value="Creative"/>
                    <xsd:enumeration value="Custom Development"/>
                    <xsd:enumeration value="Customer Relationship Management"/>
                    <xsd:enumeration value="Data and Analytics"/>
                    <xsd:enumeration value="Engagement Marketing"/>
                    <xsd:enumeration value="Infrastructure"/>
                    <xsd:enumeration value="Marketing Services"/>
                    <xsd:enumeration value="Modern Workplace"/>
                    <xsd:enumeration value="NetSuite"/>
                  </xsd:restriction>
                </xsd:simpleType>
              </xsd:element>
            </xsd:sequence>
          </xsd:extension>
        </xsd:complexContent>
      </xsd:complexType>
    </xsd:element>
    <xsd:element name="Industries" ma:index="9" nillable="true" ma:displayName="Industries" ma:format="Dropdown" ma:internalName="Industries">
      <xsd:complexType>
        <xsd:complexContent>
          <xsd:extension base="dms:MultiChoice">
            <xsd:sequence>
              <xsd:element name="Value" maxOccurs="unbounded" minOccurs="0" nillable="true">
                <xsd:simpleType>
                  <xsd:restriction base="dms:Choice">
                    <xsd:enumeration value="Aerospace"/>
                    <xsd:enumeration value="Agriculture"/>
                    <xsd:enumeration value="Agriculture Food"/>
                    <xsd:enumeration value="AI / AI Models"/>
                    <xsd:enumeration value="B2B"/>
                    <xsd:enumeration value="B2C"/>
                    <xsd:enumeration value="Chemical"/>
                    <xsd:enumeration value="Construction"/>
                    <xsd:enumeration value="Defence"/>
                    <xsd:enumeration value="Education"/>
                    <xsd:enumeration value="Energy"/>
                    <xsd:enumeration value="Engineering"/>
                    <xsd:enumeration value="Entertainment"/>
                    <xsd:enumeration value="Financial Services"/>
                    <xsd:enumeration value="Food"/>
                    <xsd:enumeration value="Government"/>
                    <xsd:enumeration value="Healthcare"/>
                    <xsd:enumeration value="Hospitality"/>
                    <xsd:enumeration value="Legal"/>
                    <xsd:enumeration value="Life Sciences"/>
                    <xsd:enumeration value="Manufacturing"/>
                    <xsd:enumeration value="Media"/>
                    <xsd:enumeration value="Non-Profit"/>
                    <xsd:enumeration value="Real Estate"/>
                    <xsd:enumeration value="Retail"/>
                    <xsd:enumeration value="Services"/>
                    <xsd:enumeration value="Technology"/>
                    <xsd:enumeration value="Telecommunications"/>
                    <xsd:enumeration value="Transportation"/>
                    <xsd:enumeration value="Water"/>
                    <xsd:enumeration value="Wellness"/>
                    <xsd:enumeration value="BPO"/>
                  </xsd:restriction>
                </xsd:simpleType>
              </xsd:element>
            </xsd:sequence>
          </xsd:extension>
        </xsd:complexContent>
      </xsd:complexType>
    </xsd:element>
    <xsd:element name="Solutions" ma:index="10" nillable="true" ma:displayName="Solutions" ma:format="Dropdown" ma:internalName="Solutions">
      <xsd:complexType>
        <xsd:complexContent>
          <xsd:extension base="dms:MultiChoice">
            <xsd:sequence>
              <xsd:element name="Value" maxOccurs="unbounded" minOccurs="0" nillable="true">
                <xsd:simpleType>
                  <xsd:restriction base="dms:Choice">
                    <xsd:enumeration value="ABM Marketing"/>
                    <xsd:enumeration value="AI"/>
                    <xsd:enumeration value="Audit"/>
                    <xsd:enumeration value="Change Management"/>
                    <xsd:enumeration value="Cloud"/>
                    <xsd:enumeration value="Configurations"/>
                    <xsd:enumeration value="Content"/>
                    <xsd:enumeration value="Customer &amp; Partner Support BPO"/>
                    <xsd:enumeration value="Customer / Partner Portal"/>
                    <xsd:enumeration value="Custom Search"/>
                    <xsd:enumeration value="Cybersecurity"/>
                    <xsd:enumeration value="Data Analytics"/>
                    <xsd:enumeration value="Design"/>
                    <xsd:enumeration value="Email Campaigns"/>
                    <xsd:enumeration value="Event support"/>
                    <xsd:enumeration value="HelpDesk Outsourcing BPO"/>
                    <xsd:enumeration value="Integrations"/>
                    <xsd:enumeration value="Intranet / Extranet"/>
                    <xsd:enumeration value="IoT"/>
                    <xsd:enumeration value="Link Building"/>
                    <xsd:enumeration value="Marketing Automation"/>
                    <xsd:enumeration value="Marketing Strategy"/>
                    <xsd:enumeration value="Marketing Technology"/>
                    <xsd:enumeration value="Migrations"/>
                    <xsd:enumeration value="Mobile Application"/>
                    <xsd:enumeration value="Organic Social Media"/>
                    <xsd:enumeration value="PPC"/>
                    <xsd:enumeration value="Personas &amp; Journey Mapping"/>
                    <xsd:enumeration value="Process Automation"/>
                    <xsd:enumeration value="Product Development"/>
                    <xsd:enumeration value="Research"/>
                    <xsd:enumeration value="SEO/ AEO"/>
                    <xsd:enumeration value="SPFx"/>
                    <xsd:enumeration value="Training"/>
                    <xsd:enumeration value="UX/ UI Design"/>
                    <xsd:enumeration value="Video Production"/>
                    <xsd:enumeration value="Webinars"/>
                    <xsd:enumeration value="Websites"/>
                    <xsd:enumeration value="DevOps"/>
                  </xsd:restriction>
                </xsd:simpleType>
              </xsd:element>
            </xsd:sequence>
          </xsd:extension>
        </xsd:complexContent>
      </xsd:complexType>
    </xsd:element>
    <xsd:element name="PlatTech" ma:index="11" nillable="true" ma:displayName="Platform / Technology" ma:format="Dropdown" ma:internalName="PlatTech">
      <xsd:complexType>
        <xsd:complexContent>
          <xsd:extension base="dms:MultiChoice">
            <xsd:sequence>
              <xsd:element name="Value" maxOccurs="unbounded" minOccurs="0" nillable="true">
                <xsd:simpleType>
                  <xsd:restriction base="dms:Choice">
                    <xsd:enumeration value=".NET"/>
                    <xsd:enumeration value="Android App"/>
                    <xsd:enumeration value="AWS"/>
                    <xsd:enumeration value="Angular"/>
                    <xsd:enumeration value="Azure"/>
                    <xsd:enumeration value="Azure DevOps"/>
                    <xsd:enumeration value="Boomi"/>
                    <xsd:enumeration value="Drupal"/>
                    <xsd:enumeration value="Dynamics"/>
                    <xsd:enumeration value="Flutter"/>
                    <xsd:enumeration value="GCP"/>
                    <xsd:enumeration value="Google"/>
                    <xsd:enumeration value="Great Plains"/>
                    <xsd:enumeration value="Hootsuite"/>
                    <xsd:enumeration value="HubSpot"/>
                    <xsd:enumeration value="iOS App"/>
                    <xsd:enumeration value="Java"/>
                    <xsd:enumeration value="Kentico"/>
                    <xsd:enumeration value="Looker Studio"/>
                    <xsd:enumeration value="Mobile App"/>
                    <xsd:enumeration value="Marketo / Adobe"/>
                    <xsd:enumeration value="NetSuite"/>
                    <xsd:enumeration value="O365"/>
                    <xsd:enumeration value="OneDrive"/>
                    <xsd:enumeration value="PowerSuite"/>
                    <xsd:enumeration value="Power BI"/>
                    <xsd:enumeration value="QuickBooks"/>
                    <xsd:enumeration value="React"/>
                    <xsd:enumeration value="React Native"/>
                    <xsd:enumeration value="Sage"/>
                    <xsd:enumeration value="Salesforce"/>
                    <xsd:enumeration value="Salesforce Experience Cloud"/>
                    <xsd:enumeration value="Salesforce Marketing Cloud"/>
                    <xsd:enumeration value="Salesforce CPQ"/>
                    <xsd:enumeration value="Salesforce Pardot"/>
                    <xsd:enumeration value="SharePoint"/>
                    <xsd:enumeration value="Shopify"/>
                    <xsd:enumeration value="Sitecore"/>
                    <xsd:enumeration value="Sitefinity"/>
                    <xsd:enumeration value="Snowflake"/>
                    <xsd:enumeration value="Sprinklr"/>
                    <xsd:enumeration value="SproutSocial"/>
                    <xsd:enumeration value="Tableau"/>
                    <xsd:enumeration value="WP Engine"/>
                    <xsd:enumeration value="Webflow"/>
                    <xsd:enumeration value="WooCommerce"/>
                    <xsd:enumeration value="WordPress"/>
                    <xsd:enumeration value="Zoho"/>
                    <xsd:enumeration value="Power Apps"/>
                    <xsd:enumeration value="Teams"/>
                    <xsd:enumeration value="Azure Data Factory"/>
                    <xsd:enumeration value="Zendesk"/>
                    <xsd:enumeration value="Business Central"/>
                    <xsd:enumeration value="Viva"/>
                  </xsd:restriction>
                </xsd:simpleType>
              </xsd:element>
            </xsd:sequence>
          </xsd:extension>
        </xsd:complexContent>
      </xsd:complexType>
    </xsd:element>
    <xsd:element name="Notes0" ma:index="12" nillable="true" ma:displayName="Notes" ma:internalName="Notes0">
      <xsd:simpleType>
        <xsd:restriction base="dms:Text">
          <xsd:maxLength value="255"/>
        </xsd:restriction>
      </xsd:simpleType>
    </xsd:element>
    <xsd:element name="Named_x0020_Account" ma:index="13" nillable="true" ma:displayName="Named Account" ma:format="Dropdown" ma:internalName="Named_x0020_Account">
      <xsd:simpleType>
        <xsd:restriction base="dms:Choice">
          <xsd:enumeration value="Microsoft"/>
          <xsd:enumeration value="Meta"/>
          <xsd:enumeration value="Amazon"/>
        </xsd:restriction>
      </xsd:simpleType>
    </xsd:element>
    <xsd:element name="MediaServiceMetadata" ma:index="14" nillable="true" ma:displayName="MediaServiceMetadata" ma:hidden="true" ma:internalName="MediaServiceMetadata" ma:readOnly="true">
      <xsd:simpleType>
        <xsd:restriction base="dms:Note"/>
      </xsd:simpleType>
    </xsd:element>
    <xsd:element name="MediaServiceFastMetadata" ma:index="15" nillable="true" ma:displayName="MediaServiceFastMetadata" ma:hidden="true" ma:internalName="MediaServiceFastMetadata" ma:readOnly="true">
      <xsd:simpleType>
        <xsd:restriction base="dms:Note"/>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ProjectCompletionDate" ma:index="18" nillable="true" ma:displayName="Project Completion Date" ma:format="DateOnly" ma:internalName="ProjectCompletionDate">
      <xsd:simpleType>
        <xsd:restriction base="dms:DateTime"/>
      </xsd:simpleType>
    </xsd:element>
    <xsd:element name="ApprovedByClient" ma:index="19" nillable="true" ma:displayName="Approved By Client" ma:default="0" ma:format="Dropdown" ma:internalName="ApprovedByClient">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p:properties xmlns:p="http://schemas.microsoft.com/office/2006/metadata/properties" xmlns:xsi="http://www.w3.org/2001/XMLSchema-instance" xmlns:pc="http://schemas.microsoft.com/office/infopath/2007/PartnerControls">
  <documentManagement>
    <BusinessUnit xmlns="f0ee8362-fa7e-4bc9-ab88-7dcfb17cb19b">
      <Value>Custom Development</Value>
      <Value>Creative</Value>
    </BusinessUnit>
    <Solutions xmlns="f0ee8362-fa7e-4bc9-ab88-7dcfb17cb19b">
      <Value>Product Development</Value>
    </Solutions>
    <Industries xmlns="f0ee8362-fa7e-4bc9-ab88-7dcfb17cb19b">
      <Value>Construction</Value>
      <Value>Energy</Value>
    </Industries>
    <Notes0 xmlns="f0ee8362-fa7e-4bc9-ab88-7dcfb17cb19b" xsi:nil="true"/>
    <Named_x0020_Account xmlns="f0ee8362-fa7e-4bc9-ab88-7dcfb17cb19b" xsi:nil="true"/>
    <PlatTech xmlns="f0ee8362-fa7e-4bc9-ab88-7dcfb17cb19b">
      <Value>.NET</Value>
      <Value>Azure</Value>
      <Value>Angular</Value>
    </PlatTech>
    <ProjectCompletionDate xmlns="f0ee8362-fa7e-4bc9-ab88-7dcfb17cb19b" xsi:nil="true"/>
    <ApprovedByClient xmlns="f0ee8362-fa7e-4bc9-ab88-7dcfb17cb19b">false</ApprovedByClient>
  </documentManagement>
</p:properties>
</file>

<file path=customXml/itemProps1.xml><?xml version="1.0" encoding="utf-8"?>
<ds:datastoreItem xmlns:ds="http://schemas.openxmlformats.org/officeDocument/2006/customXml" ds:itemID="{0E2FCF46-F9A7-4A2B-AA52-F9D76475429B}">
  <ds:schemaRefs>
    <ds:schemaRef ds:uri="http://schemas.microsoft.com/sharepoint/v3/contenttype/forms"/>
  </ds:schemaRefs>
</ds:datastoreItem>
</file>

<file path=customXml/itemProps2.xml><?xml version="1.0" encoding="utf-8"?>
<ds:datastoreItem xmlns:ds="http://schemas.openxmlformats.org/officeDocument/2006/customXml" ds:itemID="{9ED2B0DC-7906-4FCE-AC19-FD4DB36C6E69}">
  <ds:schemaRefs>
    <ds:schemaRef ds:uri="http://schemas.microsoft.com/office/2006/metadata/customXsn"/>
  </ds:schemaRefs>
</ds:datastoreItem>
</file>

<file path=customXml/itemProps3.xml><?xml version="1.0" encoding="utf-8"?>
<ds:datastoreItem xmlns:ds="http://schemas.openxmlformats.org/officeDocument/2006/customXml" ds:itemID="{E288F513-F124-48A7-9497-BFD927A113FE}"/>
</file>

<file path=customXml/itemProps4.xml><?xml version="1.0" encoding="utf-8"?>
<ds:datastoreItem xmlns:ds="http://schemas.openxmlformats.org/officeDocument/2006/customXml" ds:itemID="{14A6F6E7-D536-4619-AB3E-BE546DC85074}">
  <ds:schemaRefs>
    <ds:schemaRef ds:uri="http://schemas.microsoft.com/office/2006/metadata/properties"/>
    <ds:schemaRef ds:uri="http://schemas.microsoft.com/office/infopath/2007/PartnerControls"/>
    <ds:schemaRef ds:uri="f0ee8362-fa7e-4bc9-ab88-7dcfb17cb19b"/>
  </ds:schemaRefs>
</ds:datastoreItem>
</file>

<file path=docProps/app.xml><?xml version="1.0" encoding="utf-8"?>
<Properties xmlns="http://schemas.openxmlformats.org/officeDocument/2006/extended-properties" xmlns:vt="http://schemas.openxmlformats.org/officeDocument/2006/docPropsVTypes">
  <TotalTime>0</TotalTime>
  <Words>208</Words>
  <Application>Microsoft Office PowerPoint</Application>
  <PresentationFormat>Widescreen</PresentationFormat>
  <Paragraphs>17</Paragraphs>
  <Slides>2</Slides>
  <Notes>2</Notes>
  <HiddenSlides>0</HiddenSlides>
  <MMClips>0</MMClips>
  <ScaleCrop>false</ScaleCrop>
  <HeadingPairs>
    <vt:vector size="4" baseType="variant">
      <vt:variant>
        <vt:lpstr>Theme</vt:lpstr>
      </vt:variant>
      <vt:variant>
        <vt:i4>1</vt:i4>
      </vt:variant>
      <vt:variant>
        <vt:lpstr>Slide Titles</vt:lpstr>
      </vt:variant>
      <vt:variant>
        <vt:i4>2</vt:i4>
      </vt:variant>
    </vt:vector>
  </HeadingPairs>
  <TitlesOfParts>
    <vt:vector size="3" baseType="lpstr">
      <vt:lpstr>Office Theme</vt:lpstr>
      <vt:lpstr>Bernhard Connect - IoT Data &amp; Analysis Platform</vt:lpstr>
      <vt:lpstr>Bernhard Connect - IoT Data &amp; Analysis Platform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Bernhard Connect - IoT Data &amp; Analysis Platform</dc:title>
  <dc:creator>Brendan Murphy</dc:creator>
  <cp:lastModifiedBy>Brendan Murphy</cp:lastModifiedBy>
  <cp:revision>3</cp:revision>
  <dcterms:created xsi:type="dcterms:W3CDTF">2023-03-14T22:39:40Z</dcterms:created>
  <dcterms:modified xsi:type="dcterms:W3CDTF">2025-08-22T17:24:59Z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0x0101000D23BCBB7020E34DAE994A365BA94206</vt:lpwstr>
  </property>
</Properties>
</file>