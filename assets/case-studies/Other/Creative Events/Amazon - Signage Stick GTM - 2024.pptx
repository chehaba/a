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B8E88F-BE1A-DB49-4D92-17A9146989A4}" v="25" dt="2025-01-23T22:44:38.129"/>
    <p1510:client id="{938B500B-5D68-43C2-8A04-E2832FDC2127}" v="9" dt="2025-01-23T22:31:28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12" Type="http://schemas.openxmlformats.org/officeDocument/2006/relationships/customXml" Target="../customXml/item4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yson Knox-Meade" userId="9add29cb-6821-43c7-a287-0793ac386e0f" providerId="ADAL" clId="{938B500B-5D68-43C2-8A04-E2832FDC2127}"/>
    <pc:docChg chg="custSel modSld">
      <pc:chgData name="Alyson Knox-Meade" userId="9add29cb-6821-43c7-a287-0793ac386e0f" providerId="ADAL" clId="{938B500B-5D68-43C2-8A04-E2832FDC2127}" dt="2025-01-23T22:42:15.443" v="905" actId="20577"/>
      <pc:docMkLst>
        <pc:docMk/>
      </pc:docMkLst>
      <pc:sldChg chg="addSp delSp modSp mod">
        <pc:chgData name="Alyson Knox-Meade" userId="9add29cb-6821-43c7-a287-0793ac386e0f" providerId="ADAL" clId="{938B500B-5D68-43C2-8A04-E2832FDC2127}" dt="2025-01-23T22:42:15.443" v="905" actId="20577"/>
        <pc:sldMkLst>
          <pc:docMk/>
          <pc:sldMk cId="1391115529" sldId="302"/>
        </pc:sldMkLst>
        <pc:spChg chg="mod">
          <ac:chgData name="Alyson Knox-Meade" userId="9add29cb-6821-43c7-a287-0793ac386e0f" providerId="ADAL" clId="{938B500B-5D68-43C2-8A04-E2832FDC2127}" dt="2025-01-23T22:07:03.168" v="52" actId="27636"/>
          <ac:spMkLst>
            <pc:docMk/>
            <pc:sldMk cId="1391115529" sldId="302"/>
            <ac:spMk id="3" creationId="{EEBECCDC-4B48-D94D-9959-556D357896FB}"/>
          </ac:spMkLst>
        </pc:spChg>
        <pc:spChg chg="mod">
          <ac:chgData name="Alyson Knox-Meade" userId="9add29cb-6821-43c7-a287-0793ac386e0f" providerId="ADAL" clId="{938B500B-5D68-43C2-8A04-E2832FDC2127}" dt="2025-01-23T22:31:15.834" v="621" actId="20577"/>
          <ac:spMkLst>
            <pc:docMk/>
            <pc:sldMk cId="1391115529" sldId="302"/>
            <ac:spMk id="4" creationId="{3A63E5E9-D7F2-DC4F-81EC-0769456DA7A1}"/>
          </ac:spMkLst>
        </pc:spChg>
        <pc:spChg chg="mod">
          <ac:chgData name="Alyson Knox-Meade" userId="9add29cb-6821-43c7-a287-0793ac386e0f" providerId="ADAL" clId="{938B500B-5D68-43C2-8A04-E2832FDC2127}" dt="2025-01-23T22:42:15.443" v="905" actId="20577"/>
          <ac:spMkLst>
            <pc:docMk/>
            <pc:sldMk cId="1391115529" sldId="302"/>
            <ac:spMk id="5" creationId="{BCCE102C-CBD2-7F4D-B70A-141495E0A096}"/>
          </ac:spMkLst>
        </pc:spChg>
        <pc:spChg chg="del">
          <ac:chgData name="Alyson Knox-Meade" userId="9add29cb-6821-43c7-a287-0793ac386e0f" providerId="ADAL" clId="{938B500B-5D68-43C2-8A04-E2832FDC2127}" dt="2025-01-23T22:07:07.691" v="53" actId="478"/>
          <ac:spMkLst>
            <pc:docMk/>
            <pc:sldMk cId="1391115529" sldId="302"/>
            <ac:spMk id="8" creationId="{60998BC1-C5D5-9820-686C-B8A59D6EE81C}"/>
          </ac:spMkLst>
        </pc:spChg>
        <pc:picChg chg="add mod">
          <ac:chgData name="Alyson Knox-Meade" userId="9add29cb-6821-43c7-a287-0793ac386e0f" providerId="ADAL" clId="{938B500B-5D68-43C2-8A04-E2832FDC2127}" dt="2025-01-23T22:31:28.607" v="622" actId="1076"/>
          <ac:picMkLst>
            <pc:docMk/>
            <pc:sldMk cId="1391115529" sldId="302"/>
            <ac:picMk id="6" creationId="{9DE0673D-72E9-50FA-61E2-B8E75C7261A4}"/>
          </ac:picMkLst>
        </pc:picChg>
        <pc:picChg chg="del">
          <ac:chgData name="Alyson Knox-Meade" userId="9add29cb-6821-43c7-a287-0793ac386e0f" providerId="ADAL" clId="{938B500B-5D68-43C2-8A04-E2832FDC2127}" dt="2025-01-23T22:07:08.259" v="54" actId="478"/>
          <ac:picMkLst>
            <pc:docMk/>
            <pc:sldMk cId="1391115529" sldId="302"/>
            <ac:picMk id="1026" creationId="{CC0F7321-2750-EE37-180A-0338534881F3}"/>
          </ac:picMkLst>
        </pc:picChg>
        <pc:picChg chg="del">
          <ac:chgData name="Alyson Knox-Meade" userId="9add29cb-6821-43c7-a287-0793ac386e0f" providerId="ADAL" clId="{938B500B-5D68-43C2-8A04-E2832FDC2127}" dt="2025-01-23T22:07:08.801" v="55" actId="478"/>
          <ac:picMkLst>
            <pc:docMk/>
            <pc:sldMk cId="1391115529" sldId="302"/>
            <ac:picMk id="1028" creationId="{BA6C2A39-9332-2A6D-5F56-02B96C8DAA3E}"/>
          </ac:picMkLst>
        </pc:picChg>
      </pc:sldChg>
    </pc:docChg>
  </pc:docChgLst>
  <pc:docChgLst>
    <pc:chgData name="Alyson Knox-Meade" userId="S::aknox@affirma.com::9add29cb-6821-43c7-a287-0793ac386e0f" providerId="AD" clId="Web-{0CB8E88F-BE1A-DB49-4D92-17A9146989A4}"/>
    <pc:docChg chg="modSld">
      <pc:chgData name="Alyson Knox-Meade" userId="S::aknox@affirma.com::9add29cb-6821-43c7-a287-0793ac386e0f" providerId="AD" clId="Web-{0CB8E88F-BE1A-DB49-4D92-17A9146989A4}" dt="2025-01-23T22:44:38.129" v="24" actId="20577"/>
      <pc:docMkLst>
        <pc:docMk/>
      </pc:docMkLst>
      <pc:sldChg chg="modSp">
        <pc:chgData name="Alyson Knox-Meade" userId="S::aknox@affirma.com::9add29cb-6821-43c7-a287-0793ac386e0f" providerId="AD" clId="Web-{0CB8E88F-BE1A-DB49-4D92-17A9146989A4}" dt="2025-01-23T22:44:38.129" v="24" actId="20577"/>
        <pc:sldMkLst>
          <pc:docMk/>
          <pc:sldMk cId="1391115529" sldId="302"/>
        </pc:sldMkLst>
        <pc:spChg chg="mod">
          <ac:chgData name="Alyson Knox-Meade" userId="S::aknox@affirma.com::9add29cb-6821-43c7-a287-0793ac386e0f" providerId="AD" clId="Web-{0CB8E88F-BE1A-DB49-4D92-17A9146989A4}" dt="2025-01-23T22:44:38.129" v="24" actId="20577"/>
          <ac:spMkLst>
            <pc:docMk/>
            <pc:sldMk cId="1391115529" sldId="302"/>
            <ac:spMk id="5" creationId="{BCCE102C-CBD2-7F4D-B70A-141495E0A09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B5FE165-096F-487F-8435-22B7C977BBAC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466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BA5D076-475A-402B-BFB3-BCB1DB0975A0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08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A68257-B1D1-45B7-A765-50CDBCA3FD86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917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FB58377-F27B-4099-8D07-8CC83E9FF8E3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59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6C74676-92AB-4545-938B-1B69D80DB240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56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A0B79CA-C4D9-4908-8B03-07B20BD050DE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388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2E6861D-08F0-455C-ABA0-53DFF2F796CF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27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A828875-DE2A-4007-BCB0-00064EAA777B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065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79BA1C-FAB8-4D2A-946A-62324E933EF1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430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FB3B390-3D70-4147-B0BB-53F5951107F8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71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6ABAB9D-96B1-4270-A3E0-6D838C6F3255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804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CAA8423-91F7-4752-B324-734304431281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947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39BA845-8FAA-4FA8-BB03-FCE823510A90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396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406F59A-4A5A-4738-AC03-C9914EA55E29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3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7C5F32E-87BC-41F1-B9F5-46E5C7195E2E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53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89D8D96-9103-4B38-8327-0EA0FFD24152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392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93AED9-3F5E-41D4-9FAD-F29D941B4B0A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5907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0B76160-1DEB-464C-9113-9118CF4A908A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8806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C78B21-3C28-439F-BCD3-284714CB9E0C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 dirty="0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703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541201-DC49-46F2-AC4F-0D60C1F63406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268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98244D-535E-48C4-8BC9-904AE7DD5AF1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705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58EA56-0E20-4ACC-A046-BE609E544847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3213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0CBE8F-8AA2-4859-BE6D-C213C1FEDA0E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26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7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50/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AD0E4DD-9580-4F4D-BE77-BD0A0533D256}"/>
              </a:ext>
            </a:extLst>
          </p:cNvPr>
          <p:cNvSpPr/>
          <p:nvPr userDrawn="1"/>
        </p:nvSpPr>
        <p:spPr>
          <a:xfrm>
            <a:off x="6096000" y="1371599"/>
            <a:ext cx="6096000" cy="5486403"/>
          </a:xfrm>
          <a:prstGeom prst="rect">
            <a:avLst/>
          </a:prstGeom>
          <a:solidFill>
            <a:srgbClr val="CBECFF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492716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9"/>
            <a:ext cx="767123" cy="26423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9549F-2B74-AF44-9902-F30AD6D1C3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284" y="1681163"/>
            <a:ext cx="5108575" cy="428986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cs typeface="Poppins" pitchFamily="2" charset="77"/>
              </a:defRPr>
            </a:lvl2pPr>
            <a:lvl3pPr marL="914363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cs typeface="Poppins" pitchFamily="2" charset="77"/>
              </a:defRPr>
            </a:lvl3pPr>
            <a:lvl4pPr marL="1371545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cs typeface="Poppins" pitchFamily="2" charset="77"/>
              </a:defRPr>
            </a:lvl4pPr>
            <a:lvl5pPr marL="1828727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</a:t>
            </a:r>
            <a:r>
              <a:rPr lang="en-US"/>
              <a:t> men </a:t>
            </a:r>
            <a:r>
              <a:rPr lang="en-US" err="1"/>
              <a:t>ieb</a:t>
            </a:r>
            <a:r>
              <a:rPr lang="en-US"/>
              <a:t> 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</a:t>
            </a:r>
            <a:r>
              <a:rPr lang="en-US" err="1"/>
              <a:t>ut</a:t>
            </a:r>
            <a:r>
              <a:rPr lang="en-US"/>
              <a:t> pharetra exe. Pre fermentum,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pharetra ex. </a:t>
            </a:r>
            <a:r>
              <a:rPr lang="en-US" err="1"/>
              <a:t>Praes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fermen</a:t>
            </a:r>
            <a:r>
              <a:rPr lang="en-US"/>
              <a:t> tum.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55C95CD-9A79-BE49-A965-98A66C44A7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26133" y="1681163"/>
            <a:ext cx="5108575" cy="428986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2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cs typeface="Poppins" pitchFamily="2" charset="77"/>
              </a:defRPr>
            </a:lvl2pPr>
            <a:lvl3pPr marL="914363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cs typeface="Poppins" pitchFamily="2" charset="77"/>
              </a:defRPr>
            </a:lvl3pPr>
            <a:lvl4pPr marL="1371545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cs typeface="Poppins" pitchFamily="2" charset="77"/>
              </a:defRPr>
            </a:lvl4pPr>
            <a:lvl5pPr marL="1828727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</a:t>
            </a:r>
            <a:r>
              <a:rPr lang="en-US"/>
              <a:t> men </a:t>
            </a:r>
            <a:r>
              <a:rPr lang="en-US" err="1"/>
              <a:t>ieb</a:t>
            </a:r>
            <a:r>
              <a:rPr lang="en-US"/>
              <a:t> 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</a:t>
            </a:r>
            <a:r>
              <a:rPr lang="en-US" err="1"/>
              <a:t>ut</a:t>
            </a:r>
            <a:r>
              <a:rPr lang="en-US"/>
              <a:t> pharetra exe. Pre fermentum,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pharetra ex. </a:t>
            </a:r>
            <a:r>
              <a:rPr lang="en-US" err="1"/>
              <a:t>Praes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fermen</a:t>
            </a:r>
            <a:r>
              <a:rPr lang="en-US"/>
              <a:t> tum.</a:t>
            </a:r>
          </a:p>
        </p:txBody>
      </p:sp>
    </p:spTree>
    <p:extLst>
      <p:ext uri="{BB962C8B-B14F-4D97-AF65-F5344CB8AC3E}">
        <p14:creationId xmlns:p14="http://schemas.microsoft.com/office/powerpoint/2010/main" val="3751611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6C1EC331-590E-4679-816A-DCB458BBD7AB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777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sldNum="0"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5EF267-2AA5-3A48-8E97-C90167F5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768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F86DB-78DF-EB43-A6BE-40415A3A0052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768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BECCDC-4B48-D94D-9959-556D35789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3" y="435682"/>
            <a:ext cx="11128273" cy="739372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Amazon: Go-To-Market for Signage Stick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63E5E9-D7F2-DC4F-81EC-0769456DA7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3284" y="1383932"/>
            <a:ext cx="5415473" cy="5225658"/>
          </a:xfrm>
        </p:spPr>
        <p:txBody>
          <a:bodyPr vert="horz" lIns="76200" tIns="38100" rIns="76200" bIns="38100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en-US" sz="1600" b="1" dirty="0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Client Need</a:t>
            </a:r>
          </a:p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Amazon Device Solutions was launching a new digital signage stick and was in need of  a marketing partner to assist with go-to-market strategy and execution. </a:t>
            </a:r>
          </a:p>
          <a:p>
            <a:pPr>
              <a:spcBef>
                <a:spcPts val="0"/>
              </a:spcBef>
            </a:pPr>
            <a:endParaRPr lang="en-US" sz="1375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spcBef>
                <a:spcPts val="0"/>
              </a:spcBef>
            </a:pPr>
            <a:endParaRPr lang="en-US" sz="1375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spcBef>
                <a:spcPts val="0"/>
              </a:spcBef>
            </a:pPr>
            <a:endParaRPr lang="en-US" sz="1375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spcBef>
                <a:spcPts val="0"/>
              </a:spcBef>
            </a:pPr>
            <a:endParaRPr lang="en-US" sz="1375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spcBef>
                <a:spcPts val="0"/>
              </a:spcBef>
            </a:pPr>
            <a:endParaRPr lang="en-US" sz="1375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spcBef>
                <a:spcPts val="0"/>
              </a:spcBef>
            </a:pPr>
            <a:endParaRPr lang="en-US" sz="1375" dirty="0">
              <a:solidFill>
                <a:srgbClr val="00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E102C-CBD2-7F4D-B70A-141495E0A0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0394" y="1383932"/>
            <a:ext cx="5516928" cy="5225658"/>
          </a:xfrm>
        </p:spPr>
        <p:txBody>
          <a:bodyPr vert="horz" lIns="76200" tIns="38100" rIns="76200" bIns="38100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en-US" sz="1600" b="1" dirty="0">
                <a:solidFill>
                  <a:srgbClr val="008AD9"/>
                </a:solidFill>
                <a:latin typeface="Poppins"/>
                <a:cs typeface="Poppins"/>
              </a:rPr>
              <a:t>Support &amp; Results (initial 3-month time period)</a:t>
            </a:r>
          </a:p>
          <a:p>
            <a:pPr>
              <a:spcBef>
                <a:spcPts val="0"/>
              </a:spcBef>
            </a:pPr>
            <a:endParaRPr lang="en-US" sz="1600" dirty="0">
              <a:latin typeface="Poppins"/>
              <a:cs typeface="Poppins"/>
            </a:endParaRPr>
          </a:p>
          <a:p>
            <a:pPr>
              <a:spcBef>
                <a:spcPts val="0"/>
              </a:spcBef>
            </a:pPr>
            <a:r>
              <a:rPr lang="en-US" sz="1600" dirty="0">
                <a:latin typeface="Poppins"/>
                <a:cs typeface="Poppins"/>
              </a:rPr>
              <a:t>The </a:t>
            </a:r>
            <a:r>
              <a:rPr lang="en-US" sz="1600" dirty="0" err="1">
                <a:latin typeface="Poppins"/>
                <a:cs typeface="Poppins"/>
              </a:rPr>
              <a:t>Affirma</a:t>
            </a:r>
            <a:r>
              <a:rPr lang="en-US" sz="1600" dirty="0">
                <a:latin typeface="Poppins"/>
                <a:cs typeface="Poppins"/>
              </a:rPr>
              <a:t> team supported the following:</a:t>
            </a:r>
            <a:endParaRPr lang="en-US" dirty="0">
              <a:latin typeface="Poppins"/>
              <a:cs typeface="Poppins"/>
            </a:endParaRP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Design and visual identity support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Explainer video scripting 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SEO for product page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UX for product page desktop &amp; mobile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Demand Gen strategy  </a:t>
            </a:r>
          </a:p>
          <a:p>
            <a:pPr marL="74231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Poppins"/>
                <a:cs typeface="Poppins"/>
              </a:rPr>
              <a:t>9.6 million impressions in 1 paid ad channel!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Trade publication media &amp; sponsored content</a:t>
            </a:r>
          </a:p>
          <a:p>
            <a:pPr marL="74231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4 initial publications</a:t>
            </a:r>
          </a:p>
          <a:p>
            <a:pPr marL="74231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Over 100,000 impressions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Micro-influencer program and execution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00000"/>
              </a:lnSpc>
            </a:pPr>
            <a:endParaRPr lang="en-US" sz="1667" i="1" dirty="0">
              <a:solidFill>
                <a:schemeClr val="accent2"/>
              </a:solidFill>
            </a:endParaRPr>
          </a:p>
          <a:p>
            <a:pPr>
              <a:lnSpc>
                <a:spcPct val="120000"/>
              </a:lnSpc>
            </a:pPr>
            <a:endParaRPr lang="en-US" sz="1333" i="1" dirty="0">
              <a:solidFill>
                <a:schemeClr val="accent2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DE0673D-72E9-50FA-61E2-B8E75C726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778" y="3429000"/>
            <a:ext cx="4569163" cy="29430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111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>Amazon</Named_x0020_Account>
    <Industries xmlns="f0ee8362-fa7e-4bc9-ab88-7dcfb17cb19b">
      <Value>B2C</Value>
      <Value>B2B</Value>
    </Industries>
    <PlatTech xmlns="f0ee8362-fa7e-4bc9-ab88-7dcfb17cb19b" xsi:nil="true"/>
    <ProjectCompletionDate xmlns="f0ee8362-fa7e-4bc9-ab88-7dcfb17cb19b" xsi:nil="true"/>
    <BusinessUnit xmlns="f0ee8362-fa7e-4bc9-ab88-7dcfb17cb19b">
      <Value>Marketing Services</Value>
      <Value>Creative</Value>
    </BusinessUnit>
    <Solutions xmlns="f0ee8362-fa7e-4bc9-ab88-7dcfb17cb19b">
      <Value>Content</Value>
      <Value>SEO/ AEO</Value>
      <Value>PPC</Value>
      <Value>Design</Value>
    </Solutions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124A79F7-31BE-440C-A43A-C58E5603C53F}"/>
</file>

<file path=customXml/itemProps2.xml><?xml version="1.0" encoding="utf-8"?>
<ds:datastoreItem xmlns:ds="http://schemas.openxmlformats.org/officeDocument/2006/customXml" ds:itemID="{580C4272-FDE7-4D82-A3D8-41EA42ED7B99}"/>
</file>

<file path=customXml/itemProps3.xml><?xml version="1.0" encoding="utf-8"?>
<ds:datastoreItem xmlns:ds="http://schemas.openxmlformats.org/officeDocument/2006/customXml" ds:itemID="{CEFB1E5B-BE56-4881-8235-B9F48300AFCE}"/>
</file>

<file path=customXml/itemProps4.xml><?xml version="1.0" encoding="utf-8"?>
<ds:datastoreItem xmlns:ds="http://schemas.openxmlformats.org/officeDocument/2006/customXml" ds:itemID="{ABBFA6DC-3306-4830-B985-F9C1C9DABC45}"/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96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Custom Design</vt:lpstr>
      <vt:lpstr>Amazon: Go-To-Market for Signage Stick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Alyson Knox-Meade</dc:creator>
  <cp:lastModifiedBy>Alyson Knox-Meade</cp:lastModifiedBy>
  <cp:revision>6</cp:revision>
  <dcterms:created xsi:type="dcterms:W3CDTF">2025-01-23T21:47:59Z</dcterms:created>
  <dcterms:modified xsi:type="dcterms:W3CDTF">2025-01-23T22:44:40Z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