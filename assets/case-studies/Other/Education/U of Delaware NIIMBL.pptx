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14746974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4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7D827A-B435-46A9-A20A-32705F5D0F17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132CF2-3073-40FA-8034-D6BC566BD6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35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F91CD-E591-4EA1-2991-B7EA71422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C9A0C4-2C57-A95C-A9ED-1269F56A13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F8FC49-3CF9-87FF-CFAA-FD8924F26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8586D-0B55-512E-BFA4-8D79767EEC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3F6CF-073A-4B4F-A2B7-08B9C7DBCB9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913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0F966-7DB2-6F15-F64D-1D99456D9D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A47E3D-7A34-BA7B-A62B-6BAE6E93B1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A7362-BE3C-91F1-06D1-14ABF53FC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303D-99C0-423C-9CC3-985192178C05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9EDCA-6FCA-26DE-A969-6E46DCDD3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F98C6-3FC5-BE2C-8446-9F728DF35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5A45B-E82F-4872-992D-0F82F718B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029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E13D8-BDEA-779E-B0E8-24278758A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42876-50DB-9258-51FA-704940E50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562B3-48BE-E9F4-A237-569B0EC94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303D-99C0-423C-9CC3-985192178C05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E3DC8-9151-4B9F-2B55-8990685BE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E139C-50AD-C242-5F8E-D95BAA8AF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5A45B-E82F-4872-992D-0F82F718B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604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64DFB-0C3E-A801-0B96-FF010D0C9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103EB-552B-DE7A-F064-277E495FE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ADABE-304F-81BB-6D6F-E8AA63E0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303D-99C0-423C-9CC3-985192178C05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F8DD9-B1AF-C153-CE5A-B00389F0E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1A81E-C13A-DDF5-A32B-181BE9C8D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5A45B-E82F-4872-992D-0F82F718B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862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2D499-4C87-020C-DA15-16D7D6297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72A4D-CB00-53A3-5B1B-01798F093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D3A646-2C6F-AEEF-F26D-D001363CB5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8CDF7-B89D-4190-5272-2CAC75651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303D-99C0-423C-9CC3-985192178C05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8FCBE8-2931-352F-A6B3-DA6F18303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8E3298-7B84-9924-5C30-A0ABEF894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5A45B-E82F-4872-992D-0F82F718B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528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CA07A-8B84-0F3C-E762-44AA34C3F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1EA8D4-D9B0-BE93-F248-E867F84C8A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9D1371-FDBB-5E76-D0AC-135113B17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516818-B71F-D2CB-63A1-04537CBBB9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D1ADB3-63A2-235C-1387-8AC54D5A44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149B40-A840-8E35-77F3-4784C4AF9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303D-99C0-423C-9CC3-985192178C05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83CC3F-D27C-98AB-4B32-E9CEA5477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D593A-89C8-33B4-6793-641E3CE48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5A45B-E82F-4872-992D-0F82F718B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588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B1194-871B-C870-97D3-A4A42BA3C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F175ED-C6D6-9CF2-3EBA-3B6B21DD5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303D-99C0-423C-9CC3-985192178C05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E0EEB-2C5A-9DA7-549A-F2E216B66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98BE3E-B1C3-1ED8-CAFB-EAE7D9450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5A45B-E82F-4872-992D-0F82F718B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842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DB7F15-6BA2-DBB7-D5A1-907063CC7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303D-99C0-423C-9CC3-985192178C05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951B15-F9F6-162D-87E7-94409AC30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E1C3D-14AB-A0BE-B31E-BB4E77A49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5A45B-E82F-4872-992D-0F82F718B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276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DAA11-BCD0-B2F3-4159-9B4DF2064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A08A5-1B54-7DA8-D785-21A39AB74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039B3-05DC-7B74-5A7A-8765503444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6F12C8-E505-0BFB-AEB3-0D4DE48CB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303D-99C0-423C-9CC3-985192178C05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BB4C68-AD41-A6EA-5FDD-E04BD805B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73857B-B3C3-A361-4EB8-2461334C8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5A45B-E82F-4872-992D-0F82F718B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201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90848-C846-2F99-380B-09D00AC03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32FB7A-39A4-AFDF-7E70-A4AD7F0CD2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10A5CB-F851-2595-7907-665176904A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F32183-F5B9-800B-82FF-37B255304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303D-99C0-423C-9CC3-985192178C05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829D46-A7C6-71E6-9E80-D3F66C5A4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7839D9-A294-3D29-655E-154892F9F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5A45B-E82F-4872-992D-0F82F718B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501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F6011-D109-B0C9-9774-2151CB2A8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DA9115-71F2-964D-4151-2F10C1A36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808B8-FB0F-96A1-B3F2-9C2431E54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303D-99C0-423C-9CC3-985192178C05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BD52D-B341-1609-42CF-DAF1FEBD3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2C0C6-5DFB-8C78-0472-0F39399E5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5A45B-E82F-4872-992D-0F82F718B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358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B38357-56C9-5F78-EE00-FBDCE83BBA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08D987-1CFD-6D3C-D22F-5C7BAF525E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31F16-5812-D925-97D3-ACDBB6AC6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303D-99C0-423C-9CC3-985192178C05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51D6A-FF6B-28CC-8468-B1B069880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BC799-A42B-1211-E9CF-3A50DCBBB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5A45B-E82F-4872-992D-0F82F718B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6540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se Study Single Slide - Data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674382-8BA2-CD48-84D7-6B1CDE48F68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5998" y="1"/>
            <a:ext cx="6096002" cy="509320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BE22CA-CCD0-734A-932E-AF573C2B98B7}"/>
              </a:ext>
            </a:extLst>
          </p:cNvPr>
          <p:cNvSpPr/>
          <p:nvPr userDrawn="1"/>
        </p:nvSpPr>
        <p:spPr>
          <a:xfrm>
            <a:off x="6095998" y="5093208"/>
            <a:ext cx="6096002" cy="1764793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08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C770B-B4AF-E443-922A-88636639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1"/>
            <a:ext cx="2743200" cy="154809"/>
          </a:xfrm>
        </p:spPr>
        <p:txBody>
          <a:bodyPr/>
          <a:lstStyle>
            <a:lvl1pPr>
              <a:defRPr sz="700">
                <a:solidFill>
                  <a:schemeClr val="bg1"/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5" y="388389"/>
            <a:ext cx="5492714" cy="764390"/>
          </a:xfrm>
        </p:spPr>
        <p:txBody>
          <a:bodyPr anchor="ctr">
            <a:normAutofit/>
          </a:bodyPr>
          <a:lstStyle>
            <a:lvl1pPr algn="l">
              <a:defRPr sz="4000" b="1" i="0">
                <a:solidFill>
                  <a:srgbClr val="063A79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r>
              <a:rPr lang="en-US"/>
              <a:t>Company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2D898-C1E4-1C4E-B41C-23A7E59AE640}"/>
              </a:ext>
            </a:extLst>
          </p:cNvPr>
          <p:cNvSpPr/>
          <p:nvPr userDrawn="1"/>
        </p:nvSpPr>
        <p:spPr>
          <a:xfrm flipV="1">
            <a:off x="1" y="365239"/>
            <a:ext cx="38099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8"/>
              <a:t>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438C21C-6688-CD47-9B39-2BD825F59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9"/>
            <a:ext cx="767123" cy="264231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50E4BD5B-FA1C-CA42-B01F-D6A4F333E0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79967" y="5569457"/>
            <a:ext cx="1523417" cy="3832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33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457182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363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545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727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B3430-93CA-9540-9380-D85F161C95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250" y="1450136"/>
            <a:ext cx="5066030" cy="4795100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167" b="0" i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50000"/>
              </a:lnSpc>
              <a:defRPr sz="1167" b="0" i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50000"/>
              </a:lnSpc>
              <a:defRPr sz="1167" b="0" i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50000"/>
              </a:lnSpc>
              <a:defRPr sz="1167" b="0" i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50000"/>
              </a:lnSpc>
              <a:defRPr sz="1167" b="0" i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9650A9-D1FE-7F4E-A1C9-FF16CE20B16F}"/>
              </a:ext>
            </a:extLst>
          </p:cNvPr>
          <p:cNvSpPr txBox="1"/>
          <p:nvPr userDrawn="1"/>
        </p:nvSpPr>
        <p:spPr>
          <a:xfrm>
            <a:off x="6479967" y="5292459"/>
            <a:ext cx="1523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i="0" spc="30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RESULTS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DE51963F-09DC-8E4A-88D2-C536162B970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9966" y="5968238"/>
            <a:ext cx="1507897" cy="4719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457182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363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545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727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C8C32DBD-DA02-E348-877F-086CEC75A1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78598" y="5560831"/>
            <a:ext cx="1523417" cy="3832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33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457182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363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545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727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6EB1CA55-D925-444F-8DA0-8CEF05F20D8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78597" y="5959611"/>
            <a:ext cx="1507897" cy="4719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457182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363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545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727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9555A56F-2156-0C47-9C24-6E95A084A9D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77231" y="5553097"/>
            <a:ext cx="1523417" cy="3832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33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457182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363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545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727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0AC86934-578D-4547-91D4-0207518575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077230" y="5951878"/>
            <a:ext cx="1507897" cy="4719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457182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363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545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727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</a:t>
            </a:r>
          </a:p>
        </p:txBody>
      </p:sp>
    </p:spTree>
    <p:extLst>
      <p:ext uri="{BB962C8B-B14F-4D97-AF65-F5344CB8AC3E}">
        <p14:creationId xmlns:p14="http://schemas.microsoft.com/office/powerpoint/2010/main" val="961992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75938B-32FD-964F-D3EE-875CBCC5F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623EFA-416C-889A-1B7E-83C9E613A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49CA6-1CF9-26F5-4193-C586A1959B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D9303D-99C0-423C-9CC3-985192178C05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4A991-0F2C-92E3-8EA8-CA70C55526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A860C-9145-70B6-ED6A-E9CB9750C2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F5A45B-E82F-4872-992D-0F82F718B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646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iimbl.or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C0761-2BF0-0D8C-5876-839F2DE9A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D6C3A08-B324-4F1A-B1D6-DCE1DAFD49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"/>
            <a:ext cx="12211158" cy="68580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F49516-4150-7B40-556B-7801B371E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1"/>
            <a:ext cx="2743200" cy="154809"/>
          </a:xfrm>
        </p:spPr>
        <p:txBody>
          <a:bodyPr/>
          <a:lstStyle/>
          <a:p>
            <a:fld id="{056F86DB-78DF-EB43-A6BE-40415A3A005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8ECADFB-83A0-C4E2-2980-3118C69458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284" y="388389"/>
            <a:ext cx="6105490" cy="764390"/>
          </a:xfrm>
        </p:spPr>
        <p:txBody>
          <a:bodyPr>
            <a:normAutofit/>
          </a:bodyPr>
          <a:lstStyle/>
          <a:p>
            <a:r>
              <a:rPr lang="en-US"/>
              <a:t>U of Delaware NIIMBL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09D54F1-1A12-14C0-8739-F51217D1242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249" y="1539078"/>
            <a:ext cx="5896163" cy="5234318"/>
          </a:xfrm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lang="en-US" b="1">
                <a:solidFill>
                  <a:srgbClr val="008AD9"/>
                </a:solidFill>
                <a:latin typeface="Poppins SemiBold" pitchFamily="2" charset="77"/>
                <a:cs typeface="Poppins SemiBold" pitchFamily="2" charset="77"/>
              </a:rPr>
              <a:t>Business Need</a:t>
            </a:r>
          </a:p>
          <a:p>
            <a:pPr>
              <a:spcBef>
                <a:spcPts val="500"/>
              </a:spcBef>
            </a:pPr>
            <a:r>
              <a:rPr lang="en-US"/>
              <a:t>The National Institute for Innovation in Manufacturing Biopharmaceuticals (NIIMBL) is a public-private partnership focused on advancing biopharmaceutical manufacturing, solving industry challenges, and developing the skilled workforce of the future. </a:t>
            </a:r>
          </a:p>
          <a:p>
            <a:pPr>
              <a:spcBef>
                <a:spcPts val="500"/>
              </a:spcBef>
            </a:pPr>
            <a:r>
              <a:rPr lang="en-US"/>
              <a:t>They were in pursuit of a new site, which included a change in CMS platform and hosting provider; new design, and more to better tell their story.</a:t>
            </a:r>
          </a:p>
          <a:p>
            <a:pPr fontAlgn="base">
              <a:spcBef>
                <a:spcPts val="500"/>
              </a:spcBef>
            </a:pPr>
            <a:endParaRPr lang="en-US" b="1">
              <a:solidFill>
                <a:srgbClr val="008AD9"/>
              </a:solidFill>
              <a:latin typeface="Poppins SemiBold" pitchFamily="2" charset="77"/>
              <a:cs typeface="Poppins SemiBold" pitchFamily="2" charset="77"/>
            </a:endParaRPr>
          </a:p>
          <a:p>
            <a:pPr fontAlgn="base">
              <a:spcBef>
                <a:spcPts val="500"/>
              </a:spcBef>
            </a:pPr>
            <a:r>
              <a:rPr lang="en-US" b="1">
                <a:solidFill>
                  <a:srgbClr val="008AD9"/>
                </a:solidFill>
                <a:latin typeface="Poppins SemiBold" pitchFamily="2" charset="77"/>
                <a:cs typeface="Poppins SemiBold" pitchFamily="2" charset="77"/>
              </a:rPr>
              <a:t>Results</a:t>
            </a:r>
          </a:p>
          <a:p>
            <a:pPr marL="238106" indent="-238106" defTabSz="813907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prstClr val="black"/>
                </a:solidFill>
                <a:ea typeface="MS Mincho"/>
              </a:rPr>
              <a:t>WordPress CMS with Elementor &amp; WP Engine hosting</a:t>
            </a:r>
          </a:p>
          <a:p>
            <a:pPr marL="238106" indent="-238106" defTabSz="813907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prstClr val="black"/>
                </a:solidFill>
                <a:ea typeface="MS Mincho"/>
              </a:rPr>
              <a:t>Integrated and updated Salesforce member portal </a:t>
            </a:r>
          </a:p>
          <a:p>
            <a:pPr marL="238106" indent="-238106" defTabSz="813907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prstClr val="black"/>
                </a:solidFill>
                <a:ea typeface="MS Mincho"/>
              </a:rPr>
              <a:t>Content originating in Salesforce pushed to public-facing site</a:t>
            </a:r>
          </a:p>
          <a:p>
            <a:pPr marL="238106" indent="-238106" defTabSz="813907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prstClr val="black"/>
                </a:solidFill>
                <a:ea typeface="MS Mincho"/>
              </a:rPr>
              <a:t>A site that is scalable for the future</a:t>
            </a:r>
          </a:p>
          <a:p>
            <a:pPr marL="238106" indent="-238106" defTabSz="813907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prstClr val="black"/>
                </a:solidFill>
                <a:ea typeface="MS Mincho"/>
              </a:rPr>
              <a:t>Improved user experience</a:t>
            </a:r>
          </a:p>
          <a:p>
            <a:pPr marL="238106" indent="-238106" defTabSz="813907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prstClr val="black"/>
                </a:solidFill>
                <a:ea typeface="MS Mincho"/>
              </a:rPr>
              <a:t>New modern and updated design</a:t>
            </a:r>
          </a:p>
          <a:p>
            <a:pPr marL="238106" indent="-238106" defTabSz="813907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prstClr val="black"/>
                </a:solidFill>
                <a:ea typeface="MS Mincho"/>
              </a:rPr>
              <a:t>SEO best practices and strategy incorporated</a:t>
            </a:r>
          </a:p>
          <a:p>
            <a:pPr marL="238106" indent="-238106" defTabSz="813907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prstClr val="black"/>
                </a:solidFill>
                <a:ea typeface="MS Mincho"/>
              </a:rPr>
              <a:t>Improved performance and core web vitals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2D1F6A-1A5A-9C35-059D-48E0D2FBD173}"/>
              </a:ext>
            </a:extLst>
          </p:cNvPr>
          <p:cNvSpPr/>
          <p:nvPr/>
        </p:nvSpPr>
        <p:spPr>
          <a:xfrm flipV="1">
            <a:off x="1" y="365239"/>
            <a:ext cx="79744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8" b="1"/>
              <a:t> 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4BCDA94-DDE8-403B-3734-F153D570ECC0}"/>
              </a:ext>
            </a:extLst>
          </p:cNvPr>
          <p:cNvSpPr txBox="1"/>
          <p:nvPr/>
        </p:nvSpPr>
        <p:spPr>
          <a:xfrm>
            <a:off x="603249" y="1129629"/>
            <a:ext cx="6105525" cy="271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67" b="1">
                <a:latin typeface="Poppins SemiBold" pitchFamily="2" charset="77"/>
                <a:cs typeface="Poppins SemiBold" pitchFamily="2" charset="77"/>
                <a:hlinkClick r:id="rId3"/>
              </a:rPr>
              <a:t>niimbl.org</a:t>
            </a:r>
            <a:endParaRPr lang="en-US" sz="1167" b="1">
              <a:latin typeface="Poppins SemiBold" pitchFamily="2" charset="77"/>
              <a:cs typeface="Poppins SemiBold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0DBF09-1818-5719-1555-EABE29A8DC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" b="65697"/>
          <a:stretch/>
        </p:blipFill>
        <p:spPr>
          <a:xfrm>
            <a:off x="6741984" y="112203"/>
            <a:ext cx="5172110" cy="6593397"/>
          </a:xfrm>
          <a:prstGeom prst="rect">
            <a:avLst/>
          </a:prstGeom>
          <a:effectLst>
            <a:outerShdw blurRad="101600" dist="50800" dir="3600000" algn="tl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82154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 xsi:nil="true"/>
    <Named_x0020_Account xmlns="f0ee8362-fa7e-4bc9-ab88-7dcfb17cb19b" xsi:nil="true"/>
    <Industries xmlns="f0ee8362-fa7e-4bc9-ab88-7dcfb17cb19b">
      <Value>Education</Value>
      <Value>Healthcare</Value>
    </Industries>
    <PlatTech xmlns="f0ee8362-fa7e-4bc9-ab88-7dcfb17cb19b">
      <Value>WordPress</Value>
    </PlatTech>
    <BusinessUnit xmlns="f0ee8362-fa7e-4bc9-ab88-7dcfb17cb19b">
      <Value>Marketing Services</Value>
      <Value>Custom Development</Value>
      <Value>Creative</Value>
    </BusinessUnit>
    <Solutions xmlns="f0ee8362-fa7e-4bc9-ab88-7dcfb17cb19b">
      <Value>Websites</Value>
    </Solutions>
    <ProjectCompletionDate xmlns="f0ee8362-fa7e-4bc9-ab88-7dcfb17cb19b" xsi:nil="true"/>
    <ApprovedByClient xmlns="f0ee8362-fa7e-4bc9-ab88-7dcfb17cb19b">false</ApprovedByClient>
  </documentManagement>
</p:properties>
</file>

<file path=customXml/itemProps1.xml><?xml version="1.0" encoding="utf-8"?>
<ds:datastoreItem xmlns:ds="http://schemas.openxmlformats.org/officeDocument/2006/customXml" ds:itemID="{FFB16CE7-58D0-4191-BE0E-BFE0D3ED82F5}"/>
</file>

<file path=customXml/itemProps2.xml><?xml version="1.0" encoding="utf-8"?>
<ds:datastoreItem xmlns:ds="http://schemas.openxmlformats.org/officeDocument/2006/customXml" ds:itemID="{2F1E51B2-4194-474A-9905-C3EE7146E726}"/>
</file>

<file path=customXml/itemProps3.xml><?xml version="1.0" encoding="utf-8"?>
<ds:datastoreItem xmlns:ds="http://schemas.openxmlformats.org/officeDocument/2006/customXml" ds:itemID="{4A245C34-E79B-4F25-BE1B-654AEFF2D288}"/>
</file>

<file path=customXml/itemProps4.xml><?xml version="1.0" encoding="utf-8"?>
<ds:datastoreItem xmlns:ds="http://schemas.openxmlformats.org/officeDocument/2006/customXml" ds:itemID="{44D4A104-BE99-4B6A-A6CD-7B0EEB69D348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</Words>
  <Application>Microsoft Office PowerPoint</Application>
  <PresentationFormat>Widescreen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MS Mincho</vt:lpstr>
      <vt:lpstr>Aptos</vt:lpstr>
      <vt:lpstr>Aptos Display</vt:lpstr>
      <vt:lpstr>Arial</vt:lpstr>
      <vt:lpstr>Poppins</vt:lpstr>
      <vt:lpstr>Poppins SemiBold</vt:lpstr>
      <vt:lpstr>Segoe UI</vt:lpstr>
      <vt:lpstr>Office Theme</vt:lpstr>
      <vt:lpstr>U of Delaware NIIMBL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Brendan Murphy</dc:creator>
  <cp:lastModifiedBy>Brendan Murphy</cp:lastModifiedBy>
  <cp:revision>1</cp:revision>
  <dcterms:created xsi:type="dcterms:W3CDTF">2024-12-04T01:28:13Z</dcterms:created>
  <dcterms:modified xsi:type="dcterms:W3CDTF">2024-12-04T01:28:22Z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