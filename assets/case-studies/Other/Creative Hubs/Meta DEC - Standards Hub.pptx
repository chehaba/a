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8"/>
  </p:notesMasterIdLst>
  <p:sldIdLst>
    <p:sldId id="2134805502" r:id="rId6"/>
    <p:sldId id="2134805503"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35C078-CB36-B1FB-CD16-77BDFF7D44EC}" v="382" dt="2025-11-11T23:39:32.5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bleStyles" Target="tableStyle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theme" Target="theme/theme1.xml"/><Relationship Id="rId5" Type="http://schemas.openxmlformats.org/officeDocument/2006/relationships/slideMaster" Target="slideMasters/slideMaster1.xml"/><Relationship Id="rId10" Type="http://schemas.openxmlformats.org/officeDocument/2006/relationships/viewProps" Target="viewProps.xml"/><Relationship Id="rId4" Type="http://schemas.openxmlformats.org/officeDocument/2006/relationships/customXml" Target="../customXml/item4.xml"/><Relationship Id="rId9" Type="http://schemas.openxmlformats.org/officeDocument/2006/relationships/presProps" Target="presProps.xml"/><Relationship Id="rId14"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endan Murphy" userId="S::bmurphy@affirma.com::e9f923b6-6d89-4d4e-a3b7-d9304b9d44ba" providerId="AD" clId="Web-{A735C078-CB36-B1FB-CD16-77BDFF7D44EC}"/>
    <pc:docChg chg="addSld modSld">
      <pc:chgData name="Brendan Murphy" userId="S::bmurphy@affirma.com::e9f923b6-6d89-4d4e-a3b7-d9304b9d44ba" providerId="AD" clId="Web-{A735C078-CB36-B1FB-CD16-77BDFF7D44EC}" dt="2025-11-11T23:39:32.342" v="388" actId="20577"/>
      <pc:docMkLst>
        <pc:docMk/>
      </pc:docMkLst>
      <pc:sldChg chg="modSp add replId">
        <pc:chgData name="Brendan Murphy" userId="S::bmurphy@affirma.com::e9f923b6-6d89-4d4e-a3b7-d9304b9d44ba" providerId="AD" clId="Web-{A735C078-CB36-B1FB-CD16-77BDFF7D44EC}" dt="2025-11-11T23:39:32.342" v="388" actId="20577"/>
        <pc:sldMkLst>
          <pc:docMk/>
          <pc:sldMk cId="1726862254" sldId="2134805503"/>
        </pc:sldMkLst>
        <pc:spChg chg="mod">
          <ac:chgData name="Brendan Murphy" userId="S::bmurphy@affirma.com::e9f923b6-6d89-4d4e-a3b7-d9304b9d44ba" providerId="AD" clId="Web-{A735C078-CB36-B1FB-CD16-77BDFF7D44EC}" dt="2025-11-11T23:36:01.871" v="46" actId="20577"/>
          <ac:spMkLst>
            <pc:docMk/>
            <pc:sldMk cId="1726862254" sldId="2134805503"/>
            <ac:spMk id="2" creationId="{AC974FEF-B1AF-90F4-A226-62A5CD94439A}"/>
          </ac:spMkLst>
        </pc:spChg>
        <pc:spChg chg="mod">
          <ac:chgData name="Brendan Murphy" userId="S::bmurphy@affirma.com::e9f923b6-6d89-4d4e-a3b7-d9304b9d44ba" providerId="AD" clId="Web-{A735C078-CB36-B1FB-CD16-77BDFF7D44EC}" dt="2025-11-11T23:39:32.342" v="388" actId="20577"/>
          <ac:spMkLst>
            <pc:docMk/>
            <pc:sldMk cId="1726862254" sldId="2134805503"/>
            <ac:spMk id="7" creationId="{13AB3A79-D19F-71F2-64CE-5FC4084C0325}"/>
          </ac:spMkLst>
        </pc:spChg>
        <pc:spChg chg="mod">
          <ac:chgData name="Brendan Murphy" userId="S::bmurphy@affirma.com::e9f923b6-6d89-4d4e-a3b7-d9304b9d44ba" providerId="AD" clId="Web-{A735C078-CB36-B1FB-CD16-77BDFF7D44EC}" dt="2025-11-11T23:35:46.527" v="33" actId="20577"/>
          <ac:spMkLst>
            <pc:docMk/>
            <pc:sldMk cId="1726862254" sldId="2134805503"/>
            <ac:spMk id="8" creationId="{B712E5F7-10BB-094B-4BDA-E1167B801EB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BBAB86-82B7-41A7-956E-B3F9FBC7FFB8}" type="datetimeFigureOut">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06D583-D776-4B2F-9319-6855730A8B34}" type="slidenum">
              <a:t>‹#›</a:t>
            </a:fld>
            <a:endParaRPr lang="en-US"/>
          </a:p>
        </p:txBody>
      </p:sp>
    </p:spTree>
    <p:extLst>
      <p:ext uri="{BB962C8B-B14F-4D97-AF65-F5344CB8AC3E}">
        <p14:creationId xmlns:p14="http://schemas.microsoft.com/office/powerpoint/2010/main" val="4136115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3419A0A-023C-45E2-9C35-4EC79BC90195}" type="slidenum">
              <a:rPr lang="en-US" smtClean="0"/>
              <a:t>1</a:t>
            </a:fld>
            <a:endParaRPr lang="en-US"/>
          </a:p>
        </p:txBody>
      </p:sp>
    </p:spTree>
    <p:extLst>
      <p:ext uri="{BB962C8B-B14F-4D97-AF65-F5344CB8AC3E}">
        <p14:creationId xmlns:p14="http://schemas.microsoft.com/office/powerpoint/2010/main" val="12204312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FA2DE4-6D85-3449-7005-2DB8729A11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9D8C4C-F857-DBC9-9F37-1FFF9F851D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3F80BF-CF0E-E5BA-EB6F-496E41C153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B2D7CD-760E-C0BC-06E7-97CEA6958C8A}"/>
              </a:ext>
            </a:extLst>
          </p:cNvPr>
          <p:cNvSpPr>
            <a:spLocks noGrp="1"/>
          </p:cNvSpPr>
          <p:nvPr>
            <p:ph type="sldNum" sz="quarter" idx="5"/>
          </p:nvPr>
        </p:nvSpPr>
        <p:spPr/>
        <p:txBody>
          <a:bodyPr/>
          <a:lstStyle/>
          <a:p>
            <a:fld id="{C3419A0A-023C-45E2-9C35-4EC79BC90195}" type="slidenum">
              <a:rPr lang="en-US" smtClean="0"/>
              <a:t>2</a:t>
            </a:fld>
            <a:endParaRPr lang="en-US"/>
          </a:p>
        </p:txBody>
      </p:sp>
    </p:spTree>
    <p:extLst>
      <p:ext uri="{BB962C8B-B14F-4D97-AF65-F5344CB8AC3E}">
        <p14:creationId xmlns:p14="http://schemas.microsoft.com/office/powerpoint/2010/main" val="334985705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11/11/2025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11/11/2025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11/11/2025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11/11/2025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11/11/2025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ase Study Single Slide - Data Result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C3B68B-1A94-041F-A33A-D3504675CEFE}"/>
              </a:ext>
            </a:extLst>
          </p:cNvPr>
          <p:cNvSpPr/>
          <p:nvPr userDrawn="1"/>
        </p:nvSpPr>
        <p:spPr>
          <a:xfrm>
            <a:off x="6095998" y="5093207"/>
            <a:ext cx="6096002" cy="1764793"/>
          </a:xfrm>
          <a:prstGeom prst="rect">
            <a:avLst/>
          </a:prstGeom>
          <a:solidFill>
            <a:srgbClr val="008A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Picture Placeholder 2">
            <a:extLst>
              <a:ext uri="{FF2B5EF4-FFF2-40B4-BE49-F238E27FC236}">
                <a16:creationId xmlns:a16="http://schemas.microsoft.com/office/drawing/2014/main" id="{63674382-8BA2-CD48-84D7-6B1CDE48F684}"/>
              </a:ext>
            </a:extLst>
          </p:cNvPr>
          <p:cNvSpPr>
            <a:spLocks noGrp="1"/>
          </p:cNvSpPr>
          <p:nvPr>
            <p:ph type="pic" sz="quarter" idx="17"/>
          </p:nvPr>
        </p:nvSpPr>
        <p:spPr>
          <a:xfrm>
            <a:off x="6095998" y="0"/>
            <a:ext cx="6096002" cy="5093207"/>
          </a:xfrm>
        </p:spPr>
        <p:txBody>
          <a:bodyPr/>
          <a:lstStyle/>
          <a:p>
            <a:endParaRPr lang="en-US"/>
          </a:p>
        </p:txBody>
      </p:sp>
      <p:sp>
        <p:nvSpPr>
          <p:cNvPr id="8" name="Slide Number Placeholder 5">
            <a:extLst>
              <a:ext uri="{FF2B5EF4-FFF2-40B4-BE49-F238E27FC236}">
                <a16:creationId xmlns:a16="http://schemas.microsoft.com/office/drawing/2014/main" id="{6C0C770B-B4AF-E443-922A-886366399C36}"/>
              </a:ext>
            </a:extLst>
          </p:cNvPr>
          <p:cNvSpPr>
            <a:spLocks noGrp="1"/>
          </p:cNvSpPr>
          <p:nvPr>
            <p:ph type="sldNum" sz="quarter" idx="12"/>
          </p:nvPr>
        </p:nvSpPr>
        <p:spPr>
          <a:xfrm>
            <a:off x="8845516" y="6454780"/>
            <a:ext cx="2743200" cy="154809"/>
          </a:xfrm>
        </p:spPr>
        <p:txBody>
          <a:bodyPr/>
          <a:lstStyle>
            <a:lvl1pPr>
              <a:defRPr sz="700">
                <a:solidFill>
                  <a:schemeClr val="bg1"/>
                </a:solidFill>
              </a:defRPr>
            </a:lvl1pPr>
          </a:lstStyle>
          <a:p>
            <a:fld id="{056F86DB-78DF-EB43-A6BE-40415A3A0052}" type="slidenum">
              <a:rPr lang="en-US" smtClean="0"/>
              <a:pPr/>
              <a:t>‹#›</a:t>
            </a:fld>
            <a:endParaRPr lang="en-US"/>
          </a:p>
        </p:txBody>
      </p:sp>
      <p:sp>
        <p:nvSpPr>
          <p:cNvPr id="9" name="Title 1">
            <a:extLst>
              <a:ext uri="{FF2B5EF4-FFF2-40B4-BE49-F238E27FC236}">
                <a16:creationId xmlns:a16="http://schemas.microsoft.com/office/drawing/2014/main" id="{0E93CEEC-4F06-5349-BB63-F02B2B211B29}"/>
              </a:ext>
            </a:extLst>
          </p:cNvPr>
          <p:cNvSpPr>
            <a:spLocks noGrp="1"/>
          </p:cNvSpPr>
          <p:nvPr>
            <p:ph type="ctrTitle" hasCustomPrompt="1"/>
          </p:nvPr>
        </p:nvSpPr>
        <p:spPr>
          <a:xfrm>
            <a:off x="603284" y="388389"/>
            <a:ext cx="5065999" cy="764390"/>
          </a:xfrm>
        </p:spPr>
        <p:txBody>
          <a:bodyPr anchor="b">
            <a:normAutofit/>
          </a:bodyPr>
          <a:lstStyle>
            <a:lvl1pPr algn="l">
              <a:defRPr sz="4000" b="0" i="0">
                <a:solidFill>
                  <a:srgbClr val="008AD9"/>
                </a:solidFill>
                <a:latin typeface="Arial" panose="020B0604020202020204" pitchFamily="34" charset="0"/>
                <a:cs typeface="Arial" panose="020B0604020202020204" pitchFamily="34" charset="0"/>
              </a:defRPr>
            </a:lvl1pPr>
          </a:lstStyle>
          <a:p>
            <a:r>
              <a:rPr lang="en-US"/>
              <a:t>Company Name</a:t>
            </a:r>
          </a:p>
        </p:txBody>
      </p:sp>
      <p:sp>
        <p:nvSpPr>
          <p:cNvPr id="10" name="Rectangle 9">
            <a:extLst>
              <a:ext uri="{FF2B5EF4-FFF2-40B4-BE49-F238E27FC236}">
                <a16:creationId xmlns:a16="http://schemas.microsoft.com/office/drawing/2014/main" id="{7CD2D898-C1E4-1C4E-B41C-23A7E59AE640}"/>
              </a:ext>
            </a:extLst>
          </p:cNvPr>
          <p:cNvSpPr/>
          <p:nvPr userDrawn="1"/>
        </p:nvSpPr>
        <p:spPr>
          <a:xfrm flipV="1">
            <a:off x="0" y="365239"/>
            <a:ext cx="243068" cy="764390"/>
          </a:xfrm>
          <a:prstGeom prst="rect">
            <a:avLst/>
          </a:prstGeom>
          <a:solidFill>
            <a:srgbClr val="FF8E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t>  </a:t>
            </a:r>
          </a:p>
        </p:txBody>
      </p:sp>
      <p:pic>
        <p:nvPicPr>
          <p:cNvPr id="23" name="Picture 22">
            <a:extLst>
              <a:ext uri="{FF2B5EF4-FFF2-40B4-BE49-F238E27FC236}">
                <a16:creationId xmlns:a16="http://schemas.microsoft.com/office/drawing/2014/main" id="{0438C21C-6688-CD47-9B39-2BD825F592A9}"/>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603284" y="6440198"/>
            <a:ext cx="767123" cy="264231"/>
          </a:xfrm>
          <a:prstGeom prst="rect">
            <a:avLst/>
          </a:prstGeom>
        </p:spPr>
      </p:pic>
      <p:sp>
        <p:nvSpPr>
          <p:cNvPr id="20" name="Text Placeholder 5">
            <a:extLst>
              <a:ext uri="{FF2B5EF4-FFF2-40B4-BE49-F238E27FC236}">
                <a16:creationId xmlns:a16="http://schemas.microsoft.com/office/drawing/2014/main" id="{50E4BD5B-FA1C-CA42-B01F-D6A4F333E0FE}"/>
              </a:ext>
            </a:extLst>
          </p:cNvPr>
          <p:cNvSpPr>
            <a:spLocks noGrp="1"/>
          </p:cNvSpPr>
          <p:nvPr>
            <p:ph type="body" sz="quarter" idx="18" hasCustomPrompt="1"/>
          </p:nvPr>
        </p:nvSpPr>
        <p:spPr>
          <a:xfrm>
            <a:off x="6479966" y="556945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4" name="Text Placeholder 3">
            <a:extLst>
              <a:ext uri="{FF2B5EF4-FFF2-40B4-BE49-F238E27FC236}">
                <a16:creationId xmlns:a16="http://schemas.microsoft.com/office/drawing/2014/main" id="{E5DB3430-93CA-9540-9380-D85F161C9580}"/>
              </a:ext>
            </a:extLst>
          </p:cNvPr>
          <p:cNvSpPr>
            <a:spLocks noGrp="1"/>
          </p:cNvSpPr>
          <p:nvPr>
            <p:ph type="body" sz="quarter" idx="20"/>
          </p:nvPr>
        </p:nvSpPr>
        <p:spPr>
          <a:xfrm>
            <a:off x="603250" y="1450136"/>
            <a:ext cx="5066030" cy="4795100"/>
          </a:xfrm>
        </p:spPr>
        <p:txBody>
          <a:bodyPr/>
          <a:lstStyle>
            <a:lvl1pPr marL="0" indent="0">
              <a:lnSpc>
                <a:spcPct val="150000"/>
              </a:lnSpc>
              <a:buNone/>
              <a:defRPr sz="1600">
                <a:solidFill>
                  <a:schemeClr val="tx1">
                    <a:lumMod val="75000"/>
                    <a:lumOff val="25000"/>
                  </a:schemeClr>
                </a:solidFill>
              </a:defRPr>
            </a:lvl1pPr>
            <a:lvl2pPr>
              <a:lnSpc>
                <a:spcPct val="150000"/>
              </a:lnSpc>
              <a:defRPr sz="1400">
                <a:solidFill>
                  <a:schemeClr val="tx1">
                    <a:lumMod val="75000"/>
                    <a:lumOff val="25000"/>
                  </a:schemeClr>
                </a:solidFill>
              </a:defRPr>
            </a:lvl2pPr>
            <a:lvl3pPr>
              <a:lnSpc>
                <a:spcPct val="150000"/>
              </a:lnSpc>
              <a:defRPr sz="1400">
                <a:solidFill>
                  <a:schemeClr val="tx1">
                    <a:lumMod val="75000"/>
                    <a:lumOff val="25000"/>
                  </a:schemeClr>
                </a:solidFill>
              </a:defRPr>
            </a:lvl3pPr>
            <a:lvl4pPr>
              <a:lnSpc>
                <a:spcPct val="150000"/>
              </a:lnSpc>
              <a:defRPr sz="1400">
                <a:solidFill>
                  <a:schemeClr val="tx1">
                    <a:lumMod val="75000"/>
                    <a:lumOff val="25000"/>
                  </a:schemeClr>
                </a:solidFill>
              </a:defRPr>
            </a:lvl4pPr>
            <a:lvl5pPr>
              <a:lnSpc>
                <a:spcPct val="150000"/>
              </a:lnSpc>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5">
            <a:extLst>
              <a:ext uri="{FF2B5EF4-FFF2-40B4-BE49-F238E27FC236}">
                <a16:creationId xmlns:a16="http://schemas.microsoft.com/office/drawing/2014/main" id="{DE51963F-09DC-8E4A-88D2-C536162B970E}"/>
              </a:ext>
            </a:extLst>
          </p:cNvPr>
          <p:cNvSpPr>
            <a:spLocks noGrp="1"/>
          </p:cNvSpPr>
          <p:nvPr>
            <p:ph type="body" sz="quarter" idx="21" hasCustomPrompt="1"/>
          </p:nvPr>
        </p:nvSpPr>
        <p:spPr>
          <a:xfrm>
            <a:off x="6479965" y="596823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28" name="Text Placeholder 5">
            <a:extLst>
              <a:ext uri="{FF2B5EF4-FFF2-40B4-BE49-F238E27FC236}">
                <a16:creationId xmlns:a16="http://schemas.microsoft.com/office/drawing/2014/main" id="{C8C32DBD-DA02-E348-877F-086CEC75A197}"/>
              </a:ext>
            </a:extLst>
          </p:cNvPr>
          <p:cNvSpPr>
            <a:spLocks noGrp="1"/>
          </p:cNvSpPr>
          <p:nvPr>
            <p:ph type="body" sz="quarter" idx="22" hasCustomPrompt="1"/>
          </p:nvPr>
        </p:nvSpPr>
        <p:spPr>
          <a:xfrm>
            <a:off x="8278598" y="5560830"/>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29" name="Text Placeholder 5">
            <a:extLst>
              <a:ext uri="{FF2B5EF4-FFF2-40B4-BE49-F238E27FC236}">
                <a16:creationId xmlns:a16="http://schemas.microsoft.com/office/drawing/2014/main" id="{6EB1CA55-D925-444F-8DA0-8CEF05F20D86}"/>
              </a:ext>
            </a:extLst>
          </p:cNvPr>
          <p:cNvSpPr>
            <a:spLocks noGrp="1"/>
          </p:cNvSpPr>
          <p:nvPr>
            <p:ph type="body" sz="quarter" idx="23" hasCustomPrompt="1"/>
          </p:nvPr>
        </p:nvSpPr>
        <p:spPr>
          <a:xfrm>
            <a:off x="8278597" y="5959610"/>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
        <p:nvSpPr>
          <p:cNvPr id="30" name="Text Placeholder 5">
            <a:extLst>
              <a:ext uri="{FF2B5EF4-FFF2-40B4-BE49-F238E27FC236}">
                <a16:creationId xmlns:a16="http://schemas.microsoft.com/office/drawing/2014/main" id="{9555A56F-2156-0C47-9C24-6E95A084A9D2}"/>
              </a:ext>
            </a:extLst>
          </p:cNvPr>
          <p:cNvSpPr>
            <a:spLocks noGrp="1"/>
          </p:cNvSpPr>
          <p:nvPr>
            <p:ph type="body" sz="quarter" idx="24" hasCustomPrompt="1"/>
          </p:nvPr>
        </p:nvSpPr>
        <p:spPr>
          <a:xfrm>
            <a:off x="10077230" y="5553097"/>
            <a:ext cx="1523417" cy="383287"/>
          </a:xfrm>
        </p:spPr>
        <p:txBody>
          <a:bodyPr>
            <a:noAutofit/>
          </a:bodyPr>
          <a:lstStyle>
            <a:lvl1pPr marL="0" indent="0">
              <a:lnSpc>
                <a:spcPct val="100000"/>
              </a:lnSpc>
              <a:spcBef>
                <a:spcPts val="0"/>
              </a:spcBef>
              <a:buNone/>
              <a:defRPr sz="2400" b="1"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00</a:t>
            </a:r>
          </a:p>
        </p:txBody>
      </p:sp>
      <p:sp>
        <p:nvSpPr>
          <p:cNvPr id="31" name="Text Placeholder 5">
            <a:extLst>
              <a:ext uri="{FF2B5EF4-FFF2-40B4-BE49-F238E27FC236}">
                <a16:creationId xmlns:a16="http://schemas.microsoft.com/office/drawing/2014/main" id="{0AC86934-578D-4547-91D4-0207518575BA}"/>
              </a:ext>
            </a:extLst>
          </p:cNvPr>
          <p:cNvSpPr>
            <a:spLocks noGrp="1"/>
          </p:cNvSpPr>
          <p:nvPr>
            <p:ph type="body" sz="quarter" idx="25" hasCustomPrompt="1"/>
          </p:nvPr>
        </p:nvSpPr>
        <p:spPr>
          <a:xfrm>
            <a:off x="10077229" y="5951877"/>
            <a:ext cx="1507897" cy="471961"/>
          </a:xfrm>
        </p:spPr>
        <p:txBody>
          <a:bodyPr>
            <a:noAutofit/>
          </a:bodyPr>
          <a:lstStyle>
            <a:lvl1pPr marL="0" indent="0">
              <a:lnSpc>
                <a:spcPct val="100000"/>
              </a:lnSpc>
              <a:spcBef>
                <a:spcPts val="0"/>
              </a:spcBef>
              <a:buNone/>
              <a:defRPr sz="1200" b="0" i="0">
                <a:solidFill>
                  <a:schemeClr val="bg1"/>
                </a:solidFill>
                <a:latin typeface="Arial" panose="020B0604020202020204" pitchFamily="34" charset="0"/>
                <a:cs typeface="Arial" panose="020B0604020202020204" pitchFamily="34" charset="0"/>
              </a:defRPr>
            </a:lvl1pPr>
            <a:lvl2pPr marL="457200" indent="0">
              <a:buNone/>
              <a:defRPr sz="1400" b="0" i="0">
                <a:latin typeface="Poppins" pitchFamily="2" charset="77"/>
                <a:cs typeface="Poppins" pitchFamily="2" charset="77"/>
              </a:defRPr>
            </a:lvl2pPr>
            <a:lvl3pPr marL="914400" indent="0">
              <a:buNone/>
              <a:defRPr sz="1400" b="0" i="0">
                <a:latin typeface="Poppins" pitchFamily="2" charset="77"/>
                <a:cs typeface="Poppins" pitchFamily="2" charset="77"/>
              </a:defRPr>
            </a:lvl3pPr>
            <a:lvl4pPr marL="1371600" indent="0">
              <a:buNone/>
              <a:defRPr sz="1400" b="0" i="0">
                <a:latin typeface="Poppins" pitchFamily="2" charset="77"/>
                <a:cs typeface="Poppins" pitchFamily="2" charset="77"/>
              </a:defRPr>
            </a:lvl4pPr>
            <a:lvl5pPr marL="1828800" indent="0">
              <a:buNone/>
              <a:defRPr sz="1400" b="0" i="0">
                <a:latin typeface="Poppins" pitchFamily="2" charset="77"/>
                <a:cs typeface="Poppins" pitchFamily="2" charset="77"/>
              </a:defRPr>
            </a:lvl5pPr>
          </a:lstStyle>
          <a:p>
            <a:pPr lvl="0"/>
            <a:r>
              <a:rPr lang="en-US"/>
              <a:t>Lorem Ipsum Dolor</a:t>
            </a:r>
          </a:p>
        </p:txBody>
      </p:sp>
    </p:spTree>
    <p:extLst>
      <p:ext uri="{BB962C8B-B14F-4D97-AF65-F5344CB8AC3E}">
        <p14:creationId xmlns:p14="http://schemas.microsoft.com/office/powerpoint/2010/main" val="2552439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11/11/2025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72EB86-2163-C855-86D7-016C89498D88}"/>
              </a:ext>
            </a:extLst>
          </p:cNvPr>
          <p:cNvSpPr>
            <a:spLocks noGrp="1"/>
          </p:cNvSpPr>
          <p:nvPr>
            <p:ph type="ctrTitle"/>
          </p:nvPr>
        </p:nvSpPr>
        <p:spPr/>
        <p:txBody>
          <a:bodyPr anchor="t">
            <a:normAutofit/>
          </a:bodyPr>
          <a:lstStyle/>
          <a:p>
            <a:r>
              <a:rPr lang="en-US" sz="4400" b="1" dirty="0">
                <a:solidFill>
                  <a:srgbClr val="063A79"/>
                </a:solidFill>
                <a:latin typeface="Poppins SemiBold"/>
                <a:cs typeface="Poppins SemiBold"/>
              </a:rPr>
              <a:t>Standards Hub</a:t>
            </a:r>
          </a:p>
        </p:txBody>
      </p:sp>
      <p:sp>
        <p:nvSpPr>
          <p:cNvPr id="6" name="Text Placeholder 5">
            <a:extLst>
              <a:ext uri="{FF2B5EF4-FFF2-40B4-BE49-F238E27FC236}">
                <a16:creationId xmlns:a16="http://schemas.microsoft.com/office/drawing/2014/main" id="{B3A3E5D5-FE5B-FBAC-14BF-3DA49A05D40A}"/>
              </a:ext>
            </a:extLst>
          </p:cNvPr>
          <p:cNvSpPr>
            <a:spLocks noGrp="1"/>
          </p:cNvSpPr>
          <p:nvPr>
            <p:ph type="body" sz="quarter" idx="21"/>
          </p:nvPr>
        </p:nvSpPr>
        <p:spPr>
          <a:xfrm>
            <a:off x="6240222" y="5867206"/>
            <a:ext cx="2618307" cy="887101"/>
          </a:xfrm>
        </p:spPr>
        <p:txBody>
          <a:bodyPr vert="horz" lIns="91440" tIns="45720" rIns="91440" bIns="45720" rtlCol="0" anchor="t">
            <a:noAutofit/>
          </a:bodyPr>
          <a:lstStyle/>
          <a:p>
            <a:pPr marL="171450" indent="-171450">
              <a:buChar char="•"/>
            </a:pPr>
            <a:r>
              <a:rPr lang="en-US" dirty="0">
                <a:latin typeface="Poppins"/>
                <a:cs typeface="Poppins"/>
              </a:rPr>
              <a:t>Intern</a:t>
            </a:r>
          </a:p>
          <a:p>
            <a:pPr marL="171450" indent="-171450">
              <a:buFont typeface="Arial" panose="020B0604020202020204" pitchFamily="34" charset="0"/>
              <a:buChar char="•"/>
            </a:pPr>
            <a:r>
              <a:rPr lang="en-US" dirty="0">
                <a:latin typeface="Poppins"/>
                <a:cs typeface="Poppins"/>
              </a:rPr>
              <a:t>Enterprise Center</a:t>
            </a:r>
            <a:endParaRPr lang="en-US"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dirty="0">
                <a:latin typeface="Poppins"/>
                <a:cs typeface="Poppins"/>
              </a:rPr>
              <a:t>Email Reminders</a:t>
            </a:r>
            <a:endParaRPr lang="en-US"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endParaRPr lang="en-US" dirty="0">
              <a:latin typeface="Poppins" panose="00000500000000000000" pitchFamily="2" charset="0"/>
              <a:cs typeface="Poppins" panose="00000500000000000000" pitchFamily="2" charset="0"/>
            </a:endParaRPr>
          </a:p>
        </p:txBody>
      </p:sp>
      <p:sp>
        <p:nvSpPr>
          <p:cNvPr id="8" name="Text Placeholder 7">
            <a:extLst>
              <a:ext uri="{FF2B5EF4-FFF2-40B4-BE49-F238E27FC236}">
                <a16:creationId xmlns:a16="http://schemas.microsoft.com/office/drawing/2014/main" id="{F1BBDC10-0883-DE97-6026-E0816B2536E8}"/>
              </a:ext>
            </a:extLst>
          </p:cNvPr>
          <p:cNvSpPr>
            <a:spLocks noGrp="1"/>
          </p:cNvSpPr>
          <p:nvPr>
            <p:ph type="body" sz="quarter" idx="23"/>
          </p:nvPr>
        </p:nvSpPr>
        <p:spPr>
          <a:xfrm>
            <a:off x="8929897" y="5867207"/>
            <a:ext cx="3055434" cy="886968"/>
          </a:xfrm>
        </p:spPr>
        <p:txBody>
          <a:bodyPr vert="horz" lIns="91440" tIns="45720" rIns="91440" bIns="45720" rtlCol="0" anchor="t">
            <a:noAutofit/>
          </a:bodyPr>
          <a:lstStyle/>
          <a:p>
            <a:pPr marL="171450" indent="-171450">
              <a:buFont typeface="Arial" panose="020B0604020202020204" pitchFamily="34" charset="0"/>
              <a:buChar char="•"/>
            </a:pPr>
            <a:r>
              <a:rPr lang="en-US">
                <a:latin typeface="Poppins"/>
                <a:cs typeface="Poppins"/>
              </a:rPr>
              <a:t>React &amp; Ent Development</a:t>
            </a:r>
            <a:endParaRPr lang="en-US"/>
          </a:p>
          <a:p>
            <a:pPr marL="171450" indent="-171450">
              <a:buFont typeface="Arial" panose="020B0604020202020204" pitchFamily="34" charset="0"/>
              <a:buChar char="•"/>
            </a:pPr>
            <a:r>
              <a:rPr lang="en-US">
                <a:latin typeface="Poppins"/>
                <a:cs typeface="Poppins"/>
              </a:rPr>
              <a:t>User Experience &amp; Usability Design</a:t>
            </a:r>
          </a:p>
          <a:p>
            <a:pPr marL="171450" indent="-171450">
              <a:buFont typeface="Arial" panose="020B0604020202020204" pitchFamily="34" charset="0"/>
              <a:buChar char="•"/>
            </a:pPr>
            <a:r>
              <a:rPr lang="en-US">
                <a:latin typeface="Poppins"/>
                <a:cs typeface="Poppins"/>
              </a:rPr>
              <a:t>Change Management</a:t>
            </a:r>
          </a:p>
          <a:p>
            <a:pPr marL="171450" indent="-171450">
              <a:buFont typeface="Arial" panose="020B0604020202020204" pitchFamily="34" charset="0"/>
              <a:buChar char="•"/>
            </a:pPr>
            <a:endParaRPr lang="en-US">
              <a:latin typeface="Poppins" panose="00000500000000000000" pitchFamily="2" charset="0"/>
              <a:cs typeface="Poppins" panose="00000500000000000000" pitchFamily="2" charset="0"/>
            </a:endParaRPr>
          </a:p>
        </p:txBody>
      </p:sp>
      <p:sp>
        <p:nvSpPr>
          <p:cNvPr id="17" name="TextBox 16">
            <a:extLst>
              <a:ext uri="{FF2B5EF4-FFF2-40B4-BE49-F238E27FC236}">
                <a16:creationId xmlns:a16="http://schemas.microsoft.com/office/drawing/2014/main" id="{3AC2D99F-7342-C529-F4CA-37E7EFA50CF4}"/>
              </a:ext>
            </a:extLst>
          </p:cNvPr>
          <p:cNvSpPr txBox="1"/>
          <p:nvPr/>
        </p:nvSpPr>
        <p:spPr>
          <a:xfrm>
            <a:off x="6240222" y="5517816"/>
            <a:ext cx="5541875" cy="276999"/>
          </a:xfrm>
          <a:prstGeom prst="rect">
            <a:avLst/>
          </a:prstGeom>
          <a:noFill/>
        </p:spPr>
        <p:txBody>
          <a:bodyPr wrap="square" rtlCol="0">
            <a:spAutoFit/>
          </a:bodyPr>
          <a:lstStyle/>
          <a:p>
            <a:pPr algn="l"/>
            <a:r>
              <a:rPr lang="en-US" sz="1200" b="1" i="0" spc="300">
                <a:solidFill>
                  <a:schemeClr val="bg1"/>
                </a:solidFill>
                <a:latin typeface="Poppins" pitchFamily="2" charset="77"/>
                <a:cs typeface="Poppins" pitchFamily="2" charset="77"/>
              </a:rPr>
              <a:t>Services &amp; Technology</a:t>
            </a:r>
          </a:p>
        </p:txBody>
      </p:sp>
      <p:sp>
        <p:nvSpPr>
          <p:cNvPr id="7" name="Text Placeholder 5">
            <a:extLst>
              <a:ext uri="{FF2B5EF4-FFF2-40B4-BE49-F238E27FC236}">
                <a16:creationId xmlns:a16="http://schemas.microsoft.com/office/drawing/2014/main" id="{1E0B5788-D6F6-3C67-95BC-946ECC581ED9}"/>
              </a:ext>
            </a:extLst>
          </p:cNvPr>
          <p:cNvSpPr txBox="1">
            <a:spLocks/>
          </p:cNvSpPr>
          <p:nvPr/>
        </p:nvSpPr>
        <p:spPr>
          <a:xfrm>
            <a:off x="603250" y="1263734"/>
            <a:ext cx="5065713" cy="5046275"/>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pPr>
            <a:r>
              <a:rPr lang="en-US" sz="1400" b="1" dirty="0">
                <a:solidFill>
                  <a:srgbClr val="617283"/>
                </a:solidFill>
                <a:latin typeface="Poppins" panose="00000500000000000000" pitchFamily="2" charset="0"/>
                <a:cs typeface="Poppins" panose="00000500000000000000" pitchFamily="2" charset="0"/>
              </a:rPr>
              <a:t>The Business Need</a:t>
            </a:r>
          </a:p>
          <a:p>
            <a:pPr>
              <a:lnSpc>
                <a:spcPct val="125000"/>
              </a:lnSpc>
              <a:spcBef>
                <a:spcPts val="0"/>
              </a:spcBef>
            </a:pPr>
            <a:r>
              <a:rPr lang="en-US" sz="1400" dirty="0">
                <a:latin typeface="Poppins"/>
                <a:cs typeface="Poppins"/>
              </a:rPr>
              <a:t>Meta DEC had a complex SharePoint site for storing, maintaining, and sharing requirements guidelines for data center builds. With shifting technology directives, they required expert assistance with migrating to internal Meta technology.</a:t>
            </a:r>
          </a:p>
          <a:p>
            <a:pPr>
              <a:lnSpc>
                <a:spcPct val="125000"/>
              </a:lnSpc>
              <a:spcBef>
                <a:spcPts val="0"/>
              </a:spcBef>
            </a:pPr>
            <a:endParaRPr lang="en-US" sz="1400" dirty="0">
              <a:latin typeface="Poppins" panose="00000500000000000000" pitchFamily="2" charset="0"/>
              <a:cs typeface="Poppins" panose="00000500000000000000" pitchFamily="2" charset="0"/>
            </a:endParaRPr>
          </a:p>
          <a:p>
            <a:pPr>
              <a:lnSpc>
                <a:spcPct val="125000"/>
              </a:lnSpc>
              <a:spcBef>
                <a:spcPts val="0"/>
              </a:spcBef>
            </a:pPr>
            <a:r>
              <a:rPr lang="en-US" sz="1400" b="1" dirty="0">
                <a:solidFill>
                  <a:srgbClr val="617283"/>
                </a:solidFill>
                <a:latin typeface="Poppins" panose="00000500000000000000" pitchFamily="2" charset="0"/>
                <a:cs typeface="Poppins" panose="00000500000000000000" pitchFamily="2" charset="0"/>
              </a:rPr>
              <a:t>What We Did</a:t>
            </a:r>
          </a:p>
          <a:p>
            <a:pPr>
              <a:lnSpc>
                <a:spcPct val="125000"/>
              </a:lnSpc>
              <a:spcBef>
                <a:spcPts val="0"/>
              </a:spcBef>
            </a:pPr>
            <a:r>
              <a:rPr lang="en-US" sz="1400" dirty="0" err="1">
                <a:latin typeface="Poppins"/>
                <a:cs typeface="Poppins"/>
              </a:rPr>
              <a:t>Affirma</a:t>
            </a:r>
            <a:r>
              <a:rPr lang="en-US" sz="1400" dirty="0">
                <a:latin typeface="Poppins"/>
                <a:cs typeface="Poppins"/>
              </a:rPr>
              <a:t> recommended the technology stack that would best meet requirements, a combination of Intern and Enterprise Center. Visual design was done to create an optimal user experience. Development and data migration was completed resulting in scalable long term platform for the DEC team.</a:t>
            </a:r>
            <a:endParaRPr lang="en-US" sz="1400" dirty="0">
              <a:solidFill>
                <a:srgbClr val="404040"/>
              </a:solidFill>
              <a:latin typeface="Poppins"/>
              <a:cs typeface="Poppins"/>
            </a:endParaRPr>
          </a:p>
          <a:p>
            <a:pPr>
              <a:lnSpc>
                <a:spcPct val="125000"/>
              </a:lnSpc>
              <a:spcBef>
                <a:spcPts val="0"/>
              </a:spcBef>
            </a:pPr>
            <a:endParaRPr lang="en-US" sz="1400" dirty="0">
              <a:latin typeface="Poppins" panose="00000500000000000000" pitchFamily="2" charset="0"/>
              <a:cs typeface="Poppins" panose="00000500000000000000" pitchFamily="2" charset="0"/>
            </a:endParaRPr>
          </a:p>
          <a:p>
            <a:pPr>
              <a:lnSpc>
                <a:spcPct val="125000"/>
              </a:lnSpc>
              <a:spcBef>
                <a:spcPts val="0"/>
              </a:spcBef>
            </a:pPr>
            <a:r>
              <a:rPr lang="en-US" sz="1400" b="1" dirty="0">
                <a:solidFill>
                  <a:srgbClr val="617283"/>
                </a:solidFill>
                <a:latin typeface="Poppins" panose="00000500000000000000" pitchFamily="2" charset="0"/>
                <a:cs typeface="Poppins" panose="00000500000000000000" pitchFamily="2" charset="0"/>
              </a:rPr>
              <a:t>Team Structure</a:t>
            </a:r>
          </a:p>
          <a:p>
            <a:pPr>
              <a:lnSpc>
                <a:spcPct val="125000"/>
              </a:lnSpc>
              <a:spcBef>
                <a:spcPts val="0"/>
              </a:spcBef>
            </a:pPr>
            <a:r>
              <a:rPr lang="en-US" sz="1400" dirty="0">
                <a:latin typeface="Poppins"/>
                <a:cs typeface="Poppins"/>
              </a:rPr>
              <a:t>1 full Time Project Manager, 5 Full Time Software Engineers, part time UX/UI, and part time change management</a:t>
            </a:r>
          </a:p>
        </p:txBody>
      </p:sp>
      <p:pic>
        <p:nvPicPr>
          <p:cNvPr id="9" name="Picture Placeholder 16" descr="A screenshot of a computer&#10;&#10;AI-generated content may be incorrect.">
            <a:extLst>
              <a:ext uri="{FF2B5EF4-FFF2-40B4-BE49-F238E27FC236}">
                <a16:creationId xmlns:a16="http://schemas.microsoft.com/office/drawing/2014/main" id="{53DEC89A-72FE-7B50-4D38-65356FEF065A}"/>
              </a:ext>
            </a:extLst>
          </p:cNvPr>
          <p:cNvPicPr>
            <a:picLocks noGrp="1" noChangeAspect="1"/>
          </p:cNvPicPr>
          <p:nvPr>
            <p:ph type="pic" sz="quarter" idx="17"/>
          </p:nvPr>
        </p:nvPicPr>
        <p:blipFill>
          <a:blip r:embed="rId3"/>
          <a:srcRect l="16139" t="4777" b="28196"/>
          <a:stretch>
            <a:fillRect/>
          </a:stretch>
        </p:blipFill>
        <p:spPr>
          <a:xfrm>
            <a:off x="6095679" y="-752"/>
            <a:ext cx="6032053" cy="2730776"/>
          </a:xfrm>
          <a:prstGeom prst="rect">
            <a:avLst/>
          </a:prstGeom>
          <a:effectLst>
            <a:outerShdw blurRad="50800" dist="38100" dir="2700000">
              <a:srgbClr val="000000">
                <a:alpha val="40000"/>
              </a:srgbClr>
            </a:outerShdw>
          </a:effectLst>
        </p:spPr>
      </p:pic>
      <p:pic>
        <p:nvPicPr>
          <p:cNvPr id="11" name="Picture 10" descr="A screenshot of a computer&#10;&#10;AI-generated content may be incorrect.">
            <a:extLst>
              <a:ext uri="{FF2B5EF4-FFF2-40B4-BE49-F238E27FC236}">
                <a16:creationId xmlns:a16="http://schemas.microsoft.com/office/drawing/2014/main" id="{D172308D-F408-17A6-0FDF-26301AACFC53}"/>
              </a:ext>
            </a:extLst>
          </p:cNvPr>
          <p:cNvPicPr>
            <a:picLocks noChangeAspect="1"/>
          </p:cNvPicPr>
          <p:nvPr/>
        </p:nvPicPr>
        <p:blipFill>
          <a:blip r:embed="rId4"/>
          <a:srcRect t="8" b="33325"/>
          <a:stretch>
            <a:fillRect/>
          </a:stretch>
        </p:blipFill>
        <p:spPr>
          <a:xfrm>
            <a:off x="6095680" y="2815454"/>
            <a:ext cx="6029795" cy="2233467"/>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2962347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01B67-E4FA-FF49-1492-EDC83D594E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74FEF-B1AF-90F4-A226-62A5CD94439A}"/>
              </a:ext>
            </a:extLst>
          </p:cNvPr>
          <p:cNvSpPr>
            <a:spLocks noGrp="1"/>
          </p:cNvSpPr>
          <p:nvPr>
            <p:ph type="ctrTitle"/>
          </p:nvPr>
        </p:nvSpPr>
        <p:spPr/>
        <p:txBody>
          <a:bodyPr anchor="t">
            <a:normAutofit fontScale="90000"/>
          </a:bodyPr>
          <a:lstStyle/>
          <a:p>
            <a:r>
              <a:rPr lang="en-US" sz="4400" b="1" dirty="0">
                <a:solidFill>
                  <a:srgbClr val="063A79"/>
                </a:solidFill>
                <a:latin typeface="Poppins SemiBold"/>
                <a:cs typeface="Poppins SemiBold"/>
              </a:rPr>
              <a:t>DEC AI Integration</a:t>
            </a:r>
            <a:endParaRPr lang="en-US" dirty="0"/>
          </a:p>
        </p:txBody>
      </p:sp>
      <p:sp>
        <p:nvSpPr>
          <p:cNvPr id="6" name="Text Placeholder 5">
            <a:extLst>
              <a:ext uri="{FF2B5EF4-FFF2-40B4-BE49-F238E27FC236}">
                <a16:creationId xmlns:a16="http://schemas.microsoft.com/office/drawing/2014/main" id="{73DDCD01-B3FE-4835-73C0-430036CEBBFD}"/>
              </a:ext>
            </a:extLst>
          </p:cNvPr>
          <p:cNvSpPr>
            <a:spLocks noGrp="1"/>
          </p:cNvSpPr>
          <p:nvPr>
            <p:ph type="body" sz="quarter" idx="21"/>
          </p:nvPr>
        </p:nvSpPr>
        <p:spPr>
          <a:xfrm>
            <a:off x="6240222" y="5867206"/>
            <a:ext cx="2618307" cy="887101"/>
          </a:xfrm>
        </p:spPr>
        <p:txBody>
          <a:bodyPr vert="horz" lIns="91440" tIns="45720" rIns="91440" bIns="45720" rtlCol="0" anchor="t">
            <a:noAutofit/>
          </a:bodyPr>
          <a:lstStyle/>
          <a:p>
            <a:pPr marL="171450" indent="-171450">
              <a:buChar char="•"/>
            </a:pPr>
            <a:r>
              <a:rPr lang="en-US" dirty="0">
                <a:latin typeface="Poppins"/>
                <a:cs typeface="Poppins"/>
              </a:rPr>
              <a:t>Intern</a:t>
            </a:r>
          </a:p>
          <a:p>
            <a:pPr marL="171450" indent="-171450">
              <a:buFont typeface="Arial" panose="020B0604020202020204" pitchFamily="34" charset="0"/>
              <a:buChar char="•"/>
            </a:pPr>
            <a:r>
              <a:rPr lang="en-US" dirty="0">
                <a:latin typeface="Poppins"/>
                <a:cs typeface="Poppins"/>
              </a:rPr>
              <a:t>Enterprise Center</a:t>
            </a:r>
            <a:endParaRPr lang="en-US"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r>
              <a:rPr lang="en-US" dirty="0">
                <a:latin typeface="Poppins"/>
                <a:cs typeface="Poppins"/>
              </a:rPr>
              <a:t>Email Reminders</a:t>
            </a:r>
            <a:endParaRPr lang="en-US" dirty="0">
              <a:latin typeface="Poppins" panose="00000500000000000000" pitchFamily="2" charset="0"/>
              <a:cs typeface="Poppins" panose="00000500000000000000" pitchFamily="2" charset="0"/>
            </a:endParaRPr>
          </a:p>
          <a:p>
            <a:pPr marL="171450" indent="-171450">
              <a:buFont typeface="Arial" panose="020B0604020202020204" pitchFamily="34" charset="0"/>
              <a:buChar char="•"/>
            </a:pPr>
            <a:endParaRPr lang="en-US" dirty="0">
              <a:latin typeface="Poppins" panose="00000500000000000000" pitchFamily="2" charset="0"/>
              <a:cs typeface="Poppins" panose="00000500000000000000" pitchFamily="2" charset="0"/>
            </a:endParaRPr>
          </a:p>
        </p:txBody>
      </p:sp>
      <p:sp>
        <p:nvSpPr>
          <p:cNvPr id="8" name="Text Placeholder 7">
            <a:extLst>
              <a:ext uri="{FF2B5EF4-FFF2-40B4-BE49-F238E27FC236}">
                <a16:creationId xmlns:a16="http://schemas.microsoft.com/office/drawing/2014/main" id="{B712E5F7-10BB-094B-4BDA-E1167B801EBF}"/>
              </a:ext>
            </a:extLst>
          </p:cNvPr>
          <p:cNvSpPr>
            <a:spLocks noGrp="1"/>
          </p:cNvSpPr>
          <p:nvPr>
            <p:ph type="body" sz="quarter" idx="23"/>
          </p:nvPr>
        </p:nvSpPr>
        <p:spPr>
          <a:xfrm>
            <a:off x="8929897" y="5867207"/>
            <a:ext cx="3055434" cy="886968"/>
          </a:xfrm>
        </p:spPr>
        <p:txBody>
          <a:bodyPr vert="horz" lIns="91440" tIns="45720" rIns="91440" bIns="45720" rtlCol="0" anchor="t">
            <a:noAutofit/>
          </a:bodyPr>
          <a:lstStyle/>
          <a:p>
            <a:pPr marL="171450" indent="-171450">
              <a:buFont typeface="Arial" panose="020B0604020202020204" pitchFamily="34" charset="0"/>
              <a:buChar char="•"/>
            </a:pPr>
            <a:r>
              <a:rPr lang="en-US" dirty="0">
                <a:latin typeface="Poppins"/>
                <a:cs typeface="Poppins"/>
              </a:rPr>
              <a:t>React &amp; Ent Development</a:t>
            </a:r>
            <a:endParaRPr lang="en-US" dirty="0"/>
          </a:p>
          <a:p>
            <a:pPr marL="171450" indent="-171450">
              <a:buFont typeface="Arial" panose="020B0604020202020204" pitchFamily="34" charset="0"/>
              <a:buChar char="•"/>
            </a:pPr>
            <a:r>
              <a:rPr lang="en-US" dirty="0" err="1">
                <a:latin typeface="Poppins"/>
                <a:cs typeface="Poppins"/>
              </a:rPr>
              <a:t>Metagen</a:t>
            </a:r>
            <a:endParaRPr lang="en-US" dirty="0" err="1"/>
          </a:p>
          <a:p>
            <a:pPr marL="171450" indent="-171450">
              <a:buFont typeface="Arial" panose="020B0604020202020204" pitchFamily="34" charset="0"/>
              <a:buChar char="•"/>
            </a:pPr>
            <a:r>
              <a:rPr lang="en-US" dirty="0" err="1">
                <a:latin typeface="Poppins"/>
                <a:cs typeface="Poppins"/>
              </a:rPr>
              <a:t>Metamate</a:t>
            </a:r>
            <a:endParaRPr lang="en-US" dirty="0" err="1"/>
          </a:p>
          <a:p>
            <a:pPr marL="171450" indent="-171450">
              <a:buFont typeface="Arial" panose="020B0604020202020204" pitchFamily="34" charset="0"/>
              <a:buChar char="•"/>
            </a:pPr>
            <a:endParaRPr lang="en-US">
              <a:latin typeface="Poppins" panose="00000500000000000000" pitchFamily="2" charset="0"/>
              <a:cs typeface="Poppins" panose="00000500000000000000" pitchFamily="2" charset="0"/>
            </a:endParaRPr>
          </a:p>
        </p:txBody>
      </p:sp>
      <p:sp>
        <p:nvSpPr>
          <p:cNvPr id="17" name="TextBox 16">
            <a:extLst>
              <a:ext uri="{FF2B5EF4-FFF2-40B4-BE49-F238E27FC236}">
                <a16:creationId xmlns:a16="http://schemas.microsoft.com/office/drawing/2014/main" id="{2C7280DA-68ED-32C7-7E6F-3B2E36FF280C}"/>
              </a:ext>
            </a:extLst>
          </p:cNvPr>
          <p:cNvSpPr txBox="1"/>
          <p:nvPr/>
        </p:nvSpPr>
        <p:spPr>
          <a:xfrm>
            <a:off x="6240222" y="5517816"/>
            <a:ext cx="5541875" cy="276999"/>
          </a:xfrm>
          <a:prstGeom prst="rect">
            <a:avLst/>
          </a:prstGeom>
          <a:noFill/>
        </p:spPr>
        <p:txBody>
          <a:bodyPr wrap="square" rtlCol="0">
            <a:spAutoFit/>
          </a:bodyPr>
          <a:lstStyle/>
          <a:p>
            <a:pPr algn="l"/>
            <a:r>
              <a:rPr lang="en-US" sz="1200" b="1" i="0" spc="300">
                <a:solidFill>
                  <a:schemeClr val="bg1"/>
                </a:solidFill>
                <a:latin typeface="Poppins" pitchFamily="2" charset="77"/>
                <a:cs typeface="Poppins" pitchFamily="2" charset="77"/>
              </a:rPr>
              <a:t>Services &amp; Technology</a:t>
            </a:r>
          </a:p>
        </p:txBody>
      </p:sp>
      <p:sp>
        <p:nvSpPr>
          <p:cNvPr id="7" name="Text Placeholder 5">
            <a:extLst>
              <a:ext uri="{FF2B5EF4-FFF2-40B4-BE49-F238E27FC236}">
                <a16:creationId xmlns:a16="http://schemas.microsoft.com/office/drawing/2014/main" id="{13AB3A79-D19F-71F2-64CE-5FC4084C0325}"/>
              </a:ext>
            </a:extLst>
          </p:cNvPr>
          <p:cNvSpPr txBox="1">
            <a:spLocks/>
          </p:cNvSpPr>
          <p:nvPr/>
        </p:nvSpPr>
        <p:spPr>
          <a:xfrm>
            <a:off x="603250" y="1263734"/>
            <a:ext cx="5065713" cy="5046275"/>
          </a:xfrm>
          <a:prstGeom prst="rect">
            <a:avLst/>
          </a:prstGeom>
        </p:spPr>
        <p:txBody>
          <a:bodyPr vert="horz" lIns="91440" tIns="45720" rIns="91440" bIns="45720" rtlCol="0" anchor="t">
            <a:normAutofit lnSpcReduction="10000"/>
          </a:bodyPr>
          <a:lstStyle>
            <a:lvl1pPr marL="0" indent="0" algn="l" defTabSz="914400" rtl="0" eaLnBrk="1" latinLnBrk="0" hangingPunct="1">
              <a:lnSpc>
                <a:spcPct val="150000"/>
              </a:lnSpc>
              <a:spcBef>
                <a:spcPts val="1000"/>
              </a:spcBef>
              <a:buFont typeface="Arial" panose="020B0604020202020204" pitchFamily="34" charset="0"/>
              <a:buNone/>
              <a:defRPr sz="16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150000"/>
              </a:lnSpc>
              <a:spcBef>
                <a:spcPts val="500"/>
              </a:spcBef>
              <a:buFont typeface="Arial" panose="020B0604020202020204" pitchFamily="34" charset="0"/>
              <a:buChar char="•"/>
              <a:defRPr sz="14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25000"/>
              </a:lnSpc>
              <a:spcBef>
                <a:spcPts val="0"/>
              </a:spcBef>
            </a:pPr>
            <a:r>
              <a:rPr lang="en-US" sz="1400" b="1" dirty="0">
                <a:solidFill>
                  <a:srgbClr val="617283"/>
                </a:solidFill>
                <a:latin typeface="Poppins" panose="00000500000000000000" pitchFamily="2" charset="0"/>
                <a:cs typeface="Poppins" panose="00000500000000000000" pitchFamily="2" charset="0"/>
              </a:rPr>
              <a:t>The Business Need</a:t>
            </a:r>
          </a:p>
          <a:p>
            <a:pPr>
              <a:lnSpc>
                <a:spcPct val="125000"/>
              </a:lnSpc>
              <a:spcBef>
                <a:spcPts val="0"/>
              </a:spcBef>
            </a:pPr>
            <a:r>
              <a:rPr lang="en-US" sz="1400" dirty="0">
                <a:latin typeface="Poppins"/>
                <a:cs typeface="Poppins"/>
              </a:rPr>
              <a:t>Meta DEC had two applications built by </a:t>
            </a:r>
            <a:r>
              <a:rPr lang="en-US" sz="1400" dirty="0" err="1">
                <a:latin typeface="Poppins"/>
                <a:cs typeface="Poppins"/>
              </a:rPr>
              <a:t>Affirma</a:t>
            </a:r>
          </a:p>
          <a:p>
            <a:pPr>
              <a:lnSpc>
                <a:spcPct val="125000"/>
              </a:lnSpc>
              <a:spcBef>
                <a:spcPts val="0"/>
              </a:spcBef>
            </a:pPr>
            <a:r>
              <a:rPr lang="en-US" sz="1400" dirty="0">
                <a:latin typeface="Poppins"/>
                <a:cs typeface="Poppins"/>
              </a:rPr>
              <a:t>1 - Storing, maintaining, and sharing requirements guidelines for data center builds </a:t>
            </a:r>
          </a:p>
          <a:p>
            <a:pPr>
              <a:lnSpc>
                <a:spcPct val="125000"/>
              </a:lnSpc>
              <a:spcBef>
                <a:spcPts val="0"/>
              </a:spcBef>
            </a:pPr>
            <a:r>
              <a:rPr lang="en-US" sz="1400" dirty="0">
                <a:latin typeface="Poppins"/>
                <a:cs typeface="Poppins"/>
              </a:rPr>
              <a:t>2 – Improve requests for in construction data centers</a:t>
            </a:r>
          </a:p>
          <a:p>
            <a:pPr>
              <a:lnSpc>
                <a:spcPct val="125000"/>
              </a:lnSpc>
              <a:spcBef>
                <a:spcPts val="0"/>
              </a:spcBef>
            </a:pPr>
            <a:r>
              <a:rPr lang="en-US" sz="1400" dirty="0">
                <a:latin typeface="Poppins"/>
                <a:cs typeface="Poppins"/>
              </a:rPr>
              <a:t>There was a need to integrate the content of the two systems using generative AI</a:t>
            </a:r>
            <a:endParaRPr lang="en-US" sz="1400" dirty="0">
              <a:latin typeface="Poppins" panose="00000500000000000000" pitchFamily="2" charset="0"/>
              <a:cs typeface="Poppins" panose="00000500000000000000" pitchFamily="2" charset="0"/>
            </a:endParaRPr>
          </a:p>
          <a:p>
            <a:pPr>
              <a:lnSpc>
                <a:spcPct val="125000"/>
              </a:lnSpc>
              <a:spcBef>
                <a:spcPts val="0"/>
              </a:spcBef>
            </a:pPr>
            <a:endParaRPr lang="en-US" sz="1400" dirty="0">
              <a:solidFill>
                <a:srgbClr val="404040"/>
              </a:solidFill>
              <a:latin typeface="Poppins" panose="00000500000000000000" pitchFamily="2" charset="0"/>
              <a:cs typeface="Poppins" panose="00000500000000000000" pitchFamily="2" charset="0"/>
            </a:endParaRPr>
          </a:p>
          <a:p>
            <a:pPr>
              <a:lnSpc>
                <a:spcPct val="125000"/>
              </a:lnSpc>
              <a:spcBef>
                <a:spcPts val="0"/>
              </a:spcBef>
            </a:pPr>
            <a:r>
              <a:rPr lang="en-US" sz="1400" b="1" dirty="0">
                <a:solidFill>
                  <a:srgbClr val="617283"/>
                </a:solidFill>
                <a:latin typeface="Poppins" panose="00000500000000000000" pitchFamily="2" charset="0"/>
                <a:cs typeface="Poppins" panose="00000500000000000000" pitchFamily="2" charset="0"/>
              </a:rPr>
              <a:t>What We Did</a:t>
            </a:r>
          </a:p>
          <a:p>
            <a:pPr>
              <a:lnSpc>
                <a:spcPct val="125000"/>
              </a:lnSpc>
              <a:spcBef>
                <a:spcPts val="0"/>
              </a:spcBef>
            </a:pPr>
            <a:r>
              <a:rPr lang="en-US" sz="1400" dirty="0" err="1">
                <a:latin typeface="Poppins"/>
                <a:cs typeface="Poppins"/>
              </a:rPr>
              <a:t>Affirma</a:t>
            </a:r>
            <a:r>
              <a:rPr lang="en-US" sz="1400" dirty="0">
                <a:latin typeface="Poppins"/>
                <a:cs typeface="Poppins"/>
              </a:rPr>
              <a:t> leveraged </a:t>
            </a:r>
            <a:r>
              <a:rPr lang="en-US" sz="1400" b="1" dirty="0" err="1">
                <a:latin typeface="Poppins"/>
                <a:cs typeface="Poppins"/>
              </a:rPr>
              <a:t>Metamate</a:t>
            </a:r>
            <a:r>
              <a:rPr lang="en-US" sz="1400" dirty="0">
                <a:latin typeface="Poppins"/>
                <a:cs typeface="Poppins"/>
              </a:rPr>
              <a:t> and </a:t>
            </a:r>
            <a:r>
              <a:rPr lang="en-US" sz="1400" b="1" dirty="0" err="1">
                <a:latin typeface="Poppins"/>
                <a:cs typeface="Poppins"/>
              </a:rPr>
              <a:t>Metagen</a:t>
            </a:r>
            <a:r>
              <a:rPr lang="en-US" sz="1400" b="1" dirty="0">
                <a:latin typeface="Poppins"/>
                <a:cs typeface="Poppins"/>
              </a:rPr>
              <a:t> </a:t>
            </a:r>
            <a:r>
              <a:rPr lang="en-US" sz="1400" dirty="0">
                <a:latin typeface="Poppins"/>
                <a:cs typeface="Poppins"/>
              </a:rPr>
              <a:t>to dynamically map improvement requests to existing requirements guidelines. We also added functionality to draft new requirements guidelines based on improvement requests.</a:t>
            </a:r>
            <a:endParaRPr lang="en-US" sz="1400" dirty="0">
              <a:solidFill>
                <a:srgbClr val="404040"/>
              </a:solidFill>
              <a:latin typeface="Poppins"/>
              <a:cs typeface="Poppins"/>
            </a:endParaRPr>
          </a:p>
          <a:p>
            <a:pPr>
              <a:lnSpc>
                <a:spcPct val="125000"/>
              </a:lnSpc>
              <a:spcBef>
                <a:spcPts val="0"/>
              </a:spcBef>
            </a:pPr>
            <a:endParaRPr lang="en-US" sz="1400" dirty="0">
              <a:latin typeface="Poppins" panose="00000500000000000000" pitchFamily="2" charset="0"/>
              <a:cs typeface="Poppins" panose="00000500000000000000" pitchFamily="2" charset="0"/>
            </a:endParaRPr>
          </a:p>
          <a:p>
            <a:pPr>
              <a:lnSpc>
                <a:spcPct val="125000"/>
              </a:lnSpc>
              <a:spcBef>
                <a:spcPts val="0"/>
              </a:spcBef>
            </a:pPr>
            <a:r>
              <a:rPr lang="en-US" sz="1400" b="1" dirty="0">
                <a:solidFill>
                  <a:srgbClr val="617283"/>
                </a:solidFill>
                <a:latin typeface="Poppins"/>
                <a:cs typeface="Poppins"/>
              </a:rPr>
              <a:t>Results</a:t>
            </a:r>
            <a:endParaRPr lang="en-US" sz="1400" b="1" dirty="0">
              <a:solidFill>
                <a:srgbClr val="617283"/>
              </a:solidFill>
              <a:latin typeface="Poppins" panose="00000500000000000000" pitchFamily="2" charset="0"/>
              <a:cs typeface="Poppins" panose="00000500000000000000" pitchFamily="2" charset="0"/>
            </a:endParaRPr>
          </a:p>
          <a:p>
            <a:pPr>
              <a:lnSpc>
                <a:spcPct val="125000"/>
              </a:lnSpc>
              <a:spcBef>
                <a:spcPts val="0"/>
              </a:spcBef>
            </a:pPr>
            <a:r>
              <a:rPr lang="en-US" sz="1400" dirty="0">
                <a:latin typeface="Poppins"/>
                <a:cs typeface="Poppins"/>
              </a:rPr>
              <a:t>The implemented AI integration has resulted in a reduction in manual data entry and content production.</a:t>
            </a:r>
          </a:p>
        </p:txBody>
      </p:sp>
      <p:pic>
        <p:nvPicPr>
          <p:cNvPr id="9" name="Picture Placeholder 16" descr="A screenshot of a computer&#10;&#10;AI-generated content may be incorrect.">
            <a:extLst>
              <a:ext uri="{FF2B5EF4-FFF2-40B4-BE49-F238E27FC236}">
                <a16:creationId xmlns:a16="http://schemas.microsoft.com/office/drawing/2014/main" id="{46BC31B4-7FA7-B737-746C-9DCA56D89C64}"/>
              </a:ext>
            </a:extLst>
          </p:cNvPr>
          <p:cNvPicPr>
            <a:picLocks noGrp="1" noChangeAspect="1"/>
          </p:cNvPicPr>
          <p:nvPr>
            <p:ph type="pic" sz="quarter" idx="17"/>
          </p:nvPr>
        </p:nvPicPr>
        <p:blipFill>
          <a:blip r:embed="rId3"/>
          <a:srcRect l="16139" t="4777" b="28196"/>
          <a:stretch>
            <a:fillRect/>
          </a:stretch>
        </p:blipFill>
        <p:spPr>
          <a:xfrm>
            <a:off x="6095679" y="-752"/>
            <a:ext cx="6032053" cy="2730776"/>
          </a:xfrm>
          <a:prstGeom prst="rect">
            <a:avLst/>
          </a:prstGeom>
          <a:effectLst>
            <a:outerShdw blurRad="50800" dist="38100" dir="2700000">
              <a:srgbClr val="000000">
                <a:alpha val="40000"/>
              </a:srgbClr>
            </a:outerShdw>
          </a:effectLst>
        </p:spPr>
      </p:pic>
      <p:pic>
        <p:nvPicPr>
          <p:cNvPr id="11" name="Picture 10" descr="A screenshot of a computer&#10;&#10;AI-generated content may be incorrect.">
            <a:extLst>
              <a:ext uri="{FF2B5EF4-FFF2-40B4-BE49-F238E27FC236}">
                <a16:creationId xmlns:a16="http://schemas.microsoft.com/office/drawing/2014/main" id="{7D7132BE-5F32-B780-ED39-83F4E46DD6C3}"/>
              </a:ext>
            </a:extLst>
          </p:cNvPr>
          <p:cNvPicPr>
            <a:picLocks noChangeAspect="1"/>
          </p:cNvPicPr>
          <p:nvPr/>
        </p:nvPicPr>
        <p:blipFill>
          <a:blip r:embed="rId4"/>
          <a:srcRect t="8" b="33325"/>
          <a:stretch>
            <a:fillRect/>
          </a:stretch>
        </p:blipFill>
        <p:spPr>
          <a:xfrm>
            <a:off x="6095680" y="2815454"/>
            <a:ext cx="6029795" cy="2233467"/>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1726862254"/>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customXsn xmlns="http://schemas.microsoft.com/office/2006/metadata/customXsn">
  <xsnLocation/>
  <cached>True</cached>
  <openByDefault>False</openByDefault>
  <xsnScope/>
</customXsn>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D23BCBB7020E34DAE994A365BA94206" ma:contentTypeVersion="12" ma:contentTypeDescription="Create a new document." ma:contentTypeScope="" ma:versionID="b1c940a28d9f7ed7841dd66e388476ed">
  <xsd:schema xmlns:xsd="http://www.w3.org/2001/XMLSchema" xmlns:xs="http://www.w3.org/2001/XMLSchema" xmlns:p="http://schemas.microsoft.com/office/2006/metadata/properties" xmlns:ns2="f0ee8362-fa7e-4bc9-ab88-7dcfb17cb19b" targetNamespace="http://schemas.microsoft.com/office/2006/metadata/properties" ma:root="true" ma:fieldsID="8c9fb4aa225d81f58c6fca2e551d2526" ns2:_="">
    <xsd:import namespace="f0ee8362-fa7e-4bc9-ab88-7dcfb17cb19b"/>
    <xsd:element name="properties">
      <xsd:complexType>
        <xsd:sequence>
          <xsd:element name="documentManagement">
            <xsd:complexType>
              <xsd:all>
                <xsd:element ref="ns2:BusinessUnit" minOccurs="0"/>
                <xsd:element ref="ns2:Industries" minOccurs="0"/>
                <xsd:element ref="ns2:Solutions" minOccurs="0"/>
                <xsd:element ref="ns2:PlatTech" minOccurs="0"/>
                <xsd:element ref="ns2:Notes0" minOccurs="0"/>
                <xsd:element ref="ns2:Named_x0020_Account" minOccurs="0"/>
                <xsd:element ref="ns2:MediaServiceMetadata" minOccurs="0"/>
                <xsd:element ref="ns2:MediaServiceFastMetadata" minOccurs="0"/>
                <xsd:element ref="ns2:MediaServiceSearchProperties" minOccurs="0"/>
                <xsd:element ref="ns2:MediaServiceObjectDetectorVersions" minOccurs="0"/>
                <xsd:element ref="ns2:ProjectCompletionDate" minOccurs="0"/>
                <xsd:element ref="ns2:ApprovedByClien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0ee8362-fa7e-4bc9-ab88-7dcfb17cb19b" elementFormDefault="qualified">
    <xsd:import namespace="http://schemas.microsoft.com/office/2006/documentManagement/types"/>
    <xsd:import namespace="http://schemas.microsoft.com/office/infopath/2007/PartnerControls"/>
    <xsd:element name="BusinessUnit" ma:index="8" nillable="true" ma:displayName="Business Unit" ma:internalName="BusinessUnit">
      <xsd:complexType>
        <xsd:complexContent>
          <xsd:extension base="dms:MultiChoice">
            <xsd:sequence>
              <xsd:element name="Value" maxOccurs="unbounded" minOccurs="0" nillable="true">
                <xsd:simpleType>
                  <xsd:restriction base="dms:Choice">
                    <xsd:enumeration value="Business Process Outsourcing"/>
                    <xsd:enumeration value="Content and Change Management"/>
                    <xsd:enumeration value="Creative"/>
                    <xsd:enumeration value="Custom Development"/>
                    <xsd:enumeration value="Customer Relationship Management"/>
                    <xsd:enumeration value="Data and Analytics"/>
                    <xsd:enumeration value="Engagement Marketing"/>
                    <xsd:enumeration value="Infrastructure"/>
                    <xsd:enumeration value="Marketing Services"/>
                    <xsd:enumeration value="Modern Workplace"/>
                    <xsd:enumeration value="NetSuite"/>
                  </xsd:restriction>
                </xsd:simpleType>
              </xsd:element>
            </xsd:sequence>
          </xsd:extension>
        </xsd:complexContent>
      </xsd:complexType>
    </xsd:element>
    <xsd:element name="Industries" ma:index="9" nillable="true" ma:displayName="Industries" ma:format="Dropdown" ma:internalName="Industries">
      <xsd:complexType>
        <xsd:complexContent>
          <xsd:extension base="dms:MultiChoice">
            <xsd:sequence>
              <xsd:element name="Value" maxOccurs="unbounded" minOccurs="0" nillable="true">
                <xsd:simpleType>
                  <xsd:restriction base="dms:Choice">
                    <xsd:enumeration value="Aerospace"/>
                    <xsd:enumeration value="Agriculture"/>
                    <xsd:enumeration value="Agriculture Food"/>
                    <xsd:enumeration value="AI / AI Models"/>
                    <xsd:enumeration value="B2B"/>
                    <xsd:enumeration value="B2C"/>
                    <xsd:enumeration value="Chemical"/>
                    <xsd:enumeration value="Construction"/>
                    <xsd:enumeration value="Defence"/>
                    <xsd:enumeration value="Education"/>
                    <xsd:enumeration value="Energy"/>
                    <xsd:enumeration value="Engineering"/>
                    <xsd:enumeration value="Entertainment"/>
                    <xsd:enumeration value="Financial Services"/>
                    <xsd:enumeration value="Food"/>
                    <xsd:enumeration value="Government"/>
                    <xsd:enumeration value="Healthcare"/>
                    <xsd:enumeration value="Hospitality"/>
                    <xsd:enumeration value="Legal"/>
                    <xsd:enumeration value="Life Sciences"/>
                    <xsd:enumeration value="Manufacturing"/>
                    <xsd:enumeration value="Media"/>
                    <xsd:enumeration value="Non-Profit"/>
                    <xsd:enumeration value="Real Estate"/>
                    <xsd:enumeration value="Retail"/>
                    <xsd:enumeration value="Services"/>
                    <xsd:enumeration value="Technology"/>
                    <xsd:enumeration value="Telecommunications"/>
                    <xsd:enumeration value="Transportation"/>
                    <xsd:enumeration value="Water"/>
                    <xsd:enumeration value="Wellness"/>
                    <xsd:enumeration value="BPO"/>
                  </xsd:restriction>
                </xsd:simpleType>
              </xsd:element>
            </xsd:sequence>
          </xsd:extension>
        </xsd:complexContent>
      </xsd:complexType>
    </xsd:element>
    <xsd:element name="Solutions" ma:index="10" nillable="true" ma:displayName="Solutions" ma:format="Dropdown" ma:internalName="Solutions">
      <xsd:complexType>
        <xsd:complexContent>
          <xsd:extension base="dms:MultiChoice">
            <xsd:sequence>
              <xsd:element name="Value" maxOccurs="unbounded" minOccurs="0" nillable="true">
                <xsd:simpleType>
                  <xsd:restriction base="dms:Choice">
                    <xsd:enumeration value="ABM Marketing"/>
                    <xsd:enumeration value="AI"/>
                    <xsd:enumeration value="Audit"/>
                    <xsd:enumeration value="Change Management"/>
                    <xsd:enumeration value="Cloud"/>
                    <xsd:enumeration value="Configurations"/>
                    <xsd:enumeration value="Content"/>
                    <xsd:enumeration value="Customer &amp; Partner Support BPO"/>
                    <xsd:enumeration value="Customer / Partner Portal"/>
                    <xsd:enumeration value="Custom Search"/>
                    <xsd:enumeration value="Cybersecurity"/>
                    <xsd:enumeration value="Data Analytics"/>
                    <xsd:enumeration value="Design"/>
                    <xsd:enumeration value="Email Campaigns"/>
                    <xsd:enumeration value="Event support"/>
                    <xsd:enumeration value="HelpDesk Outsourcing BPO"/>
                    <xsd:enumeration value="Integrations"/>
                    <xsd:enumeration value="Intranet / Extranet"/>
                    <xsd:enumeration value="IoT"/>
                    <xsd:enumeration value="Link Building"/>
                    <xsd:enumeration value="Marketing Automation"/>
                    <xsd:enumeration value="Marketing Strategy"/>
                    <xsd:enumeration value="Marketing Technology"/>
                    <xsd:enumeration value="Migrations"/>
                    <xsd:enumeration value="Mobile Application"/>
                    <xsd:enumeration value="Organic Social Media"/>
                    <xsd:enumeration value="PPC"/>
                    <xsd:enumeration value="Personas &amp; Journey Mapping"/>
                    <xsd:enumeration value="Process Automation"/>
                    <xsd:enumeration value="Product Development"/>
                    <xsd:enumeration value="Research"/>
                    <xsd:enumeration value="SEO/ AEO"/>
                    <xsd:enumeration value="SPFx"/>
                    <xsd:enumeration value="Training"/>
                    <xsd:enumeration value="UX/ UI Design"/>
                    <xsd:enumeration value="Video Production"/>
                    <xsd:enumeration value="Webinars"/>
                    <xsd:enumeration value="Websites"/>
                    <xsd:enumeration value="DevOps"/>
                  </xsd:restriction>
                </xsd:simpleType>
              </xsd:element>
            </xsd:sequence>
          </xsd:extension>
        </xsd:complexContent>
      </xsd:complexType>
    </xsd:element>
    <xsd:element name="PlatTech" ma:index="11" nillable="true" ma:displayName="Platform / Technology" ma:format="Dropdown" ma:internalName="PlatTech">
      <xsd:complexType>
        <xsd:complexContent>
          <xsd:extension base="dms:MultiChoice">
            <xsd:sequence>
              <xsd:element name="Value" maxOccurs="unbounded" minOccurs="0" nillable="true">
                <xsd:simpleType>
                  <xsd:restriction base="dms:Choice">
                    <xsd:enumeration value=".NET"/>
                    <xsd:enumeration value="Android App"/>
                    <xsd:enumeration value="AWS"/>
                    <xsd:enumeration value="Angular"/>
                    <xsd:enumeration value="Azure"/>
                    <xsd:enumeration value="Azure DevOps"/>
                    <xsd:enumeration value="Boomi"/>
                    <xsd:enumeration value="Drupal"/>
                    <xsd:enumeration value="Dynamics"/>
                    <xsd:enumeration value="Flutter"/>
                    <xsd:enumeration value="GCP"/>
                    <xsd:enumeration value="Google"/>
                    <xsd:enumeration value="Great Plains"/>
                    <xsd:enumeration value="Hootsuite"/>
                    <xsd:enumeration value="HubSpot"/>
                    <xsd:enumeration value="iOS App"/>
                    <xsd:enumeration value="Java"/>
                    <xsd:enumeration value="Kentico"/>
                    <xsd:enumeration value="Looker Studio"/>
                    <xsd:enumeration value="Mobile App"/>
                    <xsd:enumeration value="Marketo / Adobe"/>
                    <xsd:enumeration value="NetSuite"/>
                    <xsd:enumeration value="O365"/>
                    <xsd:enumeration value="OneDrive"/>
                    <xsd:enumeration value="PowerSuite"/>
                    <xsd:enumeration value="Power BI"/>
                    <xsd:enumeration value="QuickBooks"/>
                    <xsd:enumeration value="React"/>
                    <xsd:enumeration value="React Native"/>
                    <xsd:enumeration value="Sage"/>
                    <xsd:enumeration value="Salesforce"/>
                    <xsd:enumeration value="Salesforce Experience Cloud"/>
                    <xsd:enumeration value="Salesforce Marketing Cloud"/>
                    <xsd:enumeration value="Salesforce CPQ"/>
                    <xsd:enumeration value="Salesforce Pardot"/>
                    <xsd:enumeration value="SharePoint"/>
                    <xsd:enumeration value="Shopify"/>
                    <xsd:enumeration value="Sitecore"/>
                    <xsd:enumeration value="Sitefinity"/>
                    <xsd:enumeration value="Snowflake"/>
                    <xsd:enumeration value="Sprinklr"/>
                    <xsd:enumeration value="SproutSocial"/>
                    <xsd:enumeration value="Tableau"/>
                    <xsd:enumeration value="WP Engine"/>
                    <xsd:enumeration value="Webflow"/>
                    <xsd:enumeration value="WooCommerce"/>
                    <xsd:enumeration value="WordPress"/>
                    <xsd:enumeration value="Zoho"/>
                    <xsd:enumeration value="Power Apps"/>
                    <xsd:enumeration value="Teams"/>
                    <xsd:enumeration value="Azure Data Factory"/>
                    <xsd:enumeration value="Zendesk"/>
                    <xsd:enumeration value="Business Central"/>
                    <xsd:enumeration value="Viva"/>
                  </xsd:restriction>
                </xsd:simpleType>
              </xsd:element>
            </xsd:sequence>
          </xsd:extension>
        </xsd:complexContent>
      </xsd:complexType>
    </xsd:element>
    <xsd:element name="Notes0" ma:index="12" nillable="true" ma:displayName="Notes" ma:internalName="Notes0">
      <xsd:simpleType>
        <xsd:restriction base="dms:Text">
          <xsd:maxLength value="255"/>
        </xsd:restriction>
      </xsd:simpleType>
    </xsd:element>
    <xsd:element name="Named_x0020_Account" ma:index="13" nillable="true" ma:displayName="Named Account" ma:format="Dropdown" ma:internalName="Named_x0020_Account">
      <xsd:simpleType>
        <xsd:restriction base="dms:Choice">
          <xsd:enumeration value="Microsoft"/>
          <xsd:enumeration value="Meta"/>
          <xsd:enumeration value="Amazon"/>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SearchProperties" ma:index="16" nillable="true" ma:displayName="MediaServiceSearchProperties" ma:hidden="true" ma:internalName="MediaServiceSearchProperties" ma:readOnly="true">
      <xsd:simpleType>
        <xsd:restriction base="dms:Note"/>
      </xsd:simpleType>
    </xsd:element>
    <xsd:element name="MediaServiceObjectDetectorVersions" ma:index="17" nillable="true" ma:displayName="MediaServiceObjectDetectorVersions" ma:hidden="true" ma:indexed="true" ma:internalName="MediaServiceObjectDetectorVersions" ma:readOnly="true">
      <xsd:simpleType>
        <xsd:restriction base="dms:Text"/>
      </xsd:simpleType>
    </xsd:element>
    <xsd:element name="ProjectCompletionDate" ma:index="18" nillable="true" ma:displayName="Project Completion Date" ma:format="DateOnly" ma:internalName="ProjectCompletionDate">
      <xsd:simpleType>
        <xsd:restriction base="dms:DateTime"/>
      </xsd:simpleType>
    </xsd:element>
    <xsd:element name="ApprovedByClient" ma:index="19" nillable="true" ma:displayName="Approved By Client" ma:default="0" ma:format="Dropdown" ma:internalName="ApprovedByClient">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Notes0 xmlns="f0ee8362-fa7e-4bc9-ab88-7dcfb17cb19b" xsi:nil="true"/>
    <Named_x0020_Account xmlns="f0ee8362-fa7e-4bc9-ab88-7dcfb17cb19b">Meta</Named_x0020_Account>
    <Industries xmlns="f0ee8362-fa7e-4bc9-ab88-7dcfb17cb19b">
      <Value>Technology</Value>
    </Industries>
    <PlatTech xmlns="f0ee8362-fa7e-4bc9-ab88-7dcfb17cb19b" xsi:nil="true"/>
    <BusinessUnit xmlns="f0ee8362-fa7e-4bc9-ab88-7dcfb17cb19b">
      <Value>Custom Development</Value>
    </BusinessUnit>
    <Solutions xmlns="f0ee8362-fa7e-4bc9-ab88-7dcfb17cb19b" xsi:nil="true"/>
    <ApprovedByClient xmlns="f0ee8362-fa7e-4bc9-ab88-7dcfb17cb19b">false</ApprovedByClient>
    <ProjectCompletionDate xmlns="f0ee8362-fa7e-4bc9-ab88-7dcfb17cb19b" xsi:nil="true"/>
  </documentManagement>
</p:properties>
</file>

<file path=customXml/itemProps1.xml><?xml version="1.0" encoding="utf-8"?>
<ds:datastoreItem xmlns:ds="http://schemas.openxmlformats.org/officeDocument/2006/customXml" ds:itemID="{BA22B0C7-B8FC-41A9-A031-32EADFDAEDA5}">
  <ds:schemaRefs>
    <ds:schemaRef ds:uri="http://schemas.microsoft.com/office/2006/metadata/customXsn"/>
  </ds:schemaRefs>
</ds:datastoreItem>
</file>

<file path=customXml/itemProps2.xml><?xml version="1.0" encoding="utf-8"?>
<ds:datastoreItem xmlns:ds="http://schemas.openxmlformats.org/officeDocument/2006/customXml" ds:itemID="{937C4627-47FA-4B33-8A31-EEC2239D4ECB}">
  <ds:schemaRefs>
    <ds:schemaRef ds:uri="http://schemas.microsoft.com/sharepoint/v3/contenttype/forms"/>
  </ds:schemaRefs>
</ds:datastoreItem>
</file>

<file path=customXml/itemProps3.xml><?xml version="1.0" encoding="utf-8"?>
<ds:datastoreItem xmlns:ds="http://schemas.openxmlformats.org/officeDocument/2006/customXml" ds:itemID="{B672B690-3F33-4912-BAB9-D3AECE7D24B9}"/>
</file>

<file path=customXml/itemProps4.xml><?xml version="1.0" encoding="utf-8"?>
<ds:datastoreItem xmlns:ds="http://schemas.openxmlformats.org/officeDocument/2006/customXml" ds:itemID="{042D0BCF-5171-4746-8823-CF8EF2C0DBF2}">
  <ds:schemaRefs>
    <ds:schemaRef ds:uri="http://schemas.microsoft.com/office/2006/metadata/properties"/>
    <ds:schemaRef ds:uri="http://schemas.microsoft.com/office/infopath/2007/PartnerControls"/>
    <ds:schemaRef ds:uri="f0ee8362-fa7e-4bc9-ab88-7dcfb17cb19b"/>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2</Slides>
  <Notes>2</Notes>
  <HiddenSlides>0</HiddenSlides>
  <MMClips>0</MMClips>
  <ScaleCrop>false</ScaleCrop>
  <HeadingPairs>
    <vt:vector size="4" baseType="variant">
      <vt:variant>
        <vt:lpstr>Theme</vt:lpstr>
      </vt:variant>
      <vt:variant>
        <vt:i4>1</vt:i4>
      </vt:variant>
      <vt:variant>
        <vt:lpstr>Slide Titles</vt:lpstr>
      </vt:variant>
      <vt:variant>
        <vt:i4>2</vt:i4>
      </vt:variant>
    </vt:vector>
  </HeadingPairs>
  <TitlesOfParts>
    <vt:vector size="3" baseType="lpstr">
      <vt:lpstr>office theme</vt:lpstr>
      <vt:lpstr>Standards Hub</vt:lpstr>
      <vt:lpstr>DEC AI Integration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41</cp:revision>
  <dcterms:created xsi:type="dcterms:W3CDTF">2025-08-25T21:52:59Z</dcterms:created>
  <dcterms:modified xsi:type="dcterms:W3CDTF">2025-11-11T23:39:35Z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0x0101000D23BCBB7020E34DAE994A365BA94206</vt:lpwstr>
  </property>
</Properties>
</file>