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10"/>
  </p:notesMasterIdLst>
  <p:sldIdLst>
    <p:sldId id="2147469644" r:id="rId6"/>
    <p:sldId id="2147469648" r:id="rId7"/>
    <p:sldId id="2147469646" r:id="rId8"/>
    <p:sldId id="214746964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16DEC-C6DE-4FDA-8182-F92753EAA5D4}" type="datetimeFigureOut"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7CC27-D52E-48C8-96BA-0D8AE579AF3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23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5D884-9D06-3268-96A5-E6E10F4B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FBC65-49F2-25C7-5616-00AA7EB74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5FF42-4527-F9D8-D83A-056F4E7EF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D1E93-0DDB-F638-D9B9-50DB8E673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4CEB-9E5E-9D4B-B232-5810D6ED9B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56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FBB0-5A36-E15D-FFD7-8392C2B0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9F521-A9B9-AFF2-7325-9A32412AB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0B304-8070-56F6-35C8-A4F94AD54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EF61C-652A-F84C-85E6-2BCCE5129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4CEB-9E5E-9D4B-B232-5810D6ED9B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43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B8ED-2FBB-B28F-351F-5C8B25A52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61A6C-92CC-453E-4099-78A492115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53E23-5486-2FE8-2BC0-FFEB0B1D2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B7E60-EBF3-F6FF-96AD-926B7810A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4CEB-9E5E-9D4B-B232-5810D6ED9B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37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B10BC-1786-A954-05B0-6D4963A4E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46F0C-7633-0CA5-E66E-61CB93BE5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516C2-BBA1-EAD7-B117-F904CCC5D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C2271-602B-BF3B-9A83-649F568EB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74CEB-9E5E-9D4B-B232-5810D6ED9B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97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C3B68B-1A94-041F-A33A-D3504675CEFE}"/>
              </a:ext>
            </a:extLst>
          </p:cNvPr>
          <p:cNvSpPr/>
          <p:nvPr userDrawn="1"/>
        </p:nvSpPr>
        <p:spPr>
          <a:xfrm>
            <a:off x="6095998" y="5093207"/>
            <a:ext cx="6096002" cy="1764793"/>
          </a:xfrm>
          <a:prstGeom prst="rect">
            <a:avLst/>
          </a:prstGeom>
          <a:solidFill>
            <a:srgbClr val="008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8" y="0"/>
            <a:ext cx="6096002" cy="5093207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0E4BD5B-FA1C-CA42-B01F-D6A4F333E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9966" y="556945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E51963F-09DC-8E4A-88D2-C536162B9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9965" y="596823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8C32DBD-DA02-E348-877F-086CEC75A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78598" y="5560830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EB1CA55-D925-444F-8DA0-8CEF05F20D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597" y="5959610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555A56F-2156-0C47-9C24-6E95A084A9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77230" y="555309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0AC86934-578D-4547-91D4-0207518575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77229" y="595187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214747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9A7E5-F506-03BE-7B89-82A21F169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D61BA5-F9F7-E535-2B20-46A355165F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8ED0FF-B68B-75F6-8FB8-989FAD2DB59C}"/>
              </a:ext>
            </a:extLst>
          </p:cNvPr>
          <p:cNvSpPr/>
          <p:nvPr/>
        </p:nvSpPr>
        <p:spPr>
          <a:xfrm>
            <a:off x="6109356" y="-3772"/>
            <a:ext cx="6096000" cy="1508597"/>
          </a:xfrm>
          <a:prstGeom prst="rect">
            <a:avLst/>
          </a:prstGeom>
          <a:solidFill>
            <a:srgbClr val="008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B86746-0937-C398-2C7D-36DB62A96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7920BB-52F3-616F-918F-BF603E106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4" y="119941"/>
            <a:ext cx="5492715" cy="1281020"/>
          </a:xfrm>
        </p:spPr>
        <p:txBody>
          <a:bodyPr anchor="t">
            <a:normAutofit fontScale="90000"/>
          </a:bodyPr>
          <a:lstStyle/>
          <a:p>
            <a:r>
              <a:rPr lang="en-US" b="1" dirty="0">
                <a:solidFill>
                  <a:srgbClr val="063A79"/>
                </a:solidFill>
                <a:latin typeface="Poppins SemiBold"/>
                <a:cs typeface="Poppins SemiBold"/>
              </a:rPr>
              <a:t>Market Insights for </a:t>
            </a:r>
            <a:r>
              <a:rPr lang="en-US" b="1" dirty="0" err="1">
                <a:solidFill>
                  <a:srgbClr val="063A79"/>
                </a:solidFill>
                <a:latin typeface="Poppins SemiBold"/>
                <a:cs typeface="Poppins SemiBold"/>
              </a:rPr>
              <a:t>Roadmapping</a:t>
            </a:r>
            <a:r>
              <a:rPr lang="en-US" b="1" dirty="0">
                <a:solidFill>
                  <a:srgbClr val="063A79"/>
                </a:solidFill>
                <a:latin typeface="Poppins SemiBold"/>
                <a:cs typeface="Poppins SemiBold"/>
              </a:rPr>
              <a:t> (MI4R)</a:t>
            </a:r>
            <a:endParaRPr lang="en-US" sz="4200" b="1" dirty="0">
              <a:solidFill>
                <a:srgbClr val="063A79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CFD3C40-E914-86BA-9C9A-1DF31CCB4362}"/>
              </a:ext>
            </a:extLst>
          </p:cNvPr>
          <p:cNvSpPr txBox="1">
            <a:spLocks/>
          </p:cNvSpPr>
          <p:nvPr/>
        </p:nvSpPr>
        <p:spPr>
          <a:xfrm>
            <a:off x="603284" y="1556158"/>
            <a:ext cx="5210287" cy="5331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61728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Business Need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Meta’s Global Business &amp; Product Marketing team previously relied on Google Sheets for gathering market insights, leading to inefficiencies in search, submission, and reporting.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61728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We Did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Affirma developed a custom Intern Application to replace Google Sheets with a more efficient, structured system. Key features: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Cu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stom Tasking 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– Integrated with notifications for task actions such as creation, resolution, and reassignment.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Bulk Actions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– Merging, notifying, editing, and carrying over market asks across planning periods.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AI Integration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– Implemented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MetaGen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MetaMate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enhancement, summarization &amp; merging of insights.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Enhanced Collaboration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– Commenting system with @mentions, version history, and activity tracking.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Advanced Search &amp; Filtering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– Dynamic search, including recursive employee-based queries and empty field filtering.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Admin Controls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– Tools for managing planning periods, permissions, and bulk uploads via a robust CSV importer.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9C7999-5575-8050-F2C4-F8B8493BAF60}"/>
              </a:ext>
            </a:extLst>
          </p:cNvPr>
          <p:cNvSpPr txBox="1"/>
          <p:nvPr/>
        </p:nvSpPr>
        <p:spPr>
          <a:xfrm>
            <a:off x="6843164" y="397956"/>
            <a:ext cx="3306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Integrations &amp; </a:t>
            </a:r>
          </a:p>
          <a:p>
            <a:pPr algn="l"/>
            <a:r>
              <a:rPr lang="en-US" sz="1200" b="1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endParaRPr lang="en-US" sz="1200" b="1" i="0" spc="3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74486D8F-2827-FB6E-BB2C-0442423F9317}"/>
              </a:ext>
            </a:extLst>
          </p:cNvPr>
          <p:cNvSpPr txBox="1">
            <a:spLocks/>
          </p:cNvSpPr>
          <p:nvPr/>
        </p:nvSpPr>
        <p:spPr>
          <a:xfrm>
            <a:off x="9325427" y="144357"/>
            <a:ext cx="2638046" cy="9688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MetaGen</a:t>
            </a: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AI</a:t>
            </a:r>
          </a:p>
          <a:p>
            <a:pPr marL="171450" indent="-1714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MetaMate</a:t>
            </a: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AI</a:t>
            </a:r>
          </a:p>
          <a:p>
            <a:pPr marL="171450" indent="-1714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Intern Notifications</a:t>
            </a:r>
          </a:p>
          <a:p>
            <a:pPr marL="171450" indent="-1714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Intern Activities</a:t>
            </a:r>
          </a:p>
          <a:p>
            <a:pPr marL="171450" indent="-1714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Custom tasking system</a:t>
            </a:r>
          </a:p>
          <a:p>
            <a:pPr marL="171450" indent="-1714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EED152-0C23-6C03-DADE-A36325BE3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858" y="1649182"/>
            <a:ext cx="5859316" cy="312799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6BA3A9-7478-C631-761E-1C7D3BCAF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212" y="3730074"/>
            <a:ext cx="5448976" cy="290839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499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D715C-4777-471D-21D8-B0AB49FB5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5FBE11-F1A6-D41D-0253-DAEAC7935FC9}"/>
              </a:ext>
            </a:extLst>
          </p:cNvPr>
          <p:cNvSpPr/>
          <p:nvPr/>
        </p:nvSpPr>
        <p:spPr>
          <a:xfrm>
            <a:off x="10016454" y="0"/>
            <a:ext cx="2175545" cy="68617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9E2051-2D99-5A5F-D73D-9024A582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F878CBF-3F25-CDFD-C270-36891798F48A}"/>
              </a:ext>
            </a:extLst>
          </p:cNvPr>
          <p:cNvSpPr txBox="1">
            <a:spLocks/>
          </p:cNvSpPr>
          <p:nvPr/>
        </p:nvSpPr>
        <p:spPr>
          <a:xfrm>
            <a:off x="10173047" y="248411"/>
            <a:ext cx="1862358" cy="3902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61728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REQUEST FORM </a:t>
            </a:r>
          </a:p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61728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 AI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B0BE604-D800-7376-4D84-A5D69B9E3B20}"/>
              </a:ext>
            </a:extLst>
          </p:cNvPr>
          <p:cNvSpPr txBox="1">
            <a:spLocks/>
          </p:cNvSpPr>
          <p:nvPr/>
        </p:nvSpPr>
        <p:spPr>
          <a:xfrm>
            <a:off x="603284" y="119941"/>
            <a:ext cx="5492715" cy="128102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063A79"/>
                </a:solidFill>
                <a:latin typeface="Poppins SemiBold"/>
                <a:cs typeface="Poppins SemiBold"/>
              </a:rPr>
              <a:t>Market Insights for </a:t>
            </a:r>
            <a:r>
              <a:rPr lang="en-US" sz="3600" b="1" dirty="0" err="1">
                <a:solidFill>
                  <a:srgbClr val="063A79"/>
                </a:solidFill>
                <a:latin typeface="Poppins SemiBold"/>
                <a:cs typeface="Poppins SemiBold"/>
              </a:rPr>
              <a:t>Roadmapping</a:t>
            </a:r>
            <a:r>
              <a:rPr lang="en-US" sz="3600" b="1" dirty="0">
                <a:solidFill>
                  <a:srgbClr val="063A79"/>
                </a:solidFill>
                <a:latin typeface="Poppins SemiBold"/>
                <a:cs typeface="Poppins SemiBold"/>
              </a:rPr>
              <a:t> (MI4R)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74B985-B87B-EF97-27E5-77001ACF48E1}"/>
              </a:ext>
            </a:extLst>
          </p:cNvPr>
          <p:cNvSpPr/>
          <p:nvPr/>
        </p:nvSpPr>
        <p:spPr>
          <a:xfrm>
            <a:off x="4193" y="358919"/>
            <a:ext cx="224334" cy="754299"/>
          </a:xfrm>
          <a:prstGeom prst="rect">
            <a:avLst/>
          </a:prstGeom>
          <a:solidFill>
            <a:srgbClr val="FF8E00"/>
          </a:solidFill>
          <a:ln>
            <a:solidFill>
              <a:srgbClr val="FF8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DED73B-D71A-B4CC-B398-0A26DBC24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97" y="1450359"/>
            <a:ext cx="10324403" cy="51592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007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0F9C4-E83C-A1D8-D02B-11D2B0C5A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95FCCA-2B59-91A7-817C-0BB6D90440A9}"/>
              </a:ext>
            </a:extLst>
          </p:cNvPr>
          <p:cNvSpPr/>
          <p:nvPr/>
        </p:nvSpPr>
        <p:spPr>
          <a:xfrm>
            <a:off x="10016454" y="0"/>
            <a:ext cx="2175545" cy="68617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86E196-73C6-F2A4-A4B3-275AF496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8DDD839-0C22-5D7C-7AD6-43A127E2776D}"/>
              </a:ext>
            </a:extLst>
          </p:cNvPr>
          <p:cNvSpPr txBox="1">
            <a:spLocks/>
          </p:cNvSpPr>
          <p:nvPr/>
        </p:nvSpPr>
        <p:spPr>
          <a:xfrm>
            <a:off x="10304813" y="248411"/>
            <a:ext cx="1691244" cy="3902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61728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REPORTING DASHBOARD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792B4B-5A91-3922-035B-E08EDD3AF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61" y="1495738"/>
            <a:ext cx="10705076" cy="51481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A48E87-B258-C90C-04E8-F6A7BAF8DD28}"/>
              </a:ext>
            </a:extLst>
          </p:cNvPr>
          <p:cNvSpPr/>
          <p:nvPr/>
        </p:nvSpPr>
        <p:spPr>
          <a:xfrm>
            <a:off x="4193" y="358919"/>
            <a:ext cx="224334" cy="754299"/>
          </a:xfrm>
          <a:prstGeom prst="rect">
            <a:avLst/>
          </a:prstGeom>
          <a:solidFill>
            <a:srgbClr val="FF8E00"/>
          </a:solidFill>
          <a:ln>
            <a:solidFill>
              <a:srgbClr val="FF8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E885224-94C3-023E-C1D9-6F70E5E86CEB}"/>
              </a:ext>
            </a:extLst>
          </p:cNvPr>
          <p:cNvSpPr txBox="1">
            <a:spLocks/>
          </p:cNvSpPr>
          <p:nvPr/>
        </p:nvSpPr>
        <p:spPr>
          <a:xfrm>
            <a:off x="603284" y="119941"/>
            <a:ext cx="5492715" cy="128102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063A79"/>
                </a:solidFill>
                <a:latin typeface="Poppins SemiBold"/>
                <a:cs typeface="Poppins SemiBold"/>
              </a:rPr>
              <a:t>Market Insights for </a:t>
            </a:r>
            <a:r>
              <a:rPr lang="en-US" sz="3600" b="1" dirty="0" err="1">
                <a:solidFill>
                  <a:srgbClr val="063A79"/>
                </a:solidFill>
                <a:latin typeface="Poppins SemiBold"/>
                <a:cs typeface="Poppins SemiBold"/>
              </a:rPr>
              <a:t>Roadmapping</a:t>
            </a:r>
            <a:r>
              <a:rPr lang="en-US" sz="3600" b="1" dirty="0">
                <a:solidFill>
                  <a:srgbClr val="063A79"/>
                </a:solidFill>
                <a:latin typeface="Poppins SemiBold"/>
                <a:cs typeface="Poppins SemiBold"/>
              </a:rPr>
              <a:t> (MI4R)</a:t>
            </a:r>
          </a:p>
        </p:txBody>
      </p:sp>
    </p:spTree>
    <p:extLst>
      <p:ext uri="{BB962C8B-B14F-4D97-AF65-F5344CB8AC3E}">
        <p14:creationId xmlns:p14="http://schemas.microsoft.com/office/powerpoint/2010/main" val="3822293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46409-92C2-C4C0-DABE-811A27AE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F403C-AD27-2F2F-A7A7-657AD36B4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C82760-BA53-D06F-C620-D62104990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4" y="119941"/>
            <a:ext cx="5492715" cy="1281020"/>
          </a:xfrm>
        </p:spPr>
        <p:txBody>
          <a:bodyPr anchor="t">
            <a:normAutofit fontScale="90000"/>
          </a:bodyPr>
          <a:lstStyle/>
          <a:p>
            <a:r>
              <a:rPr lang="en-US" b="1" dirty="0">
                <a:solidFill>
                  <a:srgbClr val="063A79"/>
                </a:solidFill>
                <a:latin typeface="Poppins SemiBold"/>
                <a:cs typeface="Poppins SemiBold"/>
              </a:rPr>
              <a:t>Market Insights for </a:t>
            </a:r>
            <a:r>
              <a:rPr lang="en-US" b="1" dirty="0" err="1">
                <a:solidFill>
                  <a:srgbClr val="063A79"/>
                </a:solidFill>
                <a:latin typeface="Poppins SemiBold"/>
                <a:cs typeface="Poppins SemiBold"/>
              </a:rPr>
              <a:t>Roadmapping</a:t>
            </a:r>
            <a:r>
              <a:rPr lang="en-US" b="1" dirty="0">
                <a:solidFill>
                  <a:srgbClr val="063A79"/>
                </a:solidFill>
                <a:latin typeface="Poppins SemiBold"/>
                <a:cs typeface="Poppins SemiBold"/>
              </a:rPr>
              <a:t> (MI4R)</a:t>
            </a:r>
            <a:endParaRPr lang="en-US" sz="4200" b="1" dirty="0">
              <a:solidFill>
                <a:srgbClr val="063A79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22817-C534-B6C6-EBE2-293860CFCECD}"/>
              </a:ext>
            </a:extLst>
          </p:cNvPr>
          <p:cNvSpPr/>
          <p:nvPr/>
        </p:nvSpPr>
        <p:spPr>
          <a:xfrm>
            <a:off x="6095999" y="5025006"/>
            <a:ext cx="6096000" cy="1832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3ED7E9-267F-4F87-1E86-DB9211A85C0D}"/>
              </a:ext>
            </a:extLst>
          </p:cNvPr>
          <p:cNvSpPr/>
          <p:nvPr/>
        </p:nvSpPr>
        <p:spPr>
          <a:xfrm>
            <a:off x="10016454" y="0"/>
            <a:ext cx="2175545" cy="68617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C175C5B-8623-1394-467E-094E54A115D7}"/>
              </a:ext>
            </a:extLst>
          </p:cNvPr>
          <p:cNvSpPr txBox="1">
            <a:spLocks/>
          </p:cNvSpPr>
          <p:nvPr/>
        </p:nvSpPr>
        <p:spPr>
          <a:xfrm>
            <a:off x="10173047" y="248411"/>
            <a:ext cx="1862358" cy="3902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61728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FEATURES IN DEVELOPMENT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A6A43CC-38C3-8B15-0E84-163B6A3F2A18}"/>
              </a:ext>
            </a:extLst>
          </p:cNvPr>
          <p:cNvSpPr txBox="1">
            <a:spLocks/>
          </p:cNvSpPr>
          <p:nvPr/>
        </p:nvSpPr>
        <p:spPr>
          <a:xfrm>
            <a:off x="603284" y="1874810"/>
            <a:ext cx="8591050" cy="3108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61728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Ongoing Support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Affirma</a:t>
            </a:r>
            <a:r>
              <a:rPr lang="en-U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 actively expanding the MI4R tool’s capabilities with new features, while providing continuous engineering support.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sz="1700" b="1" dirty="0">
              <a:solidFill>
                <a:srgbClr val="61728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700" b="1" dirty="0">
                <a:solidFill>
                  <a:srgbClr val="61728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Next Phase of Development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Process Tracking 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– Measuring de-duplication effectiveness and insight quality trends over time.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UI/UX Enhancements 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– Improved navigation, tooltips, and field behavior refinements.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Dynamic Configuration 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– Admin controls for customizing fields, dropdown options, and metadata.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Role-Based Access 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– User-submitted access requests and admin-managed permissions.</a:t>
            </a:r>
          </a:p>
        </p:txBody>
      </p:sp>
    </p:spTree>
    <p:extLst>
      <p:ext uri="{BB962C8B-B14F-4D97-AF65-F5344CB8AC3E}">
        <p14:creationId xmlns:p14="http://schemas.microsoft.com/office/powerpoint/2010/main" val="204229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Meta</Named_x0020_Account>
    <Industries xmlns="f0ee8362-fa7e-4bc9-ab88-7dcfb17cb19b">
      <Value>Technology</Value>
    </Industries>
    <PlatTech xmlns="f0ee8362-fa7e-4bc9-ab88-7dcfb17cb19b" xsi:nil="true"/>
    <BusinessUnit xmlns="f0ee8362-fa7e-4bc9-ab88-7dcfb17cb19b">
      <Value>Custom Development</Value>
    </BusinessUnit>
    <Solutions xmlns="f0ee8362-fa7e-4bc9-ab88-7dcfb17cb19b" xsi:nil="true"/>
    <ProjectCompletionDate xmlns="f0ee8362-fa7e-4bc9-ab88-7dcfb17cb19b" xsi:nil="true"/>
    <ApprovedByClient xmlns="f0ee8362-fa7e-4bc9-ab88-7dcfb17cb19b">false</ApprovedByClient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91392FF4-4888-4B19-B72E-8AF93ED3E0D3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2.xml><?xml version="1.0" encoding="utf-8"?>
<ds:datastoreItem xmlns:ds="http://schemas.openxmlformats.org/officeDocument/2006/customXml" ds:itemID="{EE724BFD-734C-4D9D-8D6D-F4F2F393CA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B8CEC3-6144-4063-BF1B-4A8CB3519611}"/>
</file>

<file path=customXml/itemProps4.xml><?xml version="1.0" encoding="utf-8"?>
<ds:datastoreItem xmlns:ds="http://schemas.openxmlformats.org/officeDocument/2006/customXml" ds:itemID="{5467691D-3F3E-4C81-B943-D183DD5503B0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Market Insights for Roadmapping (MI4R)</vt:lpstr>
      <vt:lpstr>PowerPoint Presentation</vt:lpstr>
      <vt:lpstr>PowerPoint Presentation</vt:lpstr>
      <vt:lpstr>Market Insights for Roadmapping (MI4R)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2025-04-08T15:53:07Z</dcterms:created>
  <dcterms:modified xsi:type="dcterms:W3CDTF">2025-12-04T17:47:21Z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