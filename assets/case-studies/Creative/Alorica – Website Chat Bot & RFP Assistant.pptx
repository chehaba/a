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8"/>
  </p:notesMasterIdLst>
  <p:sldIdLst>
    <p:sldId id="2147481415" r:id="rId6"/>
    <p:sldId id="214748129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BB1C5-47B8-F602-3831-D8B521825BF1}" v="1" dt="2026-01-27T01:02:17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3C7B5890-A59C-D0B6-9F34-708D8BA54DFC}"/>
    <pc:docChg chg="addSld delSld">
      <pc:chgData name="Brendan Murphy" userId="S::bmurphy@affirma.com::e9f923b6-6d89-4d4e-a3b7-d9304b9d44ba" providerId="AD" clId="Web-{3C7B5890-A59C-D0B6-9F34-708D8BA54DFC}" dt="2026-01-15T01:09:05.985" v="1"/>
      <pc:docMkLst>
        <pc:docMk/>
      </pc:docMkLst>
      <pc:sldChg chg="add">
        <pc:chgData name="Brendan Murphy" userId="S::bmurphy@affirma.com::e9f923b6-6d89-4d4e-a3b7-d9304b9d44ba" providerId="AD" clId="Web-{3C7B5890-A59C-D0B6-9F34-708D8BA54DFC}" dt="2026-01-15T01:09:01.501" v="0"/>
        <pc:sldMkLst>
          <pc:docMk/>
          <pc:sldMk cId="1449797749" sldId="2147481415"/>
        </pc:sldMkLst>
      </pc:sldChg>
      <pc:sldMasterChg chg="addSldLayout">
        <pc:chgData name="Brendan Murphy" userId="S::bmurphy@affirma.com::e9f923b6-6d89-4d4e-a3b7-d9304b9d44ba" providerId="AD" clId="Web-{3C7B5890-A59C-D0B6-9F34-708D8BA54DFC}" dt="2026-01-15T01:09:01.501" v="0"/>
        <pc:sldMasterMkLst>
          <pc:docMk/>
          <pc:sldMasterMk cId="1337457466" sldId="2147483648"/>
        </pc:sldMasterMkLst>
        <pc:sldLayoutChg chg="add">
          <pc:chgData name="Brendan Murphy" userId="S::bmurphy@affirma.com::e9f923b6-6d89-4d4e-a3b7-d9304b9d44ba" providerId="AD" clId="Web-{3C7B5890-A59C-D0B6-9F34-708D8BA54DFC}" dt="2026-01-15T01:09:01.501" v="0"/>
          <pc:sldLayoutMkLst>
            <pc:docMk/>
            <pc:sldMasterMk cId="1337457466" sldId="2147483648"/>
            <pc:sldLayoutMk cId="3183244317" sldId="2147483661"/>
          </pc:sldLayoutMkLst>
        </pc:sldLayoutChg>
      </pc:sldMasterChg>
    </pc:docChg>
  </pc:docChgLst>
  <pc:docChgLst>
    <pc:chgData name="Brendan Murphy" userId="S::bmurphy@affirma.com::e9f923b6-6d89-4d4e-a3b7-d9304b9d44ba" providerId="AD" clId="Web-{A77841EF-4DBD-8F8A-BF82-21FDDDEC20B7}"/>
    <pc:docChg chg="modSld">
      <pc:chgData name="Brendan Murphy" userId="S::bmurphy@affirma.com::e9f923b6-6d89-4d4e-a3b7-d9304b9d44ba" providerId="AD" clId="Web-{A77841EF-4DBD-8F8A-BF82-21FDDDEC20B7}" dt="2026-01-15T23:21:04.137" v="5" actId="20577"/>
      <pc:docMkLst>
        <pc:docMk/>
      </pc:docMkLst>
      <pc:sldChg chg="modSp">
        <pc:chgData name="Brendan Murphy" userId="S::bmurphy@affirma.com::e9f923b6-6d89-4d4e-a3b7-d9304b9d44ba" providerId="AD" clId="Web-{A77841EF-4DBD-8F8A-BF82-21FDDDEC20B7}" dt="2026-01-15T23:21:04.137" v="5" actId="20577"/>
        <pc:sldMkLst>
          <pc:docMk/>
          <pc:sldMk cId="1449797749" sldId="2147481415"/>
        </pc:sldMkLst>
        <pc:spChg chg="mod">
          <ac:chgData name="Brendan Murphy" userId="S::bmurphy@affirma.com::e9f923b6-6d89-4d4e-a3b7-d9304b9d44ba" providerId="AD" clId="Web-{A77841EF-4DBD-8F8A-BF82-21FDDDEC20B7}" dt="2026-01-15T23:20:57.840" v="2" actId="20577"/>
          <ac:spMkLst>
            <pc:docMk/>
            <pc:sldMk cId="1449797749" sldId="2147481415"/>
            <ac:spMk id="4" creationId="{CA7A5303-F6C4-A587-B09A-16E7598708F5}"/>
          </ac:spMkLst>
        </pc:spChg>
        <pc:spChg chg="mod">
          <ac:chgData name="Brendan Murphy" userId="S::bmurphy@affirma.com::e9f923b6-6d89-4d4e-a3b7-d9304b9d44ba" providerId="AD" clId="Web-{A77841EF-4DBD-8F8A-BF82-21FDDDEC20B7}" dt="2026-01-15T23:21:04.137" v="5" actId="20577"/>
          <ac:spMkLst>
            <pc:docMk/>
            <pc:sldMk cId="1449797749" sldId="2147481415"/>
            <ac:spMk id="9" creationId="{719E90F7-BE03-76FF-DCA1-59100E19AA55}"/>
          </ac:spMkLst>
        </pc:spChg>
      </pc:sldChg>
    </pc:docChg>
  </pc:docChgLst>
  <pc:docChgLst>
    <pc:chgData name="Brendan Murphy" userId="S::bmurphy@affirma.com::e9f923b6-6d89-4d4e-a3b7-d9304b9d44ba" providerId="AD" clId="Web-{032BB1C5-47B8-F602-3831-D8B521825BF1}"/>
    <pc:docChg chg="addSld">
      <pc:chgData name="Brendan Murphy" userId="S::bmurphy@affirma.com::e9f923b6-6d89-4d4e-a3b7-d9304b9d44ba" providerId="AD" clId="Web-{032BB1C5-47B8-F602-3831-D8B521825BF1}" dt="2026-01-27T01:02:17.278" v="0"/>
      <pc:docMkLst>
        <pc:docMk/>
      </pc:docMkLst>
      <pc:sldChg chg="add">
        <pc:chgData name="Brendan Murphy" userId="S::bmurphy@affirma.com::e9f923b6-6d89-4d4e-a3b7-d9304b9d44ba" providerId="AD" clId="Web-{032BB1C5-47B8-F602-3831-D8B521825BF1}" dt="2026-01-27T01:02:17.278" v="0"/>
        <pc:sldMkLst>
          <pc:docMk/>
          <pc:sldMk cId="202842346" sldId="2147481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677DB-F7E3-4FAF-88DC-2C620B286EAC}" type="datetimeFigureOut"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77A1C-544E-40CD-88A9-26BACE4370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908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21965-173D-4231-5AB1-B40EB31D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5090D-3A7B-99C1-46F8-EA14232EE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AAD3F-AD53-DFC7-0B5E-D893B6874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36F5C-26B2-308A-0A0B-E710569CF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8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04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9D70A-24F1-C327-476D-3A7742907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EDF54E-66BF-FC44-79CD-06C15EF92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5A2F1-350B-AB17-1B3F-C66ABAD12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23B2-CD5D-4491-8E1A-173A45E54BF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2DEAD-0E25-04C5-A43B-2AA6C7741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C2E22-D5EF-2798-BD8C-ABFB40C75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BCDF-FCC9-4D88-BBA7-7AD93CAB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3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5C963-C39F-3AE7-0ADD-F8E056F16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1001B-61DA-670D-CA61-D186283C0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4E9A5-71DE-785F-D756-2BCE54CDF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23B2-CD5D-4491-8E1A-173A45E54BF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F5061-7241-D6DD-C7EB-40568E7F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21BB4-F7EF-CFB9-C60F-530658B48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BCDF-FCC9-4D88-BBA7-7AD93CAB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1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44B6-4018-68FF-4230-19DFAE75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97BF-2F4D-7B24-484E-9BAD73E03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89AF6-4032-4B32-6245-17B7EC0DF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23B2-CD5D-4491-8E1A-173A45E54BF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A07-E4F9-E0F1-56C4-47524778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2898A-805E-ABAB-01EE-9A8FF61E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BCDF-FCC9-4D88-BBA7-7AD93CAB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68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4ED5-588E-8A9F-AC8D-A917CB3EA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12339-2C9A-CFA4-F992-650357305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4EF39-0055-5F65-EF9E-1A81AA009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BBF74-AB83-BC77-F327-3B0ED1CDB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23B2-CD5D-4491-8E1A-173A45E54BF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6348D-644B-EB5F-527C-1E5D3F82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76775-1DD6-4C18-06A5-3BE1EA167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BCDF-FCC9-4D88-BBA7-7AD93CAB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0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F067-A5DB-EBCA-F784-42A18AF12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272FD-3137-1B9A-2CC9-702408CC9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7DD40-9353-8254-2A05-574B1C113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0AD533-2A2F-A433-CB93-16F633C80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BC333-3C36-F4DB-44F4-F5A34BEA2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0C898-DF0D-F406-A0F8-018C3901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23B2-CD5D-4491-8E1A-173A45E54BF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0C93EA-172A-012D-4875-CE76E5047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B86F8A-FAEA-1EE9-C742-50AC5B0A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BCDF-FCC9-4D88-BBA7-7AD93CAB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010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C5D7-4DF2-EE31-AACA-E04F1F34F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29AF8-3E3B-1E5C-6A67-AC86616D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23B2-CD5D-4491-8E1A-173A45E54BF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C3D21-BD8D-41D0-8D52-DCD4745B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0EA2C-87E1-32D2-DC88-F9C65F0A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BCDF-FCC9-4D88-BBA7-7AD93CAB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66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1568CE-4EAA-8126-FDE0-96AB7718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23B2-CD5D-4491-8E1A-173A45E54BF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47F71-C525-1C01-6376-E0043461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4DD73-EB27-A364-F518-829FE5B1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BCDF-FCC9-4D88-BBA7-7AD93CAB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38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4472-E5C0-FEEF-35E3-5D63D74AE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F480A-B7B3-F311-E3EE-3957BBE38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1BC59-6E48-618B-FEB9-F6E572CEC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A506F-6BD3-3418-502A-EC3EEDA9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23B2-CD5D-4491-8E1A-173A45E54BF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548F9-33B6-C427-D7E4-5EA0FD824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DAEED-D08E-74B9-8268-B2869750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BCDF-FCC9-4D88-BBA7-7AD93CAB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17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31E2F-3185-0BA3-2DB7-134A5DAF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FFDF2-60D3-424C-63B6-E52865FBF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4235D-0BF6-AC55-385E-1ADDE580A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91E1A-D6AF-672E-6791-9FFCB58B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23B2-CD5D-4491-8E1A-173A45E54BF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B1201-1B1C-5CA8-9A65-5F969300B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17160-F959-F2AC-4422-2AFCCC6F7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BCDF-FCC9-4D88-BBA7-7AD93CAB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07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0FFA7-C340-BC7F-E1A0-1C1BAD88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C0D11-EA88-99D3-1CDA-B77D07A03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BF020-764F-689D-63A7-4A5436713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23B2-CD5D-4491-8E1A-173A45E54BF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58E8E-5074-BF83-374E-78926113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FAB5F-414B-1925-1A6A-35C864B4F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BCDF-FCC9-4D88-BBA7-7AD93CAB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22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03E00F-45EF-69BF-BB88-03E99278A6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09F77-7F72-B065-C032-EBCF525B2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CF26F-D551-DA60-7023-2618DB0D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23B2-CD5D-4491-8E1A-173A45E54BF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971FC-E650-8929-81AF-FFF5DFEFB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7486D-2257-D259-B225-1E7323D4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CBCDF-FCC9-4D88-BBA7-7AD93CAB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57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876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4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83C6C0-BFC5-7720-7880-36F545D36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3D1E6-32C5-A91F-E9FD-FAC79B8AD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FCEE1-C832-9DB4-A20D-4735F58696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223B2-CD5D-4491-8E1A-173A45E54BF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1156D-BD20-1D15-E00F-5F2DA89BE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E5A3F-AD02-4A6D-044E-D922C4534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CBCDF-FCC9-4D88-BBA7-7AD93CABD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5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41020-AE09-1CDC-ED8A-2C24393CC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A50C-A4FA-4602-3CA2-CF536CCC36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pPr defTabSz="896533"/>
            <a:r>
              <a:rPr lang="en-US" sz="3200" dirty="0">
                <a:solidFill>
                  <a:srgbClr val="002060"/>
                </a:solidFill>
                <a:latin typeface="Poppins SemiBold"/>
                <a:cs typeface="Poppins SemiBold"/>
              </a:rPr>
              <a:t>Alorica – Website and Sales AI Agents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8377A7-E98E-BCFC-6118-DD4E4E86B018}"/>
              </a:ext>
            </a:extLst>
          </p:cNvPr>
          <p:cNvSpPr/>
          <p:nvPr/>
        </p:nvSpPr>
        <p:spPr>
          <a:xfrm>
            <a:off x="603283" y="1428869"/>
            <a:ext cx="6190283" cy="987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sz="1400" b="1" dirty="0">
                <a:solidFill>
                  <a:srgbClr val="008AD9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Business Need</a:t>
            </a:r>
            <a:endParaRPr lang="en-US" sz="1400" dirty="0">
              <a:solidFill>
                <a:srgbClr val="008AD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Alorica wanted to improve how prospective customers discover information on their public website and convert interest into qualified leads. In parallel, Sales and Operations teams needed a faster, more consistent way to respond to RFPs without manually searching through historical proposals and internal documentation.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7A5303-F6C4-A587-B09A-16E7598708F5}"/>
              </a:ext>
            </a:extLst>
          </p:cNvPr>
          <p:cNvSpPr/>
          <p:nvPr/>
        </p:nvSpPr>
        <p:spPr>
          <a:xfrm>
            <a:off x="602405" y="2587570"/>
            <a:ext cx="6190282" cy="167994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0">
              <a:spcAft>
                <a:spcPts val="500"/>
              </a:spcAft>
            </a:pPr>
            <a:r>
              <a:rPr lang="en-US" sz="1400" b="1" dirty="0">
                <a:solidFill>
                  <a:srgbClr val="008AD9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What We Did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16840" marR="0" lvl="0" indent="-1168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Implemented a customer-facing AI chatbot on Alorica’s public website to answer common questions, guide visitors to relevant services, and support lead generation</a:t>
            </a:r>
            <a:endParaRPr lang="en-US" sz="1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16840" marR="0" lvl="0" indent="-1168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Built an internal AI assistant to help Sales and Operations teams generate RFP responses using Alorica’s historical RFP library and approved company content</a:t>
            </a:r>
            <a:endParaRPr lang="en-US" sz="1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16840" marR="0" lvl="0" indent="-1168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Integrated both agents with proprietary data sources and applied governance controls to ensure accuracy, consistency, and approved messaging</a:t>
            </a:r>
            <a:endParaRPr lang="en-US" sz="1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16840" marR="0" lvl="0" indent="-1168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Enabled real-time voice-to-text interaction, allowing users to speak questions and receive immediate AI-generated responses.</a:t>
            </a:r>
            <a:endParaRPr lang="en-US" sz="1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CBDCFE-2C9A-0A31-814F-DECF995DD8A9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8F073-CD17-0AE1-CE8F-2DE6F8EBC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86DB-78DF-EB43-A6BE-40415A3A0052}" type="slidenum">
              <a:rPr lang="en-US" smtClean="0">
                <a:latin typeface="Poppins" panose="00000500000000000000" pitchFamily="2" charset="0"/>
                <a:cs typeface="Poppins" panose="00000500000000000000" pitchFamily="2" charset="0"/>
              </a:rPr>
              <a:pPr/>
              <a:t>1</a:t>
            </a:fld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9E90F7-BE03-76FF-DCA1-59100E19AA55}"/>
              </a:ext>
            </a:extLst>
          </p:cNvPr>
          <p:cNvSpPr/>
          <p:nvPr/>
        </p:nvSpPr>
        <p:spPr>
          <a:xfrm>
            <a:off x="602405" y="4361824"/>
            <a:ext cx="6190282" cy="167994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400" b="1" dirty="0">
                <a:solidFill>
                  <a:srgbClr val="008AD9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Results</a:t>
            </a:r>
          </a:p>
          <a:p>
            <a:pPr marL="116840" marR="0" lvl="0" indent="-1168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Increased website engagement by providing immediate, contextual answers to prospective customers</a:t>
            </a: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16840" marR="0" lvl="0" indent="-1168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Reduced time and effort required to produce RFP responses by enabling teams to retrieve accurate answers in seconds</a:t>
            </a: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16840" marR="0" lvl="0" indent="-1168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Improved consistency and quality of customer-facing messaging and sales proposals at scale</a:t>
            </a: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16840" marR="0" lvl="0" indent="-1168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Expanded accessibility and usability through voice-driven interactions, supporting faster engagement and hands-free workflows.</a:t>
            </a:r>
            <a:endParaRPr lang="en-US" sz="1600" dirty="0">
              <a:solidFill>
                <a:srgbClr val="008AD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8F378B06-2955-97A6-BC8C-9B2B5452C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730" y="1560523"/>
            <a:ext cx="2467583" cy="70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5486816-B0D0-E583-6FA9-169CFFA1DD5F}"/>
              </a:ext>
            </a:extLst>
          </p:cNvPr>
          <p:cNvGrpSpPr>
            <a:grpSpLocks noChangeAspect="1"/>
          </p:cNvGrpSpPr>
          <p:nvPr/>
        </p:nvGrpSpPr>
        <p:grpSpPr>
          <a:xfrm>
            <a:off x="6943705" y="2913827"/>
            <a:ext cx="5467634" cy="3192263"/>
            <a:chOff x="1198880" y="1885491"/>
            <a:chExt cx="7386320" cy="431248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B09982-362B-F2DC-14D0-8672117C69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r="880" b="-3926"/>
            <a:stretch/>
          </p:blipFill>
          <p:spPr>
            <a:xfrm>
              <a:off x="1198880" y="1885491"/>
              <a:ext cx="7386320" cy="43124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91C252D-DE11-1EA3-721C-19BD449DF2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95" t="4186"/>
            <a:stretch/>
          </p:blipFill>
          <p:spPr>
            <a:xfrm>
              <a:off x="2069079" y="2098593"/>
              <a:ext cx="5708818" cy="3225249"/>
            </a:xfrm>
            <a:prstGeom prst="rect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44979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8F94-B25D-4165-A05B-C919FE124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Alorica – AI Website Chat Bot &amp; RFP Assistant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F2B66-DDE5-4864-A22D-CB25B97C1045}"/>
              </a:ext>
            </a:extLst>
          </p:cNvPr>
          <p:cNvSpPr txBox="1"/>
          <p:nvPr/>
        </p:nvSpPr>
        <p:spPr>
          <a:xfrm>
            <a:off x="322661" y="1336260"/>
            <a:ext cx="5271978" cy="256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000" b="1">
                <a:solidFill>
                  <a:srgbClr val="0089D9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Business Need</a:t>
            </a:r>
            <a:endParaRPr lang="en-US" sz="2000">
              <a:solidFill>
                <a:srgbClr val="0089D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333">
                <a:latin typeface="Poppins" panose="00000500000000000000" pitchFamily="2" charset="0"/>
                <a:cs typeface="Poppins" panose="00000500000000000000" pitchFamily="2" charset="0"/>
              </a:rPr>
              <a:t>Alorica came to Affirma for support developing two key AI experiences for their customers and internal teams:</a:t>
            </a:r>
          </a:p>
          <a:p>
            <a:pPr marL="238115" indent="-238115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33">
                <a:latin typeface="Poppins" panose="00000500000000000000" pitchFamily="2" charset="0"/>
                <a:cs typeface="Poppins" panose="00000500000000000000" pitchFamily="2" charset="0"/>
              </a:rPr>
              <a:t>A customer-facing chat bot on their public website to answer questions and guide site visitors to the right information. </a:t>
            </a:r>
          </a:p>
          <a:p>
            <a:pPr marL="238115" indent="-238115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33">
                <a:latin typeface="Poppins" panose="00000500000000000000" pitchFamily="2" charset="0"/>
                <a:cs typeface="Poppins" panose="00000500000000000000" pitchFamily="2" charset="0"/>
              </a:rPr>
              <a:t>An AI Assistant to support Sales and Operations teams with RFP creation by providing key company information and answers to questions from their historical RFP library.</a:t>
            </a:r>
          </a:p>
        </p:txBody>
      </p:sp>
      <p:pic>
        <p:nvPicPr>
          <p:cNvPr id="20" name="Picture 2" descr="Related image">
            <a:extLst>
              <a:ext uri="{FF2B5EF4-FFF2-40B4-BE49-F238E27FC236}">
                <a16:creationId xmlns:a16="http://schemas.microsoft.com/office/drawing/2014/main" id="{353FC0D9-BA78-4986-9470-B2F359824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418" y="1413857"/>
            <a:ext cx="2467583" cy="70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F44B208-63C6-179B-9AC1-8D5900F17A85}"/>
              </a:ext>
            </a:extLst>
          </p:cNvPr>
          <p:cNvGrpSpPr>
            <a:grpSpLocks noChangeAspect="1"/>
          </p:cNvGrpSpPr>
          <p:nvPr/>
        </p:nvGrpSpPr>
        <p:grpSpPr>
          <a:xfrm>
            <a:off x="5713761" y="2356884"/>
            <a:ext cx="7027588" cy="3701487"/>
            <a:chOff x="1198880" y="1885491"/>
            <a:chExt cx="7386320" cy="389043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D1B3999-AB70-844D-6A82-73A77B3F16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r="880" b="6244"/>
            <a:stretch/>
          </p:blipFill>
          <p:spPr>
            <a:xfrm>
              <a:off x="1198880" y="1885491"/>
              <a:ext cx="7386320" cy="389043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423EB0A-004D-0FB2-A5F6-5A76A16B7D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95" t="4186"/>
            <a:stretch/>
          </p:blipFill>
          <p:spPr>
            <a:xfrm>
              <a:off x="2069079" y="2098593"/>
              <a:ext cx="5708818" cy="3225249"/>
            </a:xfrm>
            <a:prstGeom prst="rect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04EA10F-97F9-33E3-C983-14857B0464DC}"/>
              </a:ext>
            </a:extLst>
          </p:cNvPr>
          <p:cNvSpPr txBox="1"/>
          <p:nvPr/>
        </p:nvSpPr>
        <p:spPr>
          <a:xfrm>
            <a:off x="322661" y="3981504"/>
            <a:ext cx="5528932" cy="1389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000" b="1">
                <a:solidFill>
                  <a:srgbClr val="0089D9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What We Did</a:t>
            </a:r>
            <a:endParaRPr lang="en-US" sz="2000">
              <a:solidFill>
                <a:srgbClr val="0089D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333">
                <a:latin typeface="Poppins" panose="00000500000000000000" pitchFamily="2" charset="0"/>
                <a:cs typeface="Poppins" panose="00000500000000000000" pitchFamily="2" charset="0"/>
              </a:rPr>
              <a:t>Affirma developed Python tools to ingest and understand the client’s data set, including website contents and company documents. These tools converted the data into chunk storage in a vector database, where inputs could be fuzzy-searched.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15FEA6-6A81-7AB0-9229-B57B49AA9799}"/>
              </a:ext>
            </a:extLst>
          </p:cNvPr>
          <p:cNvSpPr txBox="1"/>
          <p:nvPr/>
        </p:nvSpPr>
        <p:spPr>
          <a:xfrm>
            <a:off x="322661" y="5449567"/>
            <a:ext cx="5212493" cy="7832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76845" rtl="0" eaLnBrk="1" fontAlgn="auto" latinLnBrk="0" hangingPunct="1">
              <a:lnSpc>
                <a:spcPct val="114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Front-end chat bot widgets were developed to be embedded on any HTML page, supporting both text and audio input/output using state of the art AI text-to-speech. </a:t>
            </a:r>
          </a:p>
        </p:txBody>
      </p:sp>
    </p:spTree>
    <p:extLst>
      <p:ext uri="{BB962C8B-B14F-4D97-AF65-F5344CB8AC3E}">
        <p14:creationId xmlns:p14="http://schemas.microsoft.com/office/powerpoint/2010/main" val="202842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BPO</Value>
      <Value>Services</Value>
    </Industries>
    <PlatTech xmlns="f0ee8362-fa7e-4bc9-ab88-7dcfb17cb19b" xsi:nil="true"/>
    <BusinessUnit xmlns="f0ee8362-fa7e-4bc9-ab88-7dcfb17cb19b">
      <Value>Custom Development</Value>
    </BusinessUnit>
    <Solutions xmlns="f0ee8362-fa7e-4bc9-ab88-7dcfb17cb19b">
      <Value>AI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F582E1-A2C0-4F0A-B4F3-7492CCC56EF1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2.xml><?xml version="1.0" encoding="utf-8"?>
<ds:datastoreItem xmlns:ds="http://schemas.openxmlformats.org/officeDocument/2006/customXml" ds:itemID="{5F79E70B-9941-4564-8C58-EEA79E1047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EF177A-B236-4E15-B957-705B4F554AC4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E0029158-4DC1-491C-8F42-455BCDA4BA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e8362-fa7e-4bc9-ab88-7dcfb17cb1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Widescreen</PresentationFormat>
  <Paragraphs>7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Alorica – Website and Sales AI Agents</vt:lpstr>
      <vt:lpstr>Alorica – AI Website Chat Bot &amp; RFP Assistant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Alorica – Website Chat Bot &amp; RFP Assistant</dc:title>
  <dc:creator>Brendan Murphy</dc:creator>
  <cp:lastModifiedBy>Brendan Murphy</cp:lastModifiedBy>
  <cp:revision>10</cp:revision>
  <dcterms:created xsi:type="dcterms:W3CDTF">2024-06-26T03:40:30Z</dcterms:created>
  <dcterms:modified xsi:type="dcterms:W3CDTF">2026-01-27T01:02:28Z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