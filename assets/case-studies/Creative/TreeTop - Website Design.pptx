
<file path=[Content_Types].xml><?xml version="1.0" encoding="utf-8"?>
<Types xmlns="http://schemas.openxmlformats.org/package/2006/content-types">
  <Default Extension="bin" ContentType="image/jp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6"/>
  </p:notesMasterIdLst>
  <p:sldIdLst>
    <p:sldId id="300"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812A"/>
    <a:srgbClr val="182D4C"/>
    <a:srgbClr val="2F2F2F"/>
    <a:srgbClr val="6C86B8"/>
    <a:srgbClr val="D87724"/>
    <a:srgbClr val="6A93D0"/>
    <a:srgbClr val="192943"/>
    <a:srgbClr val="1C375C"/>
    <a:srgbClr val="2F4E7F"/>
    <a:srgbClr val="2D55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E27B09F-703E-B000-F196-978D6FE7B4B2}" v="1" dt="2021-03-02T00:11:05.848"/>
  </p1510:revLst>
</p1510:revInfo>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69" autoAdjust="0"/>
    <p:restoredTop sz="94608"/>
  </p:normalViewPr>
  <p:slideViewPr>
    <p:cSldViewPr snapToGrid="0" snapToObjects="1">
      <p:cViewPr varScale="1">
        <p:scale>
          <a:sx n="56" d="100"/>
          <a:sy n="56" d="100"/>
        </p:scale>
        <p:origin x="918" y="78"/>
      </p:cViewPr>
      <p:guideLst>
        <p:guide orient="horz" pos="2160"/>
        <p:guide pos="381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13" Type="http://schemas.openxmlformats.org/officeDocument/2006/relationships/customXml" Target="../customXml/item4.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itlin Andrade" userId="S::kandrade@affirma.com::d699e9b3-1d8d-4c82-8778-0e73bb2e5775" providerId="AD" clId="Web-{2E27B09F-703E-B000-F196-978D6FE7B4B2}"/>
    <pc:docChg chg="modSld">
      <pc:chgData name="Kaitlin Andrade" userId="S::kandrade@affirma.com::d699e9b3-1d8d-4c82-8778-0e73bb2e5775" providerId="AD" clId="Web-{2E27B09F-703E-B000-F196-978D6FE7B4B2}" dt="2021-03-02T00:11:05.848" v="0" actId="1076"/>
      <pc:docMkLst>
        <pc:docMk/>
      </pc:docMkLst>
      <pc:sldChg chg="modSp">
        <pc:chgData name="Kaitlin Andrade" userId="S::kandrade@affirma.com::d699e9b3-1d8d-4c82-8778-0e73bb2e5775" providerId="AD" clId="Web-{2E27B09F-703E-B000-F196-978D6FE7B4B2}" dt="2021-03-02T00:11:05.848" v="0" actId="1076"/>
        <pc:sldMkLst>
          <pc:docMk/>
          <pc:sldMk cId="2582825011" sldId="300"/>
        </pc:sldMkLst>
        <pc:spChg chg="mod">
          <ac:chgData name="Kaitlin Andrade" userId="S::kandrade@affirma.com::d699e9b3-1d8d-4c82-8778-0e73bb2e5775" providerId="AD" clId="Web-{2E27B09F-703E-B000-F196-978D6FE7B4B2}" dt="2021-03-02T00:11:05.848" v="0" actId="1076"/>
          <ac:spMkLst>
            <pc:docMk/>
            <pc:sldMk cId="2582825011" sldId="300"/>
            <ac:spMk id="31" creationId="{EC9A7433-5BCD-4EA6-924A-53FDBF0CAAA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BC89A5-BE3E-2441-87C0-54B69ED90FC7}" type="datetimeFigureOut">
              <a:t>3/1/2021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022639-76C9-2740-BE4D-A4E2B1985EBA}" type="slidenum">
              <a:t>‹#›</a:t>
            </a:fld>
            <a:endParaRPr lang="en-US"/>
          </a:p>
        </p:txBody>
      </p:sp>
    </p:spTree>
    <p:extLst>
      <p:ext uri="{BB962C8B-B14F-4D97-AF65-F5344CB8AC3E}">
        <p14:creationId xmlns:p14="http://schemas.microsoft.com/office/powerpoint/2010/main" val="1416130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Picture Placeholder 7"/>
          <p:cNvSpPr>
            <a:spLocks noGrp="1"/>
          </p:cNvSpPr>
          <p:nvPr>
            <p:ph type="pic" sz="quarter" idx="10"/>
          </p:nvPr>
        </p:nvSpPr>
        <p:spPr>
          <a:xfrm>
            <a:off x="0" y="0"/>
            <a:ext cx="12192001" cy="6858000"/>
          </a:xfrm>
          <a:pattFill prst="divot">
            <a:fgClr>
              <a:schemeClr val="bg1">
                <a:lumMod val="85000"/>
              </a:schemeClr>
            </a:fgClr>
            <a:bgClr>
              <a:schemeClr val="bg1"/>
            </a:bgClr>
          </a:pattFill>
        </p:spPr>
        <p:txBody>
          <a:bodyPr anchor="ctr">
            <a:normAutofit/>
          </a:bodyPr>
          <a:lstStyle>
            <a:lvl1pPr marL="0" indent="0" algn="ctr">
              <a:buNone/>
              <a:defRPr sz="1800"/>
            </a:lvl1pPr>
          </a:lstStyle>
          <a:p>
            <a:endParaRPr lang="en-US"/>
          </a:p>
        </p:txBody>
      </p:sp>
    </p:spTree>
    <p:extLst>
      <p:ext uri="{BB962C8B-B14F-4D97-AF65-F5344CB8AC3E}">
        <p14:creationId xmlns:p14="http://schemas.microsoft.com/office/powerpoint/2010/main" val="1802982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1405468" y="1418121"/>
            <a:ext cx="3782286" cy="3782286"/>
          </a:xfrm>
          <a:custGeom>
            <a:avLst/>
            <a:gdLst>
              <a:gd name="connsiteX0" fmla="*/ 1891143 w 3782286"/>
              <a:gd name="connsiteY0" fmla="*/ 0 h 3782286"/>
              <a:gd name="connsiteX1" fmla="*/ 3782286 w 3782286"/>
              <a:gd name="connsiteY1" fmla="*/ 1891143 h 3782286"/>
              <a:gd name="connsiteX2" fmla="*/ 1891143 w 3782286"/>
              <a:gd name="connsiteY2" fmla="*/ 3782286 h 3782286"/>
              <a:gd name="connsiteX3" fmla="*/ 0 w 3782286"/>
              <a:gd name="connsiteY3" fmla="*/ 1891143 h 3782286"/>
              <a:gd name="connsiteX4" fmla="*/ 1891143 w 3782286"/>
              <a:gd name="connsiteY4" fmla="*/ 0 h 3782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2286" h="3782286">
                <a:moveTo>
                  <a:pt x="1891143" y="0"/>
                </a:moveTo>
                <a:cubicBezTo>
                  <a:pt x="2935592" y="0"/>
                  <a:pt x="3782286" y="846694"/>
                  <a:pt x="3782286" y="1891143"/>
                </a:cubicBezTo>
                <a:cubicBezTo>
                  <a:pt x="3782286" y="2935592"/>
                  <a:pt x="2935592" y="3782286"/>
                  <a:pt x="1891143" y="3782286"/>
                </a:cubicBezTo>
                <a:cubicBezTo>
                  <a:pt x="846694" y="3782286"/>
                  <a:pt x="0" y="2935592"/>
                  <a:pt x="0" y="1891143"/>
                </a:cubicBezTo>
                <a:cubicBezTo>
                  <a:pt x="0" y="846694"/>
                  <a:pt x="846694" y="0"/>
                  <a:pt x="1891143" y="0"/>
                </a:cubicBezTo>
                <a:close/>
              </a:path>
            </a:pathLst>
          </a:custGeom>
          <a:pattFill prst="divot">
            <a:fgClr>
              <a:schemeClr val="bg1">
                <a:lumMod val="85000"/>
              </a:schemeClr>
            </a:fgClr>
            <a:bgClr>
              <a:schemeClr val="bg1"/>
            </a:bgClr>
          </a:pattFill>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4135901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10" name="Picture Placeholder 9"/>
          <p:cNvSpPr>
            <a:spLocks noGrp="1"/>
          </p:cNvSpPr>
          <p:nvPr>
            <p:ph type="pic" sz="quarter" idx="10"/>
          </p:nvPr>
        </p:nvSpPr>
        <p:spPr>
          <a:xfrm>
            <a:off x="8763000" y="0"/>
            <a:ext cx="3429000" cy="6858000"/>
          </a:xfrm>
          <a:custGeom>
            <a:avLst/>
            <a:gdLst>
              <a:gd name="connsiteX0" fmla="*/ 3429000 w 3429000"/>
              <a:gd name="connsiteY0" fmla="*/ 0 h 6858000"/>
              <a:gd name="connsiteX1" fmla="*/ 3429000 w 3429000"/>
              <a:gd name="connsiteY1" fmla="*/ 6858000 h 6858000"/>
              <a:gd name="connsiteX2" fmla="*/ 0 w 3429000"/>
              <a:gd name="connsiteY2" fmla="*/ 3429000 h 6858000"/>
              <a:gd name="connsiteX3" fmla="*/ 3429000 w 3429000"/>
              <a:gd name="connsiteY3" fmla="*/ 0 h 6858000"/>
            </a:gdLst>
            <a:ahLst/>
            <a:cxnLst>
              <a:cxn ang="0">
                <a:pos x="connsiteX0" y="connsiteY0"/>
              </a:cxn>
              <a:cxn ang="0">
                <a:pos x="connsiteX1" y="connsiteY1"/>
              </a:cxn>
              <a:cxn ang="0">
                <a:pos x="connsiteX2" y="connsiteY2"/>
              </a:cxn>
              <a:cxn ang="0">
                <a:pos x="connsiteX3" y="connsiteY3"/>
              </a:cxn>
            </a:cxnLst>
            <a:rect l="l" t="t" r="r" b="b"/>
            <a:pathLst>
              <a:path w="3429000" h="6858000">
                <a:moveTo>
                  <a:pt x="3429000" y="0"/>
                </a:moveTo>
                <a:lnTo>
                  <a:pt x="3429000" y="6858000"/>
                </a:lnTo>
                <a:cubicBezTo>
                  <a:pt x="1535216" y="6858000"/>
                  <a:pt x="0" y="5322784"/>
                  <a:pt x="0" y="3429000"/>
                </a:cubicBezTo>
                <a:cubicBezTo>
                  <a:pt x="0" y="1535217"/>
                  <a:pt x="1535216" y="0"/>
                  <a:pt x="3429000" y="0"/>
                </a:cubicBezTo>
                <a:close/>
              </a:path>
            </a:pathLst>
          </a:custGeom>
          <a:pattFill prst="divot">
            <a:fgClr>
              <a:schemeClr val="bg1">
                <a:lumMod val="85000"/>
              </a:schemeClr>
            </a:fgClr>
            <a:bgClr>
              <a:schemeClr val="bg1"/>
            </a:bgClr>
          </a:pattFill>
          <a:ln>
            <a:noFill/>
          </a:ln>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1740639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ase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0" y="994299"/>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858128" y="2008164"/>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858129" y="1581124"/>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858128" y="3525482"/>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858129" y="3098442"/>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873603" y="5568668"/>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873603" y="5141628"/>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7604616" y="3578094"/>
            <a:ext cx="4254500" cy="2755900"/>
          </a:xfrm>
        </p:spPr>
        <p:txBody>
          <a:bodyPr/>
          <a:lstStyle>
            <a:lvl1pPr>
              <a:defRPr/>
            </a:lvl1pPr>
          </a:lstStyle>
          <a:p>
            <a:r>
              <a:rPr lang="en-US" dirty="0" err="1"/>
              <a:t>screenshotplace</a:t>
            </a:r>
            <a:endParaRPr lang="en-US" dirty="0"/>
          </a:p>
        </p:txBody>
      </p:sp>
      <p:sp>
        <p:nvSpPr>
          <p:cNvPr id="5" name="Picture Placeholder 4">
            <a:extLst>
              <a:ext uri="{FF2B5EF4-FFF2-40B4-BE49-F238E27FC236}">
                <a16:creationId xmlns:a16="http://schemas.microsoft.com/office/drawing/2014/main" id="{3ECA3D9A-2ED8-4AE0-ACE4-B53CB627B2D7}"/>
              </a:ext>
            </a:extLst>
          </p:cNvPr>
          <p:cNvSpPr>
            <a:spLocks noGrp="1"/>
          </p:cNvSpPr>
          <p:nvPr>
            <p:ph type="pic" sz="quarter" idx="12"/>
          </p:nvPr>
        </p:nvSpPr>
        <p:spPr>
          <a:xfrm>
            <a:off x="8797646" y="1565275"/>
            <a:ext cx="1781175" cy="1770063"/>
          </a:xfrm>
        </p:spPr>
        <p:txBody>
          <a:bodyPr/>
          <a:lstStyle/>
          <a:p>
            <a:endParaRPr lang="en-US"/>
          </a:p>
        </p:txBody>
      </p:sp>
    </p:spTree>
    <p:extLst>
      <p:ext uri="{BB962C8B-B14F-4D97-AF65-F5344CB8AC3E}">
        <p14:creationId xmlns:p14="http://schemas.microsoft.com/office/powerpoint/2010/main" val="258282501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ase (Righ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4953002" y="988395"/>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5811130" y="2002260"/>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5811131" y="1575220"/>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5811130" y="3519578"/>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5811131" y="3092538"/>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5826605" y="5562764"/>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5826605" y="5135724"/>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381000" y="3550917"/>
            <a:ext cx="4254500" cy="2755900"/>
          </a:xfrm>
        </p:spPr>
        <p:txBody>
          <a:bodyPr/>
          <a:lstStyle>
            <a:lvl1pPr>
              <a:defRPr/>
            </a:lvl1pPr>
          </a:lstStyle>
          <a:p>
            <a:r>
              <a:rPr lang="en-US" dirty="0" err="1"/>
              <a:t>screenshotplace</a:t>
            </a:r>
            <a:endParaRPr lang="en-US" dirty="0"/>
          </a:p>
        </p:txBody>
      </p:sp>
      <p:sp>
        <p:nvSpPr>
          <p:cNvPr id="37" name="Picture Placeholder 4">
            <a:extLst>
              <a:ext uri="{FF2B5EF4-FFF2-40B4-BE49-F238E27FC236}">
                <a16:creationId xmlns:a16="http://schemas.microsoft.com/office/drawing/2014/main" id="{EB585296-BAA5-41EE-AC7D-F347285C3162}"/>
              </a:ext>
            </a:extLst>
          </p:cNvPr>
          <p:cNvSpPr>
            <a:spLocks noGrp="1"/>
          </p:cNvSpPr>
          <p:nvPr>
            <p:ph type="pic" sz="quarter" idx="12"/>
          </p:nvPr>
        </p:nvSpPr>
        <p:spPr>
          <a:xfrm>
            <a:off x="1615685" y="1531636"/>
            <a:ext cx="1781175" cy="1770063"/>
          </a:xfrm>
        </p:spPr>
        <p:txBody>
          <a:bodyPr/>
          <a:lstStyle/>
          <a:p>
            <a:endParaRPr lang="en-US"/>
          </a:p>
        </p:txBody>
      </p:sp>
    </p:spTree>
    <p:extLst>
      <p:ext uri="{BB962C8B-B14F-4D97-AF65-F5344CB8AC3E}">
        <p14:creationId xmlns:p14="http://schemas.microsoft.com/office/powerpoint/2010/main" val="73129046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5A23AB-5C46-FA4A-BF97-1CB175D11720}" type="datetimeFigureOut">
              <a:t>3/1/2021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00B42A-9AC8-E54B-B87E-06913CF81F51}" type="slidenum">
              <a:t>‹#›</a:t>
            </a:fld>
            <a:endParaRPr lang="en-US"/>
          </a:p>
        </p:txBody>
      </p:sp>
    </p:spTree>
    <p:extLst>
      <p:ext uri="{BB962C8B-B14F-4D97-AF65-F5344CB8AC3E}">
        <p14:creationId xmlns:p14="http://schemas.microsoft.com/office/powerpoint/2010/main" val="2069889758"/>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8" r:id="rId3"/>
    <p:sldLayoutId id="2147483712" r:id="rId4"/>
    <p:sldLayoutId id="214748371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bin"/><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Case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Treetop Custom Website Design</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0" y="994299"/>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962903" y="2017689"/>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Tree Top wanted a dynamic site that would engage both consumers and food distribution services. The overall goals were to replace the outdated static site, increase site traffic, and inform consumers about food services.</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858129" y="1581124"/>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858128" y="3525482"/>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Affirma produced wireframes, mood boards, design specs, and conducted a full design review in order to help achieve the look and feel of the company.
We focused on improving not only the design, but also functionality of the site. Affirma allowed Tree Top to access all of their important data from a single source by implementing membership forms, a recipe finder, specialized search, and a custom product lookup piece.
</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858129" y="3098442"/>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873603" y="5568668"/>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Affirma’s custom website design yielded a dramatic increase in site traffic as well as a more functional and intuitive way to manage content. The Tree Top team was pleased with the enhanced usability of their site, the ease with which design updates could be implemented as needed, and their ability to access product data, recipes, and other key information from a centralized location. </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873603" y="5141628"/>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pic>
        <p:nvPicPr>
          <p:cNvPr id="4" name="Picture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04616" y="3578094"/>
            <a:ext cx="4254500" cy="2755900"/>
          </a:xfrm>
          <a:prstGeom prst="rect">
            <a:avLst/>
          </a:prstGeom>
        </p:spPr>
      </p:pic>
    </p:spTree>
    <p:extLst>
      <p:ext uri="{BB962C8B-B14F-4D97-AF65-F5344CB8AC3E}">
        <p14:creationId xmlns:p14="http://schemas.microsoft.com/office/powerpoint/2010/main" val="2582825011"/>
      </p:ext>
    </p:extLst>
  </p:cSld>
  <p:clrMapOvr>
    <a:masterClrMapping/>
  </p:clrMapOvr>
</p:sld>
</file>

<file path=ppt/theme/theme1.xml><?xml version="1.0" encoding="utf-8"?>
<a:theme xmlns:a="http://schemas.openxmlformats.org/drawingml/2006/main" name="Office Theme">
  <a:themeElements>
    <a:clrScheme name="Suavedigital">
      <a:dk1>
        <a:srgbClr val="242527"/>
      </a:dk1>
      <a:lt1>
        <a:srgbClr val="FFFFFF"/>
      </a:lt1>
      <a:dk2>
        <a:srgbClr val="262626"/>
      </a:dk2>
      <a:lt2>
        <a:srgbClr val="FFFFFF"/>
      </a:lt2>
      <a:accent1>
        <a:srgbClr val="FFC017"/>
      </a:accent1>
      <a:accent2>
        <a:srgbClr val="535353"/>
      </a:accent2>
      <a:accent3>
        <a:srgbClr val="A7A7A7"/>
      </a:accent3>
      <a:accent4>
        <a:srgbClr val="D2DDD9"/>
      </a:accent4>
      <a:accent5>
        <a:srgbClr val="3F3F3F"/>
      </a:accent5>
      <a:accent6>
        <a:srgbClr val="2C2C2C"/>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Creative</Value>
    </BusinessUnit>
    <Solutions xmlns="f0ee8362-fa7e-4bc9-ab88-7dcfb17cb19b">
      <Value>Websites</Value>
    </Solutions>
    <Industries xmlns="f0ee8362-fa7e-4bc9-ab88-7dcfb17cb19b">
      <Value>Food</Value>
    </Industries>
    <Notes0 xmlns="f0ee8362-fa7e-4bc9-ab88-7dcfb17cb19b" xsi:nil="true"/>
    <Named_x0020_Account xmlns="f0ee8362-fa7e-4bc9-ab88-7dcfb17cb19b" xsi:nil="true"/>
    <PlatTech xmlns="f0ee8362-fa7e-4bc9-ab88-7dcfb17cb19b" xsi:nil="true"/>
    <ProjectCompletionDate xmlns="f0ee8362-fa7e-4bc9-ab88-7dcfb17cb19b" xsi:nil="true"/>
    <ApprovedByClient xmlns="f0ee8362-fa7e-4bc9-ab88-7dcfb17cb19b">false</ApprovedByClient>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customXsn xmlns="http://schemas.microsoft.com/office/2006/metadata/customXsn">
  <xsnLocation/>
  <cached>True</cached>
  <openByDefault>False</openByDefault>
  <xsnScope/>
</customXsn>
</file>

<file path=customXml/itemProps1.xml><?xml version="1.0" encoding="utf-8"?>
<ds:datastoreItem xmlns:ds="http://schemas.openxmlformats.org/officeDocument/2006/customXml" ds:itemID="{6385D749-F590-4CA4-86E8-E7340AE99945}">
  <ds:schemaRefs>
    <ds:schemaRef ds:uri="http://schemas.microsoft.com/office/2006/metadata/properties"/>
    <ds:schemaRef ds:uri="http://schemas.microsoft.com/office/infopath/2007/PartnerControls"/>
    <ds:schemaRef ds:uri="54243e05-8da7-404c-85e0-0480aaa26276"/>
  </ds:schemaRefs>
</ds:datastoreItem>
</file>

<file path=customXml/itemProps2.xml><?xml version="1.0" encoding="utf-8"?>
<ds:datastoreItem xmlns:ds="http://schemas.openxmlformats.org/officeDocument/2006/customXml" ds:itemID="{11DF73CA-D6ED-418A-A3FA-55D8D9EE0DB4}">
  <ds:schemaRefs>
    <ds:schemaRef ds:uri="http://schemas.microsoft.com/sharepoint/v3/contenttype/forms"/>
  </ds:schemaRefs>
</ds:datastoreItem>
</file>

<file path=customXml/itemProps3.xml><?xml version="1.0" encoding="utf-8"?>
<ds:datastoreItem xmlns:ds="http://schemas.openxmlformats.org/officeDocument/2006/customXml" ds:itemID="{E3465EF9-43A9-4685-841F-36FB78891F95}"/>
</file>

<file path=customXml/itemProps4.xml><?xml version="1.0" encoding="utf-8"?>
<ds:datastoreItem xmlns:ds="http://schemas.openxmlformats.org/officeDocument/2006/customXml" ds:itemID="{2AEF3746-709F-4915-9413-DD92BA710333}"/>
</file>

<file path=docProps/app.xml><?xml version="1.0" encoding="utf-8"?>
<Properties xmlns="http://schemas.openxmlformats.org/officeDocument/2006/extended-properties" xmlns:vt="http://schemas.openxmlformats.org/officeDocument/2006/docPropsVTypes">
  <TotalTime>4898</TotalTime>
  <Words>68</Words>
  <Application>Microsoft Office PowerPoint</Application>
  <PresentationFormat>Widescreen</PresentationFormat>
  <Paragraphs>2</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Treetop Custom Website Design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Don Hyun</cp:lastModifiedBy>
  <cp:revision>572</cp:revision>
  <dcterms:created xsi:type="dcterms:W3CDTF">2017-10-09T12:47:23Z</dcterms:created>
  <dcterms:modified xsi:type="dcterms:W3CDTF">2021-03-02T00:11:06Z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y fmtid="{D5CDD505-2E9C-101B-9397-08002B2CF9AE}" pid="3" name="Business Unit">
    <vt:lpwstr/>
  </property>
  <property fmtid="{D5CDD505-2E9C-101B-9397-08002B2CF9AE}" pid="4" name="Industry">
    <vt:lpwstr>38;#Food|46041b94-1b79-4ecc-9dec-124819e4695a</vt:lpwstr>
  </property>
  <property fmtid="{D5CDD505-2E9C-101B-9397-08002B2CF9AE}" pid="5" name="Service_x0020_Offering">
    <vt:lpwstr/>
  </property>
  <property fmtid="{D5CDD505-2E9C-101B-9397-08002B2CF9AE}" pid="6" name="Business_x0020_Unit">
    <vt:lpwstr/>
  </property>
  <property fmtid="{D5CDD505-2E9C-101B-9397-08002B2CF9AE}" pid="7" name="_ExtendedDescription">
    <vt:lpwstr/>
  </property>
  <property fmtid="{D5CDD505-2E9C-101B-9397-08002B2CF9AE}" pid="8" name="Service Offering">
    <vt:lpwstr/>
  </property>
  <property fmtid="{D5CDD505-2E9C-101B-9397-08002B2CF9AE}" pid="9" name="Category">
    <vt:lpwstr>6;#Case Study|8faa0ad1-25f0-4f56-8e38-f60e20c455d6</vt:lpwstr>
  </property>
  <property fmtid="{D5CDD505-2E9C-101B-9397-08002B2CF9AE}" pid="10" name="Order">
    <vt:r8>25100</vt:r8>
  </property>
  <property fmtid="{D5CDD505-2E9C-101B-9397-08002B2CF9AE}" pid="11" name="xd_Signature">
    <vt:bool>false</vt:bool>
  </property>
  <property fmtid="{D5CDD505-2E9C-101B-9397-08002B2CF9AE}" pid="12" name="SO">
    <vt:lpwstr>43;#;#44;#</vt:lpwstr>
  </property>
  <property fmtid="{D5CDD505-2E9C-101B-9397-08002B2CF9AE}" pid="13" name="xd_ProgID">
    <vt:lpwstr/>
  </property>
  <property fmtid="{D5CDD505-2E9C-101B-9397-08002B2CF9AE}" pid="14" name="_SourceUrl">
    <vt:lpwstr/>
  </property>
  <property fmtid="{D5CDD505-2E9C-101B-9397-08002B2CF9AE}" pid="15" name="_SharedFileIndex">
    <vt:lpwstr/>
  </property>
  <property fmtid="{D5CDD505-2E9C-101B-9397-08002B2CF9AE}" pid="16" name="ComplianceAssetId">
    <vt:lpwstr/>
  </property>
  <property fmtid="{D5CDD505-2E9C-101B-9397-08002B2CF9AE}" pid="17" name="TemplateUrl">
    <vt:lpwstr/>
  </property>
  <property fmtid="{D5CDD505-2E9C-101B-9397-08002B2CF9AE}" pid="18" name="TriggerFlowInfo">
    <vt:lpwstr/>
  </property>
</Properties>
</file>