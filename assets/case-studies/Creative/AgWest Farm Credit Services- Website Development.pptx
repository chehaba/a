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8"/>
  </p:notesMasterIdLst>
  <p:sldIdLst>
    <p:sldId id="2147481396" r:id="rId6"/>
    <p:sldId id="21474696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235041-0CFB-4B0C-B2A0-CAD26F39229E}" v="1" dt="2026-01-13T00:26:38.950"/>
    <p1510:client id="{FF847144-63FF-4548-6448-25F958365662}" v="7" dt="2026-01-13T00:26:22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0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e9f923b6-6d89-4d4e-a3b7-d9304b9d44ba" providerId="ADAL" clId="{0A53A762-B531-4BAF-AEEB-EDB07CAAC5ED}"/>
    <pc:docChg chg="addSld delSld modSld sldOrd">
      <pc:chgData name="Brendan Murphy" userId="e9f923b6-6d89-4d4e-a3b7-d9304b9d44ba" providerId="ADAL" clId="{0A53A762-B531-4BAF-AEEB-EDB07CAAC5ED}" dt="2026-01-13T00:26:49.957" v="5" actId="20577"/>
      <pc:docMkLst>
        <pc:docMk/>
      </pc:docMkLst>
      <pc:sldChg chg="add del ord modNotesTx">
        <pc:chgData name="Brendan Murphy" userId="e9f923b6-6d89-4d4e-a3b7-d9304b9d44ba" providerId="ADAL" clId="{0A53A762-B531-4BAF-AEEB-EDB07CAAC5ED}" dt="2026-01-13T00:26:49.957" v="5" actId="20577"/>
        <pc:sldMkLst>
          <pc:docMk/>
          <pc:sldMk cId="3550408866" sldId="2147481396"/>
        </pc:sldMkLst>
      </pc:sldChg>
      <pc:sldMasterChg chg="delSldLayout">
        <pc:chgData name="Brendan Murphy" userId="e9f923b6-6d89-4d4e-a3b7-d9304b9d44ba" providerId="ADAL" clId="{0A53A762-B531-4BAF-AEEB-EDB07CAAC5ED}" dt="2026-01-13T00:26:31.385" v="0" actId="47"/>
        <pc:sldMasterMkLst>
          <pc:docMk/>
          <pc:sldMasterMk cId="916560512" sldId="2147483648"/>
        </pc:sldMasterMkLst>
        <pc:sldLayoutChg chg="del">
          <pc:chgData name="Brendan Murphy" userId="e9f923b6-6d89-4d4e-a3b7-d9304b9d44ba" providerId="ADAL" clId="{0A53A762-B531-4BAF-AEEB-EDB07CAAC5ED}" dt="2026-01-13T00:26:31.385" v="0" actId="47"/>
          <pc:sldLayoutMkLst>
            <pc:docMk/>
            <pc:sldMasterMk cId="916560512" sldId="2147483648"/>
            <pc:sldLayoutMk cId="3120056027" sldId="2147483660"/>
          </pc:sldLayoutMkLst>
        </pc:sldLayoutChg>
      </pc:sldMasterChg>
    </pc:docChg>
  </pc:docChgLst>
  <pc:docChgLst>
    <pc:chgData name="Brendan Murphy" userId="S::bmurphy@affirma.com::e9f923b6-6d89-4d4e-a3b7-d9304b9d44ba" providerId="AD" clId="Web-{FF847144-63FF-4548-6448-25F958365662}"/>
    <pc:docChg chg="addSld modSld">
      <pc:chgData name="Brendan Murphy" userId="S::bmurphy@affirma.com::e9f923b6-6d89-4d4e-a3b7-d9304b9d44ba" providerId="AD" clId="Web-{FF847144-63FF-4548-6448-25F958365662}" dt="2026-01-13T00:26:22.746" v="3" actId="20577"/>
      <pc:docMkLst>
        <pc:docMk/>
      </pc:docMkLst>
      <pc:sldChg chg="modSp">
        <pc:chgData name="Brendan Murphy" userId="S::bmurphy@affirma.com::e9f923b6-6d89-4d4e-a3b7-d9304b9d44ba" providerId="AD" clId="Web-{FF847144-63FF-4548-6448-25F958365662}" dt="2026-01-13T00:26:00.416" v="0" actId="20577"/>
        <pc:sldMkLst>
          <pc:docMk/>
          <pc:sldMk cId="73242375" sldId="2147469664"/>
        </pc:sldMkLst>
        <pc:spChg chg="mod">
          <ac:chgData name="Brendan Murphy" userId="S::bmurphy@affirma.com::e9f923b6-6d89-4d4e-a3b7-d9304b9d44ba" providerId="AD" clId="Web-{FF847144-63FF-4548-6448-25F958365662}" dt="2026-01-13T00:26:00.416" v="0" actId="20577"/>
          <ac:spMkLst>
            <pc:docMk/>
            <pc:sldMk cId="73242375" sldId="2147469664"/>
            <ac:spMk id="11" creationId="{00000000-0000-0000-0000-000000000000}"/>
          </ac:spMkLst>
        </pc:spChg>
      </pc:sldChg>
      <pc:sldChg chg="modSp add">
        <pc:chgData name="Brendan Murphy" userId="S::bmurphy@affirma.com::e9f923b6-6d89-4d4e-a3b7-d9304b9d44ba" providerId="AD" clId="Web-{FF847144-63FF-4548-6448-25F958365662}" dt="2026-01-13T00:26:22.746" v="3" actId="20577"/>
        <pc:sldMkLst>
          <pc:docMk/>
          <pc:sldMk cId="3550408866" sldId="2147481396"/>
        </pc:sldMkLst>
        <pc:spChg chg="mod">
          <ac:chgData name="Brendan Murphy" userId="S::bmurphy@affirma.com::e9f923b6-6d89-4d4e-a3b7-d9304b9d44ba" providerId="AD" clId="Web-{FF847144-63FF-4548-6448-25F958365662}" dt="2026-01-13T00:26:22.746" v="3" actId="20577"/>
          <ac:spMkLst>
            <pc:docMk/>
            <pc:sldMk cId="3550408866" sldId="2147481396"/>
            <ac:spMk id="6" creationId="{6F2C7B77-C998-E557-DF2D-8B4FEBF6B8D8}"/>
          </ac:spMkLst>
        </pc:spChg>
      </pc:sldChg>
      <pc:sldMasterChg chg="addSldLayout">
        <pc:chgData name="Brendan Murphy" userId="S::bmurphy@affirma.com::e9f923b6-6d89-4d4e-a3b7-d9304b9d44ba" providerId="AD" clId="Web-{FF847144-63FF-4548-6448-25F958365662}" dt="2026-01-13T00:26:15.324" v="1"/>
        <pc:sldMasterMkLst>
          <pc:docMk/>
          <pc:sldMasterMk cId="916560512" sldId="2147483648"/>
        </pc:sldMasterMkLst>
        <pc:sldLayoutChg chg="add">
          <pc:chgData name="Brendan Murphy" userId="S::bmurphy@affirma.com::e9f923b6-6d89-4d4e-a3b7-d9304b9d44ba" providerId="AD" clId="Web-{FF847144-63FF-4548-6448-25F958365662}" dt="2026-01-13T00:26:15.324" v="1"/>
          <pc:sldLayoutMkLst>
            <pc:docMk/>
            <pc:sldMasterMk cId="916560512" sldId="2147483648"/>
            <pc:sldLayoutMk cId="3120056027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B47A4-DF06-4F1F-8B76-0993CE2D5D1A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AC1A7-95B2-42B3-910C-96D0C760A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EB1F-09FE-D823-3CEC-D0FF3590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314A2-84F4-E37C-45AF-3CA5C1B44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64F0F-0FDC-D66A-D351-5D87CB889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532A8-F063-24E7-866E-3863AFAF2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5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22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1CF1-938E-F82E-1D39-A651518A7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8A6D8-196E-AFE3-6584-FB88843DD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67A2A-8AF5-AE51-EAD6-FC1BF5ED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42BC2-A398-DD34-4C0A-3FDFA21C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41304-6A30-0A5C-01D5-996D69DF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8A92-F973-C091-7875-3E0712D3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9C57-5B27-4BEB-E1E6-F766C61B6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42395-0254-19E9-C2EC-66EE0573E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16C5C-C343-17B3-C318-20621967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12946-350B-9251-4C9B-3F52D308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6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32AC-272C-9C7A-48EA-C40BE575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35247-6EA5-3D92-4913-E60757BA7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8A6A5-3AFD-51B9-AB14-3043F79C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4A490-22A0-9F11-50A1-6E280ADA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CB8DB-6201-B268-DCF5-183C2EAE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25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13B3-495E-E97A-92AD-3F6B14E69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AAA9-88BE-E6B9-8617-0209C05FB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0CB65-9858-BC0F-3D11-F17E86659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DE15-CE79-1EEC-E74E-A56EE7B9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75A7C-BADE-ED90-827B-0F594CB4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1C632-3D74-C8B0-429A-AE76E65C2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3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D4C0-53CD-24F3-6AB9-5F3C843B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64343-0654-2D71-4528-72586E55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0AF51-FD17-2833-5AB5-0551A4795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F31F3-F775-0765-BF9A-92A09BAC7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B90B8-EE35-C389-C73E-5B254A732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719CD7-A9F3-D0FD-0726-E13DBC5D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C62C0-6D38-1714-3619-615064D6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CFDE0-D99E-5695-9334-6EF4FD5B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6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C607-0A4E-C785-0B53-4A351B15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22126-4819-7E3F-241D-FE33EE5A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A1256-4969-3519-430C-F0E2A73D3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9D0DC0-27C6-85F8-0BF3-7A3D1E06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6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D6FF9-878F-6572-154D-25BA69AA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D6F59-8302-D25F-F09C-0DB68EE9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B99F0-2591-44C4-651F-AA962C7F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4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F3C1-CF01-61EB-D609-1075156C6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0D4C8-97AB-B890-BAB1-053D32AD6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F521E-8465-2926-FC6E-2FA4602CD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EE0E8-5598-050B-E100-198C2BEB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2CD14-BE48-2FC0-B70C-21906E72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E2CD0-31B2-68C7-8756-6D535EE7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5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E601E-81C4-9EF3-0112-20F19DFE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5E329-5AC4-3607-D30D-CE2621FC5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63CCCD-4EBF-EB93-0CDF-37337611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F020B-DCBF-DB8F-A934-6D5ED968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9C71-A1B2-CC3B-599B-A08AC58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6639F-BD38-9270-E88D-5B0D7275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9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1F36-9B04-BD36-7AA1-27A79A7C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5EDE6-CC84-A598-B2AB-086F8975C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C34D6-7C82-6ABA-C4B3-FEB04FC6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D535-91FF-C21D-1606-AD24729E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ED30B-52BC-CDA0-2F80-9F6CC148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4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8B9BA-3EF2-DAA2-354A-01CCB6C75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57A54-3115-8A2B-DB52-CE1E4CEEB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BD79-C719-C9AA-A2C0-1F941A2B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7666-859C-6ECD-786D-6ACD7D0A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918AB-BA72-E739-3D99-D7BFB581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7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2"/>
            <a:ext cx="6096002" cy="509320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9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2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5" y="388389"/>
            <a:ext cx="5492714" cy="764390"/>
          </a:xfrm>
        </p:spPr>
        <p:txBody>
          <a:bodyPr anchor="ctr">
            <a:normAutofit/>
          </a:bodyPr>
          <a:lstStyle>
            <a:lvl1pPr algn="l">
              <a:defRPr sz="4000" b="1" i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2" y="365239"/>
            <a:ext cx="38099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200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7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50000"/>
              </a:lnSpc>
              <a:defRPr sz="1167" b="0" i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9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6" y="5968239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2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2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2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31" y="5951879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163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327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49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654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112870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1669F-52BC-254C-E4D1-71DFC330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5FA7-033F-A39B-3495-73ABFD0C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D638-D4CC-C720-EC8D-ECF361FB2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6DECB-1DBB-471E-8DF2-211DF8D9EFD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4B5F6-2D56-A179-C1E5-82CF6A949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44E4F-823A-2FCC-3C7D-48CC79014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412B3-FD3B-4E26-8FD3-AC7E10F79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6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950D-6505-51C5-75CF-51D6E6F7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DFE41B4-BE5F-B0D3-72DD-7691A01447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"/>
            <a:ext cx="12211158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08B97E-C8A9-942C-48BC-60BDE337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2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306ED0-5761-E840-C720-380F8A881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6" y="388389"/>
            <a:ext cx="7618294" cy="764390"/>
          </a:xfrm>
        </p:spPr>
        <p:txBody>
          <a:bodyPr>
            <a:normAutofit/>
          </a:bodyPr>
          <a:lstStyle/>
          <a:p>
            <a:r>
              <a:rPr lang="en-US" dirty="0" err="1"/>
              <a:t>AgWest</a:t>
            </a:r>
            <a:r>
              <a:rPr lang="en-US" dirty="0"/>
              <a:t> Farm Credit Website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2C7B77-C998-E557-DF2D-8B4FEBF6B8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85" y="1363176"/>
            <a:ext cx="7534486" cy="5031121"/>
          </a:xfr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</a:t>
            </a:r>
          </a:p>
          <a:p>
            <a: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AgWest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Farm Credit (</a:t>
            </a:r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AgWestFC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 was formed through the merger of Northwest Farm Credit Services and Farm Credit West, creating the need for a new website that represented a unified brand and delivered a modern, intuitive digital experience. The organization required a fully custom Sitefinity solution that supported complex integrations, streamlined online banking access, and enabled a smooth transition from legacy systems, all within a compressed timeline driven by third-party design dependencies.</a:t>
            </a:r>
            <a:endParaRPr lang="en-US" sz="667" b="1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spcBef>
                <a:spcPts val="500"/>
              </a:spcBef>
            </a:pPr>
            <a:r>
              <a:rPr lang="en-US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Designed and built a fully custom Sitefinity website aligned to </a:t>
            </a:r>
            <a:r>
              <a:rPr lang="en-US" alt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AgWestFC’s</a:t>
            </a: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new brand identity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Implemented reusable templates and core components including navigation, headers, and footers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Developed key pages and user flows for both new and existing customers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Built custom form components and a login wizard with product-based redirection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Migrated content and user data from legacy platforms and databases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Integrated branch location search, cookie management, and metadata configuration</a:t>
            </a:r>
            <a:endParaRPr lang="en-US" sz="667" dirty="0">
              <a:solidFill>
                <a:srgbClr val="008AD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>
              <a:spcBef>
                <a:spcPts val="500"/>
              </a:spcBef>
            </a:pPr>
            <a:r>
              <a:rPr lang="en-US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Launched a unified digital platform that clearly reflects </a:t>
            </a:r>
            <a:r>
              <a:rPr lang="en-US" alt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AgWestFC’s</a:t>
            </a: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new brand and structure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Delivered a simplified, user-friendly online banking and navigation experience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Enabled a seamless transition from legacy systems through reliable data migration and integrations</a:t>
            </a:r>
          </a:p>
          <a:p>
            <a:pPr marL="238115" indent="-238115" defTabSz="761970" eaLnBrk="0" fontAlgn="base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Established a scalable Sitefinity foundation to support 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BA4FD2-DF80-E14D-CA1C-B9BD9871E319}"/>
              </a:ext>
            </a:extLst>
          </p:cNvPr>
          <p:cNvSpPr/>
          <p:nvPr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/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FC88A9-A275-8865-2C41-13C76DA7E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459" y="0"/>
            <a:ext cx="3177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0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81000" y="762000"/>
            <a:ext cx="11430000" cy="5986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n-US" sz="1400" b="1" dirty="0">
                <a:solidFill>
                  <a:srgbClr val="008AD9"/>
                </a:solidFill>
                <a:latin typeface="Arial"/>
                <a:cs typeface="Arial"/>
              </a:rPr>
              <a:t>Business Need</a:t>
            </a:r>
            <a:br>
              <a:rPr lang="en-US" sz="1750" dirty="0"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</a:br>
            <a:r>
              <a:rPr lang="en-US" sz="1150" err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AgWestFC</a:t>
            </a:r>
            <a:r>
              <a:rPr lang="en-US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 is a newly formed financial cooperative resulting from the merger of Northwest Farm Credit Services (Northwest FCS) and Farm Credit West (FCW). They needed support developing a website for </a:t>
            </a:r>
            <a:r>
              <a:rPr lang="en-US" sz="1150" err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AgWestFC</a:t>
            </a:r>
            <a:r>
              <a:rPr lang="en-US" sz="1150" dirty="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cs typeface="Times New Roman"/>
              </a:rPr>
              <a:t> that reflects the new brand identity and enhances user experience, especially for online banking. The new website required a fully custom design, complex integrations, and a user-friendly navigation &amp; login experience for online banking customers.\</a:t>
            </a:r>
          </a:p>
          <a:p>
            <a:pPr algn="l" rtl="0" fontAlgn="base">
              <a:lnSpc>
                <a:spcPct val="150000"/>
              </a:lnSpc>
            </a:pP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1400" b="1" dirty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and Solutions</a:t>
            </a:r>
          </a:p>
          <a:p>
            <a:pPr marL="237490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Brand Integration: </a:t>
            </a: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Merging two distinct brands (NWFCS and FCW) required careful planning and execution to ensure a seamless user experience and brand consistency.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Complex Integrations: </a:t>
            </a: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Ensuring smooth data import from various sources (legacy Sitefinity, various databases) required planning and execution.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Tight Timeline: </a:t>
            </a: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A significant portion of the work dependent on timely delivery of designs and wireframes from integrated third-party designs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1400" b="1" dirty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Did</a:t>
            </a:r>
          </a:p>
          <a:p>
            <a:pPr marL="237490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b="1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Website Development: </a:t>
            </a:r>
            <a:endParaRPr lang="en-US" sz="1167" b="1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Built a new Sitefinity site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Implemented templates and core components (header, footer, navigation, etc.)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Developed core pages for both new and existing customers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Created a form component and login wizard with product redirection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Imported existing user data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Integrated Google Maps for branch search and directions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6440" lvl="1" indent="-23749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Managed cookies and metadata </a:t>
            </a:r>
            <a:endParaRPr lang="en-US" sz="1167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1400" b="1" dirty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 defTabSz="914363">
              <a:lnSpc>
                <a:spcPct val="150000"/>
              </a:lnSpc>
              <a:defRPr/>
            </a:pP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The new </a:t>
            </a:r>
            <a:r>
              <a:rPr lang="en-US" sz="1167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AgWestFC</a:t>
            </a: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 website was successfully launched, leading to enhanced user experience and seamless brand integration that reflected </a:t>
            </a:r>
            <a:r>
              <a:rPr lang="en-US" sz="1167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AgWestFC’s</a:t>
            </a:r>
            <a:r>
              <a:rPr lang="en-US" sz="1167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 new identity.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79B5D66-93EB-C5E1-5B6D-0288B73AF0D3}"/>
              </a:ext>
            </a:extLst>
          </p:cNvPr>
          <p:cNvSpPr txBox="1">
            <a:spLocks/>
          </p:cNvSpPr>
          <p:nvPr/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76200" tIns="38100" rIns="76200" bIns="38100" rtlCol="0" anchor="ctr">
            <a:normAutofit fontScale="97500" lnSpcReduction="10000"/>
          </a:bodyPr>
          <a:lstStyle>
            <a:lvl1pPr algn="l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80" b="0" i="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defTabSz="914363">
              <a:defRPr/>
            </a:pPr>
            <a:r>
              <a:rPr lang="en-US" sz="3583" b="1" dirty="0" err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AgWest</a:t>
            </a:r>
            <a:r>
              <a:rPr lang="en-US" sz="3583" b="1" dirty="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Farm Credit Services – Website Development</a:t>
            </a:r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F59A838-FFD5-837A-AFEA-C37488371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059" y="3775273"/>
            <a:ext cx="3410680" cy="137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2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Financial Services</Value>
    </Industries>
    <PlatTech xmlns="f0ee8362-fa7e-4bc9-ab88-7dcfb17cb19b">
      <Value>Sitefinity</Value>
    </PlatTech>
    <BusinessUnit xmlns="f0ee8362-fa7e-4bc9-ab88-7dcfb17cb19b">
      <Value>Custom Development</Value>
    </BusinessUnit>
    <Solutions xmlns="f0ee8362-fa7e-4bc9-ab88-7dcfb17cb19b">
      <Value>Websites</Value>
      <Value>Migrations</Value>
    </Solutions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7C2752-8912-4516-ADD4-296F4ECAD4DB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f0ee8362-fa7e-4bc9-ab88-7dcfb17cb19b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0230319-A237-4F9A-8355-B5DD511254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D4B682-53C0-43FF-9BAA-8ABF80540720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9BD6247C-9A47-4224-B1B9-8A3BB75D4E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451</Words>
  <Application>Microsoft Office PowerPoint</Application>
  <PresentationFormat>Widescreen</PresentationFormat>
  <Paragraphs>37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AgWest Farm Credit Website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Kalani Gee</dc:creator>
  <cp:lastModifiedBy>Brendan Murphy</cp:lastModifiedBy>
  <cp:revision>5</cp:revision>
  <dcterms:created xsi:type="dcterms:W3CDTF">2024-06-27T22:42:36Z</dcterms:created>
  <dcterms:modified xsi:type="dcterms:W3CDTF">2026-01-13T19:30:02Z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