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ppt/changesInfos/changesInfo1.xml" ContentType="application/vnd.ms-powerpoint.changesinfo+xml"/>
  <Override PartName="/ppt/revisionInfo.xml" ContentType="application/vnd.ms-powerpoint.revisioninfo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182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704E31-CDBF-7314-37E7-7F90523CFD59}" name="Wardah Ajaz" initials="WA" userId="S::wajaz@affirma.com::a653774b-62e7-4fd4-84eb-453e7c2eb25c" providerId="AD"/>
  <p188:author id="{D6A8A4A3-AD89-5BB3-DB06-2440C7469331}" name="Matt Minelli" initials="MM" userId="S::mminelli@affirma.com::8aabbc37-ad6b-4f0e-b68e-6b3b4d01d997" providerId="AD"/>
  <p188:author id="{2A3E64F0-CACB-789F-EDAB-FC1194EFB6B5}" name="Penelope Kipps" initials="PK" userId="S::pkipps@affirma.com::f3747d80-db63-4101-8e1d-f054405572b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ela Cook" initials="PC" lastIdx="6" clrIdx="0">
    <p:extLst>
      <p:ext uri="{19B8F6BF-5375-455C-9EA6-DF929625EA0E}">
        <p15:presenceInfo xmlns:p15="http://schemas.microsoft.com/office/powerpoint/2012/main" userId="S::pcook@affirma.com::8106f2c5-df70-49fd-b5d7-bbbe241af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A79"/>
    <a:srgbClr val="3774BC"/>
    <a:srgbClr val="E98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1B947-8D7F-A746-C02D-6BD1F75043B7}" v="16" dt="2025-12-01T15:19:38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5"/>
    <p:restoredTop sz="94692"/>
  </p:normalViewPr>
  <p:slideViewPr>
    <p:cSldViewPr snapToGrid="0">
      <p:cViewPr varScale="1">
        <p:scale>
          <a:sx n="137" d="100"/>
          <a:sy n="137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customXml" Target="../customXml/item4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Minelli" userId="S::mminelli@affirma.com::8aabbc37-ad6b-4f0e-b68e-6b3b4d01d997" providerId="AD" clId="Web-{A6C1B947-8D7F-A746-C02D-6BD1F75043B7}"/>
    <pc:docChg chg="modSld">
      <pc:chgData name="Matt Minelli" userId="S::mminelli@affirma.com::8aabbc37-ad6b-4f0e-b68e-6b3b4d01d997" providerId="AD" clId="Web-{A6C1B947-8D7F-A746-C02D-6BD1F75043B7}" dt="2025-12-01T15:19:38.041" v="13" actId="20577"/>
      <pc:docMkLst>
        <pc:docMk/>
      </pc:docMkLst>
      <pc:sldChg chg="modSp">
        <pc:chgData name="Matt Minelli" userId="S::mminelli@affirma.com::8aabbc37-ad6b-4f0e-b68e-6b3b4d01d997" providerId="AD" clId="Web-{A6C1B947-8D7F-A746-C02D-6BD1F75043B7}" dt="2025-12-01T15:19:38.041" v="13" actId="20577"/>
        <pc:sldMkLst>
          <pc:docMk/>
          <pc:sldMk cId="1485491446" sldId="1827"/>
        </pc:sldMkLst>
        <pc:spChg chg="mod">
          <ac:chgData name="Matt Minelli" userId="S::mminelli@affirma.com::8aabbc37-ad6b-4f0e-b68e-6b3b4d01d997" providerId="AD" clId="Web-{A6C1B947-8D7F-A746-C02D-6BD1F75043B7}" dt="2025-12-01T15:19:38.041" v="13" actId="20577"/>
          <ac:spMkLst>
            <pc:docMk/>
            <pc:sldMk cId="1485491446" sldId="1827"/>
            <ac:spMk id="4" creationId="{BDC4B9FF-8695-D444-A5CC-2CB3135EEEAD}"/>
          </ac:spMkLst>
        </pc:spChg>
        <pc:spChg chg="mod">
          <ac:chgData name="Matt Minelli" userId="S::mminelli@affirma.com::8aabbc37-ad6b-4f0e-b68e-6b3b4d01d997" providerId="AD" clId="Web-{A6C1B947-8D7F-A746-C02D-6BD1F75043B7}" dt="2025-12-01T15:19:25.682" v="12" actId="1076"/>
          <ac:spMkLst>
            <pc:docMk/>
            <pc:sldMk cId="1485491446" sldId="1827"/>
            <ac:spMk id="6" creationId="{DC3185AF-4529-9642-92AB-B131CAEBC7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A8312-0222-40F5-BDEB-4F92AEA4934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2A0CD-526E-4BDB-8351-4C4F909F5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4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2A0CD-526E-4BDB-8351-4C4F909F58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15E7-052A-4307-9B29-D94C120AE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948D8-569C-4F33-A588-CD6694576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281A2-D60F-4888-AE2B-90C0CF87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0EB7-B10B-42C2-82C9-5225B2C6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F5954-2944-4607-93C6-42F4895F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D27F-2229-4DC3-B368-5546AAA9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598AD-9BD4-494B-81C9-E3D54A03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111F-21B9-4D4D-B19B-AA4895D6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77AB-A577-43A4-9665-378A0898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4B8D-3ADB-4ACE-A07B-3E5396AA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072E-319B-435E-B13B-8D697D6D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04F99-1042-4B32-A848-3678122E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5C7B7-CBFA-4F5E-A09A-17CE96A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ADDD-08E7-446B-8FAC-7EDCA8BE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90F7-C7A2-4747-93DA-358DD261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2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6218-E355-4987-9F74-50AA6F49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890-8D3C-4A1B-8564-A2C712D8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E8437-8408-40E0-AA99-697E74A7A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65E1A-40D2-4889-BBA1-07A2A16E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83FD0-DE43-4F11-AE83-48FC3070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682E-F29D-4B88-BBB8-973C5745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1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AB1-E62F-4492-81EF-91C5FDE8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9A55C-272E-47E5-B065-685D9815E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F5B06-3E0D-4CE2-8ACF-7D6484505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73769-0210-448C-BBC1-5EFF1AF63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69F34-C025-44FE-A2A6-85A115CC5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D54AD-7E17-4774-96A5-D1AC7E74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25054-379F-445D-AD4C-AE18D7A1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BC507-9A75-4657-9EE9-8D5A4336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5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A439-4B84-4857-84EB-B54AD270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7F5BF-154C-4036-8C98-690E93B7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9E2E3-C6D0-4B99-B0B4-E48E07F4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5F9B-FE71-46BC-A3A3-2135A649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4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0E579-783C-4D17-A7DC-C411FBEE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65766-0F37-42F0-8639-460FE109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6DEA-0A45-462E-8442-6387082D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E5B7-896F-48A5-BB9D-B77BF288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666F-5B5B-4B4E-B138-9A8A8C135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AC3DC-C555-4A54-95AB-3B32ADF4E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93A1B-7501-4697-931A-25F39DD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95F1-D8DA-4206-9AFF-00D59481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FE04-5D15-40EF-AD83-D13A5D19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F919-A990-4F12-9028-71B315A8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86613-7A59-4C61-B3F6-7012A1BD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933E-50A4-4710-BB2D-A06BD457B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26195-96A9-4742-995F-058B9ED5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1C13-BB64-412D-BE0D-B72162B0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CCC33-0A96-4574-9FCE-C963B4DD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0D31-2E04-4930-B433-FE01F69D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A1223-8702-4A56-A992-564F31129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9329D-DD17-4CA2-9F96-B0E0E54F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100C-C12F-42D8-ADA6-B8095B59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E089-A93D-48A7-80CF-282B66B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5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93E5D-328A-4752-9A3D-14435EAEC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F347-1374-41B7-B805-081C8BBE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7BE4-0B41-4311-8A52-22D200FC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12F91-8B92-459E-910B-650D1475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AED4-D7AD-494F-98D9-610DE1E3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3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8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76570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F126-03DC-4D7B-B379-3C62C269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EFBD2-0F96-403C-A7DF-F428121C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80A0-A885-4476-AA4A-C36F45F3B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3573E-0058-463A-B7EA-1DAD0737FD0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EB687-F61F-4D35-B03F-2CFB2F729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2791-AB6D-414E-8F2A-F80201D92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9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cumaticares.acumatica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918B97-2236-432B-9D84-A86039488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0140" y="4408414"/>
            <a:ext cx="6811860" cy="24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647" y="280989"/>
            <a:ext cx="7608540" cy="8446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63A79"/>
                </a:solidFill>
                <a:latin typeface="Poppins"/>
                <a:cs typeface="Poppins"/>
              </a:rPr>
              <a:t>AcumatiCares Website Videos</a:t>
            </a:r>
            <a:endParaRPr lang="en-US" sz="3200" b="1">
              <a:solidFill>
                <a:srgbClr val="063A79"/>
              </a:solidFill>
              <a:latin typeface="Poppins"/>
              <a:cs typeface="Poppin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8647" y="1235259"/>
            <a:ext cx="6694690" cy="501492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>
                <a:latin typeface="Poppins"/>
                <a:ea typeface="+mn-lt"/>
                <a:cs typeface="Poppins"/>
              </a:rPr>
              <a:t>Acumatica aimed to highlight their new "AcumatiCares" initiative, focusing on three core areas: climate impact, giving back, and equity and inclusion.  To support the launch of this initiative, we created a series of high-quality, on-site videos featuring key Acumatica executives, including the CEO, CMO, and CPO (Chief People Officer), sharing insights about the program's overall goals and importance.  </a:t>
            </a:r>
          </a:p>
          <a:p>
            <a:r>
              <a:rPr lang="en-US" sz="1200" b="1" u="sng" dirty="0">
                <a:solidFill>
                  <a:srgbClr val="3774BC"/>
                </a:solidFill>
                <a:latin typeface="Poppins"/>
                <a:cs typeface="Poppins"/>
              </a:rPr>
              <a:t>Our work:</a:t>
            </a:r>
            <a:endParaRPr lang="en-US" sz="1200" dirty="0">
              <a:solidFill>
                <a:srgbClr val="404040"/>
              </a:solidFill>
              <a:latin typeface="Poppins"/>
              <a:cs typeface="Poppins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Poppins"/>
                <a:cs typeface="Poppins"/>
              </a:rPr>
              <a:t>Conducted detailed pre-production planning, including location scouting, executive scheduling, and script preparation to ensure seamless production.  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1200" dirty="0">
                <a:latin typeface="Poppins"/>
                <a:cs typeface="Poppins"/>
              </a:rPr>
              <a:t>Filmed high-quality, direct to camera interviews with the Acumatica Executive Team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1200" dirty="0">
                <a:latin typeface="Poppins"/>
                <a:cs typeface="Poppins"/>
              </a:rPr>
              <a:t>Provided basic video and sound editing, color grading, and motion graphics to ensure a polished and engaging final product.  </a:t>
            </a:r>
          </a:p>
          <a:p>
            <a:pPr>
              <a:lnSpc>
                <a:spcPct val="100000"/>
              </a:lnSpc>
            </a:pPr>
            <a:r>
              <a:rPr lang="en-US" sz="1200" b="1" u="sng" dirty="0">
                <a:solidFill>
                  <a:srgbClr val="3774BC"/>
                </a:solidFill>
                <a:latin typeface="Poppins"/>
                <a:cs typeface="Poppins"/>
              </a:rPr>
              <a:t>The Results: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1200" dirty="0">
                <a:latin typeface="Poppins"/>
                <a:cs typeface="Poppins"/>
              </a:rPr>
              <a:t>The videos were successfully launched alongside the client's new section of the website, serving as a key feature to communicate their initiative.  </a:t>
            </a: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1200" dirty="0">
                <a:latin typeface="Poppins"/>
                <a:cs typeface="Poppins"/>
              </a:rPr>
              <a:t>Our videos are live on the </a:t>
            </a:r>
            <a:r>
              <a:rPr lang="en-US" sz="1200" err="1">
                <a:latin typeface="Poppins"/>
                <a:cs typeface="Poppins"/>
              </a:rPr>
              <a:t>AcumatiCares</a:t>
            </a:r>
            <a:r>
              <a:rPr lang="en-US" sz="1200" dirty="0">
                <a:latin typeface="Poppins"/>
                <a:cs typeface="Poppins"/>
              </a:rPr>
              <a:t> website: </a:t>
            </a:r>
            <a:r>
              <a:rPr lang="en-US" sz="1200" dirty="0">
                <a:latin typeface="Poppins"/>
                <a:ea typeface="+mn-lt"/>
                <a:cs typeface="Poppins"/>
                <a:hlinkClick r:id="rId3"/>
              </a:rPr>
              <a:t>https://acumaticares.acumatica.com/</a:t>
            </a:r>
            <a:r>
              <a:rPr lang="en-US" sz="1200" dirty="0">
                <a:latin typeface="Poppins"/>
                <a:ea typeface="+mn-lt"/>
                <a:cs typeface="Poppins"/>
              </a:rPr>
              <a:t> </a:t>
            </a:r>
            <a:endParaRPr lang="en-US" sz="1200" b="1" dirty="0">
              <a:latin typeface="Poppins"/>
              <a:cs typeface="Poppin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328E13-9F30-0846-AE9E-2A00307B06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D1C182-68D6-5145-9959-7C17A6C7E8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Responsive viewport sizes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4B247A-B54F-9443-948E-781E9E7017D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6 weeks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416BC8-7D3A-C447-82D3-1B919C1E4C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077229" y="5951877"/>
            <a:ext cx="1266763" cy="471961"/>
          </a:xfrm>
        </p:spPr>
        <p:txBody>
          <a:bodyPr/>
          <a:lstStyle/>
          <a:p>
            <a:r>
              <a:rPr lang="en-US"/>
              <a:t>Lorem Ipsum Dolor</a:t>
            </a:r>
          </a:p>
        </p:txBody>
      </p:sp>
      <p:pic>
        <p:nvPicPr>
          <p:cNvPr id="2" name="Picture 1" descr="A screenshot of a website&#10;&#10;Description automatically generated">
            <a:extLst>
              <a:ext uri="{FF2B5EF4-FFF2-40B4-BE49-F238E27FC236}">
                <a16:creationId xmlns:a16="http://schemas.microsoft.com/office/drawing/2014/main" id="{F095A3B9-D138-9C82-FEDC-49CB4C40A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765" y="344132"/>
            <a:ext cx="4113724" cy="3255108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804E0EB6-E9DD-BD1F-688B-936EDF447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550" y="3604010"/>
            <a:ext cx="4107963" cy="1454953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3C46617A-E6A3-5964-6E60-5CBEA3077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335" y="5060028"/>
            <a:ext cx="4127501" cy="14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>Website Videos; Meet The Team</Notes0>
    <Named_x0020_Account xmlns="f0ee8362-fa7e-4bc9-ab88-7dcfb17cb19b" xsi:nil="true"/>
    <Industries xmlns="f0ee8362-fa7e-4bc9-ab88-7dcfb17cb19b">
      <Value>Technology</Value>
    </Industries>
    <ApprovedByClient xmlns="f0ee8362-fa7e-4bc9-ab88-7dcfb17cb19b">false</ApprovedByClient>
    <PlatTech xmlns="f0ee8362-fa7e-4bc9-ab88-7dcfb17cb19b" xsi:nil="true"/>
    <ProjectCompletionDate xmlns="f0ee8362-fa7e-4bc9-ab88-7dcfb17cb19b">2024-10-01T07:00:00+00:00</ProjectCompletionDate>
    <BusinessUnit xmlns="f0ee8362-fa7e-4bc9-ab88-7dcfb17cb19b">
      <Value>Marketing Services</Value>
    </BusinessUnit>
    <Solutions xmlns="f0ee8362-fa7e-4bc9-ab88-7dcfb17cb19b">
      <Value>Video Production</Value>
    </Solution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77ECDF0C-9559-4EBB-A79E-6EF16B2CBC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E9A8C3-D206-4A84-877A-E0C5CA85C111}">
  <ds:schemaRefs>
    <ds:schemaRef ds:uri="4a674d8d-5ae4-473c-b67e-b0301c6146a3"/>
    <ds:schemaRef ds:uri="730c8cfc-f4d5-4aa5-a17c-77b240e5b207"/>
    <ds:schemaRef ds:uri="79eba559-d33b-47f5-9450-110931409036"/>
    <ds:schemaRef ds:uri="8e8b519a-9c33-4eb5-8032-b8e2911b08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55D87A-4B23-4FEB-8EFA-9DAA78AFA499}"/>
</file>

<file path=customXml/itemProps4.xml><?xml version="1.0" encoding="utf-8"?>
<ds:datastoreItem xmlns:ds="http://schemas.openxmlformats.org/officeDocument/2006/customXml" ds:itemID="{7AE02AC6-67CA-4FF6-9BDA-415E3880C750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144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AcumatiCares Website Videos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 Video Production Projects</dc:title>
  <dc:creator>Julia Trupp (AFFIRMA)</dc:creator>
  <cp:lastModifiedBy>Patrick Austin</cp:lastModifiedBy>
  <cp:revision>307</cp:revision>
  <dcterms:created xsi:type="dcterms:W3CDTF">2021-01-15T21:45:02Z</dcterms:created>
  <dcterms:modified xsi:type="dcterms:W3CDTF">2025-12-01T15:19:43Z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MediaServiceImageTags">
    <vt:lpwstr/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SetDate">
    <vt:lpwstr>2024-02-23T23:11:47Z</vt:lpwstr>
  </property>
  <property fmtid="{D5CDD505-2E9C-101B-9397-08002B2CF9AE}" pid="6" name="MSIP_Label_f42aa342-8706-4288-bd11-ebb85995028c_Method">
    <vt:lpwstr>Standard</vt:lpwstr>
  </property>
  <property fmtid="{D5CDD505-2E9C-101B-9397-08002B2CF9AE}" pid="7" name="MSIP_Label_f42aa342-8706-4288-bd11-ebb85995028c_Name">
    <vt:lpwstr>Internal</vt:lpwstr>
  </property>
  <property fmtid="{D5CDD505-2E9C-101B-9397-08002B2CF9AE}" pid="8" name="MSIP_Label_f42aa342-8706-4288-bd11-ebb85995028c_SiteId">
    <vt:lpwstr>65265dd0-4b20-44a4-aca4-b7ecbb143664</vt:lpwstr>
  </property>
  <property fmtid="{D5CDD505-2E9C-101B-9397-08002B2CF9AE}" pid="9" name="MSIP_Label_f42aa342-8706-4288-bd11-ebb85995028c_ActionId">
    <vt:lpwstr>a7192c71-12cc-4895-a527-adb89be4cef4</vt:lpwstr>
  </property>
  <property fmtid="{D5CDD505-2E9C-101B-9397-08002B2CF9AE}" pid="10" name="MSIP_Label_f42aa342-8706-4288-bd11-ebb85995028c_ContentBits">
    <vt:lpwstr>0</vt:lpwstr>
  </property>
</Properties>
</file>