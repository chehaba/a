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14746964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B01E7-C832-111C-A099-41407AB2D229}" v="4" dt="2025-04-03T19:08:47.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B10B01E7-C832-111C-A099-41407AB2D229}"/>
    <pc:docChg chg="addSld delSld">
      <pc:chgData name="Brendan Murphy" userId="S::bmurphy@affirma.com::e9f923b6-6d89-4d4e-a3b7-d9304b9d44ba" providerId="AD" clId="Web-{B10B01E7-C832-111C-A099-41407AB2D229}" dt="2025-04-03T19:08:47.417" v="3"/>
      <pc:docMkLst>
        <pc:docMk/>
      </pc:docMkLst>
      <pc:sldChg chg="del">
        <pc:chgData name="Brendan Murphy" userId="S::bmurphy@affirma.com::e9f923b6-6d89-4d4e-a3b7-d9304b9d44ba" providerId="AD" clId="Web-{B10B01E7-C832-111C-A099-41407AB2D229}" dt="2025-04-03T19:08:47.417" v="3"/>
        <pc:sldMkLst>
          <pc:docMk/>
          <pc:sldMk cId="109857222" sldId="256"/>
        </pc:sldMkLst>
      </pc:sldChg>
      <pc:sldChg chg="add del">
        <pc:chgData name="Brendan Murphy" userId="S::bmurphy@affirma.com::e9f923b6-6d89-4d4e-a3b7-d9304b9d44ba" providerId="AD" clId="Web-{B10B01E7-C832-111C-A099-41407AB2D229}" dt="2025-04-03T19:08:44.761" v="2"/>
        <pc:sldMkLst>
          <pc:docMk/>
          <pc:sldMk cId="1798166321" sldId="2147469645"/>
        </pc:sldMkLst>
      </pc:sldChg>
      <pc:sldMasterChg chg="addSldLayout">
        <pc:chgData name="Brendan Murphy" userId="S::bmurphy@affirma.com::e9f923b6-6d89-4d4e-a3b7-d9304b9d44ba" providerId="AD" clId="Web-{B10B01E7-C832-111C-A099-41407AB2D229}" dt="2025-04-03T19:08:37.339" v="0"/>
        <pc:sldMasterMkLst>
          <pc:docMk/>
          <pc:sldMasterMk cId="2460954070" sldId="2147483660"/>
        </pc:sldMasterMkLst>
        <pc:sldLayoutChg chg="add">
          <pc:chgData name="Brendan Murphy" userId="S::bmurphy@affirma.com::e9f923b6-6d89-4d4e-a3b7-d9304b9d44ba" providerId="AD" clId="Web-{B10B01E7-C832-111C-A099-41407AB2D229}" dt="2025-04-03T19:08:37.339" v="0"/>
          <pc:sldLayoutMkLst>
            <pc:docMk/>
            <pc:sldMasterMk cId="2460954070" sldId="2147483660"/>
            <pc:sldLayoutMk cId="162187233"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B84EC-3CB0-484C-A805-DF9DAADFB3AC}" type="datetimeFigureOut">
              <a:t>4/3/2025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567A0F-FBB5-4710-A187-632135978A60}" type="slidenum">
              <a:t>‹#›</a:t>
            </a:fld>
            <a:endParaRPr lang="en-US"/>
          </a:p>
        </p:txBody>
      </p:sp>
    </p:spTree>
    <p:extLst>
      <p:ext uri="{BB962C8B-B14F-4D97-AF65-F5344CB8AC3E}">
        <p14:creationId xmlns:p14="http://schemas.microsoft.com/office/powerpoint/2010/main" val="2526320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2761A-2A5C-BEEB-D3AD-0B88A32059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108A0-61F7-1DC9-CA58-35F299BD2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93D55-0D9D-1476-A148-D2C92BBE72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8F5B9F-F1EA-D784-5FC4-FF6F04245DB4}"/>
              </a:ext>
            </a:extLst>
          </p:cNvPr>
          <p:cNvSpPr>
            <a:spLocks noGrp="1"/>
          </p:cNvSpPr>
          <p:nvPr>
            <p:ph type="sldNum" sz="quarter" idx="5"/>
          </p:nvPr>
        </p:nvSpPr>
        <p:spPr/>
        <p:txBody>
          <a:bodyPr/>
          <a:lstStyle/>
          <a:p>
            <a:fld id="{AF674CEB-9E5E-9D4B-B232-5810D6ED9B01}" type="slidenum">
              <a:rPr lang="en-US" smtClean="0"/>
              <a:t>2</a:t>
            </a:fld>
            <a:endParaRPr lang="en-US"/>
          </a:p>
        </p:txBody>
      </p:sp>
    </p:spTree>
    <p:extLst>
      <p:ext uri="{BB962C8B-B14F-4D97-AF65-F5344CB8AC3E}">
        <p14:creationId xmlns:p14="http://schemas.microsoft.com/office/powerpoint/2010/main" val="4080712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ase Study Single Slide - Data Resul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C3B68B-1A94-041F-A33A-D3504675CEFE}"/>
              </a:ext>
            </a:extLst>
          </p:cNvPr>
          <p:cNvSpPr/>
          <p:nvPr userDrawn="1"/>
        </p:nvSpPr>
        <p:spPr>
          <a:xfrm>
            <a:off x="6095998" y="5093207"/>
            <a:ext cx="6096002" cy="1764793"/>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095998" y="0"/>
            <a:ext cx="6096002" cy="5093207"/>
          </a:xfrm>
        </p:spPr>
        <p:txBody>
          <a:bodyPr/>
          <a:lstStyle/>
          <a:p>
            <a:endParaRPr lang="en-US"/>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bg1"/>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20" name="Text Placeholder 5">
            <a:extLst>
              <a:ext uri="{FF2B5EF4-FFF2-40B4-BE49-F238E27FC236}">
                <a16:creationId xmlns:a16="http://schemas.microsoft.com/office/drawing/2014/main" id="{50E4BD5B-FA1C-CA42-B01F-D6A4F333E0FE}"/>
              </a:ext>
            </a:extLst>
          </p:cNvPr>
          <p:cNvSpPr>
            <a:spLocks noGrp="1"/>
          </p:cNvSpPr>
          <p:nvPr>
            <p:ph type="body" sz="quarter" idx="18" hasCustomPrompt="1"/>
          </p:nvPr>
        </p:nvSpPr>
        <p:spPr>
          <a:xfrm>
            <a:off x="6479966" y="556945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E51963F-09DC-8E4A-88D2-C536162B970E}"/>
              </a:ext>
            </a:extLst>
          </p:cNvPr>
          <p:cNvSpPr>
            <a:spLocks noGrp="1"/>
          </p:cNvSpPr>
          <p:nvPr>
            <p:ph type="body" sz="quarter" idx="21" hasCustomPrompt="1"/>
          </p:nvPr>
        </p:nvSpPr>
        <p:spPr>
          <a:xfrm>
            <a:off x="6479965" y="596823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28" name="Text Placeholder 5">
            <a:extLst>
              <a:ext uri="{FF2B5EF4-FFF2-40B4-BE49-F238E27FC236}">
                <a16:creationId xmlns:a16="http://schemas.microsoft.com/office/drawing/2014/main" id="{C8C32DBD-DA02-E348-877F-086CEC75A197}"/>
              </a:ext>
            </a:extLst>
          </p:cNvPr>
          <p:cNvSpPr>
            <a:spLocks noGrp="1"/>
          </p:cNvSpPr>
          <p:nvPr>
            <p:ph type="body" sz="quarter" idx="22" hasCustomPrompt="1"/>
          </p:nvPr>
        </p:nvSpPr>
        <p:spPr>
          <a:xfrm>
            <a:off x="8278598" y="5560830"/>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29" name="Text Placeholder 5">
            <a:extLst>
              <a:ext uri="{FF2B5EF4-FFF2-40B4-BE49-F238E27FC236}">
                <a16:creationId xmlns:a16="http://schemas.microsoft.com/office/drawing/2014/main" id="{6EB1CA55-D925-444F-8DA0-8CEF05F20D86}"/>
              </a:ext>
            </a:extLst>
          </p:cNvPr>
          <p:cNvSpPr>
            <a:spLocks noGrp="1"/>
          </p:cNvSpPr>
          <p:nvPr>
            <p:ph type="body" sz="quarter" idx="23" hasCustomPrompt="1"/>
          </p:nvPr>
        </p:nvSpPr>
        <p:spPr>
          <a:xfrm>
            <a:off x="8278597" y="5959610"/>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30" name="Text Placeholder 5">
            <a:extLst>
              <a:ext uri="{FF2B5EF4-FFF2-40B4-BE49-F238E27FC236}">
                <a16:creationId xmlns:a16="http://schemas.microsoft.com/office/drawing/2014/main" id="{9555A56F-2156-0C47-9C24-6E95A084A9D2}"/>
              </a:ext>
            </a:extLst>
          </p:cNvPr>
          <p:cNvSpPr>
            <a:spLocks noGrp="1"/>
          </p:cNvSpPr>
          <p:nvPr>
            <p:ph type="body" sz="quarter" idx="24" hasCustomPrompt="1"/>
          </p:nvPr>
        </p:nvSpPr>
        <p:spPr>
          <a:xfrm>
            <a:off x="10077230" y="555309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31" name="Text Placeholder 5">
            <a:extLst>
              <a:ext uri="{FF2B5EF4-FFF2-40B4-BE49-F238E27FC236}">
                <a16:creationId xmlns:a16="http://schemas.microsoft.com/office/drawing/2014/main" id="{0AC86934-578D-4547-91D4-0207518575BA}"/>
              </a:ext>
            </a:extLst>
          </p:cNvPr>
          <p:cNvSpPr>
            <a:spLocks noGrp="1"/>
          </p:cNvSpPr>
          <p:nvPr>
            <p:ph type="body" sz="quarter" idx="25" hasCustomPrompt="1"/>
          </p:nvPr>
        </p:nvSpPr>
        <p:spPr>
          <a:xfrm>
            <a:off x="10077229" y="595187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Tree>
    <p:extLst>
      <p:ext uri="{BB962C8B-B14F-4D97-AF65-F5344CB8AC3E}">
        <p14:creationId xmlns:p14="http://schemas.microsoft.com/office/powerpoint/2010/main" val="1621872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2B7E-06CE-8E17-A160-37D65950FBE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1D44B6A-35FA-19EC-B8F5-FBD38A81FE0E}"/>
              </a:ext>
            </a:extLst>
          </p:cNvPr>
          <p:cNvSpPr>
            <a:spLocks/>
          </p:cNvSpPr>
          <p:nvPr/>
        </p:nvSpPr>
        <p:spPr>
          <a:xfrm>
            <a:off x="8068385" y="5494"/>
            <a:ext cx="412361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BC738F-D292-6D22-D658-A6FD1724F57E}"/>
              </a:ext>
            </a:extLst>
          </p:cNvPr>
          <p:cNvSpPr>
            <a:spLocks/>
          </p:cNvSpPr>
          <p:nvPr/>
        </p:nvSpPr>
        <p:spPr>
          <a:xfrm>
            <a:off x="0" y="-5494"/>
            <a:ext cx="8068386"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19D5E24-1047-89D4-DFAC-DF24B50421F9}"/>
              </a:ext>
            </a:extLst>
          </p:cNvPr>
          <p:cNvSpPr/>
          <p:nvPr/>
        </p:nvSpPr>
        <p:spPr>
          <a:xfrm>
            <a:off x="0" y="1458871"/>
            <a:ext cx="8068386" cy="1696232"/>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029EE86D-952E-9238-8463-F35A423CFAE1}"/>
              </a:ext>
            </a:extLst>
          </p:cNvPr>
          <p:cNvSpPr>
            <a:spLocks noGrp="1"/>
          </p:cNvSpPr>
          <p:nvPr>
            <p:ph type="ctrTitle"/>
          </p:nvPr>
        </p:nvSpPr>
        <p:spPr>
          <a:xfrm>
            <a:off x="603285" y="388389"/>
            <a:ext cx="5266717" cy="764390"/>
          </a:xfrm>
        </p:spPr>
        <p:txBody>
          <a:bodyPr anchor="t">
            <a:normAutofit fontScale="90000"/>
          </a:bodyPr>
          <a:lstStyle/>
          <a:p>
            <a:r>
              <a:rPr lang="en-US" sz="2200">
                <a:latin typeface="Poppins" panose="00000500000000000000" pitchFamily="2" charset="0"/>
                <a:cs typeface="Poppins" panose="00000500000000000000" pitchFamily="2" charset="0"/>
              </a:rPr>
              <a:t>Intern Apps</a:t>
            </a:r>
            <a:br>
              <a:rPr lang="en-US" sz="2200">
                <a:latin typeface="Poppins" panose="00000500000000000000" pitchFamily="2" charset="0"/>
                <a:cs typeface="Poppins" panose="00000500000000000000" pitchFamily="2" charset="0"/>
              </a:rPr>
            </a:br>
            <a:r>
              <a:rPr lang="en-US" b="1">
                <a:solidFill>
                  <a:srgbClr val="063A79"/>
                </a:solidFill>
                <a:latin typeface="Poppins SemiBold" pitchFamily="2" charset="77"/>
                <a:cs typeface="Poppins SemiBold" pitchFamily="2" charset="77"/>
              </a:rPr>
              <a:t>Capacity Automation</a:t>
            </a:r>
            <a:endParaRPr lang="en-US" sz="4200" b="1">
              <a:solidFill>
                <a:srgbClr val="063A79"/>
              </a:solidFill>
              <a:latin typeface="Poppins SemiBold" pitchFamily="2" charset="77"/>
              <a:cs typeface="Poppins SemiBold" pitchFamily="2" charset="77"/>
            </a:endParaRPr>
          </a:p>
        </p:txBody>
      </p:sp>
      <p:sp>
        <p:nvSpPr>
          <p:cNvPr id="8" name="Text Placeholder 5">
            <a:extLst>
              <a:ext uri="{FF2B5EF4-FFF2-40B4-BE49-F238E27FC236}">
                <a16:creationId xmlns:a16="http://schemas.microsoft.com/office/drawing/2014/main" id="{7B629658-12B9-A4FC-1E78-63F60D563152}"/>
              </a:ext>
            </a:extLst>
          </p:cNvPr>
          <p:cNvSpPr txBox="1">
            <a:spLocks/>
          </p:cNvSpPr>
          <p:nvPr/>
        </p:nvSpPr>
        <p:spPr>
          <a:xfrm>
            <a:off x="8337717" y="887533"/>
            <a:ext cx="3464816" cy="507194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pPr>
            <a:r>
              <a:rPr lang="en-US" sz="1200" b="1">
                <a:solidFill>
                  <a:srgbClr val="617283"/>
                </a:solidFill>
                <a:latin typeface="Poppins" panose="00000500000000000000" pitchFamily="2" charset="0"/>
                <a:cs typeface="Poppins" panose="00000500000000000000" pitchFamily="2" charset="0"/>
              </a:rPr>
              <a:t>The Business Need</a:t>
            </a:r>
          </a:p>
          <a:p>
            <a:pPr>
              <a:lnSpc>
                <a:spcPct val="125000"/>
              </a:lnSpc>
              <a:spcBef>
                <a:spcPts val="0"/>
              </a:spcBef>
            </a:pPr>
            <a:r>
              <a:rPr lang="en-US" sz="1200">
                <a:latin typeface="Poppins" panose="00000500000000000000" pitchFamily="2" charset="0"/>
                <a:cs typeface="Poppins" panose="00000500000000000000" pitchFamily="2" charset="0"/>
              </a:rPr>
              <a:t>Meta’s Creative Audio Team was using several separate systems for intake processes, capacity planning and evaluations, creating inefficiencies in managing resources and tracking progress on their work.</a:t>
            </a:r>
          </a:p>
          <a:p>
            <a:pPr>
              <a:lnSpc>
                <a:spcPct val="125000"/>
              </a:lnSpc>
              <a:spcBef>
                <a:spcPts val="0"/>
              </a:spcBef>
            </a:pPr>
            <a:r>
              <a:rPr lang="en-US" sz="1200">
                <a:latin typeface="Poppins" panose="00000500000000000000" pitchFamily="2" charset="0"/>
                <a:cs typeface="Poppins" panose="00000500000000000000" pitchFamily="2" charset="0"/>
              </a:rPr>
              <a:t> </a:t>
            </a:r>
          </a:p>
          <a:p>
            <a:pPr>
              <a:lnSpc>
                <a:spcPct val="125000"/>
              </a:lnSpc>
              <a:spcBef>
                <a:spcPts val="0"/>
              </a:spcBef>
            </a:pPr>
            <a:r>
              <a:rPr lang="en-US" sz="1200" b="1">
                <a:solidFill>
                  <a:srgbClr val="617283"/>
                </a:solidFill>
                <a:latin typeface="Poppins" panose="00000500000000000000" pitchFamily="2" charset="0"/>
                <a:cs typeface="Poppins" panose="00000500000000000000" pitchFamily="2" charset="0"/>
              </a:rPr>
              <a:t>What We Did</a:t>
            </a:r>
          </a:p>
          <a:p>
            <a:pPr>
              <a:lnSpc>
                <a:spcPct val="125000"/>
              </a:lnSpc>
              <a:spcBef>
                <a:spcPts val="0"/>
              </a:spcBef>
            </a:pPr>
            <a:r>
              <a:rPr lang="en-US" sz="1200">
                <a:latin typeface="Poppins" panose="00000500000000000000" pitchFamily="2" charset="0"/>
                <a:cs typeface="Poppins" panose="00000500000000000000" pitchFamily="2" charset="0"/>
              </a:rPr>
              <a:t>Affirma created a custom Capacity Tool integrated into Meta's internal platform, consolidating intake processes, resource planning and evaluation systems into one streamlined tool. Tasks are viewable in the Intern application, with data synchronized across systems, and reporting is enhanced through Tableau and </a:t>
            </a:r>
            <a:r>
              <a:rPr lang="en-US" sz="1200" err="1">
                <a:latin typeface="Poppins" panose="00000500000000000000" pitchFamily="2" charset="0"/>
                <a:cs typeface="Poppins" panose="00000500000000000000" pitchFamily="2" charset="0"/>
              </a:rPr>
              <a:t>Unidash</a:t>
            </a:r>
            <a:r>
              <a:rPr lang="en-US" sz="1200">
                <a:latin typeface="Poppins" panose="00000500000000000000" pitchFamily="2" charset="0"/>
                <a:cs typeface="Poppins" panose="00000500000000000000" pitchFamily="2" charset="0"/>
              </a:rPr>
              <a:t>. Our team provides ongoing engineering and project management support, ensuring the tool remains functional, troubleshooting any issues, and implementing new features based on user feedback.</a:t>
            </a:r>
          </a:p>
          <a:p>
            <a:pPr>
              <a:lnSpc>
                <a:spcPct val="125000"/>
              </a:lnSpc>
              <a:spcBef>
                <a:spcPts val="0"/>
              </a:spcBef>
            </a:pPr>
            <a:endParaRPr lang="en-US" sz="1200">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DE42DE24-C53A-2E1A-7620-C0A929188EFF}"/>
              </a:ext>
            </a:extLst>
          </p:cNvPr>
          <p:cNvSpPr txBox="1"/>
          <p:nvPr/>
        </p:nvSpPr>
        <p:spPr>
          <a:xfrm>
            <a:off x="603285" y="1601978"/>
            <a:ext cx="1806478" cy="539378"/>
          </a:xfrm>
          <a:prstGeom prst="rect">
            <a:avLst/>
          </a:prstGeom>
          <a:noFill/>
        </p:spPr>
        <p:txBody>
          <a:bodyPr wrap="square" rtlCol="0">
            <a:spAutoFit/>
          </a:bodyPr>
          <a:lstStyle/>
          <a:p>
            <a:pPr>
              <a:lnSpc>
                <a:spcPct val="125000"/>
              </a:lnSpc>
              <a:spcBef>
                <a:spcPts val="0"/>
              </a:spcBef>
            </a:pPr>
            <a:r>
              <a:rPr lang="en-US" sz="1200" b="1">
                <a:solidFill>
                  <a:schemeClr val="bg1"/>
                </a:solidFill>
                <a:latin typeface="Poppins" panose="00000500000000000000" pitchFamily="2" charset="0"/>
                <a:cs typeface="Poppins" panose="00000500000000000000" pitchFamily="2" charset="0"/>
              </a:rPr>
              <a:t>Integrations &amp; Technology</a:t>
            </a:r>
          </a:p>
        </p:txBody>
      </p:sp>
      <p:sp>
        <p:nvSpPr>
          <p:cNvPr id="15" name="Text Placeholder 5">
            <a:extLst>
              <a:ext uri="{FF2B5EF4-FFF2-40B4-BE49-F238E27FC236}">
                <a16:creationId xmlns:a16="http://schemas.microsoft.com/office/drawing/2014/main" id="{3261FB6E-AB67-52F2-5F9D-F0D37256FD0E}"/>
              </a:ext>
            </a:extLst>
          </p:cNvPr>
          <p:cNvSpPr txBox="1">
            <a:spLocks/>
          </p:cNvSpPr>
          <p:nvPr/>
        </p:nvSpPr>
        <p:spPr>
          <a:xfrm>
            <a:off x="603285" y="2165978"/>
            <a:ext cx="1151295" cy="715264"/>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spcBef>
                <a:spcPts val="200"/>
              </a:spcBef>
              <a:buFont typeface="Arial" panose="020B0604020202020204" pitchFamily="34" charset="0"/>
              <a:buChar char="•"/>
            </a:pPr>
            <a:r>
              <a:rPr lang="en-US" sz="1200">
                <a:solidFill>
                  <a:schemeClr val="bg1"/>
                </a:solidFill>
                <a:latin typeface="Poppins" panose="00000500000000000000" pitchFamily="2" charset="0"/>
                <a:cs typeface="Poppins" panose="00000500000000000000" pitchFamily="2" charset="0"/>
              </a:rPr>
              <a:t>Tasks</a:t>
            </a:r>
          </a:p>
          <a:p>
            <a:pPr marL="171450" indent="-171450">
              <a:lnSpc>
                <a:spcPct val="100000"/>
              </a:lnSpc>
              <a:spcBef>
                <a:spcPts val="200"/>
              </a:spcBef>
              <a:buFont typeface="Arial" panose="020B0604020202020204" pitchFamily="34" charset="0"/>
              <a:buChar char="•"/>
            </a:pPr>
            <a:r>
              <a:rPr lang="en-US" sz="1200">
                <a:solidFill>
                  <a:schemeClr val="bg1"/>
                </a:solidFill>
                <a:latin typeface="Poppins" panose="00000500000000000000" pitchFamily="2" charset="0"/>
                <a:cs typeface="Poppins" panose="00000500000000000000" pitchFamily="2" charset="0"/>
              </a:rPr>
              <a:t>Tableau</a:t>
            </a:r>
          </a:p>
          <a:p>
            <a:pPr marL="171450" indent="-171450">
              <a:lnSpc>
                <a:spcPct val="100000"/>
              </a:lnSpc>
              <a:spcBef>
                <a:spcPts val="200"/>
              </a:spcBef>
              <a:buFont typeface="Arial" panose="020B0604020202020204" pitchFamily="34" charset="0"/>
              <a:buChar char="•"/>
            </a:pPr>
            <a:r>
              <a:rPr lang="en-US" sz="1200" err="1">
                <a:solidFill>
                  <a:schemeClr val="bg1"/>
                </a:solidFill>
                <a:latin typeface="Poppins" panose="00000500000000000000" pitchFamily="2" charset="0"/>
                <a:cs typeface="Poppins" panose="00000500000000000000" pitchFamily="2" charset="0"/>
              </a:rPr>
              <a:t>Unidash</a:t>
            </a:r>
            <a:endParaRPr lang="en-US" sz="1200">
              <a:solidFill>
                <a:schemeClr val="bg1"/>
              </a:solidFill>
              <a:latin typeface="Poppins" panose="00000500000000000000" pitchFamily="2" charset="0"/>
              <a:cs typeface="Poppins" panose="00000500000000000000" pitchFamily="2" charset="0"/>
            </a:endParaRPr>
          </a:p>
        </p:txBody>
      </p:sp>
      <p:pic>
        <p:nvPicPr>
          <p:cNvPr id="6" name="Picture 5" descr="A screenshot of a computer&#10;&#10;AI-generated content may be incorrect.">
            <a:extLst>
              <a:ext uri="{FF2B5EF4-FFF2-40B4-BE49-F238E27FC236}">
                <a16:creationId xmlns:a16="http://schemas.microsoft.com/office/drawing/2014/main" id="{E63B0BD9-EC05-5A15-44BC-7029E8F84A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982" y="3024349"/>
            <a:ext cx="7742421" cy="3702897"/>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5CB69C92-1575-06BF-11D8-2278BD5D3874}"/>
              </a:ext>
            </a:extLst>
          </p:cNvPr>
          <p:cNvSpPr txBox="1"/>
          <p:nvPr/>
        </p:nvSpPr>
        <p:spPr>
          <a:xfrm>
            <a:off x="2950517" y="1677610"/>
            <a:ext cx="4577114" cy="1128001"/>
          </a:xfrm>
          <a:prstGeom prst="rect">
            <a:avLst/>
          </a:prstGeom>
          <a:noFill/>
        </p:spPr>
        <p:txBody>
          <a:bodyPr wrap="square">
            <a:spAutoFit/>
          </a:bodyPr>
          <a:lstStyle/>
          <a:p>
            <a:pPr>
              <a:lnSpc>
                <a:spcPct val="125000"/>
              </a:lnSpc>
              <a:spcBef>
                <a:spcPts val="0"/>
              </a:spcBef>
            </a:pPr>
            <a:r>
              <a:rPr lang="en-US" sz="1200" b="1">
                <a:solidFill>
                  <a:schemeClr val="bg1"/>
                </a:solidFill>
                <a:latin typeface="Poppins" panose="00000500000000000000" pitchFamily="2" charset="0"/>
                <a:cs typeface="Poppins" panose="00000500000000000000" pitchFamily="2" charset="0"/>
              </a:rPr>
              <a:t>Impact</a:t>
            </a:r>
          </a:p>
          <a:p>
            <a:pPr marL="285750" indent="-285750">
              <a:lnSpc>
                <a:spcPct val="150000"/>
              </a:lnSpc>
              <a:buFont typeface="Wingdings" panose="05000000000000000000" pitchFamily="2" charset="2"/>
              <a:buChar char="ü"/>
            </a:pPr>
            <a:r>
              <a:rPr lang="en-US" sz="1200">
                <a:solidFill>
                  <a:schemeClr val="bg1"/>
                </a:solidFill>
                <a:latin typeface="Poppins" panose="00000500000000000000" pitchFamily="2" charset="0"/>
                <a:cs typeface="Poppins" panose="00000500000000000000" pitchFamily="2" charset="0"/>
              </a:rPr>
              <a:t>Streamlined resource management &amp; planning</a:t>
            </a:r>
          </a:p>
          <a:p>
            <a:pPr marL="285750" indent="-285750">
              <a:lnSpc>
                <a:spcPct val="150000"/>
              </a:lnSpc>
              <a:buFont typeface="Wingdings" panose="05000000000000000000" pitchFamily="2" charset="2"/>
              <a:buChar char="ü"/>
            </a:pPr>
            <a:r>
              <a:rPr lang="en-US" sz="1200">
                <a:solidFill>
                  <a:schemeClr val="bg1"/>
                </a:solidFill>
                <a:latin typeface="Poppins" panose="00000500000000000000" pitchFamily="2" charset="0"/>
                <a:cs typeface="Poppins" panose="00000500000000000000" pitchFamily="2" charset="0"/>
              </a:rPr>
              <a:t>Elimination of redundancies across systems</a:t>
            </a:r>
          </a:p>
          <a:p>
            <a:pPr marL="285750" indent="-285750">
              <a:lnSpc>
                <a:spcPct val="150000"/>
              </a:lnSpc>
              <a:buFont typeface="Wingdings" panose="05000000000000000000" pitchFamily="2" charset="2"/>
              <a:buChar char="ü"/>
            </a:pPr>
            <a:r>
              <a:rPr lang="en-US" sz="1200">
                <a:solidFill>
                  <a:schemeClr val="bg1"/>
                </a:solidFill>
                <a:latin typeface="Poppins" panose="00000500000000000000" pitchFamily="2" charset="0"/>
                <a:cs typeface="Poppins" panose="00000500000000000000" pitchFamily="2" charset="0"/>
              </a:rPr>
              <a:t>Enhanced reporting &amp; data synchronization</a:t>
            </a:r>
          </a:p>
        </p:txBody>
      </p:sp>
      <p:sp>
        <p:nvSpPr>
          <p:cNvPr id="13" name="Rectangle 12">
            <a:extLst>
              <a:ext uri="{FF2B5EF4-FFF2-40B4-BE49-F238E27FC236}">
                <a16:creationId xmlns:a16="http://schemas.microsoft.com/office/drawing/2014/main" id="{2E447363-B76E-9E6F-F950-8803934870EE}"/>
              </a:ext>
            </a:extLst>
          </p:cNvPr>
          <p:cNvSpPr/>
          <p:nvPr/>
        </p:nvSpPr>
        <p:spPr>
          <a:xfrm flipV="1">
            <a:off x="-18789" y="311950"/>
            <a:ext cx="95693" cy="917268"/>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70" b="1"/>
              <a:t>  </a:t>
            </a:r>
          </a:p>
        </p:txBody>
      </p:sp>
      <p:pic>
        <p:nvPicPr>
          <p:cNvPr id="4" name="Picture 3">
            <a:extLst>
              <a:ext uri="{FF2B5EF4-FFF2-40B4-BE49-F238E27FC236}">
                <a16:creationId xmlns:a16="http://schemas.microsoft.com/office/drawing/2014/main" id="{C897E3D5-83A9-A567-3CFA-69A26A5CF2F6}"/>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881985" y="6252948"/>
            <a:ext cx="920548" cy="317077"/>
          </a:xfrm>
          <a:prstGeom prst="rect">
            <a:avLst/>
          </a:prstGeom>
        </p:spPr>
      </p:pic>
    </p:spTree>
    <p:extLst>
      <p:ext uri="{BB962C8B-B14F-4D97-AF65-F5344CB8AC3E}">
        <p14:creationId xmlns:p14="http://schemas.microsoft.com/office/powerpoint/2010/main" val="17981663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Meta</Named_x0020_Account>
    <Industries xmlns="f0ee8362-fa7e-4bc9-ab88-7dcfb17cb19b">
      <Value>Technology</Value>
    </Industries>
    <PlatTech xmlns="f0ee8362-fa7e-4bc9-ab88-7dcfb17cb19b" xsi:nil="true"/>
    <BusinessUnit xmlns="f0ee8362-fa7e-4bc9-ab88-7dcfb17cb19b">
      <Value>Custom Development</Value>
    </BusinessUnit>
    <Solutions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C78A6D-FC1F-4885-9909-571151B6D704}">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48108C74-B861-44D3-93B8-76174CB90E62}">
  <ds:schemaRefs>
    <ds:schemaRef ds:uri="http://schemas.microsoft.com/office/2006/metadata/customXsn"/>
  </ds:schemaRefs>
</ds:datastoreItem>
</file>

<file path=customXml/itemProps3.xml><?xml version="1.0" encoding="utf-8"?>
<ds:datastoreItem xmlns:ds="http://schemas.openxmlformats.org/officeDocument/2006/customXml" ds:itemID="{0FCEB8F9-4F78-4BB0-8F45-0F8A152A83F4}"/>
</file>

<file path=customXml/itemProps4.xml><?xml version="1.0" encoding="utf-8"?>
<ds:datastoreItem xmlns:ds="http://schemas.openxmlformats.org/officeDocument/2006/customXml" ds:itemID="{D511DCA8-A8C2-4052-B2E8-D63F1DD820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Intern Apps Capacity Automation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cp:revision>
  <dcterms:created xsi:type="dcterms:W3CDTF">2025-04-03T19:08:31Z</dcterms:created>
  <dcterms:modified xsi:type="dcterms:W3CDTF">2025-04-03T19:08:55Z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