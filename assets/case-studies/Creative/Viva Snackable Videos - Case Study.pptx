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authors.xml" ContentType="application/vnd.ms-powerpoint.authors+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1.xml" ContentType="application/vnd.openxmlformats-officedocument.customXmlProperties+xml"/>
  <Override PartName="/customXml/itemProps2.xml" ContentType="application/vnd.openxmlformats-officedocument.customXmlProperties+xml"/>
  <Override PartName="/docMetadata/LabelInfo.xml" ContentType="application/vnd.ms-office.classificationlabel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ppt/changesInfos/changesInfo1.xml" ContentType="application/vnd.ms-powerpoint.changesinfo+xml"/>
  <Override PartName="/ppt/revisionInfo.xml" ContentType="application/vnd.ms-powerpoint.revisioninfo+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183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704E31-CDBF-7314-37E7-7F90523CFD59}" name="Wardah Ajaz" initials="WA" userId="S::wajaz@affirma.com::a653774b-62e7-4fd4-84eb-453e7c2eb25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ela Cook" initials="PC" lastIdx="6" clrIdx="0">
    <p:extLst>
      <p:ext uri="{19B8F6BF-5375-455C-9EA6-DF929625EA0E}">
        <p15:presenceInfo xmlns:p15="http://schemas.microsoft.com/office/powerpoint/2012/main" userId="S::pcook@affirma.com::8106f2c5-df70-49fd-b5d7-bbbe241af3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A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854D1F-58EC-E3A4-02C0-693F4302C660}" v="18" dt="2025-10-22T22:12:26.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commentAuthors" Target="commentAuthors.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customXml" Target="../customXml/item4.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 Minelli" userId="S::mminelli@affirma.com::8aabbc37-ad6b-4f0e-b68e-6b3b4d01d997" providerId="AD" clId="Web-{CE854D1F-58EC-E3A4-02C0-693F4302C660}"/>
    <pc:docChg chg="modSld">
      <pc:chgData name="Matt Minelli" userId="S::mminelli@affirma.com::8aabbc37-ad6b-4f0e-b68e-6b3b4d01d997" providerId="AD" clId="Web-{CE854D1F-58EC-E3A4-02C0-693F4302C660}" dt="2025-10-22T22:12:26.799" v="16" actId="1076"/>
      <pc:docMkLst>
        <pc:docMk/>
      </pc:docMkLst>
      <pc:sldChg chg="modSp">
        <pc:chgData name="Matt Minelli" userId="S::mminelli@affirma.com::8aabbc37-ad6b-4f0e-b68e-6b3b4d01d997" providerId="AD" clId="Web-{CE854D1F-58EC-E3A4-02C0-693F4302C660}" dt="2025-10-22T22:12:26.799" v="16" actId="1076"/>
        <pc:sldMkLst>
          <pc:docMk/>
          <pc:sldMk cId="1287706696" sldId="1834"/>
        </pc:sldMkLst>
        <pc:spChg chg="mod">
          <ac:chgData name="Matt Minelli" userId="S::mminelli@affirma.com::8aabbc37-ad6b-4f0e-b68e-6b3b4d01d997" providerId="AD" clId="Web-{CE854D1F-58EC-E3A4-02C0-693F4302C660}" dt="2025-10-22T22:11:28.923" v="5" actId="20577"/>
          <ac:spMkLst>
            <pc:docMk/>
            <pc:sldMk cId="1287706696" sldId="1834"/>
            <ac:spMk id="4" creationId="{BDC4B9FF-8695-D444-A5CC-2CB3135EEEAD}"/>
          </ac:spMkLst>
        </pc:spChg>
        <pc:spChg chg="mod">
          <ac:chgData name="Matt Minelli" userId="S::mminelli@affirma.com::8aabbc37-ad6b-4f0e-b68e-6b3b4d01d997" providerId="AD" clId="Web-{CE854D1F-58EC-E3A4-02C0-693F4302C660}" dt="2025-10-22T22:11:33.533" v="6"/>
          <ac:spMkLst>
            <pc:docMk/>
            <pc:sldMk cId="1287706696" sldId="1834"/>
            <ac:spMk id="6" creationId="{DC3185AF-4529-9642-92AB-B131CAEBC7A9}"/>
          </ac:spMkLst>
        </pc:spChg>
        <pc:spChg chg="mod">
          <ac:chgData name="Matt Minelli" userId="S::mminelli@affirma.com::8aabbc37-ad6b-4f0e-b68e-6b3b4d01d997" providerId="AD" clId="Web-{CE854D1F-58EC-E3A4-02C0-693F4302C660}" dt="2025-10-22T22:12:26.783" v="15" actId="1076"/>
          <ac:spMkLst>
            <pc:docMk/>
            <pc:sldMk cId="1287706696" sldId="1834"/>
            <ac:spMk id="12" creationId="{E778A92C-1382-1A12-8A05-918932FFC49A}"/>
          </ac:spMkLst>
        </pc:spChg>
        <pc:spChg chg="mod">
          <ac:chgData name="Matt Minelli" userId="S::mminelli@affirma.com::8aabbc37-ad6b-4f0e-b68e-6b3b4d01d997" providerId="AD" clId="Web-{CE854D1F-58EC-E3A4-02C0-693F4302C660}" dt="2025-10-22T22:12:26.799" v="16" actId="1076"/>
          <ac:spMkLst>
            <pc:docMk/>
            <pc:sldMk cId="1287706696" sldId="1834"/>
            <ac:spMk id="14" creationId="{7C420CDD-FF14-F374-84BE-A9C0D95642E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0A8312-0222-40F5-BDEB-4F92AEA49343}" type="datetimeFigureOut">
              <a:rPr lang="en-US" smtClean="0"/>
              <a:t>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D2A0CD-526E-4BDB-8351-4C4F909F586D}" type="slidenum">
              <a:rPr lang="en-US" smtClean="0"/>
              <a:t>‹#›</a:t>
            </a:fld>
            <a:endParaRPr lang="en-US"/>
          </a:p>
        </p:txBody>
      </p:sp>
    </p:spTree>
    <p:extLst>
      <p:ext uri="{BB962C8B-B14F-4D97-AF65-F5344CB8AC3E}">
        <p14:creationId xmlns:p14="http://schemas.microsoft.com/office/powerpoint/2010/main" val="1693446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0D2A0CD-526E-4BDB-8351-4C4F909F586D}" type="slidenum">
              <a:rPr lang="en-US" smtClean="0"/>
              <a:t>1</a:t>
            </a:fld>
            <a:endParaRPr lang="en-US"/>
          </a:p>
        </p:txBody>
      </p:sp>
    </p:spTree>
    <p:extLst>
      <p:ext uri="{BB962C8B-B14F-4D97-AF65-F5344CB8AC3E}">
        <p14:creationId xmlns:p14="http://schemas.microsoft.com/office/powerpoint/2010/main" val="1373155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E15E7-052A-4307-9B29-D94C120AEF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1948D8-569C-4F33-A588-CD66945765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F281A2-D60F-4888-AE2B-90C0CF8745F7}"/>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5" name="Footer Placeholder 4">
            <a:extLst>
              <a:ext uri="{FF2B5EF4-FFF2-40B4-BE49-F238E27FC236}">
                <a16:creationId xmlns:a16="http://schemas.microsoft.com/office/drawing/2014/main" id="{9A8A0EB7-B10B-42C2-82C9-5225B2C687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F5954-2944-4607-93C6-42F4895FF777}"/>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182123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AD27F-2229-4DC3-B368-5546AAA958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C598AD-9BD4-494B-81C9-E3D54A0397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1111F-21B9-4D4D-B19B-AA4895D6D299}"/>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5" name="Footer Placeholder 4">
            <a:extLst>
              <a:ext uri="{FF2B5EF4-FFF2-40B4-BE49-F238E27FC236}">
                <a16:creationId xmlns:a16="http://schemas.microsoft.com/office/drawing/2014/main" id="{BA6477AB-A577-43A4-9665-378A0898A1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94B8D-3ADB-4ACE-A07B-3E5396AA5857}"/>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150640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0072E-319B-435E-B13B-8D697D6D90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004F99-1042-4B32-A848-3678122E0A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05C7B7-CBFA-4F5E-A09A-17CE96A94926}"/>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5" name="Footer Placeholder 4">
            <a:extLst>
              <a:ext uri="{FF2B5EF4-FFF2-40B4-BE49-F238E27FC236}">
                <a16:creationId xmlns:a16="http://schemas.microsoft.com/office/drawing/2014/main" id="{2868ADDD-08E7-446B-8FAC-7EDCA8BE6F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4D90F7-C7A2-4747-93DA-358DD2618C58}"/>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3669625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86218-E355-4987-9F74-50AA6F4978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741890-8D3C-4A1B-8564-A2C712D8E4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AE8437-8408-40E0-AA99-697E74A7AD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665E1A-40D2-4889-BBA1-07A2A16E5317}"/>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6" name="Footer Placeholder 5">
            <a:extLst>
              <a:ext uri="{FF2B5EF4-FFF2-40B4-BE49-F238E27FC236}">
                <a16:creationId xmlns:a16="http://schemas.microsoft.com/office/drawing/2014/main" id="{5E083FD0-DE43-4F11-AE83-48FC3070F0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32682E-F29D-4B88-BBB8-973C5745B247}"/>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1053511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57AB1-E62F-4492-81EF-91C5FDE8F5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E9A55C-272E-47E5-B065-685D9815E0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7F5B06-3E0D-4CE2-8ACF-7D6484505A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273769-0210-448C-BBC1-5EFF1AF6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769F34-C025-44FE-A2A6-85A115CC50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5D54AD-7E17-4774-96A5-D1AC7E740468}"/>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8" name="Footer Placeholder 7">
            <a:extLst>
              <a:ext uri="{FF2B5EF4-FFF2-40B4-BE49-F238E27FC236}">
                <a16:creationId xmlns:a16="http://schemas.microsoft.com/office/drawing/2014/main" id="{DFC25054-379F-445D-AD4C-AE18D7A170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0BC507-9A75-4657-9EE9-8D5A43362B5D}"/>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3928558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9A439-4B84-4857-84EB-B54AD2704B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77F5BF-154C-4036-8C98-690E93B70BCA}"/>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4" name="Footer Placeholder 3">
            <a:extLst>
              <a:ext uri="{FF2B5EF4-FFF2-40B4-BE49-F238E27FC236}">
                <a16:creationId xmlns:a16="http://schemas.microsoft.com/office/drawing/2014/main" id="{3969E2E3-C6D0-4B99-B0B4-E48E07F41C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315F9B-FE71-46BC-A3A3-2135A6491BA5}"/>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751145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A0E579-783C-4D17-A7DC-C411FBEE4E8F}"/>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3" name="Footer Placeholder 2">
            <a:extLst>
              <a:ext uri="{FF2B5EF4-FFF2-40B4-BE49-F238E27FC236}">
                <a16:creationId xmlns:a16="http://schemas.microsoft.com/office/drawing/2014/main" id="{5C065766-0F37-42F0-8639-460FE109DC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466DEA-0A45-462E-8442-6387082D621F}"/>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216712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AE5B7-896F-48A5-BB9D-B77BF2887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6666F-5B5B-4B4E-B138-9A8A8C135E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8AC3DC-C555-4A54-95AB-3B32ADF4EE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93A1B-7501-4697-931A-25F39DDB8996}"/>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6" name="Footer Placeholder 5">
            <a:extLst>
              <a:ext uri="{FF2B5EF4-FFF2-40B4-BE49-F238E27FC236}">
                <a16:creationId xmlns:a16="http://schemas.microsoft.com/office/drawing/2014/main" id="{FAEA95F1-D8DA-4206-9AFF-00D59481B9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D3FE04-5D15-40EF-AD83-D13A5D19A547}"/>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3782114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7F919-A990-4F12-9028-71B315A85E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786613-7A59-4C61-B3F6-7012A1BD36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13933E-50A4-4710-BB2D-A06BD457B6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126195-96A9-4742-995F-058B9ED56741}"/>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6" name="Footer Placeholder 5">
            <a:extLst>
              <a:ext uri="{FF2B5EF4-FFF2-40B4-BE49-F238E27FC236}">
                <a16:creationId xmlns:a16="http://schemas.microsoft.com/office/drawing/2014/main" id="{2AD91C13-BB64-412D-BE0D-B72162B043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ECCC33-0A96-4574-9FCE-C963B4DDD932}"/>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1782748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00D31-2E04-4930-B433-FE01F69D99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FA1223-8702-4A56-A992-564F31129D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A9329D-DD17-4CA2-9F96-B0E0E54F9574}"/>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5" name="Footer Placeholder 4">
            <a:extLst>
              <a:ext uri="{FF2B5EF4-FFF2-40B4-BE49-F238E27FC236}">
                <a16:creationId xmlns:a16="http://schemas.microsoft.com/office/drawing/2014/main" id="{8D39100C-C12F-42D8-ADA6-B8095B59C8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4E089-A93D-48A7-80CF-282B66BD6929}"/>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2323155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893E5D-328A-4752-9A3D-14435EAEC9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55F347-1374-41B7-B805-081C8BBE51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9D7BE4-0B41-4311-8A52-22D200FC1BBE}"/>
              </a:ext>
            </a:extLst>
          </p:cNvPr>
          <p:cNvSpPr>
            <a:spLocks noGrp="1"/>
          </p:cNvSpPr>
          <p:nvPr>
            <p:ph type="dt" sz="half" idx="10"/>
          </p:nvPr>
        </p:nvSpPr>
        <p:spPr/>
        <p:txBody>
          <a:bodyPr/>
          <a:lstStyle/>
          <a:p>
            <a:fld id="{67D3573E-0058-463A-B7EA-1DAD0737FD0C}" type="datetimeFigureOut">
              <a:rPr lang="en-US" smtClean="0"/>
              <a:t>10/22/2025</a:t>
            </a:fld>
            <a:endParaRPr lang="en-US"/>
          </a:p>
        </p:txBody>
      </p:sp>
      <p:sp>
        <p:nvSpPr>
          <p:cNvPr id="5" name="Footer Placeholder 4">
            <a:extLst>
              <a:ext uri="{FF2B5EF4-FFF2-40B4-BE49-F238E27FC236}">
                <a16:creationId xmlns:a16="http://schemas.microsoft.com/office/drawing/2014/main" id="{BCD12F91-8B92-459E-910B-650D14758B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1BAED4-D7AD-494F-98D9-610DE1E38CC2}"/>
              </a:ext>
            </a:extLst>
          </p:cNvPr>
          <p:cNvSpPr>
            <a:spLocks noGrp="1"/>
          </p:cNvSpPr>
          <p:nvPr>
            <p:ph type="sldNum" sz="quarter" idx="12"/>
          </p:nvPr>
        </p:nvSpPr>
        <p:spPr/>
        <p:txBody>
          <a:bodyPr/>
          <a:lstStyle/>
          <a:p>
            <a:fld id="{C578B8F2-FE92-4537-960E-75FA3EF0C5E0}" type="slidenum">
              <a:rPr lang="en-US" smtClean="0"/>
              <a:t>‹#›</a:t>
            </a:fld>
            <a:endParaRPr lang="en-US"/>
          </a:p>
        </p:txBody>
      </p:sp>
    </p:spTree>
    <p:extLst>
      <p:ext uri="{BB962C8B-B14F-4D97-AF65-F5344CB8AC3E}">
        <p14:creationId xmlns:p14="http://schemas.microsoft.com/office/powerpoint/2010/main" val="5552031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ase Study Single Slide - Data Resul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3674382-8BA2-CD48-84D7-6B1CDE48F684}"/>
              </a:ext>
            </a:extLst>
          </p:cNvPr>
          <p:cNvSpPr>
            <a:spLocks noGrp="1"/>
          </p:cNvSpPr>
          <p:nvPr>
            <p:ph type="pic" sz="quarter" idx="17"/>
          </p:nvPr>
        </p:nvSpPr>
        <p:spPr>
          <a:xfrm>
            <a:off x="6095998" y="0"/>
            <a:ext cx="6096002" cy="5093207"/>
          </a:xfrm>
        </p:spPr>
        <p:txBody>
          <a:bodyPr/>
          <a:lstStyle/>
          <a:p>
            <a:endParaRPr lang="en-US"/>
          </a:p>
        </p:txBody>
      </p:sp>
      <p:sp>
        <p:nvSpPr>
          <p:cNvPr id="18" name="Rectangle 17">
            <a:extLst>
              <a:ext uri="{FF2B5EF4-FFF2-40B4-BE49-F238E27FC236}">
                <a16:creationId xmlns:a16="http://schemas.microsoft.com/office/drawing/2014/main" id="{ACBE22CA-CCD0-734A-932E-AF573C2B98B7}"/>
              </a:ext>
            </a:extLst>
          </p:cNvPr>
          <p:cNvSpPr/>
          <p:nvPr userDrawn="1"/>
        </p:nvSpPr>
        <p:spPr>
          <a:xfrm>
            <a:off x="6095998" y="5093207"/>
            <a:ext cx="6096002" cy="1764793"/>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bg1"/>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20" name="Text Placeholder 5">
            <a:extLst>
              <a:ext uri="{FF2B5EF4-FFF2-40B4-BE49-F238E27FC236}">
                <a16:creationId xmlns:a16="http://schemas.microsoft.com/office/drawing/2014/main" id="{50E4BD5B-FA1C-CA42-B01F-D6A4F333E0FE}"/>
              </a:ext>
            </a:extLst>
          </p:cNvPr>
          <p:cNvSpPr>
            <a:spLocks noGrp="1"/>
          </p:cNvSpPr>
          <p:nvPr>
            <p:ph type="body" sz="quarter" idx="18" hasCustomPrompt="1"/>
          </p:nvPr>
        </p:nvSpPr>
        <p:spPr>
          <a:xfrm>
            <a:off x="6479966" y="556945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1D9650A9-D1FE-7F4E-A1C9-FF16CE20B16F}"/>
              </a:ext>
            </a:extLst>
          </p:cNvPr>
          <p:cNvSpPr txBox="1"/>
          <p:nvPr userDrawn="1"/>
        </p:nvSpPr>
        <p:spPr>
          <a:xfrm>
            <a:off x="6479967" y="5292458"/>
            <a:ext cx="1523418" cy="276999"/>
          </a:xfrm>
          <a:prstGeom prst="rect">
            <a:avLst/>
          </a:prstGeom>
          <a:noFill/>
        </p:spPr>
        <p:txBody>
          <a:bodyPr wrap="square" rtlCol="0">
            <a:spAutoFit/>
          </a:bodyPr>
          <a:lstStyle/>
          <a:p>
            <a:pPr algn="l"/>
            <a:r>
              <a:rPr lang="en-US" sz="1200" b="1" i="0" spc="300">
                <a:solidFill>
                  <a:schemeClr val="bg1"/>
                </a:solidFill>
                <a:latin typeface="Arial" panose="020B0604020202020204" pitchFamily="34" charset="0"/>
                <a:cs typeface="Arial" panose="020B0604020202020204" pitchFamily="34" charset="0"/>
              </a:rPr>
              <a:t>RESULTS</a:t>
            </a:r>
          </a:p>
        </p:txBody>
      </p:sp>
      <p:sp>
        <p:nvSpPr>
          <p:cNvPr id="19" name="Text Placeholder 5">
            <a:extLst>
              <a:ext uri="{FF2B5EF4-FFF2-40B4-BE49-F238E27FC236}">
                <a16:creationId xmlns:a16="http://schemas.microsoft.com/office/drawing/2014/main" id="{DE51963F-09DC-8E4A-88D2-C536162B970E}"/>
              </a:ext>
            </a:extLst>
          </p:cNvPr>
          <p:cNvSpPr>
            <a:spLocks noGrp="1"/>
          </p:cNvSpPr>
          <p:nvPr>
            <p:ph type="body" sz="quarter" idx="21" hasCustomPrompt="1"/>
          </p:nvPr>
        </p:nvSpPr>
        <p:spPr>
          <a:xfrm>
            <a:off x="6479965" y="596823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28" name="Text Placeholder 5">
            <a:extLst>
              <a:ext uri="{FF2B5EF4-FFF2-40B4-BE49-F238E27FC236}">
                <a16:creationId xmlns:a16="http://schemas.microsoft.com/office/drawing/2014/main" id="{C8C32DBD-DA02-E348-877F-086CEC75A197}"/>
              </a:ext>
            </a:extLst>
          </p:cNvPr>
          <p:cNvSpPr>
            <a:spLocks noGrp="1"/>
          </p:cNvSpPr>
          <p:nvPr>
            <p:ph type="body" sz="quarter" idx="22" hasCustomPrompt="1"/>
          </p:nvPr>
        </p:nvSpPr>
        <p:spPr>
          <a:xfrm>
            <a:off x="8278598" y="5560830"/>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29" name="Text Placeholder 5">
            <a:extLst>
              <a:ext uri="{FF2B5EF4-FFF2-40B4-BE49-F238E27FC236}">
                <a16:creationId xmlns:a16="http://schemas.microsoft.com/office/drawing/2014/main" id="{6EB1CA55-D925-444F-8DA0-8CEF05F20D86}"/>
              </a:ext>
            </a:extLst>
          </p:cNvPr>
          <p:cNvSpPr>
            <a:spLocks noGrp="1"/>
          </p:cNvSpPr>
          <p:nvPr>
            <p:ph type="body" sz="quarter" idx="23" hasCustomPrompt="1"/>
          </p:nvPr>
        </p:nvSpPr>
        <p:spPr>
          <a:xfrm>
            <a:off x="8278597" y="5959610"/>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30" name="Text Placeholder 5">
            <a:extLst>
              <a:ext uri="{FF2B5EF4-FFF2-40B4-BE49-F238E27FC236}">
                <a16:creationId xmlns:a16="http://schemas.microsoft.com/office/drawing/2014/main" id="{9555A56F-2156-0C47-9C24-6E95A084A9D2}"/>
              </a:ext>
            </a:extLst>
          </p:cNvPr>
          <p:cNvSpPr>
            <a:spLocks noGrp="1"/>
          </p:cNvSpPr>
          <p:nvPr>
            <p:ph type="body" sz="quarter" idx="24" hasCustomPrompt="1"/>
          </p:nvPr>
        </p:nvSpPr>
        <p:spPr>
          <a:xfrm>
            <a:off x="10077230" y="555309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31" name="Text Placeholder 5">
            <a:extLst>
              <a:ext uri="{FF2B5EF4-FFF2-40B4-BE49-F238E27FC236}">
                <a16:creationId xmlns:a16="http://schemas.microsoft.com/office/drawing/2014/main" id="{0AC86934-578D-4547-91D4-0207518575BA}"/>
              </a:ext>
            </a:extLst>
          </p:cNvPr>
          <p:cNvSpPr>
            <a:spLocks noGrp="1"/>
          </p:cNvSpPr>
          <p:nvPr>
            <p:ph type="body" sz="quarter" idx="25" hasCustomPrompt="1"/>
          </p:nvPr>
        </p:nvSpPr>
        <p:spPr>
          <a:xfrm>
            <a:off x="10077229" y="595187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Tree>
    <p:extLst>
      <p:ext uri="{BB962C8B-B14F-4D97-AF65-F5344CB8AC3E}">
        <p14:creationId xmlns:p14="http://schemas.microsoft.com/office/powerpoint/2010/main" val="7657082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6F126-03DC-4D7B-B379-3C62C269A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AEFBD2-0F96-403C-A7DF-F428121C1A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880A0-A885-4476-AA4A-C36F45F3B4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D3573E-0058-463A-B7EA-1DAD0737FD0C}" type="datetimeFigureOut">
              <a:rPr lang="en-US" smtClean="0"/>
              <a:t>10/22/2025</a:t>
            </a:fld>
            <a:endParaRPr lang="en-US"/>
          </a:p>
        </p:txBody>
      </p:sp>
      <p:sp>
        <p:nvSpPr>
          <p:cNvPr id="5" name="Footer Placeholder 4">
            <a:extLst>
              <a:ext uri="{FF2B5EF4-FFF2-40B4-BE49-F238E27FC236}">
                <a16:creationId xmlns:a16="http://schemas.microsoft.com/office/drawing/2014/main" id="{7A8EB687-F61F-4D35-B03F-2CFB2F7293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762791-AB6D-414E-8F2A-F80201D92D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78B8F2-FE92-4537-960E-75FA3EF0C5E0}" type="slidenum">
              <a:rPr lang="en-US" smtClean="0"/>
              <a:t>‹#›</a:t>
            </a:fld>
            <a:endParaRPr lang="en-US"/>
          </a:p>
        </p:txBody>
      </p:sp>
    </p:spTree>
    <p:extLst>
      <p:ext uri="{BB962C8B-B14F-4D97-AF65-F5344CB8AC3E}">
        <p14:creationId xmlns:p14="http://schemas.microsoft.com/office/powerpoint/2010/main" val="37323965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dropbox.com/scl/fo/vy03di5e0up7o3uedbnes/AHWYvKOm_VmEz6ORTo0NyJ4?rlkey=tfdduk8kze3q9nh8v1kd5lzu2&amp;st=07vyulnq&amp;dl=0"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9918B97-2236-432B-9D84-A860394888A6}"/>
              </a:ext>
            </a:extLst>
          </p:cNvPr>
          <p:cNvSpPr>
            <a:spLocks noGrp="1" noRot="1" noMove="1" noResize="1" noEditPoints="1" noAdjustHandles="1" noChangeArrowheads="1" noChangeShapeType="1"/>
          </p:cNvSpPr>
          <p:nvPr/>
        </p:nvSpPr>
        <p:spPr>
          <a:xfrm>
            <a:off x="5380140" y="4408414"/>
            <a:ext cx="6811860" cy="24495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12"/>
          </p:nvPr>
        </p:nvSpPr>
        <p:spPr/>
        <p:txBody>
          <a:bodyPr/>
          <a:lstStyle/>
          <a:p>
            <a:fld id="{056F86DB-78DF-EB43-A6BE-40415A3A0052}" type="slidenum">
              <a:rPr lang="en-US" smtClean="0"/>
              <a:pPr/>
              <a:t>1</a:t>
            </a:fld>
            <a:endParaRPr lang="en-US"/>
          </a:p>
        </p:txBody>
      </p:sp>
      <p:sp>
        <p:nvSpPr>
          <p:cNvPr id="4" name="Title 3">
            <a:extLst>
              <a:ext uri="{FF2B5EF4-FFF2-40B4-BE49-F238E27FC236}">
                <a16:creationId xmlns:a16="http://schemas.microsoft.com/office/drawing/2014/main" id="{BDC4B9FF-8695-D444-A5CC-2CB3135EEEAD}"/>
              </a:ext>
            </a:extLst>
          </p:cNvPr>
          <p:cNvSpPr>
            <a:spLocks noGrp="1"/>
          </p:cNvSpPr>
          <p:nvPr>
            <p:ph type="ctrTitle"/>
          </p:nvPr>
        </p:nvSpPr>
        <p:spPr>
          <a:xfrm>
            <a:off x="4080972" y="163763"/>
            <a:ext cx="7490391" cy="738638"/>
          </a:xfrm>
        </p:spPr>
        <p:txBody>
          <a:bodyPr>
            <a:normAutofit/>
          </a:bodyPr>
          <a:lstStyle/>
          <a:p>
            <a:r>
              <a:rPr lang="en-US" sz="3600" b="1" dirty="0">
                <a:solidFill>
                  <a:srgbClr val="063A79"/>
                </a:solidFill>
                <a:latin typeface="Poppins"/>
                <a:cs typeface="Poppins"/>
              </a:rPr>
              <a:t>VIVA Snackable Videos</a:t>
            </a:r>
          </a:p>
        </p:txBody>
      </p:sp>
      <p:sp>
        <p:nvSpPr>
          <p:cNvPr id="6" name="Text Placeholder 5">
            <a:extLst>
              <a:ext uri="{FF2B5EF4-FFF2-40B4-BE49-F238E27FC236}">
                <a16:creationId xmlns:a16="http://schemas.microsoft.com/office/drawing/2014/main" id="{DC3185AF-4529-9642-92AB-B131CAEBC7A9}"/>
              </a:ext>
            </a:extLst>
          </p:cNvPr>
          <p:cNvSpPr>
            <a:spLocks noGrp="1"/>
          </p:cNvSpPr>
          <p:nvPr>
            <p:ph type="body" sz="quarter" idx="20"/>
          </p:nvPr>
        </p:nvSpPr>
        <p:spPr>
          <a:xfrm>
            <a:off x="4080972" y="904666"/>
            <a:ext cx="7116723" cy="1773275"/>
          </a:xfrm>
        </p:spPr>
        <p:txBody>
          <a:bodyPr vert="horz" lIns="91440" tIns="45720" rIns="91440" bIns="45720" rtlCol="0" anchor="t">
            <a:noAutofit/>
          </a:bodyPr>
          <a:lstStyle/>
          <a:p>
            <a:r>
              <a:rPr lang="en-US" sz="1300">
                <a:solidFill>
                  <a:schemeClr val="tx1"/>
                </a:solidFill>
                <a:latin typeface="Poppins"/>
                <a:ea typeface="+mn-lt"/>
                <a:cs typeface="Poppins"/>
              </a:rPr>
              <a:t>VIVA’s Canadian field marketing team wanted to promote six unique features using existing brand imagery from Brand Central. However, budget constraints limited their options for voiceover talent, leading them to rely on subject matter experts (SMEs) for narration. The challenge was to create engaging content while maintaining a personal and high-quality feel within these constraints.</a:t>
            </a:r>
            <a:endParaRPr lang="en-US" sz="1300">
              <a:solidFill>
                <a:schemeClr val="tx1"/>
              </a:solidFill>
              <a:latin typeface="Poppins"/>
              <a:cs typeface="Poppins"/>
            </a:endParaRPr>
          </a:p>
        </p:txBody>
      </p:sp>
      <p:sp>
        <p:nvSpPr>
          <p:cNvPr id="8" name="Text Placeholder 7">
            <a:extLst>
              <a:ext uri="{FF2B5EF4-FFF2-40B4-BE49-F238E27FC236}">
                <a16:creationId xmlns:a16="http://schemas.microsoft.com/office/drawing/2014/main" id="{F7328E13-9F30-0846-AE9E-2A00307B067C}"/>
              </a:ext>
            </a:extLst>
          </p:cNvPr>
          <p:cNvSpPr>
            <a:spLocks noGrp="1"/>
          </p:cNvSpPr>
          <p:nvPr>
            <p:ph type="body" sz="quarter" idx="22"/>
          </p:nvPr>
        </p:nvSpPr>
        <p:spPr/>
        <p:txBody>
          <a:bodyPr/>
          <a:lstStyle/>
          <a:p>
            <a:r>
              <a:rPr lang="en-US"/>
              <a:t>3</a:t>
            </a:r>
          </a:p>
        </p:txBody>
      </p:sp>
      <p:sp>
        <p:nvSpPr>
          <p:cNvPr id="9" name="Text Placeholder 8">
            <a:extLst>
              <a:ext uri="{FF2B5EF4-FFF2-40B4-BE49-F238E27FC236}">
                <a16:creationId xmlns:a16="http://schemas.microsoft.com/office/drawing/2014/main" id="{26D1C182-68D6-5145-9959-7C17A6C7E8D2}"/>
              </a:ext>
            </a:extLst>
          </p:cNvPr>
          <p:cNvSpPr>
            <a:spLocks noGrp="1"/>
          </p:cNvSpPr>
          <p:nvPr>
            <p:ph type="body" sz="quarter" idx="23"/>
          </p:nvPr>
        </p:nvSpPr>
        <p:spPr/>
        <p:txBody>
          <a:bodyPr/>
          <a:lstStyle/>
          <a:p>
            <a:r>
              <a:rPr lang="en-US"/>
              <a:t>Responsive viewport sizes</a:t>
            </a:r>
          </a:p>
        </p:txBody>
      </p:sp>
      <p:sp>
        <p:nvSpPr>
          <p:cNvPr id="10" name="Text Placeholder 9">
            <a:extLst>
              <a:ext uri="{FF2B5EF4-FFF2-40B4-BE49-F238E27FC236}">
                <a16:creationId xmlns:a16="http://schemas.microsoft.com/office/drawing/2014/main" id="{634B247A-B54F-9443-948E-781E9E7017D5}"/>
              </a:ext>
            </a:extLst>
          </p:cNvPr>
          <p:cNvSpPr>
            <a:spLocks noGrp="1"/>
          </p:cNvSpPr>
          <p:nvPr>
            <p:ph type="body" sz="quarter" idx="24"/>
          </p:nvPr>
        </p:nvSpPr>
        <p:spPr/>
        <p:txBody>
          <a:bodyPr/>
          <a:lstStyle/>
          <a:p>
            <a:r>
              <a:rPr lang="en-US"/>
              <a:t>6 weeks</a:t>
            </a:r>
          </a:p>
        </p:txBody>
      </p:sp>
      <p:sp>
        <p:nvSpPr>
          <p:cNvPr id="11" name="Text Placeholder 10">
            <a:extLst>
              <a:ext uri="{FF2B5EF4-FFF2-40B4-BE49-F238E27FC236}">
                <a16:creationId xmlns:a16="http://schemas.microsoft.com/office/drawing/2014/main" id="{18416BC8-7D3A-C447-82D3-1B919C1E4CD7}"/>
              </a:ext>
            </a:extLst>
          </p:cNvPr>
          <p:cNvSpPr>
            <a:spLocks noGrp="1"/>
          </p:cNvSpPr>
          <p:nvPr>
            <p:ph type="body" sz="quarter" idx="25"/>
          </p:nvPr>
        </p:nvSpPr>
        <p:spPr>
          <a:xfrm>
            <a:off x="10077229" y="5951877"/>
            <a:ext cx="1266763" cy="471961"/>
          </a:xfrm>
        </p:spPr>
        <p:txBody>
          <a:bodyPr/>
          <a:lstStyle/>
          <a:p>
            <a:r>
              <a:rPr lang="en-US"/>
              <a:t>Lorem Ipsum Dolor</a:t>
            </a:r>
          </a:p>
        </p:txBody>
      </p:sp>
      <p:sp>
        <p:nvSpPr>
          <p:cNvPr id="2" name="TextBox 4">
            <a:extLst>
              <a:ext uri="{FF2B5EF4-FFF2-40B4-BE49-F238E27FC236}">
                <a16:creationId xmlns:a16="http://schemas.microsoft.com/office/drawing/2014/main" id="{3B53D9E3-8074-49E2-29DA-18AB2B3B6D36}"/>
              </a:ext>
            </a:extLst>
          </p:cNvPr>
          <p:cNvSpPr txBox="1"/>
          <p:nvPr/>
        </p:nvSpPr>
        <p:spPr>
          <a:xfrm>
            <a:off x="1468175" y="6444616"/>
            <a:ext cx="2743199"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tx1">
                    <a:lumMod val="50000"/>
                    <a:lumOff val="50000"/>
                  </a:schemeClr>
                </a:solidFill>
                <a:latin typeface="Segoe UI"/>
                <a:ea typeface="Calibri"/>
                <a:cs typeface="Calibri"/>
              </a:rPr>
              <a:t>For MICROSOFT Use Only</a:t>
            </a:r>
          </a:p>
        </p:txBody>
      </p:sp>
      <p:sp>
        <p:nvSpPr>
          <p:cNvPr id="12" name="Text Placeholder 5">
            <a:extLst>
              <a:ext uri="{FF2B5EF4-FFF2-40B4-BE49-F238E27FC236}">
                <a16:creationId xmlns:a16="http://schemas.microsoft.com/office/drawing/2014/main" id="{E778A92C-1382-1A12-8A05-918932FFC49A}"/>
              </a:ext>
            </a:extLst>
          </p:cNvPr>
          <p:cNvSpPr txBox="1">
            <a:spLocks/>
          </p:cNvSpPr>
          <p:nvPr/>
        </p:nvSpPr>
        <p:spPr>
          <a:xfrm>
            <a:off x="3850724" y="2531129"/>
            <a:ext cx="7460861" cy="2639766"/>
          </a:xfrm>
          <a:prstGeom prst="rect">
            <a:avLst/>
          </a:prstGeom>
        </p:spPr>
        <p:txBody>
          <a:bodyPr vert="horz" lIns="91440" tIns="45720" rIns="91440" bIns="4572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228600">
              <a:lnSpc>
                <a:spcPct val="120000"/>
              </a:lnSpc>
              <a:spcBef>
                <a:spcPts val="500"/>
              </a:spcBef>
            </a:pPr>
            <a:r>
              <a:rPr lang="en-US" sz="1400" b="1" u="sng" dirty="0">
                <a:solidFill>
                  <a:srgbClr val="0070C0"/>
                </a:solidFill>
                <a:latin typeface="Poppins"/>
                <a:ea typeface="Calibri" panose="020F0502020204030204"/>
                <a:cs typeface="Poppins"/>
              </a:rPr>
              <a:t>Our Work</a:t>
            </a:r>
            <a:endParaRPr lang="en-US">
              <a:solidFill>
                <a:srgbClr val="0070C0"/>
              </a:solidFill>
              <a:latin typeface="Poppins"/>
              <a:ea typeface="Calibri" panose="020F0502020204030204"/>
              <a:cs typeface="Poppins"/>
            </a:endParaRPr>
          </a:p>
          <a:p>
            <a:pPr marL="457200" indent="-228600">
              <a:lnSpc>
                <a:spcPct val="120000"/>
              </a:lnSpc>
              <a:buFont typeface="Wingdings" panose="020B0604020202020204" pitchFamily="34" charset="0"/>
              <a:buChar char="§"/>
            </a:pPr>
            <a:r>
              <a:rPr lang="en-US" sz="1300" dirty="0">
                <a:solidFill>
                  <a:srgbClr val="000000"/>
                </a:solidFill>
                <a:latin typeface="Poppins"/>
                <a:ea typeface="+mn-lt"/>
                <a:cs typeface="Poppins"/>
              </a:rPr>
              <a:t>Developed six bite-sized social videos, each highlighting one of VIVA’s unique features</a:t>
            </a:r>
            <a:endParaRPr lang="en-US" sz="1300" dirty="0">
              <a:latin typeface="Poppins"/>
              <a:ea typeface="Calibri"/>
              <a:cs typeface="Poppins"/>
            </a:endParaRPr>
          </a:p>
          <a:p>
            <a:pPr marL="457200" indent="-228600">
              <a:lnSpc>
                <a:spcPct val="120000"/>
              </a:lnSpc>
              <a:buFont typeface="Wingdings" panose="020B0604020202020204" pitchFamily="34" charset="0"/>
              <a:buChar char="§"/>
            </a:pPr>
            <a:r>
              <a:rPr lang="en-US" sz="1300" dirty="0">
                <a:solidFill>
                  <a:srgbClr val="000000"/>
                </a:solidFill>
                <a:latin typeface="Poppins"/>
                <a:ea typeface="+mn-lt"/>
                <a:cs typeface="Poppins"/>
              </a:rPr>
              <a:t>Conducted a tech check with SMEs to ensure high-quality audio recordings</a:t>
            </a:r>
            <a:endParaRPr lang="en-US" sz="1300" dirty="0">
              <a:latin typeface="Poppins"/>
              <a:cs typeface="Poppins"/>
            </a:endParaRPr>
          </a:p>
          <a:p>
            <a:pPr marL="457200" indent="-228600">
              <a:lnSpc>
                <a:spcPct val="120000"/>
              </a:lnSpc>
              <a:buFont typeface="Wingdings" panose="020B0604020202020204" pitchFamily="34" charset="0"/>
              <a:buChar char="§"/>
            </a:pPr>
            <a:r>
              <a:rPr lang="en-US" sz="1300" dirty="0">
                <a:solidFill>
                  <a:srgbClr val="000000"/>
                </a:solidFill>
                <a:latin typeface="Poppins"/>
                <a:ea typeface="+mn-lt"/>
                <a:cs typeface="Poppins"/>
              </a:rPr>
              <a:t>Collaborated with SMEs to craft concise 10-15 second scripts, maintaining authenticity and expert-driven storytelling</a:t>
            </a:r>
            <a:endParaRPr lang="en-US" sz="1300" dirty="0">
              <a:latin typeface="Poppins"/>
              <a:cs typeface="Poppins"/>
            </a:endParaRPr>
          </a:p>
          <a:p>
            <a:pPr marL="457200" indent="-228600">
              <a:lnSpc>
                <a:spcPct val="120000"/>
              </a:lnSpc>
              <a:buFont typeface="Wingdings" panose="020B0604020202020204" pitchFamily="34" charset="0"/>
              <a:buChar char="§"/>
            </a:pPr>
            <a:r>
              <a:rPr lang="en-US" sz="1300" dirty="0">
                <a:solidFill>
                  <a:srgbClr val="000000"/>
                </a:solidFill>
                <a:latin typeface="Poppins"/>
                <a:ea typeface="+mn-lt"/>
                <a:cs typeface="Poppins"/>
              </a:rPr>
              <a:t>Utilized existing brand imagery while enhancing the visual experience with VIVA’s brand identity</a:t>
            </a:r>
            <a:endParaRPr lang="en-US" sz="1300" dirty="0">
              <a:latin typeface="Poppins"/>
              <a:cs typeface="Poppins"/>
            </a:endParaRPr>
          </a:p>
          <a:p>
            <a:pPr marL="457200" indent="-228600">
              <a:lnSpc>
                <a:spcPct val="120000"/>
              </a:lnSpc>
              <a:buFont typeface="Wingdings" panose="020B0604020202020204" pitchFamily="34" charset="0"/>
              <a:buChar char="§"/>
            </a:pPr>
            <a:r>
              <a:rPr lang="en-US" sz="1300" dirty="0">
                <a:solidFill>
                  <a:srgbClr val="000000"/>
                </a:solidFill>
                <a:latin typeface="Poppins"/>
                <a:ea typeface="+mn-lt"/>
                <a:cs typeface="Poppins"/>
              </a:rPr>
              <a:t>Curated imagery that added a relatable and engaging human element</a:t>
            </a:r>
            <a:endParaRPr lang="en-US" sz="1300" dirty="0">
              <a:latin typeface="Poppins"/>
              <a:cs typeface="Poppins"/>
            </a:endParaRPr>
          </a:p>
          <a:p>
            <a:pPr marL="457200" indent="-228600">
              <a:lnSpc>
                <a:spcPct val="120000"/>
              </a:lnSpc>
              <a:buFont typeface="Wingdings" panose="020B0604020202020204" pitchFamily="34" charset="0"/>
              <a:buChar char="§"/>
            </a:pPr>
            <a:r>
              <a:rPr lang="en-US" sz="1300" dirty="0">
                <a:solidFill>
                  <a:srgbClr val="000000"/>
                </a:solidFill>
                <a:latin typeface="Poppins"/>
                <a:ea typeface="+mn-lt"/>
                <a:cs typeface="Poppins"/>
              </a:rPr>
              <a:t>Optimized video design for maximum impact across digital platforms</a:t>
            </a:r>
            <a:endParaRPr lang="en-US" sz="1300" dirty="0">
              <a:latin typeface="Poppins"/>
              <a:cs typeface="Poppins"/>
            </a:endParaRPr>
          </a:p>
        </p:txBody>
      </p:sp>
      <p:sp>
        <p:nvSpPr>
          <p:cNvPr id="14" name="Text Placeholder 5">
            <a:extLst>
              <a:ext uri="{FF2B5EF4-FFF2-40B4-BE49-F238E27FC236}">
                <a16:creationId xmlns:a16="http://schemas.microsoft.com/office/drawing/2014/main" id="{7C420CDD-FF14-F374-84BE-A9C0D95642E1}"/>
              </a:ext>
            </a:extLst>
          </p:cNvPr>
          <p:cNvSpPr txBox="1">
            <a:spLocks/>
          </p:cNvSpPr>
          <p:nvPr/>
        </p:nvSpPr>
        <p:spPr>
          <a:xfrm>
            <a:off x="3850724" y="5171547"/>
            <a:ext cx="7481681" cy="1814511"/>
          </a:xfrm>
          <a:prstGeom prst="rect">
            <a:avLst/>
          </a:prstGeom>
        </p:spPr>
        <p:txBody>
          <a:bodyPr vert="horz" lIns="91440" tIns="45720" rIns="91440" bIns="4572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228600">
              <a:lnSpc>
                <a:spcPct val="120000"/>
              </a:lnSpc>
              <a:spcBef>
                <a:spcPts val="500"/>
              </a:spcBef>
            </a:pPr>
            <a:r>
              <a:rPr lang="en-US" sz="1400" b="1" u="sng" dirty="0">
                <a:solidFill>
                  <a:srgbClr val="0070C0"/>
                </a:solidFill>
                <a:latin typeface="Poppins"/>
                <a:ea typeface="Calibri" panose="020F0502020204030204"/>
                <a:cs typeface="Poppins"/>
              </a:rPr>
              <a:t>The Result</a:t>
            </a:r>
            <a:endParaRPr lang="en-US" sz="1400">
              <a:solidFill>
                <a:srgbClr val="0070C0"/>
              </a:solidFill>
              <a:latin typeface="Poppins"/>
              <a:ea typeface="Calibri"/>
              <a:cs typeface="Poppins"/>
            </a:endParaRPr>
          </a:p>
          <a:p>
            <a:pPr marL="457200" indent="-228600">
              <a:lnSpc>
                <a:spcPct val="120000"/>
              </a:lnSpc>
              <a:buFont typeface="Wingdings" panose="020B0604020202020204" pitchFamily="34" charset="0"/>
              <a:buChar char="§"/>
            </a:pPr>
            <a:r>
              <a:rPr lang="en-US" sz="1300" dirty="0">
                <a:latin typeface="Poppins"/>
                <a:ea typeface="+mn-lt"/>
                <a:cs typeface="Poppins"/>
              </a:rPr>
              <a:t>The </a:t>
            </a:r>
            <a:r>
              <a:rPr lang="en-US" sz="1300" dirty="0">
                <a:latin typeface="Poppins"/>
                <a:ea typeface="+mn-lt"/>
                <a:cs typeface="Poppins"/>
                <a:hlinkClick r:id="rId3"/>
              </a:rPr>
              <a:t>final video series</a:t>
            </a:r>
            <a:r>
              <a:rPr lang="en-US" sz="1300" dirty="0">
                <a:latin typeface="Poppins"/>
                <a:ea typeface="+mn-lt"/>
                <a:cs typeface="Poppins"/>
              </a:rPr>
              <a:t> successfully showcased VIVA’s unique offerings in an engaging, cost-effective manner. By balancing brand consistency with a human touch, the campaign delivered compelling content that resonated with the audience, reinforcing VIVA’s market presence</a:t>
            </a:r>
            <a:endParaRPr lang="en-US" sz="1300" dirty="0">
              <a:latin typeface="Poppins"/>
              <a:ea typeface="Calibri"/>
              <a:cs typeface="Poppins"/>
            </a:endParaRPr>
          </a:p>
          <a:p>
            <a:pPr marL="457200" indent="-228600">
              <a:lnSpc>
                <a:spcPct val="120000"/>
              </a:lnSpc>
              <a:spcBef>
                <a:spcPts val="500"/>
              </a:spcBef>
              <a:buFont typeface="Wingdings" panose="020B0604020202020204" pitchFamily="34" charset="0"/>
              <a:buChar char="§"/>
            </a:pPr>
            <a:endParaRPr lang="en-US" sz="1300" dirty="0">
              <a:latin typeface="Poppins"/>
              <a:ea typeface="+mn-lt"/>
              <a:cs typeface="Poppins"/>
            </a:endParaRPr>
          </a:p>
        </p:txBody>
      </p:sp>
      <p:pic>
        <p:nvPicPr>
          <p:cNvPr id="15" name="Picture 14" descr="A person talking to a group of people on a computer&#10;&#10;AI-generated content may be incorrect.">
            <a:extLst>
              <a:ext uri="{FF2B5EF4-FFF2-40B4-BE49-F238E27FC236}">
                <a16:creationId xmlns:a16="http://schemas.microsoft.com/office/drawing/2014/main" id="{9FA40114-2770-96CF-DDC9-8367E13925AA}"/>
              </a:ext>
            </a:extLst>
          </p:cNvPr>
          <p:cNvPicPr>
            <a:picLocks noChangeAspect="1"/>
          </p:cNvPicPr>
          <p:nvPr/>
        </p:nvPicPr>
        <p:blipFill>
          <a:blip r:embed="rId4"/>
          <a:stretch>
            <a:fillRect/>
          </a:stretch>
        </p:blipFill>
        <p:spPr>
          <a:xfrm>
            <a:off x="468569" y="357956"/>
            <a:ext cx="3152161" cy="1775951"/>
          </a:xfrm>
          <a:prstGeom prst="rect">
            <a:avLst/>
          </a:prstGeom>
        </p:spPr>
      </p:pic>
      <p:pic>
        <p:nvPicPr>
          <p:cNvPr id="17" name="Picture 16" descr="A group of women standing in a room&#10;&#10;AI-generated content may be incorrect.">
            <a:extLst>
              <a:ext uri="{FF2B5EF4-FFF2-40B4-BE49-F238E27FC236}">
                <a16:creationId xmlns:a16="http://schemas.microsoft.com/office/drawing/2014/main" id="{FFE7F240-F461-DDDA-522C-E19CD704DD07}"/>
              </a:ext>
            </a:extLst>
          </p:cNvPr>
          <p:cNvPicPr>
            <a:picLocks noChangeAspect="1"/>
          </p:cNvPicPr>
          <p:nvPr/>
        </p:nvPicPr>
        <p:blipFill>
          <a:blip r:embed="rId5"/>
          <a:stretch>
            <a:fillRect/>
          </a:stretch>
        </p:blipFill>
        <p:spPr>
          <a:xfrm>
            <a:off x="463959" y="2387395"/>
            <a:ext cx="3152775" cy="1766426"/>
          </a:xfrm>
          <a:prstGeom prst="rect">
            <a:avLst/>
          </a:prstGeom>
        </p:spPr>
      </p:pic>
      <p:pic>
        <p:nvPicPr>
          <p:cNvPr id="19" name="Picture 18" descr="A person holding a phone&#10;&#10;Description automatically generated">
            <a:extLst>
              <a:ext uri="{FF2B5EF4-FFF2-40B4-BE49-F238E27FC236}">
                <a16:creationId xmlns:a16="http://schemas.microsoft.com/office/drawing/2014/main" id="{AADE1C5F-A672-F2B4-3EE2-7C8515D5B6B3}"/>
              </a:ext>
            </a:extLst>
          </p:cNvPr>
          <p:cNvPicPr>
            <a:picLocks noChangeAspect="1"/>
          </p:cNvPicPr>
          <p:nvPr/>
        </p:nvPicPr>
        <p:blipFill>
          <a:blip r:embed="rId6"/>
          <a:stretch>
            <a:fillRect/>
          </a:stretch>
        </p:blipFill>
        <p:spPr>
          <a:xfrm>
            <a:off x="465496" y="4410689"/>
            <a:ext cx="3159535" cy="1779332"/>
          </a:xfrm>
          <a:prstGeom prst="rect">
            <a:avLst/>
          </a:prstGeom>
        </p:spPr>
      </p:pic>
    </p:spTree>
    <p:extLst>
      <p:ext uri="{BB962C8B-B14F-4D97-AF65-F5344CB8AC3E}">
        <p14:creationId xmlns:p14="http://schemas.microsoft.com/office/powerpoint/2010/main" val="1287706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otes0 xmlns="f0ee8362-fa7e-4bc9-ab88-7dcfb17cb19b">Social Videos</Notes0>
    <Named_x0020_Account xmlns="f0ee8362-fa7e-4bc9-ab88-7dcfb17cb19b">Microsoft</Named_x0020_Account>
    <Industries xmlns="f0ee8362-fa7e-4bc9-ab88-7dcfb17cb19b">
      <Value>Technology</Value>
    </Industries>
    <ApprovedByClient xmlns="f0ee8362-fa7e-4bc9-ab88-7dcfb17cb19b">false</ApprovedByClient>
    <PlatTech xmlns="f0ee8362-fa7e-4bc9-ab88-7dcfb17cb19b" xsi:nil="true"/>
    <ProjectCompletionDate xmlns="f0ee8362-fa7e-4bc9-ab88-7dcfb17cb19b">2024-11-01T07:00:00+00:00</ProjectCompletionDate>
    <BusinessUnit xmlns="f0ee8362-fa7e-4bc9-ab88-7dcfb17cb19b">
      <Value>Marketing Services</Value>
    </BusinessUnit>
    <Solutions xmlns="f0ee8362-fa7e-4bc9-ab88-7dcfb17cb19b">
      <Value>Video Production</Value>
    </Solutions>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77ECDF0C-9559-4EBB-A79E-6EF16B2CBC61}">
  <ds:schemaRefs>
    <ds:schemaRef ds:uri="http://schemas.microsoft.com/sharepoint/v3/contenttype/forms"/>
  </ds:schemaRefs>
</ds:datastoreItem>
</file>

<file path=customXml/itemProps2.xml><?xml version="1.0" encoding="utf-8"?>
<ds:datastoreItem xmlns:ds="http://schemas.openxmlformats.org/officeDocument/2006/customXml" ds:itemID="{561A57B5-54BA-413C-851A-6F7FF3E2EDA0}"/>
</file>

<file path=customXml/itemProps3.xml><?xml version="1.0" encoding="utf-8"?>
<ds:datastoreItem xmlns:ds="http://schemas.openxmlformats.org/officeDocument/2006/customXml" ds:itemID="{BCE9A8C3-D206-4A84-877A-E0C5CA85C111}">
  <ds:schemaRefs>
    <ds:schemaRef ds:uri="4a674d8d-5ae4-473c-b67e-b0301c6146a3"/>
    <ds:schemaRef ds:uri="730c8cfc-f4d5-4aa5-a17c-77b240e5b207"/>
    <ds:schemaRef ds:uri="79eba559-d33b-47f5-9450-110931409036"/>
    <ds:schemaRef ds:uri="8e8b519a-9c33-4eb5-8032-b8e2911b08d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DC664375-3551-4766-B368-14A26A806F23}"/>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VIVA Snackable Videos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  Video Production Projects</dc:title>
  <dc:creator>Julia Trupp (AFFIRMA)</dc:creator>
  <cp:revision>11</cp:revision>
  <dcterms:created xsi:type="dcterms:W3CDTF">2021-01-15T21:45:02Z</dcterms:created>
  <dcterms:modified xsi:type="dcterms:W3CDTF">2025-10-22T22:12:29Z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etDate">
    <vt:lpwstr>2021-01-15T21:45:02Z</vt:lpwstr>
  </property>
  <property fmtid="{D5CDD505-2E9C-101B-9397-08002B2CF9AE}" pid="4" name="MSIP_Label_f42aa342-8706-4288-bd11-ebb85995028c_Method">
    <vt:lpwstr>Standard</vt:lpwstr>
  </property>
  <property fmtid="{D5CDD505-2E9C-101B-9397-08002B2CF9AE}" pid="5" name="MSIP_Label_f42aa342-8706-4288-bd11-ebb85995028c_Name">
    <vt:lpwstr>Internal</vt:lpwstr>
  </property>
  <property fmtid="{D5CDD505-2E9C-101B-9397-08002B2CF9AE}" pid="6" name="MSIP_Label_f42aa342-8706-4288-bd11-ebb85995028c_SiteId">
    <vt:lpwstr>72f988bf-86f1-41af-91ab-2d7cd011db47</vt:lpwstr>
  </property>
  <property fmtid="{D5CDD505-2E9C-101B-9397-08002B2CF9AE}" pid="7" name="MSIP_Label_f42aa342-8706-4288-bd11-ebb85995028c_ActionId">
    <vt:lpwstr>a7192c71-12cc-4895-a527-adb89be4cef4</vt:lpwstr>
  </property>
  <property fmtid="{D5CDD505-2E9C-101B-9397-08002B2CF9AE}" pid="8" name="MSIP_Label_f42aa342-8706-4288-bd11-ebb85995028c_ContentBits">
    <vt:lpwstr>0</vt:lpwstr>
  </property>
  <property fmtid="{D5CDD505-2E9C-101B-9397-08002B2CF9AE}" pid="9" name="ContentTypeId">
    <vt:lpwstr>0x0101000D23BCBB7020E34DAE994A365BA94206</vt:lpwstr>
  </property>
  <property fmtid="{D5CDD505-2E9C-101B-9397-08002B2CF9AE}" pid="10" name="MediaServiceImageTags">
    <vt:lpwstr/>
  </property>
</Properties>
</file>