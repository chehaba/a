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81424" r:id="rId6"/>
    <p:sldId id="20761390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2A488-F515-4DB8-6A3B-219A6C2DBBAC}" v="4" dt="2025-12-09T00:38:21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0FB2A488-F515-4DB8-6A3B-219A6C2DBBAC}"/>
    <pc:docChg chg="addSld modSld sldOrd">
      <pc:chgData name="Brendan Murphy" userId="S::bmurphy@affirma.com::e9f923b6-6d89-4d4e-a3b7-d9304b9d44ba" providerId="AD" clId="Web-{0FB2A488-F515-4DB8-6A3B-219A6C2DBBAC}" dt="2025-12-09T00:38:21.360" v="2" actId="20577"/>
      <pc:docMkLst>
        <pc:docMk/>
      </pc:docMkLst>
      <pc:sldChg chg="modSp add ord">
        <pc:chgData name="Brendan Murphy" userId="S::bmurphy@affirma.com::e9f923b6-6d89-4d4e-a3b7-d9304b9d44ba" providerId="AD" clId="Web-{0FB2A488-F515-4DB8-6A3B-219A6C2DBBAC}" dt="2025-12-09T00:38:21.360" v="2" actId="20577"/>
        <pc:sldMkLst>
          <pc:docMk/>
          <pc:sldMk cId="1168642467" sldId="2147481424"/>
        </pc:sldMkLst>
        <pc:spChg chg="mod">
          <ac:chgData name="Brendan Murphy" userId="S::bmurphy@affirma.com::e9f923b6-6d89-4d4e-a3b7-d9304b9d44ba" providerId="AD" clId="Web-{0FB2A488-F515-4DB8-6A3B-219A6C2DBBAC}" dt="2025-12-09T00:38:21.360" v="2" actId="20577"/>
          <ac:spMkLst>
            <pc:docMk/>
            <pc:sldMk cId="1168642467" sldId="2147481424"/>
            <ac:spMk id="11" creationId="{2A6B223D-B29C-A8AB-0732-2322B6F61F8A}"/>
          </ac:spMkLst>
        </pc:spChg>
      </pc:sldChg>
      <pc:sldMasterChg chg="addSldLayout">
        <pc:chgData name="Brendan Murphy" userId="S::bmurphy@affirma.com::e9f923b6-6d89-4d4e-a3b7-d9304b9d44ba" providerId="AD" clId="Web-{0FB2A488-F515-4DB8-6A3B-219A6C2DBBAC}" dt="2025-12-09T00:34:35.268" v="0"/>
        <pc:sldMasterMkLst>
          <pc:docMk/>
          <pc:sldMasterMk cId="1047164007" sldId="2147483660"/>
        </pc:sldMasterMkLst>
        <pc:sldLayoutChg chg="add">
          <pc:chgData name="Brendan Murphy" userId="S::bmurphy@affirma.com::e9f923b6-6d89-4d4e-a3b7-d9304b9d44ba" providerId="AD" clId="Web-{0FB2A488-F515-4DB8-6A3B-219A6C2DBBAC}" dt="2025-12-09T00:34:35.268" v="0"/>
          <pc:sldLayoutMkLst>
            <pc:docMk/>
            <pc:sldMasterMk cId="1047164007" sldId="2147483660"/>
            <pc:sldLayoutMk cId="331874814" sldId="214748368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6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1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9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7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6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3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6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7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34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9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99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30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126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58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63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95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88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31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43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25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712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1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4 column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70A6AF-807C-F74F-B71F-8CD220CE4929}"/>
              </a:ext>
            </a:extLst>
          </p:cNvPr>
          <p:cNvCxnSpPr>
            <a:cxnSpLocks/>
          </p:cNvCxnSpPr>
          <p:nvPr userDrawn="1"/>
        </p:nvCxnSpPr>
        <p:spPr>
          <a:xfrm>
            <a:off x="603284" y="6227596"/>
            <a:ext cx="109854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665C83-97D0-0C43-83AF-B4227D7404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5336" y="1777153"/>
            <a:ext cx="1457325" cy="145732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799E9FC-A05C-6C44-BE3B-66A02CA992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43333" y="1777153"/>
            <a:ext cx="1457325" cy="145732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805D4820-A688-6749-9C3D-C6786E4C740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91337" y="1777696"/>
            <a:ext cx="1457325" cy="145732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3790F16E-7C63-6246-9C3B-C5AAB85759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39337" y="1777696"/>
            <a:ext cx="1457325" cy="145732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150D9E-A75B-064F-B712-737997CDDD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1385" y="3373389"/>
            <a:ext cx="2105226" cy="444500"/>
          </a:xfrm>
        </p:spPr>
        <p:txBody>
          <a:bodyPr anchor="ctr">
            <a:noAutofit/>
          </a:bodyPr>
          <a:lstStyle>
            <a:lvl1pPr marL="0" indent="0" algn="l">
              <a:buNone/>
              <a:defRPr sz="1400" b="1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800"/>
            </a:lvl2pPr>
            <a:lvl3pPr marL="914363" indent="0">
              <a:buNone/>
              <a:defRPr sz="1800"/>
            </a:lvl3pPr>
            <a:lvl4pPr marL="1371545" indent="0">
              <a:buNone/>
              <a:defRPr sz="1800"/>
            </a:lvl4pPr>
            <a:lvl5pPr marL="1828727" indent="0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AFD4B06-5326-7A44-9F39-8C875D8969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15526" y="3373389"/>
            <a:ext cx="2105226" cy="444500"/>
          </a:xfrm>
        </p:spPr>
        <p:txBody>
          <a:bodyPr anchor="ctr">
            <a:no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800"/>
            </a:lvl2pPr>
            <a:lvl3pPr marL="914363" indent="0">
              <a:buNone/>
              <a:defRPr sz="1800"/>
            </a:lvl3pPr>
            <a:lvl4pPr marL="1371545" indent="0">
              <a:buNone/>
              <a:defRPr sz="1800"/>
            </a:lvl4pPr>
            <a:lvl5pPr marL="1828727" indent="0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FA7B988-D2A9-A440-A8D1-A8D508F803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1243" y="3373389"/>
            <a:ext cx="2105226" cy="444500"/>
          </a:xfrm>
        </p:spPr>
        <p:txBody>
          <a:bodyPr anchor="ctr">
            <a:no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800"/>
            </a:lvl2pPr>
            <a:lvl3pPr marL="914363" indent="0">
              <a:buNone/>
              <a:defRPr sz="1800"/>
            </a:lvl3pPr>
            <a:lvl4pPr marL="1371545" indent="0">
              <a:buNone/>
              <a:defRPr sz="1800"/>
            </a:lvl4pPr>
            <a:lvl5pPr marL="1828727" indent="0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A8BAF580-D939-5041-9C85-EA20C29D25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03810" y="3373389"/>
            <a:ext cx="2105226" cy="444500"/>
          </a:xfrm>
        </p:spPr>
        <p:txBody>
          <a:bodyPr anchor="ctr">
            <a:no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800"/>
            </a:lvl2pPr>
            <a:lvl3pPr marL="914363" indent="0">
              <a:buNone/>
              <a:defRPr sz="1800"/>
            </a:lvl3pPr>
            <a:lvl4pPr marL="1371545" indent="0">
              <a:buNone/>
              <a:defRPr sz="1800"/>
            </a:lvl4pPr>
            <a:lvl5pPr marL="1828727" indent="0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8071E61-2338-1846-864F-D7E03800EC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08376" y="3902336"/>
            <a:ext cx="2105025" cy="20980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 marL="914363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 marL="1371545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 marL="1828727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3C2A9807-1103-5743-98F2-E315DD4C3F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75667" y="3902336"/>
            <a:ext cx="2105025" cy="20980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 marL="914363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 marL="1371545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 marL="1828727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6CC1885B-4A25-8F4B-8861-432FEC9BB5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03809" y="3902336"/>
            <a:ext cx="2105025" cy="20980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 marL="914363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 marL="1371545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 marL="1828727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44D44F7-AFA3-864A-9589-46BFC9ADFC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446" y="3902336"/>
            <a:ext cx="2105025" cy="20980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 marL="914363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 marL="1371545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 marL="1828727" indent="0">
              <a:buNone/>
              <a:defRPr sz="12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CFAC2-A7B1-C302-CA12-1668CF858A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4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874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6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FBAD9-D517-4AE7-0B0C-B841A7FD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6E4131-D372-5200-7F32-DDCE27F73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52" y="301170"/>
            <a:ext cx="11448890" cy="764390"/>
          </a:xfrm>
        </p:spPr>
        <p:txBody>
          <a:bodyPr>
            <a:noAutofit/>
          </a:bodyPr>
          <a:lstStyle/>
          <a:p>
            <a:pPr defTabSz="896533"/>
            <a:r>
              <a:rPr lang="en-US" dirty="0">
                <a:solidFill>
                  <a:srgbClr val="002060"/>
                </a:solidFill>
                <a:latin typeface="Poppins SemiBold"/>
                <a:cs typeface="Poppins SemiBold"/>
              </a:rPr>
              <a:t>Wegmans SharePoint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6D1CBD-5DCE-E137-15D8-4570D07557F6}"/>
              </a:ext>
            </a:extLst>
          </p:cNvPr>
          <p:cNvSpPr/>
          <p:nvPr/>
        </p:nvSpPr>
        <p:spPr>
          <a:xfrm>
            <a:off x="10749644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00796-E2E4-6FD9-4D38-6034F6630B53}"/>
              </a:ext>
            </a:extLst>
          </p:cNvPr>
          <p:cNvSpPr txBox="1"/>
          <p:nvPr/>
        </p:nvSpPr>
        <p:spPr>
          <a:xfrm>
            <a:off x="169218" y="1221043"/>
            <a:ext cx="4972843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Need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86E16-541F-09FA-8D42-794CD8D2CD4B}"/>
              </a:ext>
            </a:extLst>
          </p:cNvPr>
          <p:cNvSpPr txBox="1"/>
          <p:nvPr/>
        </p:nvSpPr>
        <p:spPr>
          <a:xfrm>
            <a:off x="181858" y="2680107"/>
            <a:ext cx="4985484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Did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F2E9F-73B9-F40B-4D27-C268068342AB}"/>
              </a:ext>
            </a:extLst>
          </p:cNvPr>
          <p:cNvSpPr txBox="1"/>
          <p:nvPr/>
        </p:nvSpPr>
        <p:spPr>
          <a:xfrm>
            <a:off x="181858" y="4648802"/>
            <a:ext cx="4972844" cy="237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2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C5A56-DBFA-F896-C6B9-F014245A8A81}"/>
              </a:ext>
            </a:extLst>
          </p:cNvPr>
          <p:cNvSpPr txBox="1"/>
          <p:nvPr/>
        </p:nvSpPr>
        <p:spPr>
          <a:xfrm>
            <a:off x="164811" y="1446641"/>
            <a:ext cx="83912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dirty="0"/>
              <a:t>Wegman’s, a 110-store supermarket chain, needed to modernize their enterprise SharePoint intranet to improve employee communication, streamline workflows, and support long-term scalability. Their existing environment required a full UX/UI refresh, updated custom applications, optimized processes, and a move to SharePoint Online to better support their 55,000 employees.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B223D-B29C-A8AB-0732-2322B6F61F8A}"/>
              </a:ext>
            </a:extLst>
          </p:cNvPr>
          <p:cNvSpPr txBox="1"/>
          <p:nvPr/>
        </p:nvSpPr>
        <p:spPr>
          <a:xfrm>
            <a:off x="164810" y="2997269"/>
            <a:ext cx="8353901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Redesigned the intranet’s UX/UI to create a modern, intuitive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Refactored legacy workflows and custom applications for improved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Migrated the full intranet environment to SharePoint </a:t>
            </a:r>
            <a:r>
              <a:rPr lang="en-US" sz="1400"/>
              <a:t>Online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Implemented updated navigation, content architecture, and design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Conducted end-to-end testing and coordinated the enterprise-wide launch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Established an ongoing managed service program for M365, SharePoint, and Power Platform support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CCE905-1074-CA2D-EBC2-E43F73A73D52}"/>
              </a:ext>
            </a:extLst>
          </p:cNvPr>
          <p:cNvSpPr txBox="1"/>
          <p:nvPr/>
        </p:nvSpPr>
        <p:spPr>
          <a:xfrm>
            <a:off x="169217" y="4964876"/>
            <a:ext cx="83858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Successfully launched a modern SharePoint Online intranet to 55,000 employees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Improved usability, accessibility, and navigation across the digital workplace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Reduced operational friction by modernizing custom workflows and applications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Increased platform stability and scalability through migration to the cloud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Provided continuous enhancement and support through a multi-year managed services partnership</a:t>
            </a:r>
          </a:p>
        </p:txBody>
      </p:sp>
      <p:pic>
        <p:nvPicPr>
          <p:cNvPr id="1028" name="Picture 4" descr="Sneak Peek: Inside the new Raleigh Wegmans - Triangle Business Journal">
            <a:extLst>
              <a:ext uri="{FF2B5EF4-FFF2-40B4-BE49-F238E27FC236}">
                <a16:creationId xmlns:a16="http://schemas.microsoft.com/office/drawing/2014/main" id="{CA4246AE-D154-EED4-9AD1-8A2F14BD0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342" y="3550024"/>
            <a:ext cx="3377658" cy="330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harePoint Logo, symbol, meaning, history, PNG, brand">
            <a:extLst>
              <a:ext uri="{FF2B5EF4-FFF2-40B4-BE49-F238E27FC236}">
                <a16:creationId xmlns:a16="http://schemas.microsoft.com/office/drawing/2014/main" id="{C04274C2-F21B-15CF-88C3-243E39D21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317" y="1339606"/>
            <a:ext cx="2482880" cy="13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642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neak Peek: Inside the new Raleigh Wegmans - Triangle Business Journal">
            <a:extLst>
              <a:ext uri="{FF2B5EF4-FFF2-40B4-BE49-F238E27FC236}">
                <a16:creationId xmlns:a16="http://schemas.microsoft.com/office/drawing/2014/main" id="{0EDF2F88-5BED-976A-680F-72FA12B4E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33"/>
          <a:stretch/>
        </p:blipFill>
        <p:spPr bwMode="auto">
          <a:xfrm>
            <a:off x="6207007" y="995516"/>
            <a:ext cx="5984993" cy="586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E70525B-D0ED-495D-ABE9-A888D498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603182" cy="533400"/>
          </a:xfrm>
        </p:spPr>
        <p:txBody>
          <a:bodyPr/>
          <a:lstStyle/>
          <a:p>
            <a:r>
              <a:rPr lang="en-US"/>
              <a:t>Wegman’s - SharePoint Redesign, Migration &amp; Managed Service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811CEF-7222-49A7-815C-4C8B065F9212}"/>
              </a:ext>
            </a:extLst>
          </p:cNvPr>
          <p:cNvSpPr/>
          <p:nvPr/>
        </p:nvSpPr>
        <p:spPr>
          <a:xfrm>
            <a:off x="1411941" y="2924736"/>
            <a:ext cx="4795068" cy="388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76845"/>
            <a:r>
              <a:rPr lang="en-US" sz="1923">
                <a:solidFill>
                  <a:prstClr val="black"/>
                </a:solidFill>
                <a:latin typeface="Segoe UI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7DC1D-9DD3-4F25-B01C-A22D684BFD14}"/>
              </a:ext>
            </a:extLst>
          </p:cNvPr>
          <p:cNvSpPr/>
          <p:nvPr/>
        </p:nvSpPr>
        <p:spPr>
          <a:xfrm>
            <a:off x="530088" y="1500638"/>
            <a:ext cx="5355360" cy="4687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76845" fontAlgn="base"/>
            <a:r>
              <a:rPr lang="en-US" sz="2667" b="1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Background</a:t>
            </a:r>
          </a:p>
          <a:p>
            <a:pPr defTabSz="976845" fontAlgn="base">
              <a:spcBef>
                <a:spcPts val="1000"/>
              </a:spcBef>
              <a:spcAft>
                <a:spcPts val="1000"/>
              </a:spcAft>
            </a:pPr>
            <a:r>
              <a:rPr lang="en-US" sz="1667">
                <a:solidFill>
                  <a:prstClr val="black"/>
                </a:solidFill>
                <a:latin typeface="Segoe UI"/>
              </a:rPr>
              <a:t>Wegmans, a 110-store supermarket chain came to Affirma for support in redesigning and modernizing their enterprise SharePoint intranet. This included a full UX/UI redesign, refactoring of custom applications and workflows, and a migration to SharePoint Online. </a:t>
            </a:r>
          </a:p>
          <a:p>
            <a:pPr defTabSz="976845" fontAlgn="base">
              <a:spcBef>
                <a:spcPts val="1000"/>
              </a:spcBef>
              <a:spcAft>
                <a:spcPts val="1000"/>
              </a:spcAft>
            </a:pPr>
            <a:r>
              <a:rPr lang="en-US" sz="1667">
                <a:solidFill>
                  <a:prstClr val="black"/>
                </a:solidFill>
                <a:latin typeface="Segoe UI"/>
              </a:rPr>
              <a:t>Affirma partnered with Wegman’s to execute the project on time and on budget, successfully launching the redesigned environment to their 55,000 employees. </a:t>
            </a:r>
          </a:p>
          <a:p>
            <a:pPr defTabSz="976845"/>
            <a:r>
              <a:rPr lang="en-US" sz="2667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Managed Service</a:t>
            </a:r>
            <a:endParaRPr lang="en-US" sz="1667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lnSpc>
                <a:spcPct val="114000"/>
              </a:lnSpc>
              <a:spcBef>
                <a:spcPts val="500"/>
              </a:spcBef>
            </a:pPr>
            <a:r>
              <a:rPr lang="en-US" sz="1667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Affirma has continued supporting Wegman’s for several years as their ongoing managed service provider across M365, SharePoint, and Power Platform administration and development. </a:t>
            </a:r>
            <a:endParaRPr lang="en-US" sz="1667">
              <a:solidFill>
                <a:prstClr val="black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065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Intranet / Extranet</Value>
      <Value>Migrations</Value>
    </Solutions>
    <Industries xmlns="f0ee8362-fa7e-4bc9-ab88-7dcfb17cb19b">
      <Value>Retail</Value>
    </Industries>
    <Notes0 xmlns="f0ee8362-fa7e-4bc9-ab88-7dcfb17cb19b" xsi:nil="true"/>
    <Named_x0020_Account xmlns="f0ee8362-fa7e-4bc9-ab88-7dcfb17cb19b" xsi:nil="true"/>
    <PlatTech xmlns="f0ee8362-fa7e-4bc9-ab88-7dcfb17cb19b"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0C12576E-90DF-4420-8122-8AB0E8B8A11C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75587CFE-A640-46B0-B925-0E2D60976A51}"/>
</file>

<file path=customXml/itemProps3.xml><?xml version="1.0" encoding="utf-8"?>
<ds:datastoreItem xmlns:ds="http://schemas.openxmlformats.org/officeDocument/2006/customXml" ds:itemID="{013E3EC5-3F8F-47E2-8BF0-EA8CE29A2DA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19C1024-F580-442E-9042-22FF910E6BD2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Custom Design</vt:lpstr>
      <vt:lpstr>Wegmans SharePoint Migration</vt:lpstr>
      <vt:lpstr>Wegman’s - SharePoint Redesign, Migration &amp; Managed Service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Wegman’s - SharePoint Redesign, Migration &amp; Managed Service </dc:title>
  <dc:creator>Brendan Murphy</dc:creator>
  <cp:lastModifiedBy>Brendan Murphy</cp:lastModifiedBy>
  <cp:revision>6</cp:revision>
  <dcterms:created xsi:type="dcterms:W3CDTF">2024-03-27T15:20:52Z</dcterms:created>
  <dcterms:modified xsi:type="dcterms:W3CDTF">2025-12-09T00:38:21Z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