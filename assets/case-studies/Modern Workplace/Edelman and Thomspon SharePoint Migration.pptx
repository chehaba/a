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2.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082"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p:cViewPr varScale="1">
        <p:scale>
          <a:sx n="159" d="100"/>
          <a:sy n="159" d="100"/>
        </p:scale>
        <p:origin x="30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2.xml"/><Relationship Id="rId3" Type="http://schemas.openxmlformats.org/officeDocument/2006/relationships/presProps" Target="presProps.xml"/><Relationship Id="rId7"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10" Type="http://schemas.openxmlformats.org/officeDocument/2006/relationships/customXml" Target="../customXml/item4.xml"/><Relationship Id="rId4" Type="http://schemas.openxmlformats.org/officeDocument/2006/relationships/viewProps" Target="viewProps.xml"/><Relationship Id="rId9"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D70E3-4BF5-47E6-7875-500461FB5A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12BFBB-B1FC-3B86-D71B-E6626C5AC1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9821115-AF67-AEC8-1583-0895B01642B9}"/>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4B55CC97-195D-F38E-B138-863FAA5F5F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93EF8C-4E29-EED8-682A-1FE8359E56CF}"/>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248061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238B6-EE07-0E8B-0817-3134C3256D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B3D644-AD19-BDB3-D49D-47D5543E7D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923658-16AA-B45A-F4AE-B3A97A64991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703933C2-C657-FD3F-4DC8-7317DA90E5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E34D6E-3318-62D6-BEDB-F0BBD10878F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9548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7E7C4-0270-18CD-05C5-A6FC7B110A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6113A-C1FA-745D-C210-9844F991BD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ADB1F6-E9B4-BAEF-CCF5-400250C342F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E5C8A4AE-9CD3-8AC3-75E4-133991E08F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8F7EE9-F313-41CA-44E6-E8388A474E34}"/>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553282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1788D-794C-1124-D711-3B526528D8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FADA7B3-948D-1C9E-AD6A-0A54705C9A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87256E-FF7A-5FEB-8F7D-CB20086850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C08AF55-ABE2-15F5-D8FA-F38E728D074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BDB11F82-B388-1168-B353-6975BC73C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E20FEC-057D-16F4-D8C6-C1BBCC709718}"/>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321625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CDC09-7999-FEF3-FAEC-31A2DAE419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A22642-268F-363A-6992-3452CC37A4C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BEF5E4-1F05-0A2A-C049-C85331DEB9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64A421-AED1-1841-2728-BCA5DA583F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A9F66E-F9E6-DBA5-C0AE-6680C0CEDF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0B6301-DEB5-DB84-7265-62304954F74D}"/>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8" name="Footer Placeholder 7">
            <a:extLst>
              <a:ext uri="{FF2B5EF4-FFF2-40B4-BE49-F238E27FC236}">
                <a16:creationId xmlns:a16="http://schemas.microsoft.com/office/drawing/2014/main" id="{D93A521B-AA45-B279-C62F-E66D209E39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4466F4-E170-A241-BF3C-1241DAC3FDA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86934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4224-312D-3151-6F0C-C6E18E3E2E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55F4FD-875A-50FC-99A2-FADD91274E04}"/>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4" name="Footer Placeholder 3">
            <a:extLst>
              <a:ext uri="{FF2B5EF4-FFF2-40B4-BE49-F238E27FC236}">
                <a16:creationId xmlns:a16="http://schemas.microsoft.com/office/drawing/2014/main" id="{92A6672A-7537-D2E1-C3A1-578F7C5ADCA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C897E71-30EA-4B7C-5A3F-3750EBCD50B3}"/>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7652509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BA586B-F9BF-E644-4B13-96CB178823B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3" name="Footer Placeholder 2">
            <a:extLst>
              <a:ext uri="{FF2B5EF4-FFF2-40B4-BE49-F238E27FC236}">
                <a16:creationId xmlns:a16="http://schemas.microsoft.com/office/drawing/2014/main" id="{9D5BD12D-998A-6EE4-A43F-1497F0E1D8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6C44A9A-BD10-8A95-22B1-8125A2D6711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2736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652EA-8F5B-D920-8154-42B679FE42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7A5815-9FF5-A7F9-FFB6-035E93C73F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8183A2-A382-E3AC-CA3E-4664B16108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C552E6-3F8D-FD7B-2056-367C59FA07E7}"/>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63DC7024-86A0-8DC5-01F2-B8C5593BCA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B3515D-5C19-EA54-3157-EEAA6341517B}"/>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2427116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43058-34F7-14C9-72E0-4B0F47205C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6F7C53-4FC5-5217-51A8-A041AB9AC6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BB952F2-EF64-2117-EC5F-2B5B8EF4E6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5703E-BFE3-1042-F0BC-24978EB18298}"/>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6" name="Footer Placeholder 5">
            <a:extLst>
              <a:ext uri="{FF2B5EF4-FFF2-40B4-BE49-F238E27FC236}">
                <a16:creationId xmlns:a16="http://schemas.microsoft.com/office/drawing/2014/main" id="{7FAD2936-7436-6973-FB12-9F012C638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86D2E6-B21A-A4C9-BA54-D3BD987EDF31}"/>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752151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716-03F9-41E0-5996-542041EA10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D4C6BB-07F0-948D-7A8F-757782914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6E2EBE-C9E8-DD4C-49E0-A758AAB2D3AE}"/>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DCCA80A3-2991-FAFA-36F2-68419F3B6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75F2A2-744B-3C00-C7FA-01DD5C5C3C15}"/>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144017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28359F-EBDF-B0C7-1A09-B7F0941DAD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685AF1-9544-DD3F-F555-15E7547192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3C21BC-62CA-AA62-05C4-B7898B920BF2}"/>
              </a:ext>
            </a:extLst>
          </p:cNvPr>
          <p:cNvSpPr>
            <a:spLocks noGrp="1"/>
          </p:cNvSpPr>
          <p:nvPr>
            <p:ph type="dt" sz="half" idx="10"/>
          </p:nvPr>
        </p:nvSpPr>
        <p:spPr/>
        <p:txBody>
          <a:body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6C69443-A674-B6BE-548F-3BDAA5A6F4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9BDF4-6622-833C-7E32-F88872F35D60}"/>
              </a:ext>
            </a:extLst>
          </p:cNvPr>
          <p:cNvSpPr>
            <a:spLocks noGrp="1"/>
          </p:cNvSpPr>
          <p:nvPr>
            <p:ph type="sldNum" sz="quarter" idx="12"/>
          </p:nvPr>
        </p:nvSpPr>
        <p:spPr/>
        <p:txBody>
          <a:bodyPr/>
          <a:lstStyle/>
          <a:p>
            <a:fld id="{C228C2AC-C83C-4685-B73F-BF4118140888}" type="slidenum">
              <a:rPr lang="en-US" smtClean="0"/>
              <a:t>‹#›</a:t>
            </a:fld>
            <a:endParaRPr lang="en-US"/>
          </a:p>
        </p:txBody>
      </p:sp>
    </p:spTree>
    <p:extLst>
      <p:ext uri="{BB962C8B-B14F-4D97-AF65-F5344CB8AC3E}">
        <p14:creationId xmlns:p14="http://schemas.microsoft.com/office/powerpoint/2010/main" val="3895339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Case Study Single Slide - Data Results">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38784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A69C76-D74A-66B8-D9BC-20C760C3FF3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2AEDC9-4EE9-B3FF-C41A-3235DD9135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1141B-C285-1431-21A6-024F9F2233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14CC92-2CD2-4680-9EA5-B9CF6B2647EC}" type="datetimeFigureOut">
              <a:rPr lang="en-US" smtClean="0"/>
              <a:t>3/22/2024</a:t>
            </a:fld>
            <a:endParaRPr lang="en-US"/>
          </a:p>
        </p:txBody>
      </p:sp>
      <p:sp>
        <p:nvSpPr>
          <p:cNvPr id="5" name="Footer Placeholder 4">
            <a:extLst>
              <a:ext uri="{FF2B5EF4-FFF2-40B4-BE49-F238E27FC236}">
                <a16:creationId xmlns:a16="http://schemas.microsoft.com/office/drawing/2014/main" id="{299FC5E4-D093-6CDE-2302-2FBD5CABA2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D227DD1-CE2F-C629-D805-F98B3BD4C0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28C2AC-C83C-4685-B73F-BF4118140888}" type="slidenum">
              <a:rPr lang="en-US" smtClean="0"/>
              <a:t>‹#›</a:t>
            </a:fld>
            <a:endParaRPr lang="en-US"/>
          </a:p>
        </p:txBody>
      </p:sp>
    </p:spTree>
    <p:extLst>
      <p:ext uri="{BB962C8B-B14F-4D97-AF65-F5344CB8AC3E}">
        <p14:creationId xmlns:p14="http://schemas.microsoft.com/office/powerpoint/2010/main" val="664240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C3185AF-4529-9642-92AB-B131CAEBC7A9}"/>
              </a:ext>
            </a:extLst>
          </p:cNvPr>
          <p:cNvSpPr>
            <a:spLocks noGrp="1"/>
          </p:cNvSpPr>
          <p:nvPr>
            <p:ph type="body" sz="quarter" idx="20"/>
          </p:nvPr>
        </p:nvSpPr>
        <p:spPr>
          <a:xfrm>
            <a:off x="603249" y="1358330"/>
            <a:ext cx="10905827" cy="1116222"/>
          </a:xfrm>
        </p:spPr>
        <p:txBody>
          <a:bodyPr>
            <a:normAutofit lnSpcReduction="10000"/>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solidFill>
                  <a:schemeClr val="tx1"/>
                </a:solidFill>
                <a:latin typeface="Aharoni" panose="02010803020104030203" pitchFamily="2" charset="-79"/>
                <a:ea typeface="+mj-ea"/>
                <a:cs typeface="Aharoni" panose="02010803020104030203" pitchFamily="2" charset="-79"/>
              </a:rPr>
              <a:t>Who They Are?</a:t>
            </a:r>
          </a:p>
          <a:p>
            <a:pPr>
              <a:lnSpc>
                <a:spcPct val="100000"/>
              </a:lnSpc>
            </a:pPr>
            <a:r>
              <a:rPr lang="en-US" sz="1400">
                <a:solidFill>
                  <a:schemeClr val="tx1"/>
                </a:solidFill>
                <a:latin typeface="Arial Nova Light" panose="020B0304020202020204" pitchFamily="34" charset="0"/>
                <a:cs typeface="Aharoni" panose="02010803020104030203" pitchFamily="2" charset="-79"/>
              </a:rPr>
              <a:t>Edelman &amp; Thompson is a large Kansas City based law firm founded in 1994, specializing in matters of Injury (Personal, Workers Compensation, Medical Malpractice, </a:t>
            </a:r>
            <a:r>
              <a:rPr lang="en-US" sz="1400" err="1">
                <a:solidFill>
                  <a:schemeClr val="tx1"/>
                </a:solidFill>
                <a:latin typeface="Arial Nova Light" panose="020B0304020202020204" pitchFamily="34" charset="0"/>
                <a:cs typeface="Aharoni" panose="02010803020104030203" pitchFamily="2" charset="-79"/>
              </a:rPr>
              <a:t>etc</a:t>
            </a:r>
            <a:r>
              <a:rPr lang="en-US" sz="1400">
                <a:solidFill>
                  <a:schemeClr val="tx1"/>
                </a:solidFill>
                <a:latin typeface="Arial Nova Light" panose="020B0304020202020204" pitchFamily="34" charset="0"/>
                <a:cs typeface="Aharoni" panose="02010803020104030203" pitchFamily="2" charset="-79"/>
              </a:rPr>
              <a:t>). Edelman has won over 75 Workers Comp case awards since 2014, making them far and away the leader in their area. Since inception, attorneys at Edelman have won over $500 Million in settlements and verdicts for their clients.</a:t>
            </a:r>
          </a:p>
        </p:txBody>
      </p:sp>
      <p:sp>
        <p:nvSpPr>
          <p:cNvPr id="3" name="Slide Number Placeholder 2">
            <a:extLst>
              <a:ext uri="{FF2B5EF4-FFF2-40B4-BE49-F238E27FC236}">
                <a16:creationId xmlns:a16="http://schemas.microsoft.com/office/drawing/2014/main" id="{D888A8EE-A41B-104E-87E1-EB98061134BE}"/>
              </a:ext>
            </a:extLst>
          </p:cNvPr>
          <p:cNvSpPr>
            <a:spLocks noGrp="1"/>
          </p:cNvSpPr>
          <p:nvPr>
            <p:ph type="sldNum" sz="quarter" idx="4294967295"/>
          </p:nvPr>
        </p:nvSpPr>
        <p:spPr>
          <a:xfrm>
            <a:off x="9448800" y="6454776"/>
            <a:ext cx="2743200" cy="155575"/>
          </a:xfrm>
        </p:spPr>
        <p:txBody>
          <a:bodyPr/>
          <a:lstStyle>
            <a:defPPr>
              <a:defRPr lang="en-US"/>
            </a:defPPr>
            <a:lvl1pPr marL="0" algn="l" defTabSz="814005" rtl="0" eaLnBrk="1" latinLnBrk="0" hangingPunct="1">
              <a:defRPr sz="1602" kern="1200">
                <a:solidFill>
                  <a:schemeClr val="tx1"/>
                </a:solidFill>
                <a:latin typeface="+mn-lt"/>
                <a:ea typeface="+mn-ea"/>
                <a:cs typeface="+mn-cs"/>
              </a:defRPr>
            </a:lvl1pPr>
            <a:lvl2pPr marL="407002" algn="l" defTabSz="814005" rtl="0" eaLnBrk="1" latinLnBrk="0" hangingPunct="1">
              <a:defRPr sz="1602" kern="1200">
                <a:solidFill>
                  <a:schemeClr val="tx1"/>
                </a:solidFill>
                <a:latin typeface="+mn-lt"/>
                <a:ea typeface="+mn-ea"/>
                <a:cs typeface="+mn-cs"/>
              </a:defRPr>
            </a:lvl2pPr>
            <a:lvl3pPr marL="814005" algn="l" defTabSz="814005" rtl="0" eaLnBrk="1" latinLnBrk="0" hangingPunct="1">
              <a:defRPr sz="1602" kern="1200">
                <a:solidFill>
                  <a:schemeClr val="tx1"/>
                </a:solidFill>
                <a:latin typeface="+mn-lt"/>
                <a:ea typeface="+mn-ea"/>
                <a:cs typeface="+mn-cs"/>
              </a:defRPr>
            </a:lvl3pPr>
            <a:lvl4pPr marL="1221007" algn="l" defTabSz="814005" rtl="0" eaLnBrk="1" latinLnBrk="0" hangingPunct="1">
              <a:defRPr sz="1602" kern="1200">
                <a:solidFill>
                  <a:schemeClr val="tx1"/>
                </a:solidFill>
                <a:latin typeface="+mn-lt"/>
                <a:ea typeface="+mn-ea"/>
                <a:cs typeface="+mn-cs"/>
              </a:defRPr>
            </a:lvl4pPr>
            <a:lvl5pPr marL="1628010" algn="l" defTabSz="814005" rtl="0" eaLnBrk="1" latinLnBrk="0" hangingPunct="1">
              <a:defRPr sz="1602" kern="1200">
                <a:solidFill>
                  <a:schemeClr val="tx1"/>
                </a:solidFill>
                <a:latin typeface="+mn-lt"/>
                <a:ea typeface="+mn-ea"/>
                <a:cs typeface="+mn-cs"/>
              </a:defRPr>
            </a:lvl5pPr>
            <a:lvl6pPr marL="2035012" algn="l" defTabSz="814005" rtl="0" eaLnBrk="1" latinLnBrk="0" hangingPunct="1">
              <a:defRPr sz="1602" kern="1200">
                <a:solidFill>
                  <a:schemeClr val="tx1"/>
                </a:solidFill>
                <a:latin typeface="+mn-lt"/>
                <a:ea typeface="+mn-ea"/>
                <a:cs typeface="+mn-cs"/>
              </a:defRPr>
            </a:lvl6pPr>
            <a:lvl7pPr marL="2442014" algn="l" defTabSz="814005" rtl="0" eaLnBrk="1" latinLnBrk="0" hangingPunct="1">
              <a:defRPr sz="1602" kern="1200">
                <a:solidFill>
                  <a:schemeClr val="tx1"/>
                </a:solidFill>
                <a:latin typeface="+mn-lt"/>
                <a:ea typeface="+mn-ea"/>
                <a:cs typeface="+mn-cs"/>
              </a:defRPr>
            </a:lvl7pPr>
            <a:lvl8pPr marL="2849017" algn="l" defTabSz="814005" rtl="0" eaLnBrk="1" latinLnBrk="0" hangingPunct="1">
              <a:defRPr sz="1602" kern="1200">
                <a:solidFill>
                  <a:schemeClr val="tx1"/>
                </a:solidFill>
                <a:latin typeface="+mn-lt"/>
                <a:ea typeface="+mn-ea"/>
                <a:cs typeface="+mn-cs"/>
              </a:defRPr>
            </a:lvl8pPr>
            <a:lvl9pPr marL="3256020" algn="l" defTabSz="814005" rtl="0" eaLnBrk="1" latinLnBrk="0" hangingPunct="1">
              <a:defRPr sz="1602" kern="1200">
                <a:solidFill>
                  <a:schemeClr val="tx1"/>
                </a:solidFill>
                <a:latin typeface="+mn-lt"/>
                <a:ea typeface="+mn-ea"/>
                <a:cs typeface="+mn-cs"/>
              </a:defRPr>
            </a:lvl9pPr>
          </a:lstStyle>
          <a:p>
            <a:fld id="{056F86DB-78DF-EB43-A6BE-40415A3A0052}" type="slidenum">
              <a:rPr lang="en-US" smtClean="0"/>
              <a:pPr/>
              <a:t>1</a:t>
            </a:fld>
            <a:endParaRPr lang="en-US"/>
          </a:p>
        </p:txBody>
      </p:sp>
      <p:sp>
        <p:nvSpPr>
          <p:cNvPr id="9" name="Text Placeholder 5">
            <a:extLst>
              <a:ext uri="{FF2B5EF4-FFF2-40B4-BE49-F238E27FC236}">
                <a16:creationId xmlns:a16="http://schemas.microsoft.com/office/drawing/2014/main" id="{4208DA7E-DF47-4E90-B84F-484B322FCF21}"/>
              </a:ext>
            </a:extLst>
          </p:cNvPr>
          <p:cNvSpPr txBox="1">
            <a:spLocks/>
          </p:cNvSpPr>
          <p:nvPr/>
        </p:nvSpPr>
        <p:spPr>
          <a:xfrm>
            <a:off x="603247" y="2482085"/>
            <a:ext cx="11028137" cy="2797329"/>
          </a:xfrm>
          <a:prstGeom prst="rect">
            <a:avLst/>
          </a:prstGeom>
        </p:spPr>
        <p:txBody>
          <a:bodyPr vert="horz" lIns="91440" tIns="45720" rIns="91440" bIns="45720" rtlCol="0">
            <a:no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pPr defTabSz="896533">
              <a:spcBef>
                <a:spcPts val="981"/>
              </a:spcBef>
            </a:pPr>
            <a:r>
              <a:rPr lang="en-US" sz="1417" b="1">
                <a:solidFill>
                  <a:schemeClr val="tx1"/>
                </a:solidFill>
                <a:latin typeface="Aharoni" panose="02010803020104030203" pitchFamily="2" charset="-79"/>
                <a:ea typeface="+mj-ea"/>
                <a:cs typeface="Aharoni" panose="02010803020104030203" pitchFamily="2" charset="-79"/>
              </a:rPr>
              <a:t>What We Did</a:t>
            </a:r>
          </a:p>
          <a:p>
            <a:pPr>
              <a:defRPr/>
            </a:pPr>
            <a:r>
              <a:rPr lang="en-US" sz="1400">
                <a:solidFill>
                  <a:schemeClr val="tx1"/>
                </a:solidFill>
                <a:latin typeface="Arial Nova Light" panose="020B0304020202020204" pitchFamily="34" charset="0"/>
                <a:cs typeface="Aharoni" panose="02010803020104030203" pitchFamily="2" charset="-79"/>
              </a:rPr>
              <a:t>Edelman had roughly 2TB of client data stored on local file servers in addition to another 2TB of attorney files stored on Dropbox. In addition to being a large amount of data, the "wild west" architecture had grown painful to manage over time. Edelman had a </a:t>
            </a:r>
            <a:r>
              <a:rPr lang="en-US" sz="1400" err="1">
                <a:solidFill>
                  <a:schemeClr val="tx1"/>
                </a:solidFill>
                <a:latin typeface="Arial Nova Light" panose="020B0304020202020204" pitchFamily="34" charset="0"/>
                <a:cs typeface="Aharoni" panose="02010803020104030203" pitchFamily="2" charset="-79"/>
              </a:rPr>
              <a:t>desi</a:t>
            </a:r>
            <a:r>
              <a:rPr lang="en-US" sz="1400" err="1">
                <a:latin typeface="Arial Nova Light" panose="020B0304020202020204" pitchFamily="34" charset="0"/>
                <a:cs typeface="Aharoni" panose="02010803020104030203" pitchFamily="2" charset="-79"/>
              </a:rPr>
              <a:t>Affirma</a:t>
            </a:r>
            <a:r>
              <a:rPr lang="en-US" sz="1400">
                <a:latin typeface="Arial Nova Light" panose="020B0304020202020204" pitchFamily="34" charset="0"/>
                <a:cs typeface="Aharoni" panose="02010803020104030203" pitchFamily="2" charset="-79"/>
              </a:rPr>
              <a:t> began the project with a comprehensive planning phase. Working directly with key stakeholders, we helped identify content that should be migrated to the new environment. We developed a highly catered architecture for organizing tens of thousands of files to ensure ease of use and scalability.</a:t>
            </a:r>
          </a:p>
          <a:p>
            <a:pPr marL="0" marR="0" lvl="0" indent="0" algn="l" defTabSz="976845" rtl="0" eaLnBrk="1" fontAlgn="auto" latinLnBrk="0" hangingPunct="1">
              <a:lnSpc>
                <a:spcPct val="100000"/>
              </a:lnSpc>
              <a:spcBef>
                <a:spcPts val="0"/>
              </a:spcBef>
              <a:spcAft>
                <a:spcPts val="0"/>
              </a:spcAft>
              <a:buClrTx/>
              <a:buSzTx/>
              <a:buFontTx/>
              <a:buNone/>
              <a:tabLst/>
              <a:defRPr/>
            </a:pPr>
            <a:r>
              <a:rPr lang="en-US" sz="1400">
                <a:solidFill>
                  <a:schemeClr val="tx1"/>
                </a:solidFill>
                <a:latin typeface="Arial Nova Light" panose="020B0304020202020204" pitchFamily="34" charset="0"/>
                <a:cs typeface="Aharoni" panose="02010803020104030203" pitchFamily="2" charset="-79"/>
              </a:rPr>
              <a:t>re to migrate this content to the cloud using Microsoft 365 and SharePoint Online.</a:t>
            </a:r>
          </a:p>
          <a:p>
            <a:pPr marL="0" marR="0" lvl="0" indent="0" algn="l" defTabSz="976845" rtl="0" eaLnBrk="1" fontAlgn="auto" latinLnBrk="0" hangingPunct="1">
              <a:lnSpc>
                <a:spcPct val="100000"/>
              </a:lnSpc>
              <a:spcBef>
                <a:spcPts val="0"/>
              </a:spcBef>
              <a:spcAft>
                <a:spcPts val="0"/>
              </a:spcAft>
              <a:buClrTx/>
              <a:buSzTx/>
              <a:buFontTx/>
              <a:buNone/>
              <a:tabLst/>
              <a:defRPr/>
            </a:pPr>
            <a:endParaRPr lang="en-US" sz="1400">
              <a:solidFill>
                <a:schemeClr val="tx1"/>
              </a:solidFill>
              <a:latin typeface="Arial Nova Light" panose="020B0304020202020204" pitchFamily="34" charset="0"/>
              <a:cs typeface="Aharoni" panose="02010803020104030203" pitchFamily="2" charset="-79"/>
            </a:endParaRPr>
          </a:p>
          <a:p>
            <a:pPr marL="0" marR="0" lvl="0" indent="0" algn="l" defTabSz="976845" rtl="0" eaLnBrk="1" fontAlgn="auto" latinLnBrk="0" hangingPunct="1">
              <a:lnSpc>
                <a:spcPct val="100000"/>
              </a:lnSpc>
              <a:spcBef>
                <a:spcPts val="0"/>
              </a:spcBef>
              <a:spcAft>
                <a:spcPts val="0"/>
              </a:spcAft>
              <a:buClrTx/>
              <a:buSzTx/>
              <a:buFontTx/>
              <a:buNone/>
              <a:tabLst/>
              <a:defRPr/>
            </a:pPr>
            <a:r>
              <a:rPr lang="en-US" sz="1400">
                <a:solidFill>
                  <a:schemeClr val="tx1"/>
                </a:solidFill>
                <a:latin typeface="Arial Nova Light" panose="020B0304020202020204" pitchFamily="34" charset="0"/>
                <a:cs typeface="Aharoni" panose="02010803020104030203" pitchFamily="2" charset="-79"/>
              </a:rPr>
              <a:t>Our development team then built a new SharePoint Online environment using the Modern framework and migrated multiple terabytes of data into the newly developed environment, working creatively to navigate throttling in Microsoft 365 with such a large amount of content.</a:t>
            </a:r>
          </a:p>
          <a:p>
            <a:pPr marL="0" marR="0" lvl="0" indent="0" algn="l" defTabSz="976845" rtl="0" eaLnBrk="1" fontAlgn="auto" latinLnBrk="0" hangingPunct="1">
              <a:lnSpc>
                <a:spcPct val="100000"/>
              </a:lnSpc>
              <a:spcBef>
                <a:spcPts val="0"/>
              </a:spcBef>
              <a:spcAft>
                <a:spcPts val="0"/>
              </a:spcAft>
              <a:buClrTx/>
              <a:buSzTx/>
              <a:buFontTx/>
              <a:buNone/>
              <a:tabLst/>
              <a:defRPr/>
            </a:pPr>
            <a:r>
              <a:rPr lang="en-US" sz="1400">
                <a:solidFill>
                  <a:schemeClr val="tx1"/>
                </a:solidFill>
                <a:latin typeface="Arial Nova Light" panose="020B0304020202020204" pitchFamily="34" charset="0"/>
                <a:cs typeface="Aharoni" panose="02010803020104030203" pitchFamily="2" charset="-79"/>
              </a:rPr>
              <a:t>The project was a big success with the users at Edelman, and Affirma is in the process of supporting Edelman on a process automation initiative using the Microsoft </a:t>
            </a:r>
            <a:r>
              <a:rPr lang="en-US" sz="1400" err="1">
                <a:solidFill>
                  <a:schemeClr val="tx1"/>
                </a:solidFill>
                <a:latin typeface="Arial Nova Light" panose="020B0304020202020204" pitchFamily="34" charset="0"/>
                <a:cs typeface="Aharoni" panose="02010803020104030203" pitchFamily="2" charset="-79"/>
              </a:rPr>
              <a:t>PowerPlatform</a:t>
            </a:r>
            <a:r>
              <a:rPr lang="en-US" sz="1400">
                <a:solidFill>
                  <a:schemeClr val="tx1"/>
                </a:solidFill>
                <a:latin typeface="Arial Nova Light" panose="020B0304020202020204" pitchFamily="34" charset="0"/>
                <a:cs typeface="Aharoni" panose="02010803020104030203" pitchFamily="2" charset="-79"/>
              </a:rPr>
              <a:t>.</a:t>
            </a:r>
          </a:p>
          <a:p>
            <a:pPr marL="0" marR="0" lvl="0" indent="0" algn="l" defTabSz="976845" rtl="0" eaLnBrk="1" fontAlgn="auto" latinLnBrk="0" hangingPunct="1">
              <a:lnSpc>
                <a:spcPct val="100000"/>
              </a:lnSpc>
              <a:spcBef>
                <a:spcPts val="0"/>
              </a:spcBef>
              <a:spcAft>
                <a:spcPts val="0"/>
              </a:spcAft>
              <a:buClrTx/>
              <a:buSzTx/>
              <a:buFontTx/>
              <a:buNone/>
              <a:tabLst/>
              <a:defRPr/>
            </a:pPr>
            <a:endParaRPr lang="en-US" sz="1602">
              <a:solidFill>
                <a:schemeClr val="tx1"/>
              </a:solidFill>
              <a:latin typeface="Arial Nova Light" panose="020B0304020202020204" pitchFamily="34" charset="0"/>
              <a:cs typeface="Aharoni" panose="02010803020104030203" pitchFamily="2" charset="-79"/>
            </a:endParaRPr>
          </a:p>
          <a:p>
            <a:pPr defTabSz="896533">
              <a:spcBef>
                <a:spcPts val="981"/>
              </a:spcBef>
            </a:pPr>
            <a:endParaRPr lang="en-US" sz="1417" b="1">
              <a:solidFill>
                <a:schemeClr val="tx1"/>
              </a:solidFill>
              <a:latin typeface="Aharoni" panose="02010803020104030203" pitchFamily="2" charset="-79"/>
              <a:ea typeface="+mj-ea"/>
              <a:cs typeface="Aharoni" panose="02010803020104030203" pitchFamily="2" charset="-79"/>
            </a:endParaRPr>
          </a:p>
        </p:txBody>
      </p:sp>
      <p:sp>
        <p:nvSpPr>
          <p:cNvPr id="12" name="Title 3">
            <a:extLst>
              <a:ext uri="{FF2B5EF4-FFF2-40B4-BE49-F238E27FC236}">
                <a16:creationId xmlns:a16="http://schemas.microsoft.com/office/drawing/2014/main" id="{C35AC481-92D6-4AAB-A8CC-5742804644D9}"/>
              </a:ext>
            </a:extLst>
          </p:cNvPr>
          <p:cNvSpPr>
            <a:spLocks noGrp="1"/>
          </p:cNvSpPr>
          <p:nvPr>
            <p:ph type="ctrTitle"/>
          </p:nvPr>
        </p:nvSpPr>
        <p:spPr>
          <a:xfrm>
            <a:off x="603284" y="388389"/>
            <a:ext cx="5933874" cy="764390"/>
          </a:xfrm>
        </p:spPr>
        <p:txBody>
          <a:bodyPr>
            <a:norm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3333" b="1" spc="-183">
                <a:solidFill>
                  <a:srgbClr val="1B3F77"/>
                </a:solidFill>
                <a:latin typeface="Aharoni" panose="02010803020104030203" pitchFamily="2" charset="-79"/>
                <a:ea typeface="+mn-ea"/>
                <a:cs typeface="Aharoni" panose="02010803020104030203" pitchFamily="2" charset="-79"/>
              </a:rPr>
              <a:t>EDELMAN &amp; THOMPSON</a:t>
            </a:r>
          </a:p>
        </p:txBody>
      </p:sp>
      <p:sp>
        <p:nvSpPr>
          <p:cNvPr id="14" name="TextBox 13">
            <a:extLst>
              <a:ext uri="{FF2B5EF4-FFF2-40B4-BE49-F238E27FC236}">
                <a16:creationId xmlns:a16="http://schemas.microsoft.com/office/drawing/2014/main" id="{895D88C7-52E1-4229-9B99-4660A086BCF0}"/>
              </a:ext>
            </a:extLst>
          </p:cNvPr>
          <p:cNvSpPr txBox="1"/>
          <p:nvPr/>
        </p:nvSpPr>
        <p:spPr>
          <a:xfrm>
            <a:off x="603248" y="1014119"/>
            <a:ext cx="6097555" cy="451342"/>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2333">
                <a:solidFill>
                  <a:srgbClr val="1B3F77"/>
                </a:solidFill>
                <a:latin typeface="Arial Nova Cond Light" panose="020B0306020202020204" pitchFamily="34" charset="0"/>
                <a:cs typeface="Aharoni" panose="02010803020104030203" pitchFamily="2" charset="-79"/>
              </a:rPr>
              <a:t>SharePoint Migration</a:t>
            </a:r>
            <a:endParaRPr lang="en-US" sz="2333"/>
          </a:p>
        </p:txBody>
      </p:sp>
      <p:pic>
        <p:nvPicPr>
          <p:cNvPr id="2" name="Picture 5" descr="A close up of a sign&#10;&#10;Description automatically generated">
            <a:extLst>
              <a:ext uri="{FF2B5EF4-FFF2-40B4-BE49-F238E27FC236}">
                <a16:creationId xmlns:a16="http://schemas.microsoft.com/office/drawing/2014/main" id="{BB3477A2-3D68-76F4-70A9-A3E3E37D9CD0}"/>
              </a:ext>
            </a:extLst>
          </p:cNvPr>
          <p:cNvPicPr>
            <a:picLocks noChangeAspect="1"/>
          </p:cNvPicPr>
          <p:nvPr/>
        </p:nvPicPr>
        <p:blipFill>
          <a:blip r:embed="rId2"/>
          <a:stretch>
            <a:fillRect/>
          </a:stretch>
        </p:blipFill>
        <p:spPr>
          <a:xfrm>
            <a:off x="9158377" y="714988"/>
            <a:ext cx="2297722" cy="755618"/>
          </a:xfrm>
          <a:prstGeom prst="rect">
            <a:avLst/>
          </a:prstGeom>
        </p:spPr>
      </p:pic>
      <p:sp>
        <p:nvSpPr>
          <p:cNvPr id="5" name="TextBox 4">
            <a:extLst>
              <a:ext uri="{FF2B5EF4-FFF2-40B4-BE49-F238E27FC236}">
                <a16:creationId xmlns:a16="http://schemas.microsoft.com/office/drawing/2014/main" id="{4E883F76-4D86-341F-18F7-15DD8E939FD1}"/>
              </a:ext>
            </a:extLst>
          </p:cNvPr>
          <p:cNvSpPr txBox="1"/>
          <p:nvPr/>
        </p:nvSpPr>
        <p:spPr>
          <a:xfrm>
            <a:off x="603248" y="4926579"/>
            <a:ext cx="11121488" cy="1387624"/>
          </a:xfrm>
          <a:prstGeom prst="rect">
            <a:avLst/>
          </a:prstGeom>
          <a:noFill/>
        </p:spPr>
        <p:txBody>
          <a:bodyPr wrap="square">
            <a:spAutoFit/>
          </a:bodyPr>
          <a:lstStyle>
            <a:defPPr>
              <a:defRPr lang="en-US"/>
            </a:defPPr>
            <a:lvl1pPr marL="0" algn="l" defTabSz="976845" rtl="0" eaLnBrk="1" latinLnBrk="0" hangingPunct="1">
              <a:defRPr sz="1923" kern="1200">
                <a:solidFill>
                  <a:schemeClr val="tx1"/>
                </a:solidFill>
                <a:latin typeface="+mn-lt"/>
                <a:ea typeface="+mn-ea"/>
                <a:cs typeface="+mn-cs"/>
              </a:defRPr>
            </a:lvl1pPr>
            <a:lvl2pPr marL="488422" algn="l" defTabSz="976845" rtl="0" eaLnBrk="1" latinLnBrk="0" hangingPunct="1">
              <a:defRPr sz="1923" kern="1200">
                <a:solidFill>
                  <a:schemeClr val="tx1"/>
                </a:solidFill>
                <a:latin typeface="+mn-lt"/>
                <a:ea typeface="+mn-ea"/>
                <a:cs typeface="+mn-cs"/>
              </a:defRPr>
            </a:lvl2pPr>
            <a:lvl3pPr marL="976845" algn="l" defTabSz="976845" rtl="0" eaLnBrk="1" latinLnBrk="0" hangingPunct="1">
              <a:defRPr sz="1923" kern="1200">
                <a:solidFill>
                  <a:schemeClr val="tx1"/>
                </a:solidFill>
                <a:latin typeface="+mn-lt"/>
                <a:ea typeface="+mn-ea"/>
                <a:cs typeface="+mn-cs"/>
              </a:defRPr>
            </a:lvl3pPr>
            <a:lvl4pPr marL="1465267" algn="l" defTabSz="976845" rtl="0" eaLnBrk="1" latinLnBrk="0" hangingPunct="1">
              <a:defRPr sz="1923" kern="1200">
                <a:solidFill>
                  <a:schemeClr val="tx1"/>
                </a:solidFill>
                <a:latin typeface="+mn-lt"/>
                <a:ea typeface="+mn-ea"/>
                <a:cs typeface="+mn-cs"/>
              </a:defRPr>
            </a:lvl4pPr>
            <a:lvl5pPr marL="1953690" algn="l" defTabSz="976845" rtl="0" eaLnBrk="1" latinLnBrk="0" hangingPunct="1">
              <a:defRPr sz="1923" kern="1200">
                <a:solidFill>
                  <a:schemeClr val="tx1"/>
                </a:solidFill>
                <a:latin typeface="+mn-lt"/>
                <a:ea typeface="+mn-ea"/>
                <a:cs typeface="+mn-cs"/>
              </a:defRPr>
            </a:lvl5pPr>
            <a:lvl6pPr marL="2442112" algn="l" defTabSz="976845" rtl="0" eaLnBrk="1" latinLnBrk="0" hangingPunct="1">
              <a:defRPr sz="1923" kern="1200">
                <a:solidFill>
                  <a:schemeClr val="tx1"/>
                </a:solidFill>
                <a:latin typeface="+mn-lt"/>
                <a:ea typeface="+mn-ea"/>
                <a:cs typeface="+mn-cs"/>
              </a:defRPr>
            </a:lvl6pPr>
            <a:lvl7pPr marL="2930534" algn="l" defTabSz="976845" rtl="0" eaLnBrk="1" latinLnBrk="0" hangingPunct="1">
              <a:defRPr sz="1923" kern="1200">
                <a:solidFill>
                  <a:schemeClr val="tx1"/>
                </a:solidFill>
                <a:latin typeface="+mn-lt"/>
                <a:ea typeface="+mn-ea"/>
                <a:cs typeface="+mn-cs"/>
              </a:defRPr>
            </a:lvl7pPr>
            <a:lvl8pPr marL="3418957" algn="l" defTabSz="976845" rtl="0" eaLnBrk="1" latinLnBrk="0" hangingPunct="1">
              <a:defRPr sz="1923" kern="1200">
                <a:solidFill>
                  <a:schemeClr val="tx1"/>
                </a:solidFill>
                <a:latin typeface="+mn-lt"/>
                <a:ea typeface="+mn-ea"/>
                <a:cs typeface="+mn-cs"/>
              </a:defRPr>
            </a:lvl8pPr>
            <a:lvl9pPr marL="3907380" algn="l" defTabSz="976845" rtl="0" eaLnBrk="1" latinLnBrk="0" hangingPunct="1">
              <a:defRPr sz="1923" kern="1200">
                <a:solidFill>
                  <a:schemeClr val="tx1"/>
                </a:solidFill>
                <a:latin typeface="+mn-lt"/>
                <a:ea typeface="+mn-ea"/>
                <a:cs typeface="+mn-cs"/>
              </a:defRPr>
            </a:lvl9pPr>
          </a:lstStyle>
          <a:p>
            <a:r>
              <a:rPr lang="en-US" sz="1417" b="1">
                <a:latin typeface="Aharoni" panose="02010803020104030203" pitchFamily="2" charset="-79"/>
                <a:ea typeface="+mj-ea"/>
                <a:cs typeface="Aharoni" panose="02010803020104030203" pitchFamily="2" charset="-79"/>
              </a:rPr>
              <a:t>Testimonial</a:t>
            </a:r>
          </a:p>
          <a:p>
            <a:r>
              <a:rPr lang="en-US" sz="1400" i="1">
                <a:latin typeface="Arial Nova Light" panose="020B0304020202020204" pitchFamily="34" charset="0"/>
                <a:cs typeface="Aharoni" panose="02010803020104030203" pitchFamily="2" charset="-79"/>
              </a:rPr>
              <a:t>“We are a law firm that wanted to move our files that were stored on our local servers to the cloud. Security of our files is very important to us. Affirma helped us migrate our files from our local server to Microsoft </a:t>
            </a:r>
            <a:r>
              <a:rPr lang="en-US" sz="1400" i="1" err="1">
                <a:latin typeface="Arial Nova Light" panose="020B0304020202020204" pitchFamily="34" charset="0"/>
                <a:cs typeface="Aharoni" panose="02010803020104030203" pitchFamily="2" charset="-79"/>
              </a:rPr>
              <a:t>Sharepoint</a:t>
            </a:r>
            <a:r>
              <a:rPr lang="en-US" sz="1400" i="1">
                <a:latin typeface="Arial Nova Light" panose="020B0304020202020204" pitchFamily="34" charset="0"/>
                <a:cs typeface="Aharoni" panose="02010803020104030203" pitchFamily="2" charset="-79"/>
              </a:rPr>
              <a:t>. </a:t>
            </a:r>
          </a:p>
          <a:p>
            <a:r>
              <a:rPr lang="en-US" sz="1400" i="1">
                <a:latin typeface="Arial Nova Light" panose="020B0304020202020204" pitchFamily="34" charset="0"/>
                <a:cs typeface="Aharoni" panose="02010803020104030203" pitchFamily="2" charset="-79"/>
              </a:rPr>
              <a:t>The migration of files went very smoothly, and the adoption of </a:t>
            </a:r>
            <a:r>
              <a:rPr lang="en-US" sz="1400" i="1" err="1">
                <a:latin typeface="Arial Nova Light" panose="020B0304020202020204" pitchFamily="34" charset="0"/>
                <a:cs typeface="Aharoni" panose="02010803020104030203" pitchFamily="2" charset="-79"/>
              </a:rPr>
              <a:t>Sharepoint</a:t>
            </a:r>
            <a:r>
              <a:rPr lang="en-US" sz="1400" i="1">
                <a:latin typeface="Arial Nova Light" panose="020B0304020202020204" pitchFamily="34" charset="0"/>
                <a:cs typeface="Aharoni" panose="02010803020104030203" pitchFamily="2" charset="-79"/>
              </a:rPr>
              <a:t> by our staff was quick because of the very user-friendly platform of </a:t>
            </a:r>
            <a:r>
              <a:rPr lang="en-US" sz="1400" i="1" err="1">
                <a:latin typeface="Arial Nova Light" panose="020B0304020202020204" pitchFamily="34" charset="0"/>
                <a:cs typeface="Aharoni" panose="02010803020104030203" pitchFamily="2" charset="-79"/>
              </a:rPr>
              <a:t>Sharepoint</a:t>
            </a:r>
            <a:r>
              <a:rPr lang="en-US" sz="1400" i="1">
                <a:latin typeface="Arial Nova Light" panose="020B0304020202020204" pitchFamily="34" charset="0"/>
                <a:cs typeface="Aharoni" panose="02010803020104030203" pitchFamily="2" charset="-79"/>
              </a:rPr>
              <a:t>. Affirma helped us through every step of the project and kept our team updated on the timeline and budget. We are very pleased with how the project turned out!"</a:t>
            </a:r>
          </a:p>
        </p:txBody>
      </p:sp>
    </p:spTree>
    <p:extLst>
      <p:ext uri="{BB962C8B-B14F-4D97-AF65-F5344CB8AC3E}">
        <p14:creationId xmlns:p14="http://schemas.microsoft.com/office/powerpoint/2010/main" val="3077183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usinessUnit xmlns="f0ee8362-fa7e-4bc9-ab88-7dcfb17cb19b">
      <Value>Modern Workplace</Value>
    </BusinessUnit>
    <Solutions xmlns="f0ee8362-fa7e-4bc9-ab88-7dcfb17cb19b">
      <Value>Migrations</Value>
      <Value>Intranet/ Extranet</Value>
    </Solutions>
    <Industries xmlns="f0ee8362-fa7e-4bc9-ab88-7dcfb17cb19b">
      <Value>Services</Value>
    </Industries>
    <Notes0 xmlns="f0ee8362-fa7e-4bc9-ab88-7dcfb17cb19b" xsi:nil="true"/>
    <Named_x0020_Account xmlns="f0ee8362-fa7e-4bc9-ab88-7dcfb17cb19b" xsi:nil="true"/>
    <PlatTech xmlns="f0ee8362-fa7e-4bc9-ab88-7dcfb17cb19b">
      <Value>SharePoint</Value>
    </PlatTech>
    <ProjectCompletionDate xmlns="f0ee8362-fa7e-4bc9-ab88-7dcfb17cb19b" xsi:nil="true"/>
    <ApprovedByClient xmlns="f0ee8362-fa7e-4bc9-ab88-7dcfb17cb19b">false</ApprovedByClient>
  </documentManagement>
</p:properties>
</file>

<file path=customXml/item4.xml><?xml version="1.0" encoding="utf-8"?>
<?mso-contentType ?>
<customXsn xmlns="http://schemas.microsoft.com/office/2006/metadata/customXsn">
  <xsnLocation/>
  <cached>True</cached>
  <openByDefault>False</openByDefault>
  <xsnScope/>
</customXsn>
</file>

<file path=customXml/itemProps1.xml><?xml version="1.0" encoding="utf-8"?>
<ds:datastoreItem xmlns:ds="http://schemas.openxmlformats.org/officeDocument/2006/customXml" ds:itemID="{7C2C634E-9AE5-418A-A1C7-097A9E31862F}"/>
</file>

<file path=customXml/itemProps2.xml><?xml version="1.0" encoding="utf-8"?>
<ds:datastoreItem xmlns:ds="http://schemas.openxmlformats.org/officeDocument/2006/customXml" ds:itemID="{2DEE3ECD-9553-4950-BFA3-D0CF2A12011E}"/>
</file>

<file path=customXml/itemProps3.xml><?xml version="1.0" encoding="utf-8"?>
<ds:datastoreItem xmlns:ds="http://schemas.openxmlformats.org/officeDocument/2006/customXml" ds:itemID="{D0FB7DCD-BD88-4D8D-8309-6465D5CAA842}"/>
</file>

<file path=customXml/itemProps4.xml><?xml version="1.0" encoding="utf-8"?>
<ds:datastoreItem xmlns:ds="http://schemas.openxmlformats.org/officeDocument/2006/customXml" ds:itemID="{DC870A20-9127-4640-AA45-C5D7BBB118C4}"/>
</file>

<file path=docProps/app.xml><?xml version="1.0" encoding="utf-8"?>
<Properties xmlns="http://schemas.openxmlformats.org/officeDocument/2006/extended-properties" xmlns:vt="http://schemas.openxmlformats.org/officeDocument/2006/docPropsVTypes">
  <TotalTime>0</TotalTime>
  <Words>382</Words>
  <Application>Microsoft Office PowerPoint</Application>
  <PresentationFormat>Widescreen</PresentationFormat>
  <Paragraphs>14</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Aharoni</vt:lpstr>
      <vt:lpstr>Arial</vt:lpstr>
      <vt:lpstr>Arial Nova Cond Light</vt:lpstr>
      <vt:lpstr>Arial Nova Light</vt:lpstr>
      <vt:lpstr>Calibri</vt:lpstr>
      <vt:lpstr>Calibri Light</vt:lpstr>
      <vt:lpstr>Office Theme</vt:lpstr>
      <vt:lpstr>EDELMAN &amp; THOMPSON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Edelman and Thompson</dc:title>
  <dc:creator>Brendan Murphy</dc:creator>
  <cp:lastModifiedBy>Brendan Murphy</cp:lastModifiedBy>
  <cp:revision>2</cp:revision>
  <dcterms:created xsi:type="dcterms:W3CDTF">2024-03-22T17:06:52Z</dcterms:created>
  <dcterms:modified xsi:type="dcterms:W3CDTF">2024-03-22T17:07:44Z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