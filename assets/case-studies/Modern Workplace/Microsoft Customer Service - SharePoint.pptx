
<file path=[Content_Types].xml><?xml version="1.0" encoding="utf-8"?>
<Types xmlns="http://schemas.openxmlformats.org/package/2006/content-types">
  <Default Extension="bin" ContentType="image/pn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300" r:id="R1697887eabd54c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812A"/>
    <a:srgbClr val="182D4C"/>
    <a:srgbClr val="2F2F2F"/>
    <a:srgbClr val="6C86B8"/>
    <a:srgbClr val="D87724"/>
    <a:srgbClr val="6A93D0"/>
    <a:srgbClr val="192943"/>
    <a:srgbClr val="1C375C"/>
    <a:srgbClr val="2F4E7F"/>
    <a:srgbClr val="2D55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69" autoAdjust="0"/>
    <p:restoredTop sz="94608"/>
  </p:normalViewPr>
  <p:slideViewPr>
    <p:cSldViewPr snapToGrid="0" snapToObjects="1">
      <p:cViewPr varScale="1">
        <p:scale>
          <a:sx n="56" d="100"/>
          <a:sy n="56" d="100"/>
        </p:scale>
        <p:origin x="918" y="78"/>
      </p:cViewPr>
      <p:guideLst>
        <p:guide orient="horz" pos="2160"/>
        <p:guide pos="381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ustomXml" Target="../customXml/item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11" Type="http://schemas.openxmlformats.org/officeDocument/2006/relationships/customXml" Target="../customXml/item4.xml"/><Relationship Id="rId5" Type="http://schemas.openxmlformats.org/officeDocument/2006/relationships/viewProps" Target="viewProps.xml"/><Relationship Id="rId10" Type="http://schemas.openxmlformats.org/officeDocument/2006/relationships/customXml" Target="../customXml/item3.xml"/><Relationship Id="rId4" Type="http://schemas.openxmlformats.org/officeDocument/2006/relationships/presProps" Target="presProps.xml"/><Relationship Id="R1697887eabd54c43" Type="http://schemas.openxmlformats.org/officeDocument/2006/relationships/slide" Target="/ppt/slides/slide2.xml"/><Relationship Id="rId9"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BC89A5-BE3E-2441-87C0-54B69ED90FC7}" type="datetimeFigureOut">
              <a:t>5/11/2019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022639-76C9-2740-BE4D-A4E2B1985EBA}" type="slidenum">
              <a:t>‹#›</a:t>
            </a:fld>
            <a:endParaRPr lang="en-US"/>
          </a:p>
        </p:txBody>
      </p:sp>
    </p:spTree>
    <p:extLst>
      <p:ext uri="{BB962C8B-B14F-4D97-AF65-F5344CB8AC3E}">
        <p14:creationId xmlns:p14="http://schemas.microsoft.com/office/powerpoint/2010/main" val="1416130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Picture Placeholder 7"/>
          <p:cNvSpPr>
            <a:spLocks noGrp="1"/>
          </p:cNvSpPr>
          <p:nvPr>
            <p:ph type="pic" sz="quarter" idx="10"/>
          </p:nvPr>
        </p:nvSpPr>
        <p:spPr>
          <a:xfrm>
            <a:off x="0" y="0"/>
            <a:ext cx="12192001" cy="6858000"/>
          </a:xfrm>
          <a:pattFill prst="divot">
            <a:fgClr>
              <a:schemeClr val="bg1">
                <a:lumMod val="85000"/>
              </a:schemeClr>
            </a:fgClr>
            <a:bgClr>
              <a:schemeClr val="bg1"/>
            </a:bgClr>
          </a:pattFill>
        </p:spPr>
        <p:txBody>
          <a:bodyPr anchor="ctr">
            <a:normAutofit/>
          </a:bodyPr>
          <a:lstStyle>
            <a:lvl1pPr marL="0" indent="0" algn="ctr">
              <a:buNone/>
              <a:defRPr sz="1800"/>
            </a:lvl1pPr>
          </a:lstStyle>
          <a:p>
            <a:endParaRPr lang="en-US"/>
          </a:p>
        </p:txBody>
      </p:sp>
    </p:spTree>
    <p:extLst>
      <p:ext uri="{BB962C8B-B14F-4D97-AF65-F5344CB8AC3E}">
        <p14:creationId xmlns:p14="http://schemas.microsoft.com/office/powerpoint/2010/main" val="1802982494"/>
      </p:ext>
    </p:extLst>
  </p:cSld>
  <p:clrMapOvr>
    <a:masterClrMapping/>
  </p:clrMapOvr>
</p:sldLayout>
</file>

<file path=ppt/slideLayouts/slideLayout2.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1405468" y="1418121"/>
            <a:ext cx="3782286" cy="3782286"/>
          </a:xfrm>
          <a:custGeom>
            <a:avLst/>
            <a:gdLst>
              <a:gd name="connsiteX0" fmla="*/ 1891143 w 3782286"/>
              <a:gd name="connsiteY0" fmla="*/ 0 h 3782286"/>
              <a:gd name="connsiteX1" fmla="*/ 3782286 w 3782286"/>
              <a:gd name="connsiteY1" fmla="*/ 1891143 h 3782286"/>
              <a:gd name="connsiteX2" fmla="*/ 1891143 w 3782286"/>
              <a:gd name="connsiteY2" fmla="*/ 3782286 h 3782286"/>
              <a:gd name="connsiteX3" fmla="*/ 0 w 3782286"/>
              <a:gd name="connsiteY3" fmla="*/ 1891143 h 3782286"/>
              <a:gd name="connsiteX4" fmla="*/ 1891143 w 3782286"/>
              <a:gd name="connsiteY4" fmla="*/ 0 h 3782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2286" h="3782286">
                <a:moveTo>
                  <a:pt x="1891143" y="0"/>
                </a:moveTo>
                <a:cubicBezTo>
                  <a:pt x="2935592" y="0"/>
                  <a:pt x="3782286" y="846694"/>
                  <a:pt x="3782286" y="1891143"/>
                </a:cubicBezTo>
                <a:cubicBezTo>
                  <a:pt x="3782286" y="2935592"/>
                  <a:pt x="2935592" y="3782286"/>
                  <a:pt x="1891143" y="3782286"/>
                </a:cubicBezTo>
                <a:cubicBezTo>
                  <a:pt x="846694" y="3782286"/>
                  <a:pt x="0" y="2935592"/>
                  <a:pt x="0" y="1891143"/>
                </a:cubicBezTo>
                <a:cubicBezTo>
                  <a:pt x="0" y="846694"/>
                  <a:pt x="846694" y="0"/>
                  <a:pt x="1891143" y="0"/>
                </a:cubicBezTo>
                <a:close/>
              </a:path>
            </a:pathLst>
          </a:custGeom>
          <a:pattFill prst="divot">
            <a:fgClr>
              <a:schemeClr val="bg1">
                <a:lumMod val="85000"/>
              </a:schemeClr>
            </a:fgClr>
            <a:bgClr>
              <a:schemeClr val="bg1"/>
            </a:bgClr>
          </a:pattFill>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413590161"/>
      </p:ext>
    </p:extLst>
  </p:cSld>
  <p:clrMapOvr>
    <a:masterClrMapping/>
  </p:clrMapOvr>
</p:sldLayout>
</file>

<file path=ppt/slideLayouts/slideLayout3.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10" name="Picture Placeholder 9"/>
          <p:cNvSpPr>
            <a:spLocks noGrp="1"/>
          </p:cNvSpPr>
          <p:nvPr>
            <p:ph type="pic" sz="quarter" idx="10"/>
          </p:nvPr>
        </p:nvSpPr>
        <p:spPr>
          <a:xfrm>
            <a:off x="8763000" y="0"/>
            <a:ext cx="3429000" cy="6858000"/>
          </a:xfrm>
          <a:custGeom>
            <a:avLst/>
            <a:gdLst>
              <a:gd name="connsiteX0" fmla="*/ 3429000 w 3429000"/>
              <a:gd name="connsiteY0" fmla="*/ 0 h 6858000"/>
              <a:gd name="connsiteX1" fmla="*/ 3429000 w 3429000"/>
              <a:gd name="connsiteY1" fmla="*/ 6858000 h 6858000"/>
              <a:gd name="connsiteX2" fmla="*/ 0 w 3429000"/>
              <a:gd name="connsiteY2" fmla="*/ 3429000 h 6858000"/>
              <a:gd name="connsiteX3" fmla="*/ 3429000 w 3429000"/>
              <a:gd name="connsiteY3" fmla="*/ 0 h 6858000"/>
            </a:gdLst>
            <a:ahLst/>
            <a:cxnLst>
              <a:cxn ang="0">
                <a:pos x="connsiteX0" y="connsiteY0"/>
              </a:cxn>
              <a:cxn ang="0">
                <a:pos x="connsiteX1" y="connsiteY1"/>
              </a:cxn>
              <a:cxn ang="0">
                <a:pos x="connsiteX2" y="connsiteY2"/>
              </a:cxn>
              <a:cxn ang="0">
                <a:pos x="connsiteX3" y="connsiteY3"/>
              </a:cxn>
            </a:cxnLst>
            <a:rect l="l" t="t" r="r" b="b"/>
            <a:pathLst>
              <a:path w="3429000" h="6858000">
                <a:moveTo>
                  <a:pt x="3429000" y="0"/>
                </a:moveTo>
                <a:lnTo>
                  <a:pt x="3429000" y="6858000"/>
                </a:lnTo>
                <a:cubicBezTo>
                  <a:pt x="1535216" y="6858000"/>
                  <a:pt x="0" y="5322784"/>
                  <a:pt x="0" y="3429000"/>
                </a:cubicBezTo>
                <a:cubicBezTo>
                  <a:pt x="0" y="1535217"/>
                  <a:pt x="1535216" y="0"/>
                  <a:pt x="3429000" y="0"/>
                </a:cubicBezTo>
                <a:close/>
              </a:path>
            </a:pathLst>
          </a:custGeom>
          <a:pattFill prst="divot">
            <a:fgClr>
              <a:schemeClr val="bg1">
                <a:lumMod val="85000"/>
              </a:schemeClr>
            </a:fgClr>
            <a:bgClr>
              <a:schemeClr val="bg1"/>
            </a:bgClr>
          </a:pattFill>
          <a:ln>
            <a:noFill/>
          </a:ln>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174063937"/>
      </p:ext>
    </p:extLst>
  </p:cSld>
  <p:clrMapOvr>
    <a:masterClrMapping/>
  </p:clrMapOvr>
</p:sldLayout>
</file>

<file path=ppt/slideLayouts/slideLayout4.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858128" y="2008164"/>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58129" y="1581124"/>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858128" y="3525482"/>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58129" y="3098442"/>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873603" y="5568668"/>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73603" y="514162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7604616" y="3578094"/>
            <a:ext cx="4254500" cy="2755900"/>
          </a:xfrm>
        </p:spPr>
        <p:txBody>
          <a:bodyPr/>
          <a:lstStyle>
            <a:lvl1pPr>
              <a:defRPr/>
            </a:lvl1pPr>
          </a:lstStyle>
          <a:p>
            <a:r>
              <a:rPr lang="en-US" dirty="0" err="1"/>
              <a:t>screenshotplace</a:t>
            </a:r>
            <a:endParaRPr lang="en-US" dirty="0"/>
          </a:p>
        </p:txBody>
      </p:sp>
      <p:sp>
        <p:nvSpPr>
          <p:cNvPr id="5" name="Picture Placeholder 4">
            <a:extLst>
              <a:ext uri="{FF2B5EF4-FFF2-40B4-BE49-F238E27FC236}">
                <a16:creationId xmlns:a16="http://schemas.microsoft.com/office/drawing/2014/main" id="{3ECA3D9A-2ED8-4AE0-ACE4-B53CB627B2D7}"/>
              </a:ext>
            </a:extLst>
          </p:cNvPr>
          <p:cNvSpPr>
            <a:spLocks noGrp="1"/>
          </p:cNvSpPr>
          <p:nvPr>
            <p:ph type="pic" sz="quarter" idx="12"/>
          </p:nvPr>
        </p:nvSpPr>
        <p:spPr>
          <a:xfrm>
            <a:off x="8797646" y="1565275"/>
            <a:ext cx="1781175" cy="1770063"/>
          </a:xfrm>
        </p:spPr>
        <p:txBody>
          <a:bodyPr/>
          <a:lstStyle/>
          <a:p>
            <a:endParaRPr lang="en-US"/>
          </a:p>
        </p:txBody>
      </p:sp>
    </p:spTree>
    <p:extLst>
      <p:ext uri="{BB962C8B-B14F-4D97-AF65-F5344CB8AC3E}">
        <p14:creationId xmlns:p14="http://schemas.microsoft.com/office/powerpoint/2010/main" val="2582825011"/>
      </p:ext>
    </p:extLst>
  </p:cSld>
  <p:clrMapOvr>
    <a:masterClrMapping/>
  </p:clrMapOvr>
  <p:extLst mod="1">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Case (R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4953002" y="988395"/>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5811130" y="2002260"/>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5811131" y="1575220"/>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5811130" y="3519578"/>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5811131" y="3092538"/>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5826605" y="5562764"/>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5826605" y="5135724"/>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381000" y="3550917"/>
            <a:ext cx="4254500" cy="2755900"/>
          </a:xfrm>
        </p:spPr>
        <p:txBody>
          <a:bodyPr/>
          <a:lstStyle>
            <a:lvl1pPr>
              <a:defRPr/>
            </a:lvl1pPr>
          </a:lstStyle>
          <a:p>
            <a:r>
              <a:rPr lang="en-US" dirty="0" err="1"/>
              <a:t>screenshotplace</a:t>
            </a:r>
            <a:endParaRPr lang="en-US" dirty="0"/>
          </a:p>
        </p:txBody>
      </p:sp>
      <p:sp>
        <p:nvSpPr>
          <p:cNvPr id="37" name="Picture Placeholder 4">
            <a:extLst>
              <a:ext uri="{FF2B5EF4-FFF2-40B4-BE49-F238E27FC236}">
                <a16:creationId xmlns:a16="http://schemas.microsoft.com/office/drawing/2014/main" id="{EB585296-BAA5-41EE-AC7D-F347285C3162}"/>
              </a:ext>
            </a:extLst>
          </p:cNvPr>
          <p:cNvSpPr>
            <a:spLocks noGrp="1"/>
          </p:cNvSpPr>
          <p:nvPr>
            <p:ph type="pic" sz="quarter" idx="12"/>
          </p:nvPr>
        </p:nvSpPr>
        <p:spPr>
          <a:xfrm>
            <a:off x="1615685" y="1531636"/>
            <a:ext cx="1781175" cy="1770063"/>
          </a:xfrm>
        </p:spPr>
        <p:txBody>
          <a:bodyPr/>
          <a:lstStyle/>
          <a:p>
            <a:endParaRPr lang="en-US"/>
          </a:p>
        </p:txBody>
      </p:sp>
    </p:spTree>
    <p:extLst>
      <p:ext uri="{BB962C8B-B14F-4D97-AF65-F5344CB8AC3E}">
        <p14:creationId xmlns:p14="http://schemas.microsoft.com/office/powerpoint/2010/main" val="731290465"/>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5A23AB-5C46-FA4A-BF97-1CB175D11720}" type="datetimeFigureOut">
              <a:t>5/11/2019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00B42A-9AC8-E54B-B87E-06913CF81F51}" type="slidenum">
              <a:t>‹#›</a:t>
            </a:fld>
            <a:endParaRPr lang="en-US"/>
          </a:p>
        </p:txBody>
      </p:sp>
    </p:spTree>
    <p:extLst>
      <p:ext uri="{BB962C8B-B14F-4D97-AF65-F5344CB8AC3E}">
        <p14:creationId xmlns:p14="http://schemas.microsoft.com/office/powerpoint/2010/main" val="2069889758"/>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8" r:id="rId3"/>
    <p:sldLayoutId id="2147483712" r:id="rId4"/>
    <p:sldLayoutId id="214748371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&#65279;<?xml version="1.0" encoding="utf-8"?><Relationships xmlns="http://schemas.openxmlformats.org/package/2006/relationships"><Relationship Type="http://schemas.openxmlformats.org/officeDocument/2006/relationships/slideLayout" Target="/ppt/slideLayouts/slideLayout4.xml" Id="R9c477c48e342448c" /><Relationship Type="http://schemas.openxmlformats.org/officeDocument/2006/relationships/image" Target="/ppt/media/image4.bin" Id="rId20"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7539CB4E-3F35-4158-BFA8-81B24C9008B2}"/>
              </a:ext>
            </a:extLst>
          </p:cNvPr>
          <p:cNvPicPr>
            <a:picLocks noGrp="1" noChangeAspect="1"/>
          </p:cNvPicPr>
          <p:nvPr>
            <p:ph type="pic" sz="quarter" idx="10"/>
          </p:nvPr>
        </p:nvPicPr>
        <p:blipFill>
          <a:blip r:embed="rId2" cstate="email">
            <a:extLst>
              <a:ext uri="{28A0092B-C50C-407E-A947-70E740481C1C}">
                <a14:useLocalDpi xmlns:a14="http://schemas.microsoft.com/office/drawing/2010/main"/>
              </a:ext>
            </a:extLst>
          </a:blip>
          <a:srcRect/>
          <a:stretch>
            <a:fillRect/>
          </a:stretch>
        </p:blipFill>
        <p:spPr/>
      </p:pic>
      <p:sp>
        <p:nvSpPr>
          <p:cNvPr id="5" name="Rectangle 4"/>
          <p:cNvSpPr/>
          <p:nvPr/>
        </p:nvSpPr>
        <p:spPr>
          <a:xfrm>
            <a:off x="-8878" y="0"/>
            <a:ext cx="12192000" cy="6858000"/>
          </a:xfrm>
          <a:prstGeom prst="rect">
            <a:avLst/>
          </a:prstGeom>
          <a:solidFill>
            <a:schemeClr val="accent5">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6" name="Picture 35" descr="affirmastudioslogo.png">
            <a:extLst>
              <a:ext uri="{FF2B5EF4-FFF2-40B4-BE49-F238E27FC236}">
                <a16:creationId xmlns:a16="http://schemas.microsoft.com/office/drawing/2014/main" id="{3C26C536-9D94-4335-80FB-B04CD1BFE8E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942284" y="2464040"/>
            <a:ext cx="3061315" cy="782003"/>
          </a:xfrm>
          <a:prstGeom prst="rect">
            <a:avLst/>
          </a:prstGeom>
        </p:spPr>
      </p:pic>
      <p:sp>
        <p:nvSpPr>
          <p:cNvPr id="10" name="TextBox 9"/>
          <p:cNvSpPr txBox="1"/>
          <p:nvPr/>
        </p:nvSpPr>
        <p:spPr>
          <a:xfrm>
            <a:off x="2700859" y="4137250"/>
            <a:ext cx="6158753" cy="1217834"/>
          </a:xfrm>
          <a:prstGeom prst="rect">
            <a:avLst/>
          </a:prstGeom>
          <a:noFill/>
        </p:spPr>
        <p:txBody>
          <a:bodyPr wrap="square" rtlCol="0">
            <a:spAutoFit/>
          </a:bodyPr>
          <a:lstStyle/>
          <a:p>
            <a:pPr algn="ctr">
              <a:lnSpc>
                <a:spcPct val="150000"/>
              </a:lnSpc>
            </a:pPr>
            <a:r>
              <a:rPr lang="en-US" sz="1000" dirty="0">
                <a:solidFill>
                  <a:schemeClr val="tx1">
                    <a:lumMod val="10000"/>
                    <a:lumOff val="90000"/>
                  </a:schemeClr>
                </a:solidFill>
                <a:latin typeface="Open Sans" charset="0"/>
                <a:ea typeface="Open Sans" charset="0"/>
                <a:cs typeface="Open Sans" charset="0"/>
              </a:rPr>
              <a:t>Affirma consulting is the consulting firm that cares. Our strength is in our passionate, knowledgeable and happy team members. We believe and are living proof that when you take care of your employees – they will take care of your customers. Our team members care about your project success – and it shows.</a:t>
            </a:r>
          </a:p>
          <a:p>
            <a:pPr algn="ctr">
              <a:lnSpc>
                <a:spcPct val="150000"/>
              </a:lnSpc>
            </a:pPr>
            <a:r>
              <a:rPr lang="en-US" sz="1000" dirty="0">
                <a:solidFill>
                  <a:schemeClr val="tx1">
                    <a:lumMod val="10000"/>
                    <a:lumOff val="90000"/>
                  </a:schemeClr>
                </a:solidFill>
                <a:latin typeface="Open Sans" charset="0"/>
                <a:ea typeface="Open Sans" charset="0"/>
                <a:cs typeface="Open Sans" charset="0"/>
              </a:rPr>
              <a:t>See how their enthusiasm and knowledge can benefit you!</a:t>
            </a:r>
          </a:p>
          <a:p>
            <a:pPr algn="ctr">
              <a:lnSpc>
                <a:spcPct val="150000"/>
              </a:lnSpc>
            </a:pPr>
            <a:endParaRPr lang="en-US" sz="1000" dirty="0">
              <a:solidFill>
                <a:schemeClr val="tx1">
                  <a:lumMod val="10000"/>
                  <a:lumOff val="90000"/>
                </a:schemeClr>
              </a:solidFill>
              <a:latin typeface="Open Sans" charset="0"/>
              <a:ea typeface="Open Sans" charset="0"/>
              <a:cs typeface="Open Sans" charset="0"/>
            </a:endParaRPr>
          </a:p>
        </p:txBody>
      </p:sp>
      <p:grpSp>
        <p:nvGrpSpPr>
          <p:cNvPr id="2" name="Group 1"/>
          <p:cNvGrpSpPr/>
          <p:nvPr/>
        </p:nvGrpSpPr>
        <p:grpSpPr>
          <a:xfrm>
            <a:off x="10255378" y="484095"/>
            <a:ext cx="1281303" cy="1176448"/>
            <a:chOff x="10255378" y="484095"/>
            <a:chExt cx="1281303" cy="1176448"/>
          </a:xfrm>
          <a:solidFill>
            <a:schemeClr val="bg1"/>
          </a:solidFill>
        </p:grpSpPr>
        <p:sp>
          <p:nvSpPr>
            <p:cNvPr id="14" name="Right Triangle 13"/>
            <p:cNvSpPr/>
            <p:nvPr/>
          </p:nvSpPr>
          <p:spPr>
            <a:xfrm rot="10800000">
              <a:off x="10404999" y="484095"/>
              <a:ext cx="1131682" cy="1131682"/>
            </a:xfrm>
            <a:prstGeom prst="rtTriangle">
              <a:avLst/>
            </a:prstGeom>
            <a:solidFill>
              <a:srgbClr val="D87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5" name="Group 14"/>
            <p:cNvGrpSpPr/>
            <p:nvPr/>
          </p:nvGrpSpPr>
          <p:grpSpPr>
            <a:xfrm rot="10800000">
              <a:off x="10255378" y="708872"/>
              <a:ext cx="1007690" cy="951671"/>
              <a:chOff x="7625694" y="1771958"/>
              <a:chExt cx="3025379" cy="2857192"/>
            </a:xfrm>
            <a:grpFill/>
          </p:grpSpPr>
          <p:sp>
            <p:nvSpPr>
              <p:cNvPr id="16" name="Oval 15"/>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pic>
        <p:nvPicPr>
          <p:cNvPr id="32" name="Picture 31">
            <a:extLst>
              <a:ext uri="{FF2B5EF4-FFF2-40B4-BE49-F238E27FC236}">
                <a16:creationId xmlns:a16="http://schemas.microsoft.com/office/drawing/2014/main" id="{C2908EAF-8545-47F0-99B6-9D22EB4246DE}"/>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993107" y="2517866"/>
            <a:ext cx="668132" cy="668132"/>
          </a:xfrm>
          <a:prstGeom prst="rect">
            <a:avLst/>
          </a:prstGeom>
        </p:spPr>
      </p:pic>
      <p:cxnSp>
        <p:nvCxnSpPr>
          <p:cNvPr id="37" name="Straight Connector 36">
            <a:extLst>
              <a:ext uri="{FF2B5EF4-FFF2-40B4-BE49-F238E27FC236}">
                <a16:creationId xmlns:a16="http://schemas.microsoft.com/office/drawing/2014/main" id="{5EEDD629-B4E1-495E-83EA-C5E0BCF8429B}"/>
              </a:ext>
            </a:extLst>
          </p:cNvPr>
          <p:cNvCxnSpPr/>
          <p:nvPr/>
        </p:nvCxnSpPr>
        <p:spPr>
          <a:xfrm>
            <a:off x="5768806" y="2229747"/>
            <a:ext cx="0" cy="123371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38" name="Picture 6" descr="Image result for port of seattle logo">
            <a:extLst>
              <a:ext uri="{FF2B5EF4-FFF2-40B4-BE49-F238E27FC236}">
                <a16:creationId xmlns:a16="http://schemas.microsoft.com/office/drawing/2014/main" id="{7931BA4C-8A45-40AE-913E-024C6ECF9C99}"/>
              </a:ext>
            </a:extLst>
          </p:cNvPr>
          <p:cNvPicPr>
            <a:picLocks noChangeAspect="1" noChangeArrowheads="1"/>
          </p:cNvPicPr>
          <p:nvPr/>
        </p:nvPicPr>
        <p:blipFill rotWithShape="1">
          <a:blip r:embed="rId5" cstate="email">
            <a:extLst>
              <a:ext uri="{28A0092B-C50C-407E-A947-70E740481C1C}">
                <a14:useLocalDpi xmlns:a14="http://schemas.microsoft.com/office/drawing/2010/main"/>
              </a:ext>
            </a:extLst>
          </a:blip>
          <a:srcRect/>
          <a:stretch/>
        </p:blipFill>
        <p:spPr bwMode="auto">
          <a:xfrm>
            <a:off x="6534014" y="2114689"/>
            <a:ext cx="3108278" cy="15541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3977902"/>
      </p:ext>
    </p:extLst>
  </p:cSld>
  <p:clrMapOvr>
    <a:masterClrMapping/>
  </p:clrMapOvr>
</p:sld>
</file>

<file path=ppt/slides/slide2.xml><?xml version="1.0" encoding="utf-8"?>
<p:sld xmlns:a16="http://schemas.microsoft.com/office/drawing/2014/main" xmlns:a14="http://schemas.microsoft.com/office/drawing/2010/main" xmlns:p14="http://schemas.microsoft.com/office/powerpoint/2010/main" xmlns:p="http://schemas.openxmlformats.org/presentationml/2006/main">
  <p:cSld name="Case (Left)">
    <p:spTree>
      <p:nvGrpSpPr>
        <p:cNvPr id="1" name=""/>
        <p:cNvGrpSpPr/>
        <p:nvPr/>
      </p:nvGrpSpPr>
      <p:grpSpPr>
        <a:xfrm xmlns:a="http://schemas.openxmlformats.org/drawingml/2006/main">
          <a:off x="0" y="0"/>
          <a:ext cx="0" cy="0"/>
          <a:chOff x="0" y="0"/>
          <a:chExt cx="0" cy="0"/>
        </a:xfrm>
      </p:grpSpPr>
      <p:sp>
        <p:nvSpPr>
          <p:cNvPr id="7" name="Rectangle 6">
            <a:extLst xmlns:a="http://schemas.openxmlformats.org/drawingml/2006/main">
              <a:ext uri="{FF2B5EF4-FFF2-40B4-BE49-F238E27FC236}">
                <a16:creationId xmlns:a16="http://schemas.microsoft.com/office/drawing/2014/main" id="{38F97E55-68B0-4E78-8819-96463181F0E0}"/>
              </a:ext>
            </a:extLst>
          </p:cNvPr>
          <p:cNvSpPr/>
          <p:nvPr userDrawn="1"/>
        </p:nvSpPr>
        <p:spPr>
          <a:xfrm xmlns:a="http://schemas.openxmlformats.org/drawingml/2006/main">
            <a:off x="2" y="0"/>
            <a:ext cx="12192000" cy="990600"/>
          </a:xfrm>
          <a:prstGeom xmlns:a="http://schemas.openxmlformats.org/drawingml/2006/main" prst="rect">
            <a:avLst/>
          </a:prstGeom>
          <a:solidFill xmlns:a="http://schemas.openxmlformats.org/drawingml/2006/main">
            <a:srgbClr val="182D4C"/>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0" rIns="0" rtlCol="0" anchor="ctr"/>
          <a:lstStyle xmlns:a="http://schemas.openxmlformats.org/drawingml/2006/main"/>
          <a:p xmlns:a="http://schemas.openxmlformats.org/drawingml/2006/main">
            <a:pPr algn="ctr"/>
            <a:endParaRPr lang="en-US" sz="1765" dirty="0">
              <a:solidFill>
                <a:schemeClr val="bg1"/>
              </a:solidFill>
              <a:latin typeface="Segoe UI" panose="020B0502040204020203" pitchFamily="34" charset="0"/>
            </a:endParaRPr>
          </a:p>
        </p:txBody>
      </p:sp>
      <p:sp>
        <p:nvSpPr>
          <p:cNvPr id="2" name="Title 1"/>
          <p:cNvSpPr>
            <a:spLocks xmlns:a="http://schemas.openxmlformats.org/drawingml/2006/main" noGrp="1"/>
          </p:cNvSpPr>
          <p:nvPr>
            <p:ph type="title" hasCustomPrompt="1"/>
          </p:nvPr>
        </p:nvSpPr>
        <p:spPr>
          <a:xfrm xmlns:a="http://schemas.openxmlformats.org/drawingml/2006/main">
            <a:off x="381000" y="228600"/>
            <a:ext cx="11430000" cy="533400"/>
          </a:xfrm>
        </p:spPr>
        <p:txBody>
          <a:bodyPr xmlns:a="http://schemas.openxmlformats.org/drawingml/2006/main" tIns="91440" bIns="91440"/>
          <a:lstStyle xmlns:a="http://schemas.openxmlformats.org/drawingml/2006/main">
            <a:lvl1pPr>
              <a:defRPr b="0">
                <a:solidFill>
                  <a:schemeClr val="bg1"/>
                </a:solidFill>
                <a:latin typeface="Montserrat"/>
              </a:defRPr>
            </a:lvl1pPr>
          </a:lstStyle>
          <a:p xmlns:a="http://schemas.openxmlformats.org/drawingml/2006/main">
            <a:r>
              <a:rPr lang="en-US" dirty="0"/>
              <a:t>CSS Web Portal Development</a:t>
            </a:r>
          </a:p>
        </p:txBody>
      </p:sp>
      <p:grpSp>
        <p:nvGrpSpPr>
          <p:cNvPr id="10" name="Group 9">
            <a:extLst xmlns:a="http://schemas.openxmlformats.org/drawingml/2006/main">
              <a:ext uri="{FF2B5EF4-FFF2-40B4-BE49-F238E27FC236}">
                <a16:creationId xmlns:a16="http://schemas.microsoft.com/office/drawing/2014/main" id="{13883256-DDF5-46AA-B364-D5E565E8F2E8}"/>
              </a:ext>
            </a:extLst>
          </p:cNvPr>
          <p:cNvGrpSpPr/>
          <p:nvPr userDrawn="1"/>
        </p:nvGrpSpPr>
        <p:grpSpPr>
          <a:xfrm xmlns:a="http://schemas.openxmlformats.org/drawingml/2006/main">
            <a:off x="11251602" y="157052"/>
            <a:ext cx="772469" cy="709254"/>
            <a:chOff x="10255378" y="484095"/>
            <a:chExt cx="1281303" cy="1176448"/>
          </a:xfrm>
          <a:solidFill xmlns:a="http://schemas.openxmlformats.org/drawingml/2006/main">
            <a:schemeClr val="bg1"/>
          </a:solidFill>
        </p:grpSpPr>
        <p:sp>
          <p:nvSpPr>
            <p:cNvPr id="13" name="Right Triangle 12">
              <a:extLst xmlns:a="http://schemas.openxmlformats.org/drawingml/2006/main">
                <a:ext uri="{FF2B5EF4-FFF2-40B4-BE49-F238E27FC236}">
                  <a16:creationId xmlns:a16="http://schemas.microsoft.com/office/drawing/2014/main" id="{E04258D0-0979-4874-8131-C85BFBF0EBB7}"/>
                </a:ext>
              </a:extLst>
            </p:cNvPr>
            <p:cNvSpPr/>
            <p:nvPr/>
          </p:nvSpPr>
          <p:spPr>
            <a:xfrm xmlns:a="http://schemas.openxmlformats.org/drawingml/2006/main" rot="10800000">
              <a:off x="10404999" y="484095"/>
              <a:ext cx="1131682" cy="1131682"/>
            </a:xfrm>
            <a:prstGeom xmlns:a="http://schemas.openxmlformats.org/drawingml/2006/main" prst="rtTriangle">
              <a:avLst/>
            </a:prstGeom>
            <a:solidFill xmlns:a="http://schemas.openxmlformats.org/drawingml/2006/main">
              <a:srgbClr val="DD812A"/>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dirty="0"/>
            </a:p>
          </p:txBody>
        </p:sp>
        <p:grpSp>
          <p:nvGrpSpPr>
            <p:cNvPr id="14" name="Group 13">
              <a:extLst xmlns:a="http://schemas.openxmlformats.org/drawingml/2006/main">
                <a:ext uri="{FF2B5EF4-FFF2-40B4-BE49-F238E27FC236}">
                  <a16:creationId xmlns:a16="http://schemas.microsoft.com/office/drawing/2014/main" id="{B07A057C-BA43-40B3-9FAD-B92F71670524}"/>
                </a:ext>
              </a:extLst>
            </p:cNvPr>
            <p:cNvGrpSpPr/>
            <p:nvPr/>
          </p:nvGrpSpPr>
          <p:grpSpPr>
            <a:xfrm xmlns:a="http://schemas.openxmlformats.org/drawingml/2006/main" rot="10800000">
              <a:off x="10255378" y="708872"/>
              <a:ext cx="1007690" cy="951671"/>
              <a:chOff x="7625694" y="1771958"/>
              <a:chExt cx="3025379" cy="2857192"/>
            </a:xfrm>
            <a:grpFill xmlns:a="http://schemas.openxmlformats.org/drawingml/2006/main"/>
          </p:grpSpPr>
          <p:sp>
            <p:nvSpPr>
              <p:cNvPr id="15" name="Oval 14">
                <a:extLst xmlns:a="http://schemas.openxmlformats.org/drawingml/2006/main">
                  <a:ext uri="{FF2B5EF4-FFF2-40B4-BE49-F238E27FC236}">
                    <a16:creationId xmlns:a16="http://schemas.microsoft.com/office/drawing/2014/main" id="{822D3E89-D469-424A-A98C-AF9147A63662}"/>
                  </a:ext>
                </a:extLst>
              </p:cNvPr>
              <p:cNvSpPr/>
              <p:nvPr/>
            </p:nvSpPr>
            <p:spPr>
              <a:xfrm xmlns:a="http://schemas.openxmlformats.org/drawingml/2006/main">
                <a:off x="7632372"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6" name="Oval 15">
                <a:extLst xmlns:a="http://schemas.openxmlformats.org/drawingml/2006/main">
                  <a:ext uri="{FF2B5EF4-FFF2-40B4-BE49-F238E27FC236}">
                    <a16:creationId xmlns:a16="http://schemas.microsoft.com/office/drawing/2014/main" id="{9BADCFF3-8AD6-42F9-AB8C-375C23E132C8}"/>
                  </a:ext>
                </a:extLst>
              </p:cNvPr>
              <p:cNvSpPr/>
              <p:nvPr/>
            </p:nvSpPr>
            <p:spPr>
              <a:xfrm xmlns:a="http://schemas.openxmlformats.org/drawingml/2006/main">
                <a:off x="7648083"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7" name="Oval 16">
                <a:extLst xmlns:a="http://schemas.openxmlformats.org/drawingml/2006/main">
                  <a:ext uri="{FF2B5EF4-FFF2-40B4-BE49-F238E27FC236}">
                    <a16:creationId xmlns:a16="http://schemas.microsoft.com/office/drawing/2014/main" id="{146CF906-92B7-45FE-A1E0-5AF6E9C4869B}"/>
                  </a:ext>
                </a:extLst>
              </p:cNvPr>
              <p:cNvSpPr/>
              <p:nvPr/>
            </p:nvSpPr>
            <p:spPr>
              <a:xfrm xmlns:a="http://schemas.openxmlformats.org/drawingml/2006/main">
                <a:off x="7629033" y="31054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8" name="Oval 17">
                <a:extLst xmlns:a="http://schemas.openxmlformats.org/drawingml/2006/main">
                  <a:ext uri="{FF2B5EF4-FFF2-40B4-BE49-F238E27FC236}">
                    <a16:creationId xmlns:a16="http://schemas.microsoft.com/office/drawing/2014/main" id="{B449BE01-15C6-4A0D-9AF6-4786CA4E9637}"/>
                  </a:ext>
                </a:extLst>
              </p:cNvPr>
              <p:cNvSpPr/>
              <p:nvPr/>
            </p:nvSpPr>
            <p:spPr>
              <a:xfrm xmlns:a="http://schemas.openxmlformats.org/drawingml/2006/main">
                <a:off x="7625694" y="24387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9" name="Oval 18">
                <a:extLst xmlns:a="http://schemas.openxmlformats.org/drawingml/2006/main">
                  <a:ext uri="{FF2B5EF4-FFF2-40B4-BE49-F238E27FC236}">
                    <a16:creationId xmlns:a16="http://schemas.microsoft.com/office/drawing/2014/main" id="{3E205D10-1D5E-4D0D-8531-85D8D7946B95}"/>
                  </a:ext>
                </a:extLst>
              </p:cNvPr>
              <p:cNvSpPr/>
              <p:nvPr/>
            </p:nvSpPr>
            <p:spPr>
              <a:xfrm xmlns:a="http://schemas.openxmlformats.org/drawingml/2006/main">
                <a:off x="7629033" y="1771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0" name="Oval 19">
                <a:extLst xmlns:a="http://schemas.openxmlformats.org/drawingml/2006/main">
                  <a:ext uri="{FF2B5EF4-FFF2-40B4-BE49-F238E27FC236}">
                    <a16:creationId xmlns:a16="http://schemas.microsoft.com/office/drawing/2014/main" id="{DE2C8FD6-081D-49F6-921D-A381A767C163}"/>
                  </a:ext>
                </a:extLst>
              </p:cNvPr>
              <p:cNvSpPr/>
              <p:nvPr/>
            </p:nvSpPr>
            <p:spPr>
              <a:xfrm xmlns:a="http://schemas.openxmlformats.org/drawingml/2006/main">
                <a:off x="8338576" y="442300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1" name="Oval 20">
                <a:extLst xmlns:a="http://schemas.openxmlformats.org/drawingml/2006/main">
                  <a:ext uri="{FF2B5EF4-FFF2-40B4-BE49-F238E27FC236}">
                    <a16:creationId xmlns:a16="http://schemas.microsoft.com/office/drawing/2014/main" id="{FF9994E3-F742-477B-85AD-302966D65BD7}"/>
                  </a:ext>
                </a:extLst>
              </p:cNvPr>
              <p:cNvSpPr/>
              <p:nvPr/>
            </p:nvSpPr>
            <p:spPr>
              <a:xfrm xmlns:a="http://schemas.openxmlformats.org/drawingml/2006/main">
                <a:off x="8354287" y="375625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2" name="Oval 21">
                <a:extLst xmlns:a="http://schemas.openxmlformats.org/drawingml/2006/main">
                  <a:ext uri="{FF2B5EF4-FFF2-40B4-BE49-F238E27FC236}">
                    <a16:creationId xmlns:a16="http://schemas.microsoft.com/office/drawing/2014/main" id="{1A814A4E-18CD-488A-8AC5-D8D62E7F96F9}"/>
                  </a:ext>
                </a:extLst>
              </p:cNvPr>
              <p:cNvSpPr/>
              <p:nvPr/>
            </p:nvSpPr>
            <p:spPr>
              <a:xfrm xmlns:a="http://schemas.openxmlformats.org/drawingml/2006/main">
                <a:off x="8335237" y="308950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3" name="Oval 22">
                <a:extLst xmlns:a="http://schemas.openxmlformats.org/drawingml/2006/main">
                  <a:ext uri="{FF2B5EF4-FFF2-40B4-BE49-F238E27FC236}">
                    <a16:creationId xmlns:a16="http://schemas.microsoft.com/office/drawing/2014/main" id="{B3949535-A9FF-471C-BF8D-F3C9FB103940}"/>
                  </a:ext>
                </a:extLst>
              </p:cNvPr>
              <p:cNvSpPr/>
              <p:nvPr/>
            </p:nvSpPr>
            <p:spPr>
              <a:xfrm xmlns:a="http://schemas.openxmlformats.org/drawingml/2006/main">
                <a:off x="8331898" y="242275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4" name="Oval 23">
                <a:extLst xmlns:a="http://schemas.openxmlformats.org/drawingml/2006/main">
                  <a:ext uri="{FF2B5EF4-FFF2-40B4-BE49-F238E27FC236}">
                    <a16:creationId xmlns:a16="http://schemas.microsoft.com/office/drawing/2014/main" id="{BA711CF7-5013-4280-856D-919CDF2AA910}"/>
                  </a:ext>
                </a:extLst>
              </p:cNvPr>
              <p:cNvSpPr/>
              <p:nvPr/>
            </p:nvSpPr>
            <p:spPr>
              <a:xfrm xmlns:a="http://schemas.openxmlformats.org/drawingml/2006/main">
                <a:off x="9036117"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5" name="Oval 24">
                <a:extLst xmlns:a="http://schemas.openxmlformats.org/drawingml/2006/main">
                  <a:ext uri="{FF2B5EF4-FFF2-40B4-BE49-F238E27FC236}">
                    <a16:creationId xmlns:a16="http://schemas.microsoft.com/office/drawing/2014/main" id="{BD2D7A54-8F84-484D-8489-7F2DF9C00BCC}"/>
                  </a:ext>
                </a:extLst>
              </p:cNvPr>
              <p:cNvSpPr/>
              <p:nvPr/>
            </p:nvSpPr>
            <p:spPr>
              <a:xfrm xmlns:a="http://schemas.openxmlformats.org/drawingml/2006/main">
                <a:off x="9051828"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6" name="Oval 25">
                <a:extLst xmlns:a="http://schemas.openxmlformats.org/drawingml/2006/main">
                  <a:ext uri="{FF2B5EF4-FFF2-40B4-BE49-F238E27FC236}">
                    <a16:creationId xmlns:a16="http://schemas.microsoft.com/office/drawing/2014/main" id="{43920531-84F3-4DCA-A4C7-1E45B62398A0}"/>
                  </a:ext>
                </a:extLst>
              </p:cNvPr>
              <p:cNvSpPr/>
              <p:nvPr/>
            </p:nvSpPr>
            <p:spPr>
              <a:xfrm xmlns:a="http://schemas.openxmlformats.org/drawingml/2006/main">
                <a:off x="9032778" y="31054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7" name="Oval 26">
                <a:extLst xmlns:a="http://schemas.openxmlformats.org/drawingml/2006/main">
                  <a:ext uri="{FF2B5EF4-FFF2-40B4-BE49-F238E27FC236}">
                    <a16:creationId xmlns:a16="http://schemas.microsoft.com/office/drawing/2014/main" id="{8EA3990F-0363-4A77-BABA-C5915D801F32}"/>
                  </a:ext>
                </a:extLst>
              </p:cNvPr>
              <p:cNvSpPr/>
              <p:nvPr/>
            </p:nvSpPr>
            <p:spPr>
              <a:xfrm xmlns:a="http://schemas.openxmlformats.org/drawingml/2006/main">
                <a:off x="9755375"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8" name="Oval 27">
                <a:extLst xmlns:a="http://schemas.openxmlformats.org/drawingml/2006/main">
                  <a:ext uri="{FF2B5EF4-FFF2-40B4-BE49-F238E27FC236}">
                    <a16:creationId xmlns:a16="http://schemas.microsoft.com/office/drawing/2014/main" id="{FDE1E5EB-D396-42F9-9256-14D087571DC3}"/>
                  </a:ext>
                </a:extLst>
              </p:cNvPr>
              <p:cNvSpPr/>
              <p:nvPr/>
            </p:nvSpPr>
            <p:spPr>
              <a:xfrm xmlns:a="http://schemas.openxmlformats.org/drawingml/2006/main">
                <a:off x="9771086"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9" name="Oval 28">
                <a:extLst xmlns:a="http://schemas.openxmlformats.org/drawingml/2006/main">
                  <a:ext uri="{FF2B5EF4-FFF2-40B4-BE49-F238E27FC236}">
                    <a16:creationId xmlns:a16="http://schemas.microsoft.com/office/drawing/2014/main" id="{496CFD1D-C58B-40A8-A745-B76F50F83965}"/>
                  </a:ext>
                </a:extLst>
              </p:cNvPr>
              <p:cNvSpPr/>
              <p:nvPr/>
            </p:nvSpPr>
            <p:spPr>
              <a:xfrm xmlns:a="http://schemas.openxmlformats.org/drawingml/2006/main">
                <a:off x="10470714" y="4448791"/>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grpSp>
      </p:grpSp>
      <p:sp>
        <p:nvSpPr>
          <p:cNvPr id="30" name="Rectangle 29">
            <a:extLst xmlns:a="http://schemas.openxmlformats.org/drawingml/2006/main">
              <a:ext uri="{FF2B5EF4-FFF2-40B4-BE49-F238E27FC236}">
                <a16:creationId xmlns:a16="http://schemas.microsoft.com/office/drawing/2014/main" id="{9665E9BF-B954-4AC7-821E-2E0CD116D915}"/>
              </a:ext>
            </a:extLst>
          </p:cNvPr>
          <p:cNvSpPr/>
          <p:nvPr userDrawn="1"/>
        </p:nvSpPr>
        <p:spPr>
          <a:xfrm xmlns:a="http://schemas.openxmlformats.org/drawingml/2006/main">
            <a:off x="0" y="994299"/>
            <a:ext cx="7239000" cy="5865808"/>
          </a:xfrm>
          <a:prstGeom xmlns:a="http://schemas.openxmlformats.org/drawingml/2006/main" prst="rect">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31" name="TextBox 30">
            <a:extLst xmlns:a="http://schemas.openxmlformats.org/drawingml/2006/main">
              <a:ext uri="{FF2B5EF4-FFF2-40B4-BE49-F238E27FC236}">
                <a16:creationId xmlns:a16="http://schemas.microsoft.com/office/drawing/2014/main" id="{EC9A7433-5BCD-4EA6-924A-53FDBF0CAAA6}"/>
              </a:ext>
            </a:extLst>
          </p:cNvPr>
          <p:cNvSpPr txBox="1"/>
          <p:nvPr userDrawn="1"/>
        </p:nvSpPr>
        <p:spPr>
          <a:xfrm xmlns:a="http://schemas.openxmlformats.org/drawingml/2006/main">
            <a:off x="858128" y="2008164"/>
            <a:ext cx="5533147"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The Microsoft Customer Service &amp; Support portal implementation called for a robust publishing platform that site managers could use to make rich pages that adhered to branding, without requiring IT to author or maintain it. </a:t>
            </a:r>
            <a:endParaRPr lang="en-US" sz="1100" b="0" i="0" kern="1200" dirty="0">
              <a:solidFill>
                <a:schemeClr val="tx1"/>
              </a:solidFill>
              <a:effectLst/>
              <a:latin typeface="Open Sans"/>
              <a:ea typeface="+mn-ea"/>
              <a:cs typeface="+mn-cs"/>
            </a:endParaRPr>
          </a:p>
        </p:txBody>
      </p:sp>
      <p:sp>
        <p:nvSpPr>
          <p:cNvPr id="32" name="TextBox 31">
            <a:extLst xmlns:a="http://schemas.openxmlformats.org/drawingml/2006/main">
              <a:ext uri="{FF2B5EF4-FFF2-40B4-BE49-F238E27FC236}">
                <a16:creationId xmlns:a16="http://schemas.microsoft.com/office/drawing/2014/main" id="{E1C0119A-9047-4290-917B-405E19FFDA31}"/>
              </a:ext>
            </a:extLst>
          </p:cNvPr>
          <p:cNvSpPr txBox="1"/>
          <p:nvPr userDrawn="1"/>
        </p:nvSpPr>
        <p:spPr>
          <a:xfrm xmlns:a="http://schemas.openxmlformats.org/drawingml/2006/main">
            <a:off x="858129" y="1581124"/>
            <a:ext cx="1603901" cy="384721"/>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sz="1900" b="1" dirty="0">
                <a:solidFill>
                  <a:srgbClr val="6C86B8"/>
                </a:solidFill>
                <a:latin typeface="Montserrat" charset="0"/>
                <a:ea typeface="Montserrat" charset="0"/>
                <a:cs typeface="Montserrat" charset="0"/>
              </a:rPr>
              <a:t>The Challenge</a:t>
            </a:r>
          </a:p>
        </p:txBody>
      </p:sp>
      <p:sp>
        <p:nvSpPr>
          <p:cNvPr id="33" name="TextBox 32">
            <a:extLst xmlns:a="http://schemas.openxmlformats.org/drawingml/2006/main">
              <a:ext uri="{FF2B5EF4-FFF2-40B4-BE49-F238E27FC236}">
                <a16:creationId xmlns:a16="http://schemas.microsoft.com/office/drawing/2014/main" id="{A2CD0AFB-BBEB-434B-985F-3ACF7BE51454}"/>
              </a:ext>
            </a:extLst>
          </p:cNvPr>
          <p:cNvSpPr txBox="1"/>
          <p:nvPr userDrawn="1"/>
        </p:nvSpPr>
        <p:spPr>
          <a:xfrm xmlns:a="http://schemas.openxmlformats.org/drawingml/2006/main">
            <a:off x="858128" y="3525482"/>
            <a:ext cx="5533147"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Affirma leveraged SharePoint features in an innovative way to achieve the core business goal of reducing IT cost. The resulting CSS Portal exceeded the client's expectations and created one of the strongest publishing user experiences within Microsoft. </a:t>
            </a:r>
            <a:endParaRPr lang="en-US" sz="1100" b="0" i="0" kern="1200" dirty="0">
              <a:solidFill>
                <a:schemeClr val="tx1"/>
              </a:solidFill>
              <a:effectLst/>
              <a:latin typeface="Open Sans"/>
              <a:ea typeface="+mn-ea"/>
              <a:cs typeface="+mn-cs"/>
            </a:endParaRPr>
          </a:p>
        </p:txBody>
      </p:sp>
      <p:sp>
        <p:nvSpPr>
          <p:cNvPr id="34" name="TextBox 33">
            <a:extLst xmlns:a="http://schemas.openxmlformats.org/drawingml/2006/main">
              <a:ext uri="{FF2B5EF4-FFF2-40B4-BE49-F238E27FC236}">
                <a16:creationId xmlns:a16="http://schemas.microsoft.com/office/drawing/2014/main" id="{EC17F625-2EC2-4F28-895B-03B104D7945A}"/>
              </a:ext>
            </a:extLst>
          </p:cNvPr>
          <p:cNvSpPr txBox="1"/>
          <p:nvPr userDrawn="1"/>
        </p:nvSpPr>
        <p:spPr>
          <a:xfrm xmlns:a="http://schemas.openxmlformats.org/drawingml/2006/main">
            <a:off x="858129" y="3098442"/>
            <a:ext cx="1458348" cy="369332"/>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b="1" dirty="0">
                <a:solidFill>
                  <a:srgbClr val="6C86B8"/>
                </a:solidFill>
                <a:latin typeface="Montserrat" charset="0"/>
                <a:ea typeface="Montserrat" charset="0"/>
                <a:cs typeface="Montserrat" charset="0"/>
              </a:rPr>
              <a:t>What We Did</a:t>
            </a:r>
          </a:p>
        </p:txBody>
      </p:sp>
      <p:sp>
        <p:nvSpPr>
          <p:cNvPr id="35" name="TextBox 34">
            <a:extLst xmlns:a="http://schemas.openxmlformats.org/drawingml/2006/main">
              <a:ext uri="{FF2B5EF4-FFF2-40B4-BE49-F238E27FC236}">
                <a16:creationId xmlns:a16="http://schemas.microsoft.com/office/drawing/2014/main" id="{127A5A2A-6A75-46BB-A872-3D435F9C8C26}"/>
              </a:ext>
            </a:extLst>
          </p:cNvPr>
          <p:cNvSpPr txBox="1"/>
          <p:nvPr userDrawn="1"/>
        </p:nvSpPr>
        <p:spPr>
          <a:xfrm xmlns:a="http://schemas.openxmlformats.org/drawingml/2006/main">
            <a:off x="873603" y="5568668"/>
            <a:ext cx="5517672"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The updated CSS Web Portal is easy to navigate and maintain. This custom SharePoint Portal allows for complete autonomy of user managed content with adherence to brand and style guide standards. </a:t>
            </a:r>
            <a:endParaRPr lang="en-US" sz="1100" b="0" i="0" kern="1200" dirty="0">
              <a:solidFill>
                <a:schemeClr val="tx1"/>
              </a:solidFill>
              <a:effectLst/>
              <a:latin typeface="Open Sans"/>
              <a:ea typeface="+mn-ea"/>
              <a:cs typeface="+mn-cs"/>
            </a:endParaRPr>
          </a:p>
        </p:txBody>
      </p:sp>
      <p:sp>
        <p:nvSpPr>
          <p:cNvPr id="36" name="TextBox 35">
            <a:extLst xmlns:a="http://schemas.openxmlformats.org/drawingml/2006/main">
              <a:ext uri="{FF2B5EF4-FFF2-40B4-BE49-F238E27FC236}">
                <a16:creationId xmlns:a16="http://schemas.microsoft.com/office/drawing/2014/main" id="{4651924A-7907-4360-9ED8-B533D803C21B}"/>
              </a:ext>
            </a:extLst>
          </p:cNvPr>
          <p:cNvSpPr txBox="1"/>
          <p:nvPr userDrawn="1"/>
        </p:nvSpPr>
        <p:spPr>
          <a:xfrm xmlns:a="http://schemas.openxmlformats.org/drawingml/2006/main">
            <a:off x="873603" y="5141628"/>
            <a:ext cx="868956" cy="369332"/>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b="1" dirty="0">
                <a:solidFill>
                  <a:srgbClr val="6C86B8"/>
                </a:solidFill>
                <a:latin typeface="Montserrat" charset="0"/>
                <a:ea typeface="Montserrat" charset="0"/>
                <a:cs typeface="Montserrat" charset="0"/>
              </a:rPr>
              <a:t>Results</a:t>
            </a:r>
          </a:p>
        </p:txBody>
      </p:sp>
      <p:pic>
        <p:nvPicPr>
          <p:cNvPr id="4" name="Picture0"/>
          <p:cNvPicPr>
            <a:picLocks xmlns:a="http://schemas.openxmlformats.org/drawingml/2006/main" noChangeAspect="1"/>
          </p:cNvPicPr>
          <p:nvPr/>
        </p:nvPicPr>
        <p:blipFill>
          <a:blip xmlns:r="http://schemas.openxmlformats.org/officeDocument/2006/relationships" xmlns:a="http://schemas.openxmlformats.org/drawingml/2006/main" r:embed="rId20">
            <a:extLst>
              <a:ext uri="{28A0092B-C50C-407E-A947-70E740481C1C}">
                <a14:useLocalDpi xmlns:a14="http://schemas.microsoft.com/office/drawing/2010/main" val="0"/>
              </a:ext>
            </a:extLst>
          </a:blip>
          <a:stretch xmlns:a="http://schemas.openxmlformats.org/drawingml/2006/main">
            <a:fillRect/>
          </a:stretch>
        </p:blipFill>
        <p:spPr>
          <a:xfrm xmlns:a="http://schemas.openxmlformats.org/drawingml/2006/main">
            <a:off x="7604616" y="3578094"/>
            <a:ext cx="4254500" cy="2755900"/>
          </a:xfrm>
          <a:prstGeom xmlns:a="http://schemas.openxmlformats.org/drawingml/2006/main" prst="rect">
            <a:avLst/>
          </a:prstGeom>
        </p:spPr>
      </p:pic>
    </p:spTree>
    <p:extLst>
      <p:ext uri="{BB962C8B-B14F-4D97-AF65-F5344CB8AC3E}">
        <p14:creationId xmlns:p14="http://schemas.microsoft.com/office/powerpoint/2010/main" val="2582825011"/>
      </p:ext>
    </p:extLst>
  </p:cSld>
</p:sld>
</file>

<file path=ppt/theme/theme1.xml><?xml version="1.0" encoding="utf-8"?>
<a:theme xmlns:a="http://schemas.openxmlformats.org/drawingml/2006/main" name="Office Theme">
  <a:themeElements>
    <a:clrScheme name="Suavedigital">
      <a:dk1>
        <a:srgbClr val="242527"/>
      </a:dk1>
      <a:lt1>
        <a:srgbClr val="FFFFFF"/>
      </a:lt1>
      <a:dk2>
        <a:srgbClr val="262626"/>
      </a:dk2>
      <a:lt2>
        <a:srgbClr val="FFFFFF"/>
      </a:lt2>
      <a:accent1>
        <a:srgbClr val="FFC017"/>
      </a:accent1>
      <a:accent2>
        <a:srgbClr val="535353"/>
      </a:accent2>
      <a:accent3>
        <a:srgbClr val="A7A7A7"/>
      </a:accent3>
      <a:accent4>
        <a:srgbClr val="D2DDD9"/>
      </a:accent4>
      <a:accent5>
        <a:srgbClr val="3F3F3F"/>
      </a:accent5>
      <a:accent6>
        <a:srgbClr val="2C2C2C"/>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Modern Workplace</Value>
    </BusinessUnit>
    <Solutions xmlns="f0ee8362-fa7e-4bc9-ab88-7dcfb17cb19b" xsi:nil="true"/>
    <Industries xmlns="f0ee8362-fa7e-4bc9-ab88-7dcfb17cb19b">
      <Value>Technology</Value>
    </Industries>
    <Notes0 xmlns="f0ee8362-fa7e-4bc9-ab88-7dcfb17cb19b" xsi:nil="true"/>
    <Named_x0020_Account xmlns="f0ee8362-fa7e-4bc9-ab88-7dcfb17cb19b">Microsoft</Named_x0020_Account>
    <PlatTech xmlns="f0ee8362-fa7e-4bc9-ab88-7dcfb17cb19b">
      <Value>SharePoint</Value>
    </PlatTech>
    <ProjectCompletionDate xmlns="f0ee8362-fa7e-4bc9-ab88-7dcfb17cb19b" xsi:nil="true"/>
    <ApprovedByClient xmlns="f0ee8362-fa7e-4bc9-ab88-7dcfb17cb19b">false</ApprovedByClient>
  </documentManagement>
</p:properties>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48550EFF-B5B6-4E00-9D60-CEB1ABCED926}"/>
</file>

<file path=customXml/itemProps2.xml><?xml version="1.0" encoding="utf-8"?>
<ds:datastoreItem xmlns:ds="http://schemas.openxmlformats.org/officeDocument/2006/customXml" ds:itemID="{2C2DFA80-52F0-4DF3-AF01-53C9AF272D41}"/>
</file>

<file path=customXml/itemProps3.xml><?xml version="1.0" encoding="utf-8"?>
<ds:datastoreItem xmlns:ds="http://schemas.openxmlformats.org/officeDocument/2006/customXml" ds:itemID="{A1DF9D87-6AC6-474B-92F9-424B5D4D63E2}"/>
</file>

<file path=customXml/itemProps4.xml><?xml version="1.0" encoding="utf-8"?>
<ds:datastoreItem xmlns:ds="http://schemas.openxmlformats.org/officeDocument/2006/customXml" ds:itemID="{68633856-197C-46D2-86A6-E6A201E36D92}"/>
</file>

<file path=docProps/app.xml><?xml version="1.0" encoding="utf-8"?>
<Properties xmlns="http://schemas.openxmlformats.org/officeDocument/2006/extended-properties" xmlns:vt="http://schemas.openxmlformats.org/officeDocument/2006/docPropsVTypes">
  <TotalTime>4898</TotalTime>
  <Words>68</Words>
  <Application>Microsoft Office PowerPoint</Application>
  <PresentationFormat>Widescreen</PresentationFormat>
  <Paragraphs>2</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Montserrat</vt:lpstr>
      <vt:lpstr>Open Sans</vt:lpstr>
      <vt:lpstr>Segoe UI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Don Hyun</cp:lastModifiedBy>
  <cp:revision>571</cp:revision>
  <dcterms:created xsi:type="dcterms:W3CDTF">2017-10-09T12:47:23Z</dcterms:created>
  <dcterms:modified xsi:type="dcterms:W3CDTF">2019-05-11T16:49:10Z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Business Unit">
    <vt:lpwstr/>
  </property>
  <property fmtid="{D5CDD505-2E9C-101B-9397-08002B2CF9AE}" pid="4" name="Industry">
    <vt:lpwstr>49;#Technology|9fd4705e-a3c7-4085-9147-cb1125b68f2c</vt:lpwstr>
  </property>
  <property fmtid="{D5CDD505-2E9C-101B-9397-08002B2CF9AE}" pid="5" name="Service_x0020_Offering">
    <vt:lpwstr/>
  </property>
  <property fmtid="{D5CDD505-2E9C-101B-9397-08002B2CF9AE}" pid="6" name="Business_x0020_Unit">
    <vt:lpwstr/>
  </property>
  <property fmtid="{D5CDD505-2E9C-101B-9397-08002B2CF9AE}" pid="7" name="_ExtendedDescription">
    <vt:lpwstr/>
  </property>
  <property fmtid="{D5CDD505-2E9C-101B-9397-08002B2CF9AE}" pid="8" name="Service Offering">
    <vt:lpwstr/>
  </property>
  <property fmtid="{D5CDD505-2E9C-101B-9397-08002B2CF9AE}" pid="9" name="Category">
    <vt:lpwstr>6;#Case Study|8faa0ad1-25f0-4f56-8e38-f60e20c455d6</vt:lpwstr>
  </property>
  <property fmtid="{D5CDD505-2E9C-101B-9397-08002B2CF9AE}" pid="10" name="Order">
    <vt:r8>20800</vt:r8>
  </property>
  <property fmtid="{D5CDD505-2E9C-101B-9397-08002B2CF9AE}" pid="11" name="xd_Signature">
    <vt:bool>false</vt:bool>
  </property>
  <property fmtid="{D5CDD505-2E9C-101B-9397-08002B2CF9AE}" pid="12" name="SO">
    <vt:lpwstr>37;#;#38;#</vt:lpwstr>
  </property>
  <property fmtid="{D5CDD505-2E9C-101B-9397-08002B2CF9AE}" pid="13" name="xd_ProgID">
    <vt:lpwstr/>
  </property>
  <property fmtid="{D5CDD505-2E9C-101B-9397-08002B2CF9AE}" pid="14" name="_SourceUrl">
    <vt:lpwstr/>
  </property>
  <property fmtid="{D5CDD505-2E9C-101B-9397-08002B2CF9AE}" pid="15" name="_SharedFileIndex">
    <vt:lpwstr/>
  </property>
  <property fmtid="{D5CDD505-2E9C-101B-9397-08002B2CF9AE}" pid="16" name="ComplianceAssetId">
    <vt:lpwstr/>
  </property>
  <property fmtid="{D5CDD505-2E9C-101B-9397-08002B2CF9AE}" pid="17" name="TemplateUrl">
    <vt:lpwstr/>
  </property>
  <property fmtid="{D5CDD505-2E9C-101B-9397-08002B2CF9AE}" pid="18" name="TriggerFlowInfo">
    <vt:lpwstr/>
  </property>
</Properties>
</file>