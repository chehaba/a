
<file path=[Content_Types].xml><?xml version="1.0" encoding="utf-8"?>
<Types xmlns="http://schemas.openxmlformats.org/package/2006/content-types">
  <Default Extension="bin" ContentType="image/jpg"/>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Masters/slideMaster1.xml" ContentType="application/vnd.openxmlformats-officedocument.presentationml.slideMaster+xml"/>
  <Override PartName="/ppt/slideLayouts/slideLayout5.xml" ContentType="application/vnd.openxmlformats-officedocument.presentationml.slideLayout+xml"/>
  <Override PartName="/ppt/slideLayouts/slideLayout1.xml" ContentType="application/vnd.openxmlformats-officedocument.presentationml.slideLayout+xml"/>
  <Override PartName="/ppt/slideLayouts/slideLayout4.xml" ContentType="application/vnd.openxmlformats-officedocument.presentationml.slideLayout+xml"/>
  <Override PartName="/ppt/slideLayouts/slideLayout3.xml" ContentType="application/vnd.openxmlformats-officedocument.presentationml.slideLayout+xml"/>
  <Override PartName="/ppt/slideLayouts/slideLayout2.xml" ContentType="application/vnd.openxmlformats-officedocument.presentationml.slideLayout+xml"/>
  <Override PartName="/ppt/notesMasters/notesMaster1.xml" ContentType="application/vnd.openxmlformats-officedocument.presentationml.notesMaster+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Override PartName="/ppt/slides/slide2.xml" ContentType="application/vnd.openxmlformats-officedocument.presentationml.slide+xml"/>
  <Override PartName="/customXml/itemProps2.xml" ContentType="application/vnd.openxmlformats-officedocument.customXmlProperties+xml"/>
  <Override PartName="/customXml/itemProps1.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Override PartName="/customXml/itemProps4.xml" ContentType="application/vnd.openxmlformats-officedocument.customXml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p15="http://schemas.microsoft.com/office/powerpoint/2012/mai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
  </p:notesMasterIdLst>
  <p:sldIdLst>
    <p:sldId id="256" r:id="rId2"/>
    <p:sldId id="300" r:id="Refa2ac26dc1e4af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16"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D812A"/>
    <a:srgbClr val="182D4C"/>
    <a:srgbClr val="2F2F2F"/>
    <a:srgbClr val="6C86B8"/>
    <a:srgbClr val="D87724"/>
    <a:srgbClr val="6A93D0"/>
    <a:srgbClr val="192943"/>
    <a:srgbClr val="1C375C"/>
    <a:srgbClr val="2F4E7F"/>
    <a:srgbClr val="2D558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569" autoAdjust="0"/>
    <p:restoredTop sz="94608"/>
  </p:normalViewPr>
  <p:slideViewPr>
    <p:cSldViewPr snapToGrid="0" snapToObjects="1">
      <p:cViewPr varScale="1">
        <p:scale>
          <a:sx n="56" d="100"/>
          <a:sy n="56" d="100"/>
        </p:scale>
        <p:origin x="918" y="78"/>
      </p:cViewPr>
      <p:guideLst>
        <p:guide orient="horz" pos="2160"/>
        <p:guide pos="3816"/>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customXml" Target="../customXml/item1.xml"/><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efa2ac26dc1e4af6" Type="http://schemas.openxmlformats.org/officeDocument/2006/relationships/slide" Target="/ppt/slides/slide2.xml"/><Relationship Id="rId1" Type="http://schemas.openxmlformats.org/officeDocument/2006/relationships/slideMaster" Target="slideMasters/slideMaster1.xml"/><Relationship Id="rId6" Type="http://schemas.openxmlformats.org/officeDocument/2006/relationships/theme" Target="theme/theme1.xml"/><Relationship Id="rId11" Type="http://schemas.openxmlformats.org/officeDocument/2006/relationships/customXml" Target="../customXml/item4.xml"/><Relationship Id="rId5" Type="http://schemas.openxmlformats.org/officeDocument/2006/relationships/viewProps" Target="viewProps.xml"/><Relationship Id="rId10" Type="http://schemas.openxmlformats.org/officeDocument/2006/relationships/customXml" Target="../customXml/item3.xml"/><Relationship Id="rId4" Type="http://schemas.openxmlformats.org/officeDocument/2006/relationships/presProps" Target="presProps.xml"/><Relationship Id="rId9" Type="http://schemas.openxmlformats.org/officeDocument/2006/relationships/customXml" Target="../customXml/item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FBC89A5-BE3E-2441-87C0-54B69ED90FC7}" type="datetimeFigureOut">
              <a:t>5/11/2019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2022639-76C9-2740-BE4D-A4E2B1985EBA}" type="slidenum">
              <a:t>‹#›</a:t>
            </a:fld>
            <a:endParaRPr lang="en-US"/>
          </a:p>
        </p:txBody>
      </p:sp>
    </p:spTree>
    <p:extLst>
      <p:ext uri="{BB962C8B-B14F-4D97-AF65-F5344CB8AC3E}">
        <p14:creationId xmlns:p14="http://schemas.microsoft.com/office/powerpoint/2010/main" val="14161301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p14="http://schemas.microsoft.com/office/powerpoint/2010/main"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6" name="Picture Placeholder 7"/>
          <p:cNvSpPr>
            <a:spLocks noGrp="1"/>
          </p:cNvSpPr>
          <p:nvPr>
            <p:ph type="pic" sz="quarter" idx="10"/>
          </p:nvPr>
        </p:nvSpPr>
        <p:spPr>
          <a:xfrm>
            <a:off x="0" y="0"/>
            <a:ext cx="12192001" cy="6858000"/>
          </a:xfrm>
          <a:pattFill prst="divot">
            <a:fgClr>
              <a:schemeClr val="bg1">
                <a:lumMod val="85000"/>
              </a:schemeClr>
            </a:fgClr>
            <a:bgClr>
              <a:schemeClr val="bg1"/>
            </a:bgClr>
          </a:pattFill>
        </p:spPr>
        <p:txBody>
          <a:bodyPr anchor="ctr">
            <a:normAutofit/>
          </a:bodyPr>
          <a:lstStyle>
            <a:lvl1pPr marL="0" indent="0" algn="ctr">
              <a:buNone/>
              <a:defRPr sz="1800"/>
            </a:lvl1pPr>
          </a:lstStyle>
          <a:p>
            <a:endParaRPr lang="en-US"/>
          </a:p>
        </p:txBody>
      </p:sp>
    </p:spTree>
    <p:extLst>
      <p:ext uri="{BB962C8B-B14F-4D97-AF65-F5344CB8AC3E}">
        <p14:creationId xmlns:p14="http://schemas.microsoft.com/office/powerpoint/2010/main" val="1802982494"/>
      </p:ext>
    </p:extLst>
  </p:cSld>
  <p:clrMapOvr>
    <a:masterClrMapping/>
  </p:clrMapOvr>
</p:sldLayout>
</file>

<file path=ppt/slideLayouts/slideLayout2.xml><?xml version="1.0" encoding="utf-8"?>
<p:sldLayout xmlns:p14="http://schemas.microsoft.com/office/powerpoint/2010/main"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3" name="Picture Placeholder 2"/>
          <p:cNvSpPr>
            <a:spLocks noGrp="1"/>
          </p:cNvSpPr>
          <p:nvPr>
            <p:ph type="pic" sz="quarter" idx="11"/>
          </p:nvPr>
        </p:nvSpPr>
        <p:spPr>
          <a:xfrm>
            <a:off x="1405468" y="1418121"/>
            <a:ext cx="3782286" cy="3782286"/>
          </a:xfrm>
          <a:custGeom>
            <a:avLst/>
            <a:gdLst>
              <a:gd name="connsiteX0" fmla="*/ 1891143 w 3782286"/>
              <a:gd name="connsiteY0" fmla="*/ 0 h 3782286"/>
              <a:gd name="connsiteX1" fmla="*/ 3782286 w 3782286"/>
              <a:gd name="connsiteY1" fmla="*/ 1891143 h 3782286"/>
              <a:gd name="connsiteX2" fmla="*/ 1891143 w 3782286"/>
              <a:gd name="connsiteY2" fmla="*/ 3782286 h 3782286"/>
              <a:gd name="connsiteX3" fmla="*/ 0 w 3782286"/>
              <a:gd name="connsiteY3" fmla="*/ 1891143 h 3782286"/>
              <a:gd name="connsiteX4" fmla="*/ 1891143 w 3782286"/>
              <a:gd name="connsiteY4" fmla="*/ 0 h 37822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82286" h="3782286">
                <a:moveTo>
                  <a:pt x="1891143" y="0"/>
                </a:moveTo>
                <a:cubicBezTo>
                  <a:pt x="2935592" y="0"/>
                  <a:pt x="3782286" y="846694"/>
                  <a:pt x="3782286" y="1891143"/>
                </a:cubicBezTo>
                <a:cubicBezTo>
                  <a:pt x="3782286" y="2935592"/>
                  <a:pt x="2935592" y="3782286"/>
                  <a:pt x="1891143" y="3782286"/>
                </a:cubicBezTo>
                <a:cubicBezTo>
                  <a:pt x="846694" y="3782286"/>
                  <a:pt x="0" y="2935592"/>
                  <a:pt x="0" y="1891143"/>
                </a:cubicBezTo>
                <a:cubicBezTo>
                  <a:pt x="0" y="846694"/>
                  <a:pt x="846694" y="0"/>
                  <a:pt x="1891143" y="0"/>
                </a:cubicBezTo>
                <a:close/>
              </a:path>
            </a:pathLst>
          </a:custGeom>
          <a:pattFill prst="divot">
            <a:fgClr>
              <a:schemeClr val="bg1">
                <a:lumMod val="85000"/>
              </a:schemeClr>
            </a:fgClr>
            <a:bgClr>
              <a:schemeClr val="bg1"/>
            </a:bgClr>
          </a:pattFill>
        </p:spPr>
        <p:txBody>
          <a:bodyPr wrap="square" anchor="ctr">
            <a:noAutofit/>
          </a:bodyPr>
          <a:lstStyle>
            <a:lvl1pPr marL="0" indent="0" algn="ctr">
              <a:buNone/>
              <a:defRPr sz="1800"/>
            </a:lvl1pPr>
          </a:lstStyle>
          <a:p>
            <a:endParaRPr lang="en-US"/>
          </a:p>
        </p:txBody>
      </p:sp>
    </p:spTree>
    <p:extLst>
      <p:ext uri="{BB962C8B-B14F-4D97-AF65-F5344CB8AC3E}">
        <p14:creationId xmlns:p14="http://schemas.microsoft.com/office/powerpoint/2010/main" val="1413590161"/>
      </p:ext>
    </p:extLst>
  </p:cSld>
  <p:clrMapOvr>
    <a:masterClrMapping/>
  </p:clrMapOvr>
</p:sldLayout>
</file>

<file path=ppt/slideLayouts/slideLayout3.xml><?xml version="1.0" encoding="utf-8"?>
<p:sldLayout xmlns:p14="http://schemas.microsoft.com/office/powerpoint/2010/main" xmlns:a="http://schemas.openxmlformats.org/drawingml/2006/main" xmlns:r="http://schemas.openxmlformats.org/officeDocument/2006/relationships" xmlns:p="http://schemas.openxmlformats.org/presentationml/2006/main" preserve="1" userDrawn="1">
  <p:cSld name="8_Custom Layout">
    <p:spTree>
      <p:nvGrpSpPr>
        <p:cNvPr id="1" name=""/>
        <p:cNvGrpSpPr/>
        <p:nvPr/>
      </p:nvGrpSpPr>
      <p:grpSpPr>
        <a:xfrm>
          <a:off x="0" y="0"/>
          <a:ext cx="0" cy="0"/>
          <a:chOff x="0" y="0"/>
          <a:chExt cx="0" cy="0"/>
        </a:xfrm>
      </p:grpSpPr>
      <p:sp>
        <p:nvSpPr>
          <p:cNvPr id="10" name="Picture Placeholder 9"/>
          <p:cNvSpPr>
            <a:spLocks noGrp="1"/>
          </p:cNvSpPr>
          <p:nvPr>
            <p:ph type="pic" sz="quarter" idx="10"/>
          </p:nvPr>
        </p:nvSpPr>
        <p:spPr>
          <a:xfrm>
            <a:off x="8763000" y="0"/>
            <a:ext cx="3429000" cy="6858000"/>
          </a:xfrm>
          <a:custGeom>
            <a:avLst/>
            <a:gdLst>
              <a:gd name="connsiteX0" fmla="*/ 3429000 w 3429000"/>
              <a:gd name="connsiteY0" fmla="*/ 0 h 6858000"/>
              <a:gd name="connsiteX1" fmla="*/ 3429000 w 3429000"/>
              <a:gd name="connsiteY1" fmla="*/ 6858000 h 6858000"/>
              <a:gd name="connsiteX2" fmla="*/ 0 w 3429000"/>
              <a:gd name="connsiteY2" fmla="*/ 3429000 h 6858000"/>
              <a:gd name="connsiteX3" fmla="*/ 3429000 w 3429000"/>
              <a:gd name="connsiteY3" fmla="*/ 0 h 6858000"/>
            </a:gdLst>
            <a:ahLst/>
            <a:cxnLst>
              <a:cxn ang="0">
                <a:pos x="connsiteX0" y="connsiteY0"/>
              </a:cxn>
              <a:cxn ang="0">
                <a:pos x="connsiteX1" y="connsiteY1"/>
              </a:cxn>
              <a:cxn ang="0">
                <a:pos x="connsiteX2" y="connsiteY2"/>
              </a:cxn>
              <a:cxn ang="0">
                <a:pos x="connsiteX3" y="connsiteY3"/>
              </a:cxn>
            </a:cxnLst>
            <a:rect l="l" t="t" r="r" b="b"/>
            <a:pathLst>
              <a:path w="3429000" h="6858000">
                <a:moveTo>
                  <a:pt x="3429000" y="0"/>
                </a:moveTo>
                <a:lnTo>
                  <a:pt x="3429000" y="6858000"/>
                </a:lnTo>
                <a:cubicBezTo>
                  <a:pt x="1535216" y="6858000"/>
                  <a:pt x="0" y="5322784"/>
                  <a:pt x="0" y="3429000"/>
                </a:cubicBezTo>
                <a:cubicBezTo>
                  <a:pt x="0" y="1535217"/>
                  <a:pt x="1535216" y="0"/>
                  <a:pt x="3429000" y="0"/>
                </a:cubicBezTo>
                <a:close/>
              </a:path>
            </a:pathLst>
          </a:custGeom>
          <a:pattFill prst="divot">
            <a:fgClr>
              <a:schemeClr val="bg1">
                <a:lumMod val="85000"/>
              </a:schemeClr>
            </a:fgClr>
            <a:bgClr>
              <a:schemeClr val="bg1"/>
            </a:bgClr>
          </a:pattFill>
          <a:ln>
            <a:noFill/>
          </a:ln>
        </p:spPr>
        <p:txBody>
          <a:bodyPr wrap="square" anchor="ctr">
            <a:noAutofit/>
          </a:bodyPr>
          <a:lstStyle>
            <a:lvl1pPr marL="0" indent="0" algn="ctr">
              <a:buNone/>
              <a:defRPr sz="1800"/>
            </a:lvl1pPr>
          </a:lstStyle>
          <a:p>
            <a:endParaRPr lang="en-US"/>
          </a:p>
        </p:txBody>
      </p:sp>
    </p:spTree>
    <p:extLst>
      <p:ext uri="{BB962C8B-B14F-4D97-AF65-F5344CB8AC3E}">
        <p14:creationId xmlns:p14="http://schemas.microsoft.com/office/powerpoint/2010/main" val="1174063937"/>
      </p:ext>
    </p:extLst>
  </p:cSld>
  <p:clrMapOvr>
    <a:masterClrMapping/>
  </p:clrMapOvr>
</p:sldLayout>
</file>

<file path=ppt/slideLayouts/slideLayout4.xml><?xml version="1.0" encoding="utf-8"?>
<p:sldLayout xmlns:a16="http://schemas.microsoft.com/office/drawing/2014/main" xmlns:p14="http://schemas.microsoft.com/office/powerpoint/2010/main" xmlns:p15="http://schemas.microsoft.com/office/powerpoint/2012/main" xmlns:a="http://schemas.openxmlformats.org/drawingml/2006/main" xmlns:r="http://schemas.openxmlformats.org/officeDocument/2006/relationships" xmlns:p="http://schemas.openxmlformats.org/presentationml/2006/main" preserve="1" userDrawn="1">
  <p:cSld name="Case (Lef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8F97E55-68B0-4E78-8819-96463181F0E0}"/>
              </a:ext>
            </a:extLst>
          </p:cNvPr>
          <p:cNvSpPr/>
          <p:nvPr userDrawn="1"/>
        </p:nvSpPr>
        <p:spPr>
          <a:xfrm>
            <a:off x="2" y="0"/>
            <a:ext cx="12192000" cy="990600"/>
          </a:xfrm>
          <a:prstGeom prst="rect">
            <a:avLst/>
          </a:prstGeom>
          <a:solidFill>
            <a:srgbClr val="182D4C"/>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US" sz="1765" dirty="0">
              <a:solidFill>
                <a:schemeClr val="bg1"/>
              </a:solidFill>
              <a:latin typeface="Segoe UI" panose="020B0502040204020203" pitchFamily="34" charset="0"/>
            </a:endParaRPr>
          </a:p>
        </p:txBody>
      </p:sp>
      <p:sp>
        <p:nvSpPr>
          <p:cNvPr id="2" name="Title 1"/>
          <p:cNvSpPr>
            <a:spLocks noGrp="1"/>
          </p:cNvSpPr>
          <p:nvPr>
            <p:ph type="title" hasCustomPrompt="1"/>
          </p:nvPr>
        </p:nvSpPr>
        <p:spPr>
          <a:xfrm>
            <a:off x="381000" y="228600"/>
            <a:ext cx="11430000" cy="533400"/>
          </a:xfrm>
        </p:spPr>
        <p:txBody>
          <a:bodyPr tIns="91440" bIns="91440"/>
          <a:lstStyle>
            <a:lvl1pPr>
              <a:defRPr b="0">
                <a:solidFill>
                  <a:schemeClr val="bg1"/>
                </a:solidFill>
                <a:latin typeface="Montserrat"/>
              </a:defRPr>
            </a:lvl1pPr>
          </a:lstStyle>
          <a:p>
            <a:r>
              <a:rPr lang="en-US" dirty="0"/>
              <a:t>title</a:t>
            </a:r>
          </a:p>
        </p:txBody>
      </p:sp>
      <p:grpSp>
        <p:nvGrpSpPr>
          <p:cNvPr id="10" name="Group 9">
            <a:extLst>
              <a:ext uri="{FF2B5EF4-FFF2-40B4-BE49-F238E27FC236}">
                <a16:creationId xmlns:a16="http://schemas.microsoft.com/office/drawing/2014/main" id="{13883256-DDF5-46AA-B364-D5E565E8F2E8}"/>
              </a:ext>
            </a:extLst>
          </p:cNvPr>
          <p:cNvGrpSpPr/>
          <p:nvPr userDrawn="1"/>
        </p:nvGrpSpPr>
        <p:grpSpPr>
          <a:xfrm>
            <a:off x="11251602" y="157052"/>
            <a:ext cx="772469" cy="709254"/>
            <a:chOff x="10255378" y="484095"/>
            <a:chExt cx="1281303" cy="1176448"/>
          </a:xfrm>
          <a:solidFill>
            <a:schemeClr val="bg1"/>
          </a:solidFill>
        </p:grpSpPr>
        <p:sp>
          <p:nvSpPr>
            <p:cNvPr id="13" name="Right Triangle 12">
              <a:extLst>
                <a:ext uri="{FF2B5EF4-FFF2-40B4-BE49-F238E27FC236}">
                  <a16:creationId xmlns:a16="http://schemas.microsoft.com/office/drawing/2014/main" id="{E04258D0-0979-4874-8131-C85BFBF0EBB7}"/>
                </a:ext>
              </a:extLst>
            </p:cNvPr>
            <p:cNvSpPr/>
            <p:nvPr/>
          </p:nvSpPr>
          <p:spPr>
            <a:xfrm rot="10800000">
              <a:off x="10404999" y="484095"/>
              <a:ext cx="1131682" cy="1131682"/>
            </a:xfrm>
            <a:prstGeom prst="rtTriangle">
              <a:avLst/>
            </a:prstGeom>
            <a:solidFill>
              <a:srgbClr val="DD81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4" name="Group 13">
              <a:extLst>
                <a:ext uri="{FF2B5EF4-FFF2-40B4-BE49-F238E27FC236}">
                  <a16:creationId xmlns:a16="http://schemas.microsoft.com/office/drawing/2014/main" id="{B07A057C-BA43-40B3-9FAD-B92F71670524}"/>
                </a:ext>
              </a:extLst>
            </p:cNvPr>
            <p:cNvGrpSpPr/>
            <p:nvPr/>
          </p:nvGrpSpPr>
          <p:grpSpPr>
            <a:xfrm rot="10800000">
              <a:off x="10255378" y="708872"/>
              <a:ext cx="1007690" cy="951671"/>
              <a:chOff x="7625694" y="1771958"/>
              <a:chExt cx="3025379" cy="2857192"/>
            </a:xfrm>
            <a:grpFill/>
          </p:grpSpPr>
          <p:sp>
            <p:nvSpPr>
              <p:cNvPr id="15" name="Oval 14">
                <a:extLst>
                  <a:ext uri="{FF2B5EF4-FFF2-40B4-BE49-F238E27FC236}">
                    <a16:creationId xmlns:a16="http://schemas.microsoft.com/office/drawing/2014/main" id="{822D3E89-D469-424A-A98C-AF9147A63662}"/>
                  </a:ext>
                </a:extLst>
              </p:cNvPr>
              <p:cNvSpPr/>
              <p:nvPr/>
            </p:nvSpPr>
            <p:spPr>
              <a:xfrm>
                <a:off x="7632372"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9BADCFF3-8AD6-42F9-AB8C-375C23E132C8}"/>
                  </a:ext>
                </a:extLst>
              </p:cNvPr>
              <p:cNvSpPr/>
              <p:nvPr/>
            </p:nvSpPr>
            <p:spPr>
              <a:xfrm>
                <a:off x="7648083"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146CF906-92B7-45FE-A1E0-5AF6E9C4869B}"/>
                  </a:ext>
                </a:extLst>
              </p:cNvPr>
              <p:cNvSpPr/>
              <p:nvPr/>
            </p:nvSpPr>
            <p:spPr>
              <a:xfrm>
                <a:off x="7629033" y="31054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B449BE01-15C6-4A0D-9AF6-4786CA4E9637}"/>
                  </a:ext>
                </a:extLst>
              </p:cNvPr>
              <p:cNvSpPr/>
              <p:nvPr/>
            </p:nvSpPr>
            <p:spPr>
              <a:xfrm>
                <a:off x="7625694" y="24387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3E205D10-1D5E-4D0D-8531-85D8D7946B95}"/>
                  </a:ext>
                </a:extLst>
              </p:cNvPr>
              <p:cNvSpPr/>
              <p:nvPr/>
            </p:nvSpPr>
            <p:spPr>
              <a:xfrm>
                <a:off x="7629033" y="1771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DE2C8FD6-081D-49F6-921D-A381A767C163}"/>
                  </a:ext>
                </a:extLst>
              </p:cNvPr>
              <p:cNvSpPr/>
              <p:nvPr/>
            </p:nvSpPr>
            <p:spPr>
              <a:xfrm>
                <a:off x="8338576" y="442300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FF9994E3-F742-477B-85AD-302966D65BD7}"/>
                  </a:ext>
                </a:extLst>
              </p:cNvPr>
              <p:cNvSpPr/>
              <p:nvPr/>
            </p:nvSpPr>
            <p:spPr>
              <a:xfrm>
                <a:off x="8354287" y="375625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1A814A4E-18CD-488A-8AC5-D8D62E7F96F9}"/>
                  </a:ext>
                </a:extLst>
              </p:cNvPr>
              <p:cNvSpPr/>
              <p:nvPr/>
            </p:nvSpPr>
            <p:spPr>
              <a:xfrm>
                <a:off x="8335237" y="308950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B3949535-A9FF-471C-BF8D-F3C9FB103940}"/>
                  </a:ext>
                </a:extLst>
              </p:cNvPr>
              <p:cNvSpPr/>
              <p:nvPr/>
            </p:nvSpPr>
            <p:spPr>
              <a:xfrm>
                <a:off x="8331898" y="242275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a:extLst>
                  <a:ext uri="{FF2B5EF4-FFF2-40B4-BE49-F238E27FC236}">
                    <a16:creationId xmlns:a16="http://schemas.microsoft.com/office/drawing/2014/main" id="{BA711CF7-5013-4280-856D-919CDF2AA910}"/>
                  </a:ext>
                </a:extLst>
              </p:cNvPr>
              <p:cNvSpPr/>
              <p:nvPr/>
            </p:nvSpPr>
            <p:spPr>
              <a:xfrm>
                <a:off x="9036117"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a:extLst>
                  <a:ext uri="{FF2B5EF4-FFF2-40B4-BE49-F238E27FC236}">
                    <a16:creationId xmlns:a16="http://schemas.microsoft.com/office/drawing/2014/main" id="{BD2D7A54-8F84-484D-8489-7F2DF9C00BCC}"/>
                  </a:ext>
                </a:extLst>
              </p:cNvPr>
              <p:cNvSpPr/>
              <p:nvPr/>
            </p:nvSpPr>
            <p:spPr>
              <a:xfrm>
                <a:off x="9051828"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a:extLst>
                  <a:ext uri="{FF2B5EF4-FFF2-40B4-BE49-F238E27FC236}">
                    <a16:creationId xmlns:a16="http://schemas.microsoft.com/office/drawing/2014/main" id="{43920531-84F3-4DCA-A4C7-1E45B62398A0}"/>
                  </a:ext>
                </a:extLst>
              </p:cNvPr>
              <p:cNvSpPr/>
              <p:nvPr/>
            </p:nvSpPr>
            <p:spPr>
              <a:xfrm>
                <a:off x="9032778" y="31054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a:extLst>
                  <a:ext uri="{FF2B5EF4-FFF2-40B4-BE49-F238E27FC236}">
                    <a16:creationId xmlns:a16="http://schemas.microsoft.com/office/drawing/2014/main" id="{8EA3990F-0363-4A77-BABA-C5915D801F32}"/>
                  </a:ext>
                </a:extLst>
              </p:cNvPr>
              <p:cNvSpPr/>
              <p:nvPr/>
            </p:nvSpPr>
            <p:spPr>
              <a:xfrm>
                <a:off x="9755375"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a:extLst>
                  <a:ext uri="{FF2B5EF4-FFF2-40B4-BE49-F238E27FC236}">
                    <a16:creationId xmlns:a16="http://schemas.microsoft.com/office/drawing/2014/main" id="{FDE1E5EB-D396-42F9-9256-14D087571DC3}"/>
                  </a:ext>
                </a:extLst>
              </p:cNvPr>
              <p:cNvSpPr/>
              <p:nvPr/>
            </p:nvSpPr>
            <p:spPr>
              <a:xfrm>
                <a:off x="9771086"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Oval 28">
                <a:extLst>
                  <a:ext uri="{FF2B5EF4-FFF2-40B4-BE49-F238E27FC236}">
                    <a16:creationId xmlns:a16="http://schemas.microsoft.com/office/drawing/2014/main" id="{496CFD1D-C58B-40A8-A745-B76F50F83965}"/>
                  </a:ext>
                </a:extLst>
              </p:cNvPr>
              <p:cNvSpPr/>
              <p:nvPr/>
            </p:nvSpPr>
            <p:spPr>
              <a:xfrm>
                <a:off x="10470714" y="4448791"/>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
        <p:nvSpPr>
          <p:cNvPr id="30" name="Rectangle 29">
            <a:extLst>
              <a:ext uri="{FF2B5EF4-FFF2-40B4-BE49-F238E27FC236}">
                <a16:creationId xmlns:a16="http://schemas.microsoft.com/office/drawing/2014/main" id="{9665E9BF-B954-4AC7-821E-2E0CD116D915}"/>
              </a:ext>
            </a:extLst>
          </p:cNvPr>
          <p:cNvSpPr/>
          <p:nvPr userDrawn="1"/>
        </p:nvSpPr>
        <p:spPr>
          <a:xfrm>
            <a:off x="0" y="994299"/>
            <a:ext cx="7239000" cy="5865808"/>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TextBox 30">
            <a:extLst>
              <a:ext uri="{FF2B5EF4-FFF2-40B4-BE49-F238E27FC236}">
                <a16:creationId xmlns:a16="http://schemas.microsoft.com/office/drawing/2014/main" id="{EC9A7433-5BCD-4EA6-924A-53FDBF0CAAA6}"/>
              </a:ext>
            </a:extLst>
          </p:cNvPr>
          <p:cNvSpPr txBox="1"/>
          <p:nvPr userDrawn="1"/>
        </p:nvSpPr>
        <p:spPr>
          <a:xfrm>
            <a:off x="858128" y="2008164"/>
            <a:ext cx="5533147" cy="314702"/>
          </a:xfrm>
          <a:prstGeom prst="rect">
            <a:avLst/>
          </a:prstGeom>
          <a:noFill/>
        </p:spPr>
        <p:txBody>
          <a:bodyPr wrap="square" rtlCol="0">
            <a:spAutoFit/>
          </a:bodyPr>
          <a:lstStyle/>
          <a:p>
            <a:pPr>
              <a:lnSpc>
                <a:spcPct val="150000"/>
              </a:lnSpc>
            </a:pPr>
            <a:r>
              <a:rPr lang="en-US" sz="1100" b="0" i="0" kern="1200" dirty="0" err="1">
                <a:solidFill>
                  <a:schemeClr val="tx1"/>
                </a:solidFill>
                <a:effectLst/>
                <a:latin typeface="Open Sans"/>
                <a:ea typeface="+mn-ea"/>
                <a:cs typeface="+mn-cs"/>
              </a:rPr>
              <a:t>challengereplace</a:t>
            </a:r>
            <a:endParaRPr lang="en-US" sz="1100" b="0" i="0" kern="1200" dirty="0">
              <a:solidFill>
                <a:schemeClr val="tx1"/>
              </a:solidFill>
              <a:effectLst/>
              <a:latin typeface="Open Sans"/>
              <a:ea typeface="+mn-ea"/>
              <a:cs typeface="+mn-cs"/>
            </a:endParaRPr>
          </a:p>
        </p:txBody>
      </p:sp>
      <p:sp>
        <p:nvSpPr>
          <p:cNvPr id="32" name="TextBox 31">
            <a:extLst>
              <a:ext uri="{FF2B5EF4-FFF2-40B4-BE49-F238E27FC236}">
                <a16:creationId xmlns:a16="http://schemas.microsoft.com/office/drawing/2014/main" id="{E1C0119A-9047-4290-917B-405E19FFDA31}"/>
              </a:ext>
            </a:extLst>
          </p:cNvPr>
          <p:cNvSpPr txBox="1"/>
          <p:nvPr userDrawn="1"/>
        </p:nvSpPr>
        <p:spPr>
          <a:xfrm>
            <a:off x="858129" y="1581124"/>
            <a:ext cx="1603901" cy="384721"/>
          </a:xfrm>
          <a:prstGeom prst="rect">
            <a:avLst/>
          </a:prstGeom>
          <a:noFill/>
        </p:spPr>
        <p:txBody>
          <a:bodyPr wrap="none" rtlCol="0">
            <a:spAutoFit/>
          </a:bodyPr>
          <a:lstStyle/>
          <a:p>
            <a:r>
              <a:rPr lang="en-US" sz="1900" b="1" dirty="0">
                <a:solidFill>
                  <a:srgbClr val="6C86B8"/>
                </a:solidFill>
                <a:latin typeface="Montserrat" charset="0"/>
                <a:ea typeface="Montserrat" charset="0"/>
                <a:cs typeface="Montserrat" charset="0"/>
              </a:rPr>
              <a:t>The Challenge</a:t>
            </a:r>
          </a:p>
        </p:txBody>
      </p:sp>
      <p:sp>
        <p:nvSpPr>
          <p:cNvPr id="33" name="TextBox 32">
            <a:extLst>
              <a:ext uri="{FF2B5EF4-FFF2-40B4-BE49-F238E27FC236}">
                <a16:creationId xmlns:a16="http://schemas.microsoft.com/office/drawing/2014/main" id="{A2CD0AFB-BBEB-434B-985F-3ACF7BE51454}"/>
              </a:ext>
            </a:extLst>
          </p:cNvPr>
          <p:cNvSpPr txBox="1"/>
          <p:nvPr userDrawn="1"/>
        </p:nvSpPr>
        <p:spPr>
          <a:xfrm>
            <a:off x="858128" y="3525482"/>
            <a:ext cx="5533147" cy="314702"/>
          </a:xfrm>
          <a:prstGeom prst="rect">
            <a:avLst/>
          </a:prstGeom>
          <a:noFill/>
        </p:spPr>
        <p:txBody>
          <a:bodyPr wrap="square" rtlCol="0">
            <a:spAutoFit/>
          </a:bodyPr>
          <a:lstStyle/>
          <a:p>
            <a:pPr>
              <a:lnSpc>
                <a:spcPct val="150000"/>
              </a:lnSpc>
            </a:pPr>
            <a:r>
              <a:rPr lang="en-US" sz="1100" b="0" i="0" kern="1200" dirty="0" err="1">
                <a:solidFill>
                  <a:schemeClr val="tx1"/>
                </a:solidFill>
                <a:effectLst/>
                <a:latin typeface="Open Sans"/>
                <a:ea typeface="+mn-ea"/>
                <a:cs typeface="+mn-cs"/>
              </a:rPr>
              <a:t>ourworkreplace</a:t>
            </a:r>
            <a:endParaRPr lang="en-US" sz="1100" b="0" i="0" kern="1200" dirty="0">
              <a:solidFill>
                <a:schemeClr val="tx1"/>
              </a:solidFill>
              <a:effectLst/>
              <a:latin typeface="Open Sans"/>
              <a:ea typeface="+mn-ea"/>
              <a:cs typeface="+mn-cs"/>
            </a:endParaRPr>
          </a:p>
        </p:txBody>
      </p:sp>
      <p:sp>
        <p:nvSpPr>
          <p:cNvPr id="34" name="TextBox 33">
            <a:extLst>
              <a:ext uri="{FF2B5EF4-FFF2-40B4-BE49-F238E27FC236}">
                <a16:creationId xmlns:a16="http://schemas.microsoft.com/office/drawing/2014/main" id="{EC17F625-2EC2-4F28-895B-03B104D7945A}"/>
              </a:ext>
            </a:extLst>
          </p:cNvPr>
          <p:cNvSpPr txBox="1"/>
          <p:nvPr userDrawn="1"/>
        </p:nvSpPr>
        <p:spPr>
          <a:xfrm>
            <a:off x="858129" y="3098442"/>
            <a:ext cx="1458348" cy="369332"/>
          </a:xfrm>
          <a:prstGeom prst="rect">
            <a:avLst/>
          </a:prstGeom>
          <a:noFill/>
        </p:spPr>
        <p:txBody>
          <a:bodyPr wrap="none" rtlCol="0">
            <a:spAutoFit/>
          </a:bodyPr>
          <a:lstStyle/>
          <a:p>
            <a:r>
              <a:rPr lang="en-US" b="1" dirty="0">
                <a:solidFill>
                  <a:srgbClr val="6C86B8"/>
                </a:solidFill>
                <a:latin typeface="Montserrat" charset="0"/>
                <a:ea typeface="Montserrat" charset="0"/>
                <a:cs typeface="Montserrat" charset="0"/>
              </a:rPr>
              <a:t>What We Did</a:t>
            </a:r>
          </a:p>
        </p:txBody>
      </p:sp>
      <p:sp>
        <p:nvSpPr>
          <p:cNvPr id="35" name="TextBox 34">
            <a:extLst>
              <a:ext uri="{FF2B5EF4-FFF2-40B4-BE49-F238E27FC236}">
                <a16:creationId xmlns:a16="http://schemas.microsoft.com/office/drawing/2014/main" id="{127A5A2A-6A75-46BB-A872-3D435F9C8C26}"/>
              </a:ext>
            </a:extLst>
          </p:cNvPr>
          <p:cNvSpPr txBox="1"/>
          <p:nvPr userDrawn="1"/>
        </p:nvSpPr>
        <p:spPr>
          <a:xfrm>
            <a:off x="873603" y="5568668"/>
            <a:ext cx="5517672" cy="314702"/>
          </a:xfrm>
          <a:prstGeom prst="rect">
            <a:avLst/>
          </a:prstGeom>
          <a:noFill/>
        </p:spPr>
        <p:txBody>
          <a:bodyPr wrap="square" rtlCol="0">
            <a:spAutoFit/>
          </a:bodyPr>
          <a:lstStyle/>
          <a:p>
            <a:pPr>
              <a:lnSpc>
                <a:spcPct val="150000"/>
              </a:lnSpc>
            </a:pPr>
            <a:r>
              <a:rPr lang="en-US" sz="1100" b="0" i="0" kern="1200" dirty="0" err="1">
                <a:solidFill>
                  <a:schemeClr val="tx1"/>
                </a:solidFill>
                <a:effectLst/>
                <a:latin typeface="Open Sans"/>
                <a:ea typeface="+mn-ea"/>
                <a:cs typeface="+mn-cs"/>
              </a:rPr>
              <a:t>resultsreplace</a:t>
            </a:r>
            <a:endParaRPr lang="en-US" sz="1100" b="0" i="0" kern="1200" dirty="0">
              <a:solidFill>
                <a:schemeClr val="tx1"/>
              </a:solidFill>
              <a:effectLst/>
              <a:latin typeface="Open Sans"/>
              <a:ea typeface="+mn-ea"/>
              <a:cs typeface="+mn-cs"/>
            </a:endParaRPr>
          </a:p>
        </p:txBody>
      </p:sp>
      <p:sp>
        <p:nvSpPr>
          <p:cNvPr id="36" name="TextBox 35">
            <a:extLst>
              <a:ext uri="{FF2B5EF4-FFF2-40B4-BE49-F238E27FC236}">
                <a16:creationId xmlns:a16="http://schemas.microsoft.com/office/drawing/2014/main" id="{4651924A-7907-4360-9ED8-B533D803C21B}"/>
              </a:ext>
            </a:extLst>
          </p:cNvPr>
          <p:cNvSpPr txBox="1"/>
          <p:nvPr userDrawn="1"/>
        </p:nvSpPr>
        <p:spPr>
          <a:xfrm>
            <a:off x="873603" y="5141628"/>
            <a:ext cx="868956" cy="369332"/>
          </a:xfrm>
          <a:prstGeom prst="rect">
            <a:avLst/>
          </a:prstGeom>
          <a:noFill/>
        </p:spPr>
        <p:txBody>
          <a:bodyPr wrap="none" rtlCol="0">
            <a:spAutoFit/>
          </a:bodyPr>
          <a:lstStyle/>
          <a:p>
            <a:r>
              <a:rPr lang="en-US" b="1" dirty="0">
                <a:solidFill>
                  <a:srgbClr val="6C86B8"/>
                </a:solidFill>
                <a:latin typeface="Montserrat" charset="0"/>
                <a:ea typeface="Montserrat" charset="0"/>
                <a:cs typeface="Montserrat" charset="0"/>
              </a:rPr>
              <a:t>Results</a:t>
            </a:r>
          </a:p>
        </p:txBody>
      </p:sp>
      <p:sp>
        <p:nvSpPr>
          <p:cNvPr id="6" name="Picture Placeholder 5">
            <a:extLst>
              <a:ext uri="{FF2B5EF4-FFF2-40B4-BE49-F238E27FC236}">
                <a16:creationId xmlns:a16="http://schemas.microsoft.com/office/drawing/2014/main" id="{DC946A52-3E8A-4AAA-A1F9-52E5356EACA1}"/>
              </a:ext>
            </a:extLst>
          </p:cNvPr>
          <p:cNvSpPr>
            <a:spLocks noGrp="1"/>
          </p:cNvSpPr>
          <p:nvPr>
            <p:ph type="pic" sz="quarter" idx="11" hasCustomPrompt="1"/>
          </p:nvPr>
        </p:nvSpPr>
        <p:spPr>
          <a:xfrm>
            <a:off x="7604616" y="3578094"/>
            <a:ext cx="4254500" cy="2755900"/>
          </a:xfrm>
        </p:spPr>
        <p:txBody>
          <a:bodyPr/>
          <a:lstStyle>
            <a:lvl1pPr>
              <a:defRPr/>
            </a:lvl1pPr>
          </a:lstStyle>
          <a:p>
            <a:r>
              <a:rPr lang="en-US" dirty="0" err="1"/>
              <a:t>screenshotplace</a:t>
            </a:r>
            <a:endParaRPr lang="en-US" dirty="0"/>
          </a:p>
        </p:txBody>
      </p:sp>
      <p:sp>
        <p:nvSpPr>
          <p:cNvPr id="5" name="Picture Placeholder 4">
            <a:extLst>
              <a:ext uri="{FF2B5EF4-FFF2-40B4-BE49-F238E27FC236}">
                <a16:creationId xmlns:a16="http://schemas.microsoft.com/office/drawing/2014/main" id="{3ECA3D9A-2ED8-4AE0-ACE4-B53CB627B2D7}"/>
              </a:ext>
            </a:extLst>
          </p:cNvPr>
          <p:cNvSpPr>
            <a:spLocks noGrp="1"/>
          </p:cNvSpPr>
          <p:nvPr>
            <p:ph type="pic" sz="quarter" idx="12"/>
          </p:nvPr>
        </p:nvSpPr>
        <p:spPr>
          <a:xfrm>
            <a:off x="8797646" y="1565275"/>
            <a:ext cx="1781175" cy="1770063"/>
          </a:xfrm>
        </p:spPr>
        <p:txBody>
          <a:bodyPr/>
          <a:lstStyle/>
          <a:p>
            <a:endParaRPr lang="en-US"/>
          </a:p>
        </p:txBody>
      </p:sp>
    </p:spTree>
    <p:extLst>
      <p:ext uri="{BB962C8B-B14F-4D97-AF65-F5344CB8AC3E}">
        <p14:creationId xmlns:p14="http://schemas.microsoft.com/office/powerpoint/2010/main" val="2582825011"/>
      </p:ext>
    </p:extLst>
  </p:cSld>
  <p:clrMapOvr>
    <a:masterClrMapping/>
  </p:clrMapOvr>
  <p:extLst mod="1">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5.xml><?xml version="1.0" encoding="utf-8"?>
<p:sldLayout xmlns:a16="http://schemas.microsoft.com/office/drawing/2014/main" xmlns:p14="http://schemas.microsoft.com/office/powerpoint/2010/main" xmlns:p15="http://schemas.microsoft.com/office/powerpoint/2012/main" xmlns:a="http://schemas.openxmlformats.org/drawingml/2006/main" xmlns:r="http://schemas.openxmlformats.org/officeDocument/2006/relationships" xmlns:p="http://schemas.openxmlformats.org/presentationml/2006/main" preserve="1" userDrawn="1">
  <p:cSld name="Case (Righ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8F97E55-68B0-4E78-8819-96463181F0E0}"/>
              </a:ext>
            </a:extLst>
          </p:cNvPr>
          <p:cNvSpPr/>
          <p:nvPr userDrawn="1"/>
        </p:nvSpPr>
        <p:spPr>
          <a:xfrm>
            <a:off x="2" y="0"/>
            <a:ext cx="12192000" cy="990600"/>
          </a:xfrm>
          <a:prstGeom prst="rect">
            <a:avLst/>
          </a:prstGeom>
          <a:solidFill>
            <a:srgbClr val="182D4C"/>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US" sz="1765" dirty="0">
              <a:solidFill>
                <a:schemeClr val="bg1"/>
              </a:solidFill>
              <a:latin typeface="Segoe UI" panose="020B0502040204020203" pitchFamily="34" charset="0"/>
            </a:endParaRPr>
          </a:p>
        </p:txBody>
      </p:sp>
      <p:sp>
        <p:nvSpPr>
          <p:cNvPr id="2" name="Title 1"/>
          <p:cNvSpPr>
            <a:spLocks noGrp="1"/>
          </p:cNvSpPr>
          <p:nvPr>
            <p:ph type="title" hasCustomPrompt="1"/>
          </p:nvPr>
        </p:nvSpPr>
        <p:spPr>
          <a:xfrm>
            <a:off x="381000" y="228600"/>
            <a:ext cx="11430000" cy="533400"/>
          </a:xfrm>
        </p:spPr>
        <p:txBody>
          <a:bodyPr tIns="91440" bIns="91440"/>
          <a:lstStyle>
            <a:lvl1pPr>
              <a:defRPr b="0">
                <a:solidFill>
                  <a:schemeClr val="bg1"/>
                </a:solidFill>
                <a:latin typeface="Montserrat"/>
              </a:defRPr>
            </a:lvl1pPr>
          </a:lstStyle>
          <a:p>
            <a:r>
              <a:rPr lang="en-US" dirty="0"/>
              <a:t>title</a:t>
            </a:r>
          </a:p>
        </p:txBody>
      </p:sp>
      <p:grpSp>
        <p:nvGrpSpPr>
          <p:cNvPr id="10" name="Group 9">
            <a:extLst>
              <a:ext uri="{FF2B5EF4-FFF2-40B4-BE49-F238E27FC236}">
                <a16:creationId xmlns:a16="http://schemas.microsoft.com/office/drawing/2014/main" id="{13883256-DDF5-46AA-B364-D5E565E8F2E8}"/>
              </a:ext>
            </a:extLst>
          </p:cNvPr>
          <p:cNvGrpSpPr/>
          <p:nvPr userDrawn="1"/>
        </p:nvGrpSpPr>
        <p:grpSpPr>
          <a:xfrm>
            <a:off x="11251602" y="157052"/>
            <a:ext cx="772469" cy="709254"/>
            <a:chOff x="10255378" y="484095"/>
            <a:chExt cx="1281303" cy="1176448"/>
          </a:xfrm>
          <a:solidFill>
            <a:schemeClr val="bg1"/>
          </a:solidFill>
        </p:grpSpPr>
        <p:sp>
          <p:nvSpPr>
            <p:cNvPr id="13" name="Right Triangle 12">
              <a:extLst>
                <a:ext uri="{FF2B5EF4-FFF2-40B4-BE49-F238E27FC236}">
                  <a16:creationId xmlns:a16="http://schemas.microsoft.com/office/drawing/2014/main" id="{E04258D0-0979-4874-8131-C85BFBF0EBB7}"/>
                </a:ext>
              </a:extLst>
            </p:cNvPr>
            <p:cNvSpPr/>
            <p:nvPr/>
          </p:nvSpPr>
          <p:spPr>
            <a:xfrm rot="10800000">
              <a:off x="10404999" y="484095"/>
              <a:ext cx="1131682" cy="1131682"/>
            </a:xfrm>
            <a:prstGeom prst="rtTriangle">
              <a:avLst/>
            </a:prstGeom>
            <a:solidFill>
              <a:srgbClr val="DD81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4" name="Group 13">
              <a:extLst>
                <a:ext uri="{FF2B5EF4-FFF2-40B4-BE49-F238E27FC236}">
                  <a16:creationId xmlns:a16="http://schemas.microsoft.com/office/drawing/2014/main" id="{B07A057C-BA43-40B3-9FAD-B92F71670524}"/>
                </a:ext>
              </a:extLst>
            </p:cNvPr>
            <p:cNvGrpSpPr/>
            <p:nvPr/>
          </p:nvGrpSpPr>
          <p:grpSpPr>
            <a:xfrm rot="10800000">
              <a:off x="10255378" y="708872"/>
              <a:ext cx="1007690" cy="951671"/>
              <a:chOff x="7625694" y="1771958"/>
              <a:chExt cx="3025379" cy="2857192"/>
            </a:xfrm>
            <a:grpFill/>
          </p:grpSpPr>
          <p:sp>
            <p:nvSpPr>
              <p:cNvPr id="15" name="Oval 14">
                <a:extLst>
                  <a:ext uri="{FF2B5EF4-FFF2-40B4-BE49-F238E27FC236}">
                    <a16:creationId xmlns:a16="http://schemas.microsoft.com/office/drawing/2014/main" id="{822D3E89-D469-424A-A98C-AF9147A63662}"/>
                  </a:ext>
                </a:extLst>
              </p:cNvPr>
              <p:cNvSpPr/>
              <p:nvPr/>
            </p:nvSpPr>
            <p:spPr>
              <a:xfrm>
                <a:off x="7632372"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9BADCFF3-8AD6-42F9-AB8C-375C23E132C8}"/>
                  </a:ext>
                </a:extLst>
              </p:cNvPr>
              <p:cNvSpPr/>
              <p:nvPr/>
            </p:nvSpPr>
            <p:spPr>
              <a:xfrm>
                <a:off x="7648083"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146CF906-92B7-45FE-A1E0-5AF6E9C4869B}"/>
                  </a:ext>
                </a:extLst>
              </p:cNvPr>
              <p:cNvSpPr/>
              <p:nvPr/>
            </p:nvSpPr>
            <p:spPr>
              <a:xfrm>
                <a:off x="7629033" y="31054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B449BE01-15C6-4A0D-9AF6-4786CA4E9637}"/>
                  </a:ext>
                </a:extLst>
              </p:cNvPr>
              <p:cNvSpPr/>
              <p:nvPr/>
            </p:nvSpPr>
            <p:spPr>
              <a:xfrm>
                <a:off x="7625694" y="24387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3E205D10-1D5E-4D0D-8531-85D8D7946B95}"/>
                  </a:ext>
                </a:extLst>
              </p:cNvPr>
              <p:cNvSpPr/>
              <p:nvPr/>
            </p:nvSpPr>
            <p:spPr>
              <a:xfrm>
                <a:off x="7629033" y="1771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DE2C8FD6-081D-49F6-921D-A381A767C163}"/>
                  </a:ext>
                </a:extLst>
              </p:cNvPr>
              <p:cNvSpPr/>
              <p:nvPr/>
            </p:nvSpPr>
            <p:spPr>
              <a:xfrm>
                <a:off x="8338576" y="442300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FF9994E3-F742-477B-85AD-302966D65BD7}"/>
                  </a:ext>
                </a:extLst>
              </p:cNvPr>
              <p:cNvSpPr/>
              <p:nvPr/>
            </p:nvSpPr>
            <p:spPr>
              <a:xfrm>
                <a:off x="8354287" y="375625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1A814A4E-18CD-488A-8AC5-D8D62E7F96F9}"/>
                  </a:ext>
                </a:extLst>
              </p:cNvPr>
              <p:cNvSpPr/>
              <p:nvPr/>
            </p:nvSpPr>
            <p:spPr>
              <a:xfrm>
                <a:off x="8335237" y="308950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B3949535-A9FF-471C-BF8D-F3C9FB103940}"/>
                  </a:ext>
                </a:extLst>
              </p:cNvPr>
              <p:cNvSpPr/>
              <p:nvPr/>
            </p:nvSpPr>
            <p:spPr>
              <a:xfrm>
                <a:off x="8331898" y="242275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a:extLst>
                  <a:ext uri="{FF2B5EF4-FFF2-40B4-BE49-F238E27FC236}">
                    <a16:creationId xmlns:a16="http://schemas.microsoft.com/office/drawing/2014/main" id="{BA711CF7-5013-4280-856D-919CDF2AA910}"/>
                  </a:ext>
                </a:extLst>
              </p:cNvPr>
              <p:cNvSpPr/>
              <p:nvPr/>
            </p:nvSpPr>
            <p:spPr>
              <a:xfrm>
                <a:off x="9036117"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a:extLst>
                  <a:ext uri="{FF2B5EF4-FFF2-40B4-BE49-F238E27FC236}">
                    <a16:creationId xmlns:a16="http://schemas.microsoft.com/office/drawing/2014/main" id="{BD2D7A54-8F84-484D-8489-7F2DF9C00BCC}"/>
                  </a:ext>
                </a:extLst>
              </p:cNvPr>
              <p:cNvSpPr/>
              <p:nvPr/>
            </p:nvSpPr>
            <p:spPr>
              <a:xfrm>
                <a:off x="9051828"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a:extLst>
                  <a:ext uri="{FF2B5EF4-FFF2-40B4-BE49-F238E27FC236}">
                    <a16:creationId xmlns:a16="http://schemas.microsoft.com/office/drawing/2014/main" id="{43920531-84F3-4DCA-A4C7-1E45B62398A0}"/>
                  </a:ext>
                </a:extLst>
              </p:cNvPr>
              <p:cNvSpPr/>
              <p:nvPr/>
            </p:nvSpPr>
            <p:spPr>
              <a:xfrm>
                <a:off x="9032778" y="31054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a:extLst>
                  <a:ext uri="{FF2B5EF4-FFF2-40B4-BE49-F238E27FC236}">
                    <a16:creationId xmlns:a16="http://schemas.microsoft.com/office/drawing/2014/main" id="{8EA3990F-0363-4A77-BABA-C5915D801F32}"/>
                  </a:ext>
                </a:extLst>
              </p:cNvPr>
              <p:cNvSpPr/>
              <p:nvPr/>
            </p:nvSpPr>
            <p:spPr>
              <a:xfrm>
                <a:off x="9755375"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a:extLst>
                  <a:ext uri="{FF2B5EF4-FFF2-40B4-BE49-F238E27FC236}">
                    <a16:creationId xmlns:a16="http://schemas.microsoft.com/office/drawing/2014/main" id="{FDE1E5EB-D396-42F9-9256-14D087571DC3}"/>
                  </a:ext>
                </a:extLst>
              </p:cNvPr>
              <p:cNvSpPr/>
              <p:nvPr/>
            </p:nvSpPr>
            <p:spPr>
              <a:xfrm>
                <a:off x="9771086"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Oval 28">
                <a:extLst>
                  <a:ext uri="{FF2B5EF4-FFF2-40B4-BE49-F238E27FC236}">
                    <a16:creationId xmlns:a16="http://schemas.microsoft.com/office/drawing/2014/main" id="{496CFD1D-C58B-40A8-A745-B76F50F83965}"/>
                  </a:ext>
                </a:extLst>
              </p:cNvPr>
              <p:cNvSpPr/>
              <p:nvPr/>
            </p:nvSpPr>
            <p:spPr>
              <a:xfrm>
                <a:off x="10470714" y="4448791"/>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
        <p:nvSpPr>
          <p:cNvPr id="30" name="Rectangle 29">
            <a:extLst>
              <a:ext uri="{FF2B5EF4-FFF2-40B4-BE49-F238E27FC236}">
                <a16:creationId xmlns:a16="http://schemas.microsoft.com/office/drawing/2014/main" id="{9665E9BF-B954-4AC7-821E-2E0CD116D915}"/>
              </a:ext>
            </a:extLst>
          </p:cNvPr>
          <p:cNvSpPr/>
          <p:nvPr userDrawn="1"/>
        </p:nvSpPr>
        <p:spPr>
          <a:xfrm>
            <a:off x="4953002" y="988395"/>
            <a:ext cx="7239000" cy="5865808"/>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TextBox 30">
            <a:extLst>
              <a:ext uri="{FF2B5EF4-FFF2-40B4-BE49-F238E27FC236}">
                <a16:creationId xmlns:a16="http://schemas.microsoft.com/office/drawing/2014/main" id="{EC9A7433-5BCD-4EA6-924A-53FDBF0CAAA6}"/>
              </a:ext>
            </a:extLst>
          </p:cNvPr>
          <p:cNvSpPr txBox="1"/>
          <p:nvPr userDrawn="1"/>
        </p:nvSpPr>
        <p:spPr>
          <a:xfrm>
            <a:off x="5811130" y="2002260"/>
            <a:ext cx="5533147" cy="314702"/>
          </a:xfrm>
          <a:prstGeom prst="rect">
            <a:avLst/>
          </a:prstGeom>
          <a:noFill/>
        </p:spPr>
        <p:txBody>
          <a:bodyPr wrap="square" rtlCol="0">
            <a:spAutoFit/>
          </a:bodyPr>
          <a:lstStyle/>
          <a:p>
            <a:pPr>
              <a:lnSpc>
                <a:spcPct val="150000"/>
              </a:lnSpc>
            </a:pPr>
            <a:r>
              <a:rPr lang="en-US" sz="1100" b="0" i="0" kern="1200" dirty="0" err="1">
                <a:solidFill>
                  <a:schemeClr val="tx1"/>
                </a:solidFill>
                <a:effectLst/>
                <a:latin typeface="Open Sans"/>
                <a:ea typeface="+mn-ea"/>
                <a:cs typeface="+mn-cs"/>
              </a:rPr>
              <a:t>challengereplace</a:t>
            </a:r>
            <a:endParaRPr lang="en-US" sz="1100" b="0" i="0" kern="1200" dirty="0">
              <a:solidFill>
                <a:schemeClr val="tx1"/>
              </a:solidFill>
              <a:effectLst/>
              <a:latin typeface="Open Sans"/>
              <a:ea typeface="+mn-ea"/>
              <a:cs typeface="+mn-cs"/>
            </a:endParaRPr>
          </a:p>
        </p:txBody>
      </p:sp>
      <p:sp>
        <p:nvSpPr>
          <p:cNvPr id="32" name="TextBox 31">
            <a:extLst>
              <a:ext uri="{FF2B5EF4-FFF2-40B4-BE49-F238E27FC236}">
                <a16:creationId xmlns:a16="http://schemas.microsoft.com/office/drawing/2014/main" id="{E1C0119A-9047-4290-917B-405E19FFDA31}"/>
              </a:ext>
            </a:extLst>
          </p:cNvPr>
          <p:cNvSpPr txBox="1"/>
          <p:nvPr userDrawn="1"/>
        </p:nvSpPr>
        <p:spPr>
          <a:xfrm>
            <a:off x="5811131" y="1575220"/>
            <a:ext cx="1603901" cy="384721"/>
          </a:xfrm>
          <a:prstGeom prst="rect">
            <a:avLst/>
          </a:prstGeom>
          <a:noFill/>
        </p:spPr>
        <p:txBody>
          <a:bodyPr wrap="none" rtlCol="0">
            <a:spAutoFit/>
          </a:bodyPr>
          <a:lstStyle/>
          <a:p>
            <a:r>
              <a:rPr lang="en-US" sz="1900" b="1" dirty="0">
                <a:solidFill>
                  <a:srgbClr val="6C86B8"/>
                </a:solidFill>
                <a:latin typeface="Montserrat" charset="0"/>
                <a:ea typeface="Montserrat" charset="0"/>
                <a:cs typeface="Montserrat" charset="0"/>
              </a:rPr>
              <a:t>The Challenge</a:t>
            </a:r>
          </a:p>
        </p:txBody>
      </p:sp>
      <p:sp>
        <p:nvSpPr>
          <p:cNvPr id="33" name="TextBox 32">
            <a:extLst>
              <a:ext uri="{FF2B5EF4-FFF2-40B4-BE49-F238E27FC236}">
                <a16:creationId xmlns:a16="http://schemas.microsoft.com/office/drawing/2014/main" id="{A2CD0AFB-BBEB-434B-985F-3ACF7BE51454}"/>
              </a:ext>
            </a:extLst>
          </p:cNvPr>
          <p:cNvSpPr txBox="1"/>
          <p:nvPr userDrawn="1"/>
        </p:nvSpPr>
        <p:spPr>
          <a:xfrm>
            <a:off x="5811130" y="3519578"/>
            <a:ext cx="5533147" cy="314702"/>
          </a:xfrm>
          <a:prstGeom prst="rect">
            <a:avLst/>
          </a:prstGeom>
          <a:noFill/>
        </p:spPr>
        <p:txBody>
          <a:bodyPr wrap="square" rtlCol="0">
            <a:spAutoFit/>
          </a:bodyPr>
          <a:lstStyle/>
          <a:p>
            <a:pPr>
              <a:lnSpc>
                <a:spcPct val="150000"/>
              </a:lnSpc>
            </a:pPr>
            <a:r>
              <a:rPr lang="en-US" sz="1100" b="0" i="0" kern="1200" dirty="0" err="1">
                <a:solidFill>
                  <a:schemeClr val="tx1"/>
                </a:solidFill>
                <a:effectLst/>
                <a:latin typeface="Open Sans"/>
                <a:ea typeface="+mn-ea"/>
                <a:cs typeface="+mn-cs"/>
              </a:rPr>
              <a:t>ourworkreplace</a:t>
            </a:r>
            <a:endParaRPr lang="en-US" sz="1100" b="0" i="0" kern="1200" dirty="0">
              <a:solidFill>
                <a:schemeClr val="tx1"/>
              </a:solidFill>
              <a:effectLst/>
              <a:latin typeface="Open Sans"/>
              <a:ea typeface="+mn-ea"/>
              <a:cs typeface="+mn-cs"/>
            </a:endParaRPr>
          </a:p>
        </p:txBody>
      </p:sp>
      <p:sp>
        <p:nvSpPr>
          <p:cNvPr id="34" name="TextBox 33">
            <a:extLst>
              <a:ext uri="{FF2B5EF4-FFF2-40B4-BE49-F238E27FC236}">
                <a16:creationId xmlns:a16="http://schemas.microsoft.com/office/drawing/2014/main" id="{EC17F625-2EC2-4F28-895B-03B104D7945A}"/>
              </a:ext>
            </a:extLst>
          </p:cNvPr>
          <p:cNvSpPr txBox="1"/>
          <p:nvPr userDrawn="1"/>
        </p:nvSpPr>
        <p:spPr>
          <a:xfrm>
            <a:off x="5811131" y="3092538"/>
            <a:ext cx="1458348" cy="369332"/>
          </a:xfrm>
          <a:prstGeom prst="rect">
            <a:avLst/>
          </a:prstGeom>
          <a:noFill/>
        </p:spPr>
        <p:txBody>
          <a:bodyPr wrap="none" rtlCol="0">
            <a:spAutoFit/>
          </a:bodyPr>
          <a:lstStyle/>
          <a:p>
            <a:r>
              <a:rPr lang="en-US" b="1" dirty="0">
                <a:solidFill>
                  <a:srgbClr val="6C86B8"/>
                </a:solidFill>
                <a:latin typeface="Montserrat" charset="0"/>
                <a:ea typeface="Montserrat" charset="0"/>
                <a:cs typeface="Montserrat" charset="0"/>
              </a:rPr>
              <a:t>What We Did</a:t>
            </a:r>
          </a:p>
        </p:txBody>
      </p:sp>
      <p:sp>
        <p:nvSpPr>
          <p:cNvPr id="35" name="TextBox 34">
            <a:extLst>
              <a:ext uri="{FF2B5EF4-FFF2-40B4-BE49-F238E27FC236}">
                <a16:creationId xmlns:a16="http://schemas.microsoft.com/office/drawing/2014/main" id="{127A5A2A-6A75-46BB-A872-3D435F9C8C26}"/>
              </a:ext>
            </a:extLst>
          </p:cNvPr>
          <p:cNvSpPr txBox="1"/>
          <p:nvPr userDrawn="1"/>
        </p:nvSpPr>
        <p:spPr>
          <a:xfrm>
            <a:off x="5826605" y="5562764"/>
            <a:ext cx="5517672" cy="314702"/>
          </a:xfrm>
          <a:prstGeom prst="rect">
            <a:avLst/>
          </a:prstGeom>
          <a:noFill/>
        </p:spPr>
        <p:txBody>
          <a:bodyPr wrap="square" rtlCol="0">
            <a:spAutoFit/>
          </a:bodyPr>
          <a:lstStyle/>
          <a:p>
            <a:pPr>
              <a:lnSpc>
                <a:spcPct val="150000"/>
              </a:lnSpc>
            </a:pPr>
            <a:r>
              <a:rPr lang="en-US" sz="1100" b="0" i="0" kern="1200" dirty="0" err="1">
                <a:solidFill>
                  <a:schemeClr val="tx1"/>
                </a:solidFill>
                <a:effectLst/>
                <a:latin typeface="Open Sans"/>
                <a:ea typeface="+mn-ea"/>
                <a:cs typeface="+mn-cs"/>
              </a:rPr>
              <a:t>resultsreplace</a:t>
            </a:r>
            <a:endParaRPr lang="en-US" sz="1100" b="0" i="0" kern="1200" dirty="0">
              <a:solidFill>
                <a:schemeClr val="tx1"/>
              </a:solidFill>
              <a:effectLst/>
              <a:latin typeface="Open Sans"/>
              <a:ea typeface="+mn-ea"/>
              <a:cs typeface="+mn-cs"/>
            </a:endParaRPr>
          </a:p>
        </p:txBody>
      </p:sp>
      <p:sp>
        <p:nvSpPr>
          <p:cNvPr id="36" name="TextBox 35">
            <a:extLst>
              <a:ext uri="{FF2B5EF4-FFF2-40B4-BE49-F238E27FC236}">
                <a16:creationId xmlns:a16="http://schemas.microsoft.com/office/drawing/2014/main" id="{4651924A-7907-4360-9ED8-B533D803C21B}"/>
              </a:ext>
            </a:extLst>
          </p:cNvPr>
          <p:cNvSpPr txBox="1"/>
          <p:nvPr userDrawn="1"/>
        </p:nvSpPr>
        <p:spPr>
          <a:xfrm>
            <a:off x="5826605" y="5135724"/>
            <a:ext cx="868956" cy="369332"/>
          </a:xfrm>
          <a:prstGeom prst="rect">
            <a:avLst/>
          </a:prstGeom>
          <a:noFill/>
        </p:spPr>
        <p:txBody>
          <a:bodyPr wrap="none" rtlCol="0">
            <a:spAutoFit/>
          </a:bodyPr>
          <a:lstStyle/>
          <a:p>
            <a:r>
              <a:rPr lang="en-US" b="1" dirty="0">
                <a:solidFill>
                  <a:srgbClr val="6C86B8"/>
                </a:solidFill>
                <a:latin typeface="Montserrat" charset="0"/>
                <a:ea typeface="Montserrat" charset="0"/>
                <a:cs typeface="Montserrat" charset="0"/>
              </a:rPr>
              <a:t>Results</a:t>
            </a:r>
          </a:p>
        </p:txBody>
      </p:sp>
      <p:sp>
        <p:nvSpPr>
          <p:cNvPr id="6" name="Picture Placeholder 5">
            <a:extLst>
              <a:ext uri="{FF2B5EF4-FFF2-40B4-BE49-F238E27FC236}">
                <a16:creationId xmlns:a16="http://schemas.microsoft.com/office/drawing/2014/main" id="{DC946A52-3E8A-4AAA-A1F9-52E5356EACA1}"/>
              </a:ext>
            </a:extLst>
          </p:cNvPr>
          <p:cNvSpPr>
            <a:spLocks noGrp="1"/>
          </p:cNvSpPr>
          <p:nvPr>
            <p:ph type="pic" sz="quarter" idx="11" hasCustomPrompt="1"/>
          </p:nvPr>
        </p:nvSpPr>
        <p:spPr>
          <a:xfrm>
            <a:off x="381000" y="3550917"/>
            <a:ext cx="4254500" cy="2755900"/>
          </a:xfrm>
        </p:spPr>
        <p:txBody>
          <a:bodyPr/>
          <a:lstStyle>
            <a:lvl1pPr>
              <a:defRPr/>
            </a:lvl1pPr>
          </a:lstStyle>
          <a:p>
            <a:r>
              <a:rPr lang="en-US" dirty="0" err="1"/>
              <a:t>screenshotplace</a:t>
            </a:r>
            <a:endParaRPr lang="en-US" dirty="0"/>
          </a:p>
        </p:txBody>
      </p:sp>
      <p:sp>
        <p:nvSpPr>
          <p:cNvPr id="37" name="Picture Placeholder 4">
            <a:extLst>
              <a:ext uri="{FF2B5EF4-FFF2-40B4-BE49-F238E27FC236}">
                <a16:creationId xmlns:a16="http://schemas.microsoft.com/office/drawing/2014/main" id="{EB585296-BAA5-41EE-AC7D-F347285C3162}"/>
              </a:ext>
            </a:extLst>
          </p:cNvPr>
          <p:cNvSpPr>
            <a:spLocks noGrp="1"/>
          </p:cNvSpPr>
          <p:nvPr>
            <p:ph type="pic" sz="quarter" idx="12"/>
          </p:nvPr>
        </p:nvSpPr>
        <p:spPr>
          <a:xfrm>
            <a:off x="1615685" y="1531636"/>
            <a:ext cx="1781175" cy="1770063"/>
          </a:xfrm>
        </p:spPr>
        <p:txBody>
          <a:bodyPr/>
          <a:lstStyle/>
          <a:p>
            <a:endParaRPr lang="en-US"/>
          </a:p>
        </p:txBody>
      </p:sp>
    </p:spTree>
    <p:extLst>
      <p:ext uri="{BB962C8B-B14F-4D97-AF65-F5344CB8AC3E}">
        <p14:creationId xmlns:p14="http://schemas.microsoft.com/office/powerpoint/2010/main" val="731290465"/>
      </p:ext>
    </p:extLst>
  </p:cSld>
  <p:clrMapOvr>
    <a:masterClrMapping/>
  </p:clrMapOvr>
  <p:extLst mod="1">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85A23AB-5C46-FA4A-BF97-1CB175D11720}" type="datetimeFigureOut">
              <a:t>5/11/2019</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200B42A-9AC8-E54B-B87E-06913CF81F51}" type="slidenum">
              <a:t>‹#›</a:t>
            </a:fld>
            <a:endParaRPr lang="en-US"/>
          </a:p>
        </p:txBody>
      </p:sp>
    </p:spTree>
    <p:extLst>
      <p:ext uri="{BB962C8B-B14F-4D97-AF65-F5344CB8AC3E}">
        <p14:creationId xmlns:p14="http://schemas.microsoft.com/office/powerpoint/2010/main" val="2069889758"/>
      </p:ext>
    </p:extLst>
  </p:cSld>
  <p:clrMap bg1="lt1" tx1="dk1" bg2="lt2" tx2="dk2" accent1="accent1" accent2="accent2" accent3="accent3" accent4="accent4" accent5="accent5" accent6="accent6" hlink="hlink" folHlink="folHlink"/>
  <p:sldLayoutIdLst>
    <p:sldLayoutId id="2147483660" r:id="rId1"/>
    <p:sldLayoutId id="2147483661" r:id="rId2"/>
    <p:sldLayoutId id="2147483668" r:id="rId3"/>
    <p:sldLayoutId id="2147483712" r:id="rId4"/>
    <p:sldLayoutId id="2147483713" r:id="rId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_rels/slide2.xml.rels>&#65279;<?xml version="1.0" encoding="utf-8"?><Relationships xmlns="http://schemas.openxmlformats.org/package/2006/relationships"><Relationship Type="http://schemas.openxmlformats.org/officeDocument/2006/relationships/slideLayout" Target="/ppt/slideLayouts/slideLayout4.xml" Id="R9f77d5ffde5f4c9b" /><Relationship Type="http://schemas.openxmlformats.org/officeDocument/2006/relationships/image" Target="/ppt/media/image.bin" Id="rId20"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Placeholder 6">
            <a:extLst>
              <a:ext uri="{FF2B5EF4-FFF2-40B4-BE49-F238E27FC236}">
                <a16:creationId xmlns:a16="http://schemas.microsoft.com/office/drawing/2014/main" id="{7539CB4E-3F35-4158-BFA8-81B24C9008B2}"/>
              </a:ext>
            </a:extLst>
          </p:cNvPr>
          <p:cNvPicPr>
            <a:picLocks noGrp="1" noChangeAspect="1"/>
          </p:cNvPicPr>
          <p:nvPr>
            <p:ph type="pic" sz="quarter" idx="10"/>
          </p:nvPr>
        </p:nvPicPr>
        <p:blipFill>
          <a:blip r:embed="rId2" cstate="email">
            <a:extLst>
              <a:ext uri="{28A0092B-C50C-407E-A947-70E740481C1C}">
                <a14:useLocalDpi xmlns:a14="http://schemas.microsoft.com/office/drawing/2010/main"/>
              </a:ext>
            </a:extLst>
          </a:blip>
          <a:srcRect/>
          <a:stretch>
            <a:fillRect/>
          </a:stretch>
        </p:blipFill>
        <p:spPr/>
      </p:pic>
      <p:sp>
        <p:nvSpPr>
          <p:cNvPr id="5" name="Rectangle 4"/>
          <p:cNvSpPr/>
          <p:nvPr/>
        </p:nvSpPr>
        <p:spPr>
          <a:xfrm>
            <a:off x="-8878" y="0"/>
            <a:ext cx="12192000" cy="6858000"/>
          </a:xfrm>
          <a:prstGeom prst="rect">
            <a:avLst/>
          </a:prstGeom>
          <a:solidFill>
            <a:schemeClr val="accent5">
              <a:lumMod val="75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6" name="Picture 35" descr="affirmastudioslogo.png">
            <a:extLst>
              <a:ext uri="{FF2B5EF4-FFF2-40B4-BE49-F238E27FC236}">
                <a16:creationId xmlns:a16="http://schemas.microsoft.com/office/drawing/2014/main" id="{3C26C536-9D94-4335-80FB-B04CD1BFE8E8}"/>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942284" y="2464040"/>
            <a:ext cx="3061315" cy="782003"/>
          </a:xfrm>
          <a:prstGeom prst="rect">
            <a:avLst/>
          </a:prstGeom>
        </p:spPr>
      </p:pic>
      <p:sp>
        <p:nvSpPr>
          <p:cNvPr id="10" name="TextBox 9"/>
          <p:cNvSpPr txBox="1"/>
          <p:nvPr/>
        </p:nvSpPr>
        <p:spPr>
          <a:xfrm>
            <a:off x="2700859" y="4137250"/>
            <a:ext cx="6158753" cy="1217834"/>
          </a:xfrm>
          <a:prstGeom prst="rect">
            <a:avLst/>
          </a:prstGeom>
          <a:noFill/>
        </p:spPr>
        <p:txBody>
          <a:bodyPr wrap="square" rtlCol="0">
            <a:spAutoFit/>
          </a:bodyPr>
          <a:lstStyle/>
          <a:p>
            <a:pPr algn="ctr">
              <a:lnSpc>
                <a:spcPct val="150000"/>
              </a:lnSpc>
            </a:pPr>
            <a:r>
              <a:rPr lang="en-US" sz="1000" dirty="0">
                <a:solidFill>
                  <a:schemeClr val="tx1">
                    <a:lumMod val="10000"/>
                    <a:lumOff val="90000"/>
                  </a:schemeClr>
                </a:solidFill>
                <a:latin typeface="Open Sans" charset="0"/>
                <a:ea typeface="Open Sans" charset="0"/>
                <a:cs typeface="Open Sans" charset="0"/>
              </a:rPr>
              <a:t>Affirma consulting is the consulting firm that cares. Our strength is in our passionate, knowledgeable and happy team members. We believe and are living proof that when you take care of your employees – they will take care of your customers. Our team members care about your project success – and it shows.</a:t>
            </a:r>
          </a:p>
          <a:p>
            <a:pPr algn="ctr">
              <a:lnSpc>
                <a:spcPct val="150000"/>
              </a:lnSpc>
            </a:pPr>
            <a:r>
              <a:rPr lang="en-US" sz="1000" dirty="0">
                <a:solidFill>
                  <a:schemeClr val="tx1">
                    <a:lumMod val="10000"/>
                    <a:lumOff val="90000"/>
                  </a:schemeClr>
                </a:solidFill>
                <a:latin typeface="Open Sans" charset="0"/>
                <a:ea typeface="Open Sans" charset="0"/>
                <a:cs typeface="Open Sans" charset="0"/>
              </a:rPr>
              <a:t>See how their enthusiasm and knowledge can benefit you!</a:t>
            </a:r>
          </a:p>
          <a:p>
            <a:pPr algn="ctr">
              <a:lnSpc>
                <a:spcPct val="150000"/>
              </a:lnSpc>
            </a:pPr>
            <a:endParaRPr lang="en-US" sz="1000" dirty="0">
              <a:solidFill>
                <a:schemeClr val="tx1">
                  <a:lumMod val="10000"/>
                  <a:lumOff val="90000"/>
                </a:schemeClr>
              </a:solidFill>
              <a:latin typeface="Open Sans" charset="0"/>
              <a:ea typeface="Open Sans" charset="0"/>
              <a:cs typeface="Open Sans" charset="0"/>
            </a:endParaRPr>
          </a:p>
        </p:txBody>
      </p:sp>
      <p:grpSp>
        <p:nvGrpSpPr>
          <p:cNvPr id="2" name="Group 1"/>
          <p:cNvGrpSpPr/>
          <p:nvPr/>
        </p:nvGrpSpPr>
        <p:grpSpPr>
          <a:xfrm>
            <a:off x="10255378" y="484095"/>
            <a:ext cx="1281303" cy="1176448"/>
            <a:chOff x="10255378" y="484095"/>
            <a:chExt cx="1281303" cy="1176448"/>
          </a:xfrm>
          <a:solidFill>
            <a:schemeClr val="bg1"/>
          </a:solidFill>
        </p:grpSpPr>
        <p:sp>
          <p:nvSpPr>
            <p:cNvPr id="14" name="Right Triangle 13"/>
            <p:cNvSpPr/>
            <p:nvPr/>
          </p:nvSpPr>
          <p:spPr>
            <a:xfrm rot="10800000">
              <a:off x="10404999" y="484095"/>
              <a:ext cx="1131682" cy="1131682"/>
            </a:xfrm>
            <a:prstGeom prst="rtTriangle">
              <a:avLst/>
            </a:prstGeom>
            <a:solidFill>
              <a:srgbClr val="D877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5" name="Group 14"/>
            <p:cNvGrpSpPr/>
            <p:nvPr/>
          </p:nvGrpSpPr>
          <p:grpSpPr>
            <a:xfrm rot="10800000">
              <a:off x="10255378" y="708872"/>
              <a:ext cx="1007690" cy="951671"/>
              <a:chOff x="7625694" y="1771958"/>
              <a:chExt cx="3025379" cy="2857192"/>
            </a:xfrm>
            <a:grpFill/>
          </p:grpSpPr>
          <p:sp>
            <p:nvSpPr>
              <p:cNvPr id="16" name="Oval 15"/>
              <p:cNvSpPr/>
              <p:nvPr/>
            </p:nvSpPr>
            <p:spPr>
              <a:xfrm>
                <a:off x="7632372"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p:cNvSpPr/>
              <p:nvPr/>
            </p:nvSpPr>
            <p:spPr>
              <a:xfrm>
                <a:off x="7648083"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p:cNvSpPr/>
              <p:nvPr/>
            </p:nvSpPr>
            <p:spPr>
              <a:xfrm>
                <a:off x="7629033" y="31054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p:cNvSpPr/>
              <p:nvPr/>
            </p:nvSpPr>
            <p:spPr>
              <a:xfrm>
                <a:off x="7625694" y="24387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p:cNvSpPr/>
              <p:nvPr/>
            </p:nvSpPr>
            <p:spPr>
              <a:xfrm>
                <a:off x="7629033" y="1771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p:cNvSpPr/>
              <p:nvPr/>
            </p:nvSpPr>
            <p:spPr>
              <a:xfrm>
                <a:off x="8338576" y="442300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p:cNvSpPr/>
              <p:nvPr/>
            </p:nvSpPr>
            <p:spPr>
              <a:xfrm>
                <a:off x="8354287" y="375625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p:cNvSpPr/>
              <p:nvPr/>
            </p:nvSpPr>
            <p:spPr>
              <a:xfrm>
                <a:off x="8335237" y="308950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p:cNvSpPr/>
              <p:nvPr/>
            </p:nvSpPr>
            <p:spPr>
              <a:xfrm>
                <a:off x="8331898" y="242275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p:cNvSpPr/>
              <p:nvPr/>
            </p:nvSpPr>
            <p:spPr>
              <a:xfrm>
                <a:off x="9036117"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p:cNvSpPr/>
              <p:nvPr/>
            </p:nvSpPr>
            <p:spPr>
              <a:xfrm>
                <a:off x="9051828"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p:cNvSpPr/>
              <p:nvPr/>
            </p:nvSpPr>
            <p:spPr>
              <a:xfrm>
                <a:off x="9032778" y="31054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p:cNvSpPr/>
              <p:nvPr/>
            </p:nvSpPr>
            <p:spPr>
              <a:xfrm>
                <a:off x="9755375"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Oval 28"/>
              <p:cNvSpPr/>
              <p:nvPr/>
            </p:nvSpPr>
            <p:spPr>
              <a:xfrm>
                <a:off x="9771086"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Oval 29"/>
              <p:cNvSpPr/>
              <p:nvPr/>
            </p:nvSpPr>
            <p:spPr>
              <a:xfrm>
                <a:off x="10470714" y="4448791"/>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pic>
        <p:nvPicPr>
          <p:cNvPr id="32" name="Picture 31">
            <a:extLst>
              <a:ext uri="{FF2B5EF4-FFF2-40B4-BE49-F238E27FC236}">
                <a16:creationId xmlns:a16="http://schemas.microsoft.com/office/drawing/2014/main" id="{C2908EAF-8545-47F0-99B6-9D22EB4246DE}"/>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1993107" y="2517866"/>
            <a:ext cx="668132" cy="668132"/>
          </a:xfrm>
          <a:prstGeom prst="rect">
            <a:avLst/>
          </a:prstGeom>
        </p:spPr>
      </p:pic>
      <p:cxnSp>
        <p:nvCxnSpPr>
          <p:cNvPr id="37" name="Straight Connector 36">
            <a:extLst>
              <a:ext uri="{FF2B5EF4-FFF2-40B4-BE49-F238E27FC236}">
                <a16:creationId xmlns:a16="http://schemas.microsoft.com/office/drawing/2014/main" id="{5EEDD629-B4E1-495E-83EA-C5E0BCF8429B}"/>
              </a:ext>
            </a:extLst>
          </p:cNvPr>
          <p:cNvCxnSpPr/>
          <p:nvPr/>
        </p:nvCxnSpPr>
        <p:spPr>
          <a:xfrm>
            <a:off x="5768806" y="2229747"/>
            <a:ext cx="0" cy="1233714"/>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pic>
        <p:nvPicPr>
          <p:cNvPr id="38" name="Picture 6" descr="Image result for port of seattle logo">
            <a:extLst>
              <a:ext uri="{FF2B5EF4-FFF2-40B4-BE49-F238E27FC236}">
                <a16:creationId xmlns:a16="http://schemas.microsoft.com/office/drawing/2014/main" id="{7931BA4C-8A45-40AE-913E-024C6ECF9C99}"/>
              </a:ext>
            </a:extLst>
          </p:cNvPr>
          <p:cNvPicPr>
            <a:picLocks noChangeAspect="1" noChangeArrowheads="1"/>
          </p:cNvPicPr>
          <p:nvPr/>
        </p:nvPicPr>
        <p:blipFill rotWithShape="1">
          <a:blip r:embed="rId5" cstate="email">
            <a:extLst>
              <a:ext uri="{28A0092B-C50C-407E-A947-70E740481C1C}">
                <a14:useLocalDpi xmlns:a14="http://schemas.microsoft.com/office/drawing/2010/main"/>
              </a:ext>
            </a:extLst>
          </a:blip>
          <a:srcRect/>
          <a:stretch/>
        </p:blipFill>
        <p:spPr bwMode="auto">
          <a:xfrm>
            <a:off x="6534014" y="2114689"/>
            <a:ext cx="3108278" cy="155413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03977902"/>
      </p:ext>
    </p:extLst>
  </p:cSld>
  <p:clrMapOvr>
    <a:masterClrMapping/>
  </p:clrMapOvr>
</p:sld>
</file>

<file path=ppt/slides/slide2.xml><?xml version="1.0" encoding="utf-8"?>
<p:sld xmlns:a16="http://schemas.microsoft.com/office/drawing/2014/main" xmlns:a14="http://schemas.microsoft.com/office/drawing/2010/main" xmlns:p14="http://schemas.microsoft.com/office/powerpoint/2010/main" xmlns:p="http://schemas.openxmlformats.org/presentationml/2006/main">
  <p:cSld name="Case (Left)">
    <p:spTree>
      <p:nvGrpSpPr>
        <p:cNvPr id="1" name=""/>
        <p:cNvGrpSpPr/>
        <p:nvPr/>
      </p:nvGrpSpPr>
      <p:grpSpPr>
        <a:xfrm xmlns:a="http://schemas.openxmlformats.org/drawingml/2006/main">
          <a:off x="0" y="0"/>
          <a:ext cx="0" cy="0"/>
          <a:chOff x="0" y="0"/>
          <a:chExt cx="0" cy="0"/>
        </a:xfrm>
      </p:grpSpPr>
      <p:sp>
        <p:nvSpPr>
          <p:cNvPr id="7" name="Rectangle 6">
            <a:extLst xmlns:a="http://schemas.openxmlformats.org/drawingml/2006/main">
              <a:ext uri="{FF2B5EF4-FFF2-40B4-BE49-F238E27FC236}">
                <a16:creationId xmlns:a16="http://schemas.microsoft.com/office/drawing/2014/main" id="{38F97E55-68B0-4E78-8819-96463181F0E0}"/>
              </a:ext>
            </a:extLst>
          </p:cNvPr>
          <p:cNvSpPr/>
          <p:nvPr userDrawn="1"/>
        </p:nvSpPr>
        <p:spPr>
          <a:xfrm xmlns:a="http://schemas.openxmlformats.org/drawingml/2006/main">
            <a:off x="2" y="0"/>
            <a:ext cx="12192000" cy="990600"/>
          </a:xfrm>
          <a:prstGeom xmlns:a="http://schemas.openxmlformats.org/drawingml/2006/main" prst="rect">
            <a:avLst/>
          </a:prstGeom>
          <a:solidFill xmlns:a="http://schemas.openxmlformats.org/drawingml/2006/main">
            <a:srgbClr val="182D4C"/>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lIns="0" rIns="0" rtlCol="0" anchor="ctr"/>
          <a:lstStyle xmlns:a="http://schemas.openxmlformats.org/drawingml/2006/main"/>
          <a:p xmlns:a="http://schemas.openxmlformats.org/drawingml/2006/main">
            <a:pPr algn="ctr"/>
            <a:endParaRPr lang="en-US" sz="1765" dirty="0">
              <a:solidFill>
                <a:schemeClr val="bg1"/>
              </a:solidFill>
              <a:latin typeface="Segoe UI" panose="020B0502040204020203" pitchFamily="34" charset="0"/>
            </a:endParaRPr>
          </a:p>
        </p:txBody>
      </p:sp>
      <p:sp>
        <p:nvSpPr>
          <p:cNvPr id="2" name="Title 1"/>
          <p:cNvSpPr>
            <a:spLocks xmlns:a="http://schemas.openxmlformats.org/drawingml/2006/main" noGrp="1"/>
          </p:cNvSpPr>
          <p:nvPr>
            <p:ph type="title" hasCustomPrompt="1"/>
          </p:nvPr>
        </p:nvSpPr>
        <p:spPr>
          <a:xfrm xmlns:a="http://schemas.openxmlformats.org/drawingml/2006/main">
            <a:off x="381000" y="228600"/>
            <a:ext cx="11430000" cy="533400"/>
          </a:xfrm>
        </p:spPr>
        <p:txBody>
          <a:bodyPr xmlns:a="http://schemas.openxmlformats.org/drawingml/2006/main" tIns="91440" bIns="91440"/>
          <a:lstStyle xmlns:a="http://schemas.openxmlformats.org/drawingml/2006/main">
            <a:lvl1pPr>
              <a:defRPr b="0">
                <a:solidFill>
                  <a:schemeClr val="bg1"/>
                </a:solidFill>
                <a:latin typeface="Montserrat"/>
              </a:defRPr>
            </a:lvl1pPr>
          </a:lstStyle>
          <a:p xmlns:a="http://schemas.openxmlformats.org/drawingml/2006/main">
            <a:r>
              <a:rPr lang="en-US" dirty="0"/>
              <a:t>UW's Valley Medical Center Intranet</a:t>
            </a:r>
          </a:p>
        </p:txBody>
      </p:sp>
      <p:grpSp>
        <p:nvGrpSpPr>
          <p:cNvPr id="10" name="Group 9">
            <a:extLst xmlns:a="http://schemas.openxmlformats.org/drawingml/2006/main">
              <a:ext uri="{FF2B5EF4-FFF2-40B4-BE49-F238E27FC236}">
                <a16:creationId xmlns:a16="http://schemas.microsoft.com/office/drawing/2014/main" id="{13883256-DDF5-46AA-B364-D5E565E8F2E8}"/>
              </a:ext>
            </a:extLst>
          </p:cNvPr>
          <p:cNvGrpSpPr/>
          <p:nvPr userDrawn="1"/>
        </p:nvGrpSpPr>
        <p:grpSpPr>
          <a:xfrm xmlns:a="http://schemas.openxmlformats.org/drawingml/2006/main">
            <a:off x="11251602" y="157052"/>
            <a:ext cx="772469" cy="709254"/>
            <a:chOff x="10255378" y="484095"/>
            <a:chExt cx="1281303" cy="1176448"/>
          </a:xfrm>
          <a:solidFill xmlns:a="http://schemas.openxmlformats.org/drawingml/2006/main">
            <a:schemeClr val="bg1"/>
          </a:solidFill>
        </p:grpSpPr>
        <p:sp>
          <p:nvSpPr>
            <p:cNvPr id="13" name="Right Triangle 12">
              <a:extLst xmlns:a="http://schemas.openxmlformats.org/drawingml/2006/main">
                <a:ext uri="{FF2B5EF4-FFF2-40B4-BE49-F238E27FC236}">
                  <a16:creationId xmlns:a16="http://schemas.microsoft.com/office/drawing/2014/main" id="{E04258D0-0979-4874-8131-C85BFBF0EBB7}"/>
                </a:ext>
              </a:extLst>
            </p:cNvPr>
            <p:cNvSpPr/>
            <p:nvPr/>
          </p:nvSpPr>
          <p:spPr>
            <a:xfrm xmlns:a="http://schemas.openxmlformats.org/drawingml/2006/main" rot="10800000">
              <a:off x="10404999" y="484095"/>
              <a:ext cx="1131682" cy="1131682"/>
            </a:xfrm>
            <a:prstGeom xmlns:a="http://schemas.openxmlformats.org/drawingml/2006/main" prst="rtTriangle">
              <a:avLst/>
            </a:prstGeom>
            <a:solidFill xmlns:a="http://schemas.openxmlformats.org/drawingml/2006/main">
              <a:srgbClr val="DD812A"/>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dirty="0"/>
            </a:p>
          </p:txBody>
        </p:sp>
        <p:grpSp>
          <p:nvGrpSpPr>
            <p:cNvPr id="14" name="Group 13">
              <a:extLst xmlns:a="http://schemas.openxmlformats.org/drawingml/2006/main">
                <a:ext uri="{FF2B5EF4-FFF2-40B4-BE49-F238E27FC236}">
                  <a16:creationId xmlns:a16="http://schemas.microsoft.com/office/drawing/2014/main" id="{B07A057C-BA43-40B3-9FAD-B92F71670524}"/>
                </a:ext>
              </a:extLst>
            </p:cNvPr>
            <p:cNvGrpSpPr/>
            <p:nvPr/>
          </p:nvGrpSpPr>
          <p:grpSpPr>
            <a:xfrm xmlns:a="http://schemas.openxmlformats.org/drawingml/2006/main" rot="10800000">
              <a:off x="10255378" y="708872"/>
              <a:ext cx="1007690" cy="951671"/>
              <a:chOff x="7625694" y="1771958"/>
              <a:chExt cx="3025379" cy="2857192"/>
            </a:xfrm>
            <a:grpFill xmlns:a="http://schemas.openxmlformats.org/drawingml/2006/main"/>
          </p:grpSpPr>
          <p:sp>
            <p:nvSpPr>
              <p:cNvPr id="15" name="Oval 14">
                <a:extLst xmlns:a="http://schemas.openxmlformats.org/drawingml/2006/main">
                  <a:ext uri="{FF2B5EF4-FFF2-40B4-BE49-F238E27FC236}">
                    <a16:creationId xmlns:a16="http://schemas.microsoft.com/office/drawing/2014/main" id="{822D3E89-D469-424A-A98C-AF9147A63662}"/>
                  </a:ext>
                </a:extLst>
              </p:cNvPr>
              <p:cNvSpPr/>
              <p:nvPr/>
            </p:nvSpPr>
            <p:spPr>
              <a:xfrm xmlns:a="http://schemas.openxmlformats.org/drawingml/2006/main">
                <a:off x="7632372" y="4438958"/>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16" name="Oval 15">
                <a:extLst xmlns:a="http://schemas.openxmlformats.org/drawingml/2006/main">
                  <a:ext uri="{FF2B5EF4-FFF2-40B4-BE49-F238E27FC236}">
                    <a16:creationId xmlns:a16="http://schemas.microsoft.com/office/drawing/2014/main" id="{9BADCFF3-8AD6-42F9-AB8C-375C23E132C8}"/>
                  </a:ext>
                </a:extLst>
              </p:cNvPr>
              <p:cNvSpPr/>
              <p:nvPr/>
            </p:nvSpPr>
            <p:spPr>
              <a:xfrm xmlns:a="http://schemas.openxmlformats.org/drawingml/2006/main">
                <a:off x="7648083" y="3772208"/>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17" name="Oval 16">
                <a:extLst xmlns:a="http://schemas.openxmlformats.org/drawingml/2006/main">
                  <a:ext uri="{FF2B5EF4-FFF2-40B4-BE49-F238E27FC236}">
                    <a16:creationId xmlns:a16="http://schemas.microsoft.com/office/drawing/2014/main" id="{146CF906-92B7-45FE-A1E0-5AF6E9C4869B}"/>
                  </a:ext>
                </a:extLst>
              </p:cNvPr>
              <p:cNvSpPr/>
              <p:nvPr/>
            </p:nvSpPr>
            <p:spPr>
              <a:xfrm xmlns:a="http://schemas.openxmlformats.org/drawingml/2006/main">
                <a:off x="7629033" y="3105458"/>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18" name="Oval 17">
                <a:extLst xmlns:a="http://schemas.openxmlformats.org/drawingml/2006/main">
                  <a:ext uri="{FF2B5EF4-FFF2-40B4-BE49-F238E27FC236}">
                    <a16:creationId xmlns:a16="http://schemas.microsoft.com/office/drawing/2014/main" id="{B449BE01-15C6-4A0D-9AF6-4786CA4E9637}"/>
                  </a:ext>
                </a:extLst>
              </p:cNvPr>
              <p:cNvSpPr/>
              <p:nvPr/>
            </p:nvSpPr>
            <p:spPr>
              <a:xfrm xmlns:a="http://schemas.openxmlformats.org/drawingml/2006/main">
                <a:off x="7625694" y="2438708"/>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19" name="Oval 18">
                <a:extLst xmlns:a="http://schemas.openxmlformats.org/drawingml/2006/main">
                  <a:ext uri="{FF2B5EF4-FFF2-40B4-BE49-F238E27FC236}">
                    <a16:creationId xmlns:a16="http://schemas.microsoft.com/office/drawing/2014/main" id="{3E205D10-1D5E-4D0D-8531-85D8D7946B95}"/>
                  </a:ext>
                </a:extLst>
              </p:cNvPr>
              <p:cNvSpPr/>
              <p:nvPr/>
            </p:nvSpPr>
            <p:spPr>
              <a:xfrm xmlns:a="http://schemas.openxmlformats.org/drawingml/2006/main">
                <a:off x="7629033" y="1771958"/>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20" name="Oval 19">
                <a:extLst xmlns:a="http://schemas.openxmlformats.org/drawingml/2006/main">
                  <a:ext uri="{FF2B5EF4-FFF2-40B4-BE49-F238E27FC236}">
                    <a16:creationId xmlns:a16="http://schemas.microsoft.com/office/drawing/2014/main" id="{DE2C8FD6-081D-49F6-921D-A381A767C163}"/>
                  </a:ext>
                </a:extLst>
              </p:cNvPr>
              <p:cNvSpPr/>
              <p:nvPr/>
            </p:nvSpPr>
            <p:spPr>
              <a:xfrm xmlns:a="http://schemas.openxmlformats.org/drawingml/2006/main">
                <a:off x="8338576" y="4423007"/>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21" name="Oval 20">
                <a:extLst xmlns:a="http://schemas.openxmlformats.org/drawingml/2006/main">
                  <a:ext uri="{FF2B5EF4-FFF2-40B4-BE49-F238E27FC236}">
                    <a16:creationId xmlns:a16="http://schemas.microsoft.com/office/drawing/2014/main" id="{FF9994E3-F742-477B-85AD-302966D65BD7}"/>
                  </a:ext>
                </a:extLst>
              </p:cNvPr>
              <p:cNvSpPr/>
              <p:nvPr/>
            </p:nvSpPr>
            <p:spPr>
              <a:xfrm xmlns:a="http://schemas.openxmlformats.org/drawingml/2006/main">
                <a:off x="8354287" y="3756257"/>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22" name="Oval 21">
                <a:extLst xmlns:a="http://schemas.openxmlformats.org/drawingml/2006/main">
                  <a:ext uri="{FF2B5EF4-FFF2-40B4-BE49-F238E27FC236}">
                    <a16:creationId xmlns:a16="http://schemas.microsoft.com/office/drawing/2014/main" id="{1A814A4E-18CD-488A-8AC5-D8D62E7F96F9}"/>
                  </a:ext>
                </a:extLst>
              </p:cNvPr>
              <p:cNvSpPr/>
              <p:nvPr/>
            </p:nvSpPr>
            <p:spPr>
              <a:xfrm xmlns:a="http://schemas.openxmlformats.org/drawingml/2006/main">
                <a:off x="8335237" y="3089507"/>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23" name="Oval 22">
                <a:extLst xmlns:a="http://schemas.openxmlformats.org/drawingml/2006/main">
                  <a:ext uri="{FF2B5EF4-FFF2-40B4-BE49-F238E27FC236}">
                    <a16:creationId xmlns:a16="http://schemas.microsoft.com/office/drawing/2014/main" id="{B3949535-A9FF-471C-BF8D-F3C9FB103940}"/>
                  </a:ext>
                </a:extLst>
              </p:cNvPr>
              <p:cNvSpPr/>
              <p:nvPr/>
            </p:nvSpPr>
            <p:spPr>
              <a:xfrm xmlns:a="http://schemas.openxmlformats.org/drawingml/2006/main">
                <a:off x="8331898" y="2422757"/>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24" name="Oval 23">
                <a:extLst xmlns:a="http://schemas.openxmlformats.org/drawingml/2006/main">
                  <a:ext uri="{FF2B5EF4-FFF2-40B4-BE49-F238E27FC236}">
                    <a16:creationId xmlns:a16="http://schemas.microsoft.com/office/drawing/2014/main" id="{BA711CF7-5013-4280-856D-919CDF2AA910}"/>
                  </a:ext>
                </a:extLst>
              </p:cNvPr>
              <p:cNvSpPr/>
              <p:nvPr/>
            </p:nvSpPr>
            <p:spPr>
              <a:xfrm xmlns:a="http://schemas.openxmlformats.org/drawingml/2006/main">
                <a:off x="9036117" y="4438958"/>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25" name="Oval 24">
                <a:extLst xmlns:a="http://schemas.openxmlformats.org/drawingml/2006/main">
                  <a:ext uri="{FF2B5EF4-FFF2-40B4-BE49-F238E27FC236}">
                    <a16:creationId xmlns:a16="http://schemas.microsoft.com/office/drawing/2014/main" id="{BD2D7A54-8F84-484D-8489-7F2DF9C00BCC}"/>
                  </a:ext>
                </a:extLst>
              </p:cNvPr>
              <p:cNvSpPr/>
              <p:nvPr/>
            </p:nvSpPr>
            <p:spPr>
              <a:xfrm xmlns:a="http://schemas.openxmlformats.org/drawingml/2006/main">
                <a:off x="9051828" y="3772208"/>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26" name="Oval 25">
                <a:extLst xmlns:a="http://schemas.openxmlformats.org/drawingml/2006/main">
                  <a:ext uri="{FF2B5EF4-FFF2-40B4-BE49-F238E27FC236}">
                    <a16:creationId xmlns:a16="http://schemas.microsoft.com/office/drawing/2014/main" id="{43920531-84F3-4DCA-A4C7-1E45B62398A0}"/>
                  </a:ext>
                </a:extLst>
              </p:cNvPr>
              <p:cNvSpPr/>
              <p:nvPr/>
            </p:nvSpPr>
            <p:spPr>
              <a:xfrm xmlns:a="http://schemas.openxmlformats.org/drawingml/2006/main">
                <a:off x="9032778" y="3105458"/>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27" name="Oval 26">
                <a:extLst xmlns:a="http://schemas.openxmlformats.org/drawingml/2006/main">
                  <a:ext uri="{FF2B5EF4-FFF2-40B4-BE49-F238E27FC236}">
                    <a16:creationId xmlns:a16="http://schemas.microsoft.com/office/drawing/2014/main" id="{8EA3990F-0363-4A77-BABA-C5915D801F32}"/>
                  </a:ext>
                </a:extLst>
              </p:cNvPr>
              <p:cNvSpPr/>
              <p:nvPr/>
            </p:nvSpPr>
            <p:spPr>
              <a:xfrm xmlns:a="http://schemas.openxmlformats.org/drawingml/2006/main">
                <a:off x="9755375" y="4438958"/>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28" name="Oval 27">
                <a:extLst xmlns:a="http://schemas.openxmlformats.org/drawingml/2006/main">
                  <a:ext uri="{FF2B5EF4-FFF2-40B4-BE49-F238E27FC236}">
                    <a16:creationId xmlns:a16="http://schemas.microsoft.com/office/drawing/2014/main" id="{FDE1E5EB-D396-42F9-9256-14D087571DC3}"/>
                  </a:ext>
                </a:extLst>
              </p:cNvPr>
              <p:cNvSpPr/>
              <p:nvPr/>
            </p:nvSpPr>
            <p:spPr>
              <a:xfrm xmlns:a="http://schemas.openxmlformats.org/drawingml/2006/main">
                <a:off x="9771086" y="3772208"/>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29" name="Oval 28">
                <a:extLst xmlns:a="http://schemas.openxmlformats.org/drawingml/2006/main">
                  <a:ext uri="{FF2B5EF4-FFF2-40B4-BE49-F238E27FC236}">
                    <a16:creationId xmlns:a16="http://schemas.microsoft.com/office/drawing/2014/main" id="{496CFD1D-C58B-40A8-A745-B76F50F83965}"/>
                  </a:ext>
                </a:extLst>
              </p:cNvPr>
              <p:cNvSpPr/>
              <p:nvPr/>
            </p:nvSpPr>
            <p:spPr>
              <a:xfrm xmlns:a="http://schemas.openxmlformats.org/drawingml/2006/main">
                <a:off x="10470714" y="4448791"/>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grpSp>
      </p:grpSp>
      <p:sp>
        <p:nvSpPr>
          <p:cNvPr id="30" name="Rectangle 29">
            <a:extLst xmlns:a="http://schemas.openxmlformats.org/drawingml/2006/main">
              <a:ext uri="{FF2B5EF4-FFF2-40B4-BE49-F238E27FC236}">
                <a16:creationId xmlns:a16="http://schemas.microsoft.com/office/drawing/2014/main" id="{9665E9BF-B954-4AC7-821E-2E0CD116D915}"/>
              </a:ext>
            </a:extLst>
          </p:cNvPr>
          <p:cNvSpPr/>
          <p:nvPr userDrawn="1"/>
        </p:nvSpPr>
        <p:spPr>
          <a:xfrm xmlns:a="http://schemas.openxmlformats.org/drawingml/2006/main">
            <a:off x="0" y="994299"/>
            <a:ext cx="7239000" cy="5865808"/>
          </a:xfrm>
          <a:prstGeom xmlns:a="http://schemas.openxmlformats.org/drawingml/2006/main" prst="rect">
            <a:avLst/>
          </a:prstGeom>
          <a:solidFill xmlns:a="http://schemas.openxmlformats.org/drawingml/2006/main">
            <a:schemeClr val="bg1">
              <a:lumMod val="95000"/>
            </a:schemeClr>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31" name="TextBox 30">
            <a:extLst xmlns:a="http://schemas.openxmlformats.org/drawingml/2006/main">
              <a:ext uri="{FF2B5EF4-FFF2-40B4-BE49-F238E27FC236}">
                <a16:creationId xmlns:a16="http://schemas.microsoft.com/office/drawing/2014/main" id="{EC9A7433-5BCD-4EA6-924A-53FDBF0CAAA6}"/>
              </a:ext>
            </a:extLst>
          </p:cNvPr>
          <p:cNvSpPr txBox="1"/>
          <p:nvPr userDrawn="1"/>
        </p:nvSpPr>
        <p:spPr>
          <a:xfrm xmlns:a="http://schemas.openxmlformats.org/drawingml/2006/main">
            <a:off x="858128" y="2008164"/>
            <a:ext cx="5533147" cy="314702"/>
          </a:xfrm>
          <a:prstGeom xmlns:a="http://schemas.openxmlformats.org/drawingml/2006/main" prst="rect">
            <a:avLst/>
          </a:prstGeom>
          <a:noFill xmlns:a="http://schemas.openxmlformats.org/drawingml/2006/main"/>
        </p:spPr>
        <p:txBody>
          <a:bodyPr xmlns:a="http://schemas.openxmlformats.org/drawingml/2006/main" wrap="square" rtlCol="0">
            <a:spAutoFit/>
          </a:bodyPr>
          <a:lstStyle xmlns:a="http://schemas.openxmlformats.org/drawingml/2006/main"/>
          <a:p xmlns:a="http://schemas.openxmlformats.org/drawingml/2006/main">
            <a:pPr>
              <a:lnSpc>
                <a:spcPct val="150000"/>
              </a:lnSpc>
            </a:pPr>
            <a:r>
              <a:rPr lang="en-US" sz="1100" b="0" i="0" kern="1200" dirty="0" err="1">
                <a:solidFill>
                  <a:schemeClr val="tx1"/>
                </a:solidFill>
                <a:effectLst/>
                <a:latin typeface="Open Sans"/>
                <a:ea typeface="+mn-ea"/>
                <a:cs typeface="+mn-cs"/>
              </a:rPr>
              <a:t>The UW Medicine’s Valley Medical Center needed a customized portal that would allow for better management of information about various internal projects. The client was interested in leveraging the capabilities of SharePoint without having the standard SharePoint look and feel.</a:t>
            </a:r>
            <a:endParaRPr lang="en-US" sz="1100" b="0" i="0" kern="1200" dirty="0">
              <a:solidFill>
                <a:schemeClr val="tx1"/>
              </a:solidFill>
              <a:effectLst/>
              <a:latin typeface="Open Sans"/>
              <a:ea typeface="+mn-ea"/>
              <a:cs typeface="+mn-cs"/>
            </a:endParaRPr>
          </a:p>
        </p:txBody>
      </p:sp>
      <p:sp>
        <p:nvSpPr>
          <p:cNvPr id="32" name="TextBox 31">
            <a:extLst xmlns:a="http://schemas.openxmlformats.org/drawingml/2006/main">
              <a:ext uri="{FF2B5EF4-FFF2-40B4-BE49-F238E27FC236}">
                <a16:creationId xmlns:a16="http://schemas.microsoft.com/office/drawing/2014/main" id="{E1C0119A-9047-4290-917B-405E19FFDA31}"/>
              </a:ext>
            </a:extLst>
          </p:cNvPr>
          <p:cNvSpPr txBox="1"/>
          <p:nvPr userDrawn="1"/>
        </p:nvSpPr>
        <p:spPr>
          <a:xfrm xmlns:a="http://schemas.openxmlformats.org/drawingml/2006/main">
            <a:off x="858129" y="1581124"/>
            <a:ext cx="1603901" cy="384721"/>
          </a:xfrm>
          <a:prstGeom xmlns:a="http://schemas.openxmlformats.org/drawingml/2006/main" prst="rect">
            <a:avLst/>
          </a:prstGeom>
          <a:noFill xmlns:a="http://schemas.openxmlformats.org/drawingml/2006/main"/>
        </p:spPr>
        <p:txBody>
          <a:bodyPr xmlns:a="http://schemas.openxmlformats.org/drawingml/2006/main" wrap="none" rtlCol="0">
            <a:spAutoFit/>
          </a:bodyPr>
          <a:lstStyle xmlns:a="http://schemas.openxmlformats.org/drawingml/2006/main"/>
          <a:p xmlns:a="http://schemas.openxmlformats.org/drawingml/2006/main">
            <a:r>
              <a:rPr lang="en-US" sz="1900" b="1" dirty="0">
                <a:solidFill>
                  <a:srgbClr val="6C86B8"/>
                </a:solidFill>
                <a:latin typeface="Montserrat" charset="0"/>
                <a:ea typeface="Montserrat" charset="0"/>
                <a:cs typeface="Montserrat" charset="0"/>
              </a:rPr>
              <a:t>The Challenge</a:t>
            </a:r>
          </a:p>
        </p:txBody>
      </p:sp>
      <p:sp>
        <p:nvSpPr>
          <p:cNvPr id="33" name="TextBox 32">
            <a:extLst xmlns:a="http://schemas.openxmlformats.org/drawingml/2006/main">
              <a:ext uri="{FF2B5EF4-FFF2-40B4-BE49-F238E27FC236}">
                <a16:creationId xmlns:a16="http://schemas.microsoft.com/office/drawing/2014/main" id="{A2CD0AFB-BBEB-434B-985F-3ACF7BE51454}"/>
              </a:ext>
            </a:extLst>
          </p:cNvPr>
          <p:cNvSpPr txBox="1"/>
          <p:nvPr userDrawn="1"/>
        </p:nvSpPr>
        <p:spPr>
          <a:xfrm xmlns:a="http://schemas.openxmlformats.org/drawingml/2006/main">
            <a:off x="858128" y="3525482"/>
            <a:ext cx="5533147" cy="314702"/>
          </a:xfrm>
          <a:prstGeom xmlns:a="http://schemas.openxmlformats.org/drawingml/2006/main" prst="rect">
            <a:avLst/>
          </a:prstGeom>
          <a:noFill xmlns:a="http://schemas.openxmlformats.org/drawingml/2006/main"/>
        </p:spPr>
        <p:txBody>
          <a:bodyPr xmlns:a="http://schemas.openxmlformats.org/drawingml/2006/main" wrap="square" rtlCol="0">
            <a:spAutoFit/>
          </a:bodyPr>
          <a:lstStyle xmlns:a="http://schemas.openxmlformats.org/drawingml/2006/main"/>
          <a:p xmlns:a="http://schemas.openxmlformats.org/drawingml/2006/main">
            <a:pPr>
              <a:lnSpc>
                <a:spcPct val="150000"/>
              </a:lnSpc>
            </a:pPr>
            <a:r>
              <a:rPr lang="en-US" sz="1100" b="0" i="0" kern="1200" dirty="0" err="1">
                <a:solidFill>
                  <a:schemeClr val="tx1"/>
                </a:solidFill>
                <a:effectLst/>
                <a:latin typeface="Open Sans"/>
                <a:ea typeface="+mn-ea"/>
                <a:cs typeface="+mn-cs"/>
              </a:rPr>
              <a:t>Our team developed a SharePoint Intranet, complete with fully- customized functionality, branding, and design. Adhering to brand guidelines, we created a seamless, non-SharePoint looking portal experience designed to provide the best user-experience possible.</a:t>
            </a:r>
            <a:endParaRPr lang="en-US" sz="1100" b="0" i="0" kern="1200" dirty="0">
              <a:solidFill>
                <a:schemeClr val="tx1"/>
              </a:solidFill>
              <a:effectLst/>
              <a:latin typeface="Open Sans"/>
              <a:ea typeface="+mn-ea"/>
              <a:cs typeface="+mn-cs"/>
            </a:endParaRPr>
          </a:p>
        </p:txBody>
      </p:sp>
      <p:sp>
        <p:nvSpPr>
          <p:cNvPr id="34" name="TextBox 33">
            <a:extLst xmlns:a="http://schemas.openxmlformats.org/drawingml/2006/main">
              <a:ext uri="{FF2B5EF4-FFF2-40B4-BE49-F238E27FC236}">
                <a16:creationId xmlns:a16="http://schemas.microsoft.com/office/drawing/2014/main" id="{EC17F625-2EC2-4F28-895B-03B104D7945A}"/>
              </a:ext>
            </a:extLst>
          </p:cNvPr>
          <p:cNvSpPr txBox="1"/>
          <p:nvPr userDrawn="1"/>
        </p:nvSpPr>
        <p:spPr>
          <a:xfrm xmlns:a="http://schemas.openxmlformats.org/drawingml/2006/main">
            <a:off x="858129" y="3098442"/>
            <a:ext cx="1458348" cy="369332"/>
          </a:xfrm>
          <a:prstGeom xmlns:a="http://schemas.openxmlformats.org/drawingml/2006/main" prst="rect">
            <a:avLst/>
          </a:prstGeom>
          <a:noFill xmlns:a="http://schemas.openxmlformats.org/drawingml/2006/main"/>
        </p:spPr>
        <p:txBody>
          <a:bodyPr xmlns:a="http://schemas.openxmlformats.org/drawingml/2006/main" wrap="none" rtlCol="0">
            <a:spAutoFit/>
          </a:bodyPr>
          <a:lstStyle xmlns:a="http://schemas.openxmlformats.org/drawingml/2006/main"/>
          <a:p xmlns:a="http://schemas.openxmlformats.org/drawingml/2006/main">
            <a:r>
              <a:rPr lang="en-US" b="1" dirty="0">
                <a:solidFill>
                  <a:srgbClr val="6C86B8"/>
                </a:solidFill>
                <a:latin typeface="Montserrat" charset="0"/>
                <a:ea typeface="Montserrat" charset="0"/>
                <a:cs typeface="Montserrat" charset="0"/>
              </a:rPr>
              <a:t>What We Did</a:t>
            </a:r>
          </a:p>
        </p:txBody>
      </p:sp>
      <p:sp>
        <p:nvSpPr>
          <p:cNvPr id="35" name="TextBox 34">
            <a:extLst xmlns:a="http://schemas.openxmlformats.org/drawingml/2006/main">
              <a:ext uri="{FF2B5EF4-FFF2-40B4-BE49-F238E27FC236}">
                <a16:creationId xmlns:a16="http://schemas.microsoft.com/office/drawing/2014/main" id="{127A5A2A-6A75-46BB-A872-3D435F9C8C26}"/>
              </a:ext>
            </a:extLst>
          </p:cNvPr>
          <p:cNvSpPr txBox="1"/>
          <p:nvPr userDrawn="1"/>
        </p:nvSpPr>
        <p:spPr>
          <a:xfrm xmlns:a="http://schemas.openxmlformats.org/drawingml/2006/main">
            <a:off x="873603" y="5568668"/>
            <a:ext cx="5517672" cy="314702"/>
          </a:xfrm>
          <a:prstGeom xmlns:a="http://schemas.openxmlformats.org/drawingml/2006/main" prst="rect">
            <a:avLst/>
          </a:prstGeom>
          <a:noFill xmlns:a="http://schemas.openxmlformats.org/drawingml/2006/main"/>
        </p:spPr>
        <p:txBody>
          <a:bodyPr xmlns:a="http://schemas.openxmlformats.org/drawingml/2006/main" wrap="square" rtlCol="0">
            <a:spAutoFit/>
          </a:bodyPr>
          <a:lstStyle xmlns:a="http://schemas.openxmlformats.org/drawingml/2006/main"/>
          <a:p xmlns:a="http://schemas.openxmlformats.org/drawingml/2006/main">
            <a:pPr>
              <a:lnSpc>
                <a:spcPct val="150000"/>
              </a:lnSpc>
            </a:pPr>
            <a:r>
              <a:rPr lang="en-US" sz="1100" b="0" i="0" kern="1200" dirty="0" err="1">
                <a:solidFill>
                  <a:schemeClr val="tx1"/>
                </a:solidFill>
                <a:effectLst/>
                <a:latin typeface="Open Sans"/>
                <a:ea typeface="+mn-ea"/>
                <a:cs typeface="+mn-cs"/>
              </a:rPr>
              <a:t>The goal of this project was to enhance efficiency and productivity by providing end-users with a single access point for mission-critical information. The resulting Intranet has been praised by end-users for the drastic enhancements to usability.</a:t>
            </a:r>
            <a:endParaRPr lang="en-US" sz="1100" b="0" i="0" kern="1200" dirty="0">
              <a:solidFill>
                <a:schemeClr val="tx1"/>
              </a:solidFill>
              <a:effectLst/>
              <a:latin typeface="Open Sans"/>
              <a:ea typeface="+mn-ea"/>
              <a:cs typeface="+mn-cs"/>
            </a:endParaRPr>
          </a:p>
        </p:txBody>
      </p:sp>
      <p:sp>
        <p:nvSpPr>
          <p:cNvPr id="36" name="TextBox 35">
            <a:extLst xmlns:a="http://schemas.openxmlformats.org/drawingml/2006/main">
              <a:ext uri="{FF2B5EF4-FFF2-40B4-BE49-F238E27FC236}">
                <a16:creationId xmlns:a16="http://schemas.microsoft.com/office/drawing/2014/main" id="{4651924A-7907-4360-9ED8-B533D803C21B}"/>
              </a:ext>
            </a:extLst>
          </p:cNvPr>
          <p:cNvSpPr txBox="1"/>
          <p:nvPr userDrawn="1"/>
        </p:nvSpPr>
        <p:spPr>
          <a:xfrm xmlns:a="http://schemas.openxmlformats.org/drawingml/2006/main">
            <a:off x="873603" y="5141628"/>
            <a:ext cx="868956" cy="369332"/>
          </a:xfrm>
          <a:prstGeom xmlns:a="http://schemas.openxmlformats.org/drawingml/2006/main" prst="rect">
            <a:avLst/>
          </a:prstGeom>
          <a:noFill xmlns:a="http://schemas.openxmlformats.org/drawingml/2006/main"/>
        </p:spPr>
        <p:txBody>
          <a:bodyPr xmlns:a="http://schemas.openxmlformats.org/drawingml/2006/main" wrap="none" rtlCol="0">
            <a:spAutoFit/>
          </a:bodyPr>
          <a:lstStyle xmlns:a="http://schemas.openxmlformats.org/drawingml/2006/main"/>
          <a:p xmlns:a="http://schemas.openxmlformats.org/drawingml/2006/main">
            <a:r>
              <a:rPr lang="en-US" b="1" dirty="0">
                <a:solidFill>
                  <a:srgbClr val="6C86B8"/>
                </a:solidFill>
                <a:latin typeface="Montserrat" charset="0"/>
                <a:ea typeface="Montserrat" charset="0"/>
                <a:cs typeface="Montserrat" charset="0"/>
              </a:rPr>
              <a:t>Results</a:t>
            </a:r>
          </a:p>
        </p:txBody>
      </p:sp>
      <p:pic>
        <p:blipFill>
          <a:blip xmlns:r="http://schemas.openxmlformats.org/officeDocument/2006/relationships" xmlns:a="http://schemas.openxmlformats.org/drawingml/2006/main" r:embed="rId20">
            <a:extLst>
              <a:ext uri="{28A0092B-C50C-407E-A947-70E740481C1C}">
                <a14:useLocalDpi xmlns:a14="http://schemas.microsoft.com/office/drawing/2010/main" val="0"/>
              </a:ext>
            </a:extLst>
          </a:blip>
          <a:stretch xmlns:a="http://schemas.openxmlformats.org/drawingml/2006/main">
            <a:fillRect/>
          </a:stretch>
        </p:blipFill>
        <p:spPr>
          <a:xfrm xmlns:a="http://schemas.openxmlformats.org/drawingml/2006/main">
            <a:off x="7604616" y="3578094"/>
            <a:ext cx="4254500" cy="2755900"/>
          </a:xfrm>
          <a:prstGeom xmlns:a="http://schemas.openxmlformats.org/drawingml/2006/main" prst="rect">
            <a:avLst/>
          </a:prstGeom>
        </p:spPr>
        <p:nvPicPr>
          <p:cNvPr id="4" name="Picture 0"/>
          <p:cNvPicPr>
            <a:picLocks xmlns:a="http://schemas.openxmlformats.org/drawingml/2006/main" noChangeAspect="1"/>
          </p:cNvPicPr>
          <p:nvPr/>
        </p:nvPicPr>
      </p:pic>
    </p:spTree>
    <p:extLst>
      <p:ext uri="{BB962C8B-B14F-4D97-AF65-F5344CB8AC3E}">
        <p14:creationId xmlns:p14="http://schemas.microsoft.com/office/powerpoint/2010/main" val="2582825011"/>
      </p:ext>
    </p:extLst>
  </p:cSld>
</p:sld>
</file>

<file path=ppt/theme/theme1.xml><?xml version="1.0" encoding="utf-8"?>
<a:theme xmlns:a="http://schemas.openxmlformats.org/drawingml/2006/main" name="Office Theme">
  <a:themeElements>
    <a:clrScheme name="Suavedigital">
      <a:dk1>
        <a:srgbClr val="242527"/>
      </a:dk1>
      <a:lt1>
        <a:srgbClr val="FFFFFF"/>
      </a:lt1>
      <a:dk2>
        <a:srgbClr val="262626"/>
      </a:dk2>
      <a:lt2>
        <a:srgbClr val="FFFFFF"/>
      </a:lt2>
      <a:accent1>
        <a:srgbClr val="FFC017"/>
      </a:accent1>
      <a:accent2>
        <a:srgbClr val="535353"/>
      </a:accent2>
      <a:accent3>
        <a:srgbClr val="A7A7A7"/>
      </a:accent3>
      <a:accent4>
        <a:srgbClr val="D2DDD9"/>
      </a:accent4>
      <a:accent5>
        <a:srgbClr val="3F3F3F"/>
      </a:accent5>
      <a:accent6>
        <a:srgbClr val="2C2C2C"/>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0D23BCBB7020E34DAE994A365BA94206" ma:contentTypeVersion="12" ma:contentTypeDescription="Create a new document." ma:contentTypeScope="" ma:versionID="b1c940a28d9f7ed7841dd66e388476ed">
  <xsd:schema xmlns:xsd="http://www.w3.org/2001/XMLSchema" xmlns:xs="http://www.w3.org/2001/XMLSchema" xmlns:p="http://schemas.microsoft.com/office/2006/metadata/properties" xmlns:ns2="f0ee8362-fa7e-4bc9-ab88-7dcfb17cb19b" targetNamespace="http://schemas.microsoft.com/office/2006/metadata/properties" ma:root="true" ma:fieldsID="8c9fb4aa225d81f58c6fca2e551d2526" ns2:_="">
    <xsd:import namespace="f0ee8362-fa7e-4bc9-ab88-7dcfb17cb19b"/>
    <xsd:element name="properties">
      <xsd:complexType>
        <xsd:sequence>
          <xsd:element name="documentManagement">
            <xsd:complexType>
              <xsd:all>
                <xsd:element ref="ns2:BusinessUnit" minOccurs="0"/>
                <xsd:element ref="ns2:Industries" minOccurs="0"/>
                <xsd:element ref="ns2:Solutions" minOccurs="0"/>
                <xsd:element ref="ns2:PlatTech" minOccurs="0"/>
                <xsd:element ref="ns2:Notes0" minOccurs="0"/>
                <xsd:element ref="ns2:Named_x0020_Account" minOccurs="0"/>
                <xsd:element ref="ns2:MediaServiceMetadata" minOccurs="0"/>
                <xsd:element ref="ns2:MediaServiceFastMetadata" minOccurs="0"/>
                <xsd:element ref="ns2:MediaServiceSearchProperties" minOccurs="0"/>
                <xsd:element ref="ns2:MediaServiceObjectDetectorVersions" minOccurs="0"/>
                <xsd:element ref="ns2:ProjectCompletionDate" minOccurs="0"/>
                <xsd:element ref="ns2:ApprovedByClient"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0ee8362-fa7e-4bc9-ab88-7dcfb17cb19b" elementFormDefault="qualified">
    <xsd:import namespace="http://schemas.microsoft.com/office/2006/documentManagement/types"/>
    <xsd:import namespace="http://schemas.microsoft.com/office/infopath/2007/PartnerControls"/>
    <xsd:element name="BusinessUnit" ma:index="8" nillable="true" ma:displayName="Business Unit" ma:internalName="BusinessUnit">
      <xsd:complexType>
        <xsd:complexContent>
          <xsd:extension base="dms:MultiChoice">
            <xsd:sequence>
              <xsd:element name="Value" maxOccurs="unbounded" minOccurs="0" nillable="true">
                <xsd:simpleType>
                  <xsd:restriction base="dms:Choice">
                    <xsd:enumeration value="Business Process Outsourcing"/>
                    <xsd:enumeration value="Content and Change Management"/>
                    <xsd:enumeration value="Creative"/>
                    <xsd:enumeration value="Custom Development"/>
                    <xsd:enumeration value="Customer Relationship Management"/>
                    <xsd:enumeration value="Data and Analytics"/>
                    <xsd:enumeration value="Engagement Marketing"/>
                    <xsd:enumeration value="Infrastructure"/>
                    <xsd:enumeration value="Marketing Services"/>
                    <xsd:enumeration value="Modern Workplace"/>
                    <xsd:enumeration value="NetSuite"/>
                  </xsd:restriction>
                </xsd:simpleType>
              </xsd:element>
            </xsd:sequence>
          </xsd:extension>
        </xsd:complexContent>
      </xsd:complexType>
    </xsd:element>
    <xsd:element name="Industries" ma:index="9" nillable="true" ma:displayName="Industries" ma:format="Dropdown" ma:internalName="Industries">
      <xsd:complexType>
        <xsd:complexContent>
          <xsd:extension base="dms:MultiChoice">
            <xsd:sequence>
              <xsd:element name="Value" maxOccurs="unbounded" minOccurs="0" nillable="true">
                <xsd:simpleType>
                  <xsd:restriction base="dms:Choice">
                    <xsd:enumeration value="Aerospace"/>
                    <xsd:enumeration value="Agriculture"/>
                    <xsd:enumeration value="Agriculture Food"/>
                    <xsd:enumeration value="AI / AI Models"/>
                    <xsd:enumeration value="B2B"/>
                    <xsd:enumeration value="B2C"/>
                    <xsd:enumeration value="Chemical"/>
                    <xsd:enumeration value="Construction"/>
                    <xsd:enumeration value="Defence"/>
                    <xsd:enumeration value="Education"/>
                    <xsd:enumeration value="Energy"/>
                    <xsd:enumeration value="Engineering"/>
                    <xsd:enumeration value="Entertainment"/>
                    <xsd:enumeration value="Financial Services"/>
                    <xsd:enumeration value="Food"/>
                    <xsd:enumeration value="Government"/>
                    <xsd:enumeration value="Healthcare"/>
                    <xsd:enumeration value="Hospitality"/>
                    <xsd:enumeration value="Legal"/>
                    <xsd:enumeration value="Life Sciences"/>
                    <xsd:enumeration value="Manufacturing"/>
                    <xsd:enumeration value="Media"/>
                    <xsd:enumeration value="Non-Profit"/>
                    <xsd:enumeration value="Real Estate"/>
                    <xsd:enumeration value="Retail"/>
                    <xsd:enumeration value="Services"/>
                    <xsd:enumeration value="Technology"/>
                    <xsd:enumeration value="Telecommunications"/>
                    <xsd:enumeration value="Transportation"/>
                    <xsd:enumeration value="Water"/>
                    <xsd:enumeration value="Wellness"/>
                    <xsd:enumeration value="BPO"/>
                  </xsd:restriction>
                </xsd:simpleType>
              </xsd:element>
            </xsd:sequence>
          </xsd:extension>
        </xsd:complexContent>
      </xsd:complexType>
    </xsd:element>
    <xsd:element name="Solutions" ma:index="10" nillable="true" ma:displayName="Solutions" ma:format="Dropdown" ma:internalName="Solutions">
      <xsd:complexType>
        <xsd:complexContent>
          <xsd:extension base="dms:MultiChoice">
            <xsd:sequence>
              <xsd:element name="Value" maxOccurs="unbounded" minOccurs="0" nillable="true">
                <xsd:simpleType>
                  <xsd:restriction base="dms:Choice">
                    <xsd:enumeration value="ABM Marketing"/>
                    <xsd:enumeration value="AI"/>
                    <xsd:enumeration value="Audit"/>
                    <xsd:enumeration value="Change Management"/>
                    <xsd:enumeration value="Cloud"/>
                    <xsd:enumeration value="Configurations"/>
                    <xsd:enumeration value="Content"/>
                    <xsd:enumeration value="Customer &amp; Partner Support BPO"/>
                    <xsd:enumeration value="Customer / Partner Portal"/>
                    <xsd:enumeration value="Custom Search"/>
                    <xsd:enumeration value="Cybersecurity"/>
                    <xsd:enumeration value="Data Analytics"/>
                    <xsd:enumeration value="Design"/>
                    <xsd:enumeration value="Email Campaigns"/>
                    <xsd:enumeration value="Event support"/>
                    <xsd:enumeration value="HelpDesk Outsourcing BPO"/>
                    <xsd:enumeration value="Integrations"/>
                    <xsd:enumeration value="Intranet / Extranet"/>
                    <xsd:enumeration value="IoT"/>
                    <xsd:enumeration value="Link Building"/>
                    <xsd:enumeration value="Marketing Automation"/>
                    <xsd:enumeration value="Marketing Strategy"/>
                    <xsd:enumeration value="Marketing Technology"/>
                    <xsd:enumeration value="Migrations"/>
                    <xsd:enumeration value="Mobile Application"/>
                    <xsd:enumeration value="Organic Social Media"/>
                    <xsd:enumeration value="PPC"/>
                    <xsd:enumeration value="Personas &amp; Journey Mapping"/>
                    <xsd:enumeration value="Process Automation"/>
                    <xsd:enumeration value="Product Development"/>
                    <xsd:enumeration value="Research"/>
                    <xsd:enumeration value="SEO/ AEO"/>
                    <xsd:enumeration value="SPFx"/>
                    <xsd:enumeration value="Training"/>
                    <xsd:enumeration value="UX/ UI Design"/>
                    <xsd:enumeration value="Video Production"/>
                    <xsd:enumeration value="Webinars"/>
                    <xsd:enumeration value="Websites"/>
                    <xsd:enumeration value="DevOps"/>
                  </xsd:restriction>
                </xsd:simpleType>
              </xsd:element>
            </xsd:sequence>
          </xsd:extension>
        </xsd:complexContent>
      </xsd:complexType>
    </xsd:element>
    <xsd:element name="PlatTech" ma:index="11" nillable="true" ma:displayName="Platform / Technology" ma:format="Dropdown" ma:internalName="PlatTech">
      <xsd:complexType>
        <xsd:complexContent>
          <xsd:extension base="dms:MultiChoice">
            <xsd:sequence>
              <xsd:element name="Value" maxOccurs="unbounded" minOccurs="0" nillable="true">
                <xsd:simpleType>
                  <xsd:restriction base="dms:Choice">
                    <xsd:enumeration value=".NET"/>
                    <xsd:enumeration value="Android App"/>
                    <xsd:enumeration value="AWS"/>
                    <xsd:enumeration value="Angular"/>
                    <xsd:enumeration value="Azure"/>
                    <xsd:enumeration value="Azure DevOps"/>
                    <xsd:enumeration value="Boomi"/>
                    <xsd:enumeration value="Drupal"/>
                    <xsd:enumeration value="Dynamics"/>
                    <xsd:enumeration value="Flutter"/>
                    <xsd:enumeration value="GCP"/>
                    <xsd:enumeration value="Google"/>
                    <xsd:enumeration value="Great Plains"/>
                    <xsd:enumeration value="Hootsuite"/>
                    <xsd:enumeration value="HubSpot"/>
                    <xsd:enumeration value="iOS App"/>
                    <xsd:enumeration value="Java"/>
                    <xsd:enumeration value="Kentico"/>
                    <xsd:enumeration value="Looker Studio"/>
                    <xsd:enumeration value="Mobile App"/>
                    <xsd:enumeration value="Marketo / Adobe"/>
                    <xsd:enumeration value="NetSuite"/>
                    <xsd:enumeration value="O365"/>
                    <xsd:enumeration value="OneDrive"/>
                    <xsd:enumeration value="PowerSuite"/>
                    <xsd:enumeration value="Power BI"/>
                    <xsd:enumeration value="QuickBooks"/>
                    <xsd:enumeration value="React"/>
                    <xsd:enumeration value="React Native"/>
                    <xsd:enumeration value="Sage"/>
                    <xsd:enumeration value="Salesforce"/>
                    <xsd:enumeration value="Salesforce Experience Cloud"/>
                    <xsd:enumeration value="Salesforce Marketing Cloud"/>
                    <xsd:enumeration value="Salesforce CPQ"/>
                    <xsd:enumeration value="Salesforce Pardot"/>
                    <xsd:enumeration value="SharePoint"/>
                    <xsd:enumeration value="Shopify"/>
                    <xsd:enumeration value="Sitecore"/>
                    <xsd:enumeration value="Sitefinity"/>
                    <xsd:enumeration value="Snowflake"/>
                    <xsd:enumeration value="Sprinklr"/>
                    <xsd:enumeration value="SproutSocial"/>
                    <xsd:enumeration value="Tableau"/>
                    <xsd:enumeration value="WP Engine"/>
                    <xsd:enumeration value="Webflow"/>
                    <xsd:enumeration value="WooCommerce"/>
                    <xsd:enumeration value="WordPress"/>
                    <xsd:enumeration value="Zoho"/>
                    <xsd:enumeration value="Power Apps"/>
                    <xsd:enumeration value="Teams"/>
                    <xsd:enumeration value="Azure Data Factory"/>
                    <xsd:enumeration value="Zendesk"/>
                    <xsd:enumeration value="Business Central"/>
                    <xsd:enumeration value="Viva"/>
                  </xsd:restriction>
                </xsd:simpleType>
              </xsd:element>
            </xsd:sequence>
          </xsd:extension>
        </xsd:complexContent>
      </xsd:complexType>
    </xsd:element>
    <xsd:element name="Notes0" ma:index="12" nillable="true" ma:displayName="Notes" ma:internalName="Notes0">
      <xsd:simpleType>
        <xsd:restriction base="dms:Text">
          <xsd:maxLength value="255"/>
        </xsd:restriction>
      </xsd:simpleType>
    </xsd:element>
    <xsd:element name="Named_x0020_Account" ma:index="13" nillable="true" ma:displayName="Named Account" ma:format="Dropdown" ma:internalName="Named_x0020_Account">
      <xsd:simpleType>
        <xsd:restriction base="dms:Choice">
          <xsd:enumeration value="Microsoft"/>
          <xsd:enumeration value="Meta"/>
          <xsd:enumeration value="Amazon"/>
        </xsd:restriction>
      </xsd:simpleType>
    </xsd:element>
    <xsd:element name="MediaServiceMetadata" ma:index="14" nillable="true" ma:displayName="MediaServiceMetadata" ma:hidden="true" ma:internalName="MediaServiceMetadata" ma:readOnly="true">
      <xsd:simpleType>
        <xsd:restriction base="dms:Note"/>
      </xsd:simpleType>
    </xsd:element>
    <xsd:element name="MediaServiceFastMetadata" ma:index="15" nillable="true" ma:displayName="MediaServiceFastMetadata" ma:hidden="true" ma:internalName="MediaServiceFastMetadata" ma:readOnly="true">
      <xsd:simpleType>
        <xsd:restriction base="dms:Note"/>
      </xsd:simpleType>
    </xsd:element>
    <xsd:element name="MediaServiceSearchProperties" ma:index="16" nillable="true" ma:displayName="MediaServiceSearchProperties" ma:hidden="true" ma:internalName="MediaServiceSearchProperties" ma:readOnly="true">
      <xsd:simpleType>
        <xsd:restriction base="dms:Note"/>
      </xsd:simpleType>
    </xsd:element>
    <xsd:element name="MediaServiceObjectDetectorVersions" ma:index="17" nillable="true" ma:displayName="MediaServiceObjectDetectorVersions" ma:hidden="true" ma:indexed="true" ma:internalName="MediaServiceObjectDetectorVersions" ma:readOnly="true">
      <xsd:simpleType>
        <xsd:restriction base="dms:Text"/>
      </xsd:simpleType>
    </xsd:element>
    <xsd:element name="ProjectCompletionDate" ma:index="18" nillable="true" ma:displayName="Project Completion Date" ma:format="DateOnly" ma:internalName="ProjectCompletionDate">
      <xsd:simpleType>
        <xsd:restriction base="dms:DateTime"/>
      </xsd:simpleType>
    </xsd:element>
    <xsd:element name="ApprovedByClient" ma:index="19" nillable="true" ma:displayName="Approved By Client" ma:default="0" ma:format="Dropdown" ma:internalName="ApprovedByClient">
      <xsd:simpleType>
        <xsd:restriction base="dms:Boolea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BusinessUnit xmlns="f0ee8362-fa7e-4bc9-ab88-7dcfb17cb19b">
      <Value>Modern Workplace</Value>
    </BusinessUnit>
    <Solutions xmlns="f0ee8362-fa7e-4bc9-ab88-7dcfb17cb19b" xsi:nil="true"/>
    <Industries xmlns="f0ee8362-fa7e-4bc9-ab88-7dcfb17cb19b">
      <Value>Healthcare</Value>
    </Industries>
    <Notes0 xmlns="f0ee8362-fa7e-4bc9-ab88-7dcfb17cb19b" xsi:nil="true"/>
    <Named_x0020_Account xmlns="f0ee8362-fa7e-4bc9-ab88-7dcfb17cb19b" xsi:nil="true"/>
    <PlatTech xmlns="f0ee8362-fa7e-4bc9-ab88-7dcfb17cb19b">
      <Value>SharePoint</Value>
    </PlatTech>
    <ProjectCompletionDate xmlns="f0ee8362-fa7e-4bc9-ab88-7dcfb17cb19b" xsi:nil="true"/>
    <ApprovedByClient xmlns="f0ee8362-fa7e-4bc9-ab88-7dcfb17cb19b">false</ApprovedByClient>
  </documentManagement>
</p:properties>
</file>

<file path=customXml/item4.xml><?xml version="1.0" encoding="utf-8"?>
<?mso-contentType ?>
<customXsn xmlns="http://schemas.microsoft.com/office/2006/metadata/customXsn">
  <xsnLocation/>
  <cached>True</cached>
  <openByDefault>False</openByDefault>
  <xsnScope/>
</customXsn>
</file>

<file path=customXml/itemProps1.xml><?xml version="1.0" encoding="utf-8"?>
<ds:datastoreItem xmlns:ds="http://schemas.openxmlformats.org/officeDocument/2006/customXml" ds:itemID="{E128C80B-A680-454C-81C3-A3A5AE5EB7A4}"/>
</file>

<file path=customXml/itemProps2.xml><?xml version="1.0" encoding="utf-8"?>
<ds:datastoreItem xmlns:ds="http://schemas.openxmlformats.org/officeDocument/2006/customXml" ds:itemID="{1276367C-F6A0-436D-8748-29A84232B6AC}"/>
</file>

<file path=customXml/itemProps3.xml><?xml version="1.0" encoding="utf-8"?>
<ds:datastoreItem xmlns:ds="http://schemas.openxmlformats.org/officeDocument/2006/customXml" ds:itemID="{102E5F60-60C4-4B17-A648-62A29194B1F1}"/>
</file>

<file path=customXml/itemProps4.xml><?xml version="1.0" encoding="utf-8"?>
<ds:datastoreItem xmlns:ds="http://schemas.openxmlformats.org/officeDocument/2006/customXml" ds:itemID="{F3CC9A87-748A-4105-AFE2-1F0F5D4BB712}"/>
</file>

<file path=docProps/app.xml><?xml version="1.0" encoding="utf-8"?>
<Properties xmlns="http://schemas.openxmlformats.org/officeDocument/2006/extended-properties" xmlns:vt="http://schemas.openxmlformats.org/officeDocument/2006/docPropsVTypes">
  <TotalTime>4898</TotalTime>
  <Words>68</Words>
  <Application>Microsoft Office PowerPoint</Application>
  <PresentationFormat>Widescreen</PresentationFormat>
  <Paragraphs>2</Paragraphs>
  <Slides>1</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vt:i4>
      </vt:variant>
    </vt:vector>
  </HeadingPairs>
  <TitlesOfParts>
    <vt:vector size="8" baseType="lpstr">
      <vt:lpstr>Arial</vt:lpstr>
      <vt:lpstr>Calibri</vt:lpstr>
      <vt:lpstr>Calibri Light</vt:lpstr>
      <vt:lpstr>Montserrat</vt:lpstr>
      <vt:lpstr>Open Sans</vt:lpstr>
      <vt:lpstr>Segoe UI</vt: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Microsoft Office User</dc:creator>
  <cp:lastModifiedBy>Don Hyun</cp:lastModifiedBy>
  <cp:revision>571</cp:revision>
  <dcterms:created xsi:type="dcterms:W3CDTF">2017-10-09T12:47:23Z</dcterms:created>
  <dcterms:modified xsi:type="dcterms:W3CDTF">2019-05-11T16:49:10Z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0x0101000D23BCBB7020E34DAE994A365BA94206</vt:lpwstr>
  </property>
  <property fmtid="{D5CDD505-2E9C-101B-9397-08002B2CF9AE}" pid="3" name="Business Unit">
    <vt:lpwstr/>
  </property>
  <property fmtid="{D5CDD505-2E9C-101B-9397-08002B2CF9AE}" pid="4" name="Industry">
    <vt:lpwstr>51;#Healthcare|a26bc4ad-14b0-4fca-9fdf-0cbc9e43340d;#53;#Hospitality|a60c30fe-ec09-4234-97ff-237c39e5b728</vt:lpwstr>
  </property>
  <property fmtid="{D5CDD505-2E9C-101B-9397-08002B2CF9AE}" pid="5" name="Service_x0020_Offering">
    <vt:lpwstr/>
  </property>
  <property fmtid="{D5CDD505-2E9C-101B-9397-08002B2CF9AE}" pid="6" name="Business_x0020_Unit">
    <vt:lpwstr/>
  </property>
  <property fmtid="{D5CDD505-2E9C-101B-9397-08002B2CF9AE}" pid="7" name="_ExtendedDescription">
    <vt:lpwstr/>
  </property>
  <property fmtid="{D5CDD505-2E9C-101B-9397-08002B2CF9AE}" pid="8" name="Service Offering">
    <vt:lpwstr/>
  </property>
  <property fmtid="{D5CDD505-2E9C-101B-9397-08002B2CF9AE}" pid="9" name="Category">
    <vt:lpwstr>6;#Case Study|8faa0ad1-25f0-4f56-8e38-f60e20c455d6</vt:lpwstr>
  </property>
  <property fmtid="{D5CDD505-2E9C-101B-9397-08002B2CF9AE}" pid="10" name="Order">
    <vt:r8>72700</vt:r8>
  </property>
  <property fmtid="{D5CDD505-2E9C-101B-9397-08002B2CF9AE}" pid="11" name="xd_Signature">
    <vt:bool>false</vt:bool>
  </property>
  <property fmtid="{D5CDD505-2E9C-101B-9397-08002B2CF9AE}" pid="12" name="SO">
    <vt:lpwstr>37;#;#38;#</vt:lpwstr>
  </property>
  <property fmtid="{D5CDD505-2E9C-101B-9397-08002B2CF9AE}" pid="13" name="xd_ProgID">
    <vt:lpwstr/>
  </property>
  <property fmtid="{D5CDD505-2E9C-101B-9397-08002B2CF9AE}" pid="14" name="_SourceUrl">
    <vt:lpwstr/>
  </property>
  <property fmtid="{D5CDD505-2E9C-101B-9397-08002B2CF9AE}" pid="15" name="_SharedFileIndex">
    <vt:lpwstr/>
  </property>
  <property fmtid="{D5CDD505-2E9C-101B-9397-08002B2CF9AE}" pid="16" name="ComplianceAssetId">
    <vt:lpwstr/>
  </property>
  <property fmtid="{D5CDD505-2E9C-101B-9397-08002B2CF9AE}" pid="17" name="TemplateUrl">
    <vt:lpwstr/>
  </property>
  <property fmtid="{D5CDD505-2E9C-101B-9397-08002B2CF9AE}" pid="18" name="TriggerFlowInfo">
    <vt:lpwstr/>
  </property>
</Properties>
</file>