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14748142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144F3B-28F3-6EBB-59EC-C762A3493FAA}" v="2" dt="2025-12-09T00:54:30.4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8144F3B-28F3-6EBB-59EC-C762A3493FAA}"/>
    <pc:docChg chg="addSld delSld">
      <pc:chgData name="Brendan Murphy" userId="S::bmurphy@affirma.com::e9f923b6-6d89-4d4e-a3b7-d9304b9d44ba" providerId="AD" clId="Web-{B8144F3B-28F3-6EBB-59EC-C762A3493FAA}" dt="2025-12-09T00:54:30.470" v="1"/>
      <pc:docMkLst>
        <pc:docMk/>
      </pc:docMkLst>
      <pc:sldChg chg="del">
        <pc:chgData name="Brendan Murphy" userId="S::bmurphy@affirma.com::e9f923b6-6d89-4d4e-a3b7-d9304b9d44ba" providerId="AD" clId="Web-{B8144F3B-28F3-6EBB-59EC-C762A3493FAA}" dt="2025-12-09T00:54:30.470" v="1"/>
        <pc:sldMkLst>
          <pc:docMk/>
          <pc:sldMk cId="109857222" sldId="256"/>
        </pc:sldMkLst>
      </pc:sldChg>
      <pc:sldChg chg="add">
        <pc:chgData name="Brendan Murphy" userId="S::bmurphy@affirma.com::e9f923b6-6d89-4d4e-a3b7-d9304b9d44ba" providerId="AD" clId="Web-{B8144F3B-28F3-6EBB-59EC-C762A3493FAA}" dt="2025-12-09T00:54:28.579" v="0"/>
        <pc:sldMkLst>
          <pc:docMk/>
          <pc:sldMk cId="1357656956" sldId="2147481427"/>
        </pc:sldMkLst>
      </pc:sldChg>
      <pc:sldMasterChg chg="addSldLayout">
        <pc:chgData name="Brendan Murphy" userId="S::bmurphy@affirma.com::e9f923b6-6d89-4d4e-a3b7-d9304b9d44ba" providerId="AD" clId="Web-{B8144F3B-28F3-6EBB-59EC-C762A3493FAA}" dt="2025-12-09T00:54:28.579" v="0"/>
        <pc:sldMasterMkLst>
          <pc:docMk/>
          <pc:sldMasterMk cId="2460954070" sldId="2147483660"/>
        </pc:sldMasterMkLst>
        <pc:sldLayoutChg chg="add">
          <pc:chgData name="Brendan Murphy" userId="S::bmurphy@affirma.com::e9f923b6-6d89-4d4e-a3b7-d9304b9d44ba" providerId="AD" clId="Web-{B8144F3B-28F3-6EBB-59EC-C762A3493FAA}" dt="2025-12-09T00:54:28.579" v="0"/>
          <pc:sldLayoutMkLst>
            <pc:docMk/>
            <pc:sldMasterMk cId="2460954070" sldId="2147483660"/>
            <pc:sldLayoutMk cId="1345716118"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57161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58D8-48C9-2F48-2D03-8ADCE26707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FA912B-0FBD-45A1-01D0-7A1A2FA37427}"/>
              </a:ext>
            </a:extLst>
          </p:cNvPr>
          <p:cNvSpPr>
            <a:spLocks noGrp="1"/>
          </p:cNvSpPr>
          <p:nvPr>
            <p:ph type="ctrTitle"/>
          </p:nvPr>
        </p:nvSpPr>
        <p:spPr>
          <a:xfrm>
            <a:off x="634252" y="301170"/>
            <a:ext cx="11448890" cy="764390"/>
          </a:xfrm>
        </p:spPr>
        <p:txBody>
          <a:bodyPr>
            <a:noAutofit/>
          </a:bodyPr>
          <a:lstStyle/>
          <a:p>
            <a:pPr defTabSz="896533"/>
            <a:r>
              <a:rPr lang="en-US" dirty="0">
                <a:solidFill>
                  <a:srgbClr val="002060"/>
                </a:solidFill>
                <a:latin typeface="Poppins SemiBold"/>
                <a:cs typeface="Poppins SemiBold"/>
              </a:rPr>
              <a:t>City of Hillsboro M365 Governance</a:t>
            </a:r>
          </a:p>
        </p:txBody>
      </p:sp>
      <p:sp>
        <p:nvSpPr>
          <p:cNvPr id="2" name="Rectangle 1">
            <a:extLst>
              <a:ext uri="{FF2B5EF4-FFF2-40B4-BE49-F238E27FC236}">
                <a16:creationId xmlns:a16="http://schemas.microsoft.com/office/drawing/2014/main" id="{CDD33287-7C6B-7AF9-F729-ECCA68FE9B6C}"/>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D3DBF66-2BC1-5890-2957-1163D14F1E81}"/>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3391D4FA-14AE-3F87-7000-EBEAA454DFF2}"/>
              </a:ext>
            </a:extLst>
          </p:cNvPr>
          <p:cNvSpPr txBox="1"/>
          <p:nvPr/>
        </p:nvSpPr>
        <p:spPr>
          <a:xfrm>
            <a:off x="181858" y="2479695"/>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784630C7-20C4-55BE-5BAE-30EFBEF7EFC0}"/>
              </a:ext>
            </a:extLst>
          </p:cNvPr>
          <p:cNvSpPr txBox="1"/>
          <p:nvPr/>
        </p:nvSpPr>
        <p:spPr>
          <a:xfrm>
            <a:off x="181858" y="4627430"/>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D47354A2-35EE-7828-7AD0-16AF644B0AF8}"/>
              </a:ext>
            </a:extLst>
          </p:cNvPr>
          <p:cNvSpPr txBox="1"/>
          <p:nvPr/>
        </p:nvSpPr>
        <p:spPr>
          <a:xfrm>
            <a:off x="164811" y="1446641"/>
            <a:ext cx="8391287" cy="954107"/>
          </a:xfrm>
          <a:prstGeom prst="rect">
            <a:avLst/>
          </a:prstGeom>
          <a:noFill/>
        </p:spPr>
        <p:txBody>
          <a:bodyPr wrap="square">
            <a:spAutoFit/>
          </a:bodyPr>
          <a:lstStyle/>
          <a:p>
            <a:r>
              <a:rPr lang="en-US" sz="1400" dirty="0"/>
              <a:t>The City of Hillsboro needed a unified Microsoft 365 governance framework to streamline collaboration, strengthen security, and ensure consistent use of SharePoint, OneDrive, and Teams. With multiple departments creating sites, documents, and channels independently, the City required clear policies, lifecycle management, and operational standards to support long-term scalability.</a:t>
            </a:r>
          </a:p>
        </p:txBody>
      </p:sp>
      <p:sp>
        <p:nvSpPr>
          <p:cNvPr id="11" name="TextBox 10">
            <a:extLst>
              <a:ext uri="{FF2B5EF4-FFF2-40B4-BE49-F238E27FC236}">
                <a16:creationId xmlns:a16="http://schemas.microsoft.com/office/drawing/2014/main" id="{274C131F-EF38-59D6-3B23-19462A76A373}"/>
              </a:ext>
            </a:extLst>
          </p:cNvPr>
          <p:cNvSpPr txBox="1"/>
          <p:nvPr/>
        </p:nvSpPr>
        <p:spPr>
          <a:xfrm>
            <a:off x="164810" y="2796857"/>
            <a:ext cx="8353901" cy="1815882"/>
          </a:xfrm>
          <a:prstGeom prst="rect">
            <a:avLst/>
          </a:prstGeom>
          <a:noFill/>
        </p:spPr>
        <p:txBody>
          <a:bodyPr wrap="square">
            <a:spAutoFit/>
          </a:bodyPr>
          <a:lstStyle/>
          <a:p>
            <a:pPr marL="285750" indent="-285750">
              <a:buFont typeface="Arial" panose="020B0604020202020204" pitchFamily="34" charset="0"/>
              <a:buChar char="•"/>
            </a:pPr>
            <a:r>
              <a:rPr lang="en-US" sz="1400" dirty="0"/>
              <a:t>Conducted discovery sessions across departments to understand current usage, challenges, and compliance requirements</a:t>
            </a:r>
          </a:p>
          <a:p>
            <a:pPr marL="285750" indent="-285750">
              <a:buFont typeface="Arial" panose="020B0604020202020204" pitchFamily="34" charset="0"/>
              <a:buChar char="•"/>
            </a:pPr>
            <a:r>
              <a:rPr lang="en-US" sz="1400" dirty="0"/>
              <a:t>Reviewed Teams, SharePoint, and OneDrive structures to define policies for permissions, security, external access, and content lifecycle</a:t>
            </a:r>
          </a:p>
          <a:p>
            <a:pPr marL="285750" indent="-285750">
              <a:buFont typeface="Arial" panose="020B0604020202020204" pitchFamily="34" charset="0"/>
              <a:buChar char="•"/>
            </a:pPr>
            <a:r>
              <a:rPr lang="en-US" sz="1400" dirty="0"/>
              <a:t>Created governance documentation for acceptable use, site provisioning, records management, user responsibilities, and best practices</a:t>
            </a:r>
          </a:p>
          <a:p>
            <a:pPr marL="285750" indent="-285750">
              <a:buFont typeface="Arial" panose="020B0604020202020204" pitchFamily="34" charset="0"/>
              <a:buChar char="•"/>
            </a:pPr>
            <a:r>
              <a:rPr lang="en-US" sz="1400" dirty="0"/>
              <a:t>Delivered user training and provided post-implementation support to ensure adoption and policy alignment.</a:t>
            </a:r>
          </a:p>
        </p:txBody>
      </p:sp>
      <p:sp>
        <p:nvSpPr>
          <p:cNvPr id="12" name="TextBox 11">
            <a:extLst>
              <a:ext uri="{FF2B5EF4-FFF2-40B4-BE49-F238E27FC236}">
                <a16:creationId xmlns:a16="http://schemas.microsoft.com/office/drawing/2014/main" id="{38BB7F00-BEBD-308E-72E8-B50A39F7CB59}"/>
              </a:ext>
            </a:extLst>
          </p:cNvPr>
          <p:cNvSpPr txBox="1"/>
          <p:nvPr/>
        </p:nvSpPr>
        <p:spPr>
          <a:xfrm>
            <a:off x="169217" y="4943504"/>
            <a:ext cx="8385883" cy="1169551"/>
          </a:xfrm>
          <a:prstGeom prst="rect">
            <a:avLst/>
          </a:prstGeom>
          <a:noFill/>
        </p:spPr>
        <p:txBody>
          <a:bodyPr wrap="square">
            <a:spAutoFit/>
          </a:bodyPr>
          <a:lstStyle/>
          <a:p>
            <a:pPr marL="116895" indent="-116895">
              <a:buFont typeface="Arial" panose="020B0604020202020204" pitchFamily="34" charset="0"/>
              <a:buChar char="•"/>
            </a:pPr>
            <a:r>
              <a:rPr lang="en-US" sz="1400" dirty="0">
                <a:solidFill>
                  <a:prstClr val="black"/>
                </a:solidFill>
              </a:rPr>
              <a:t>A centralized governance model offering clear rules for site creation, sharing, retention, and security</a:t>
            </a:r>
          </a:p>
          <a:p>
            <a:pPr marL="116895" indent="-116895">
              <a:buFont typeface="Arial" panose="020B0604020202020204" pitchFamily="34" charset="0"/>
              <a:buChar char="•"/>
            </a:pPr>
            <a:r>
              <a:rPr lang="en-US" sz="1400" dirty="0">
                <a:solidFill>
                  <a:prstClr val="black"/>
                </a:solidFill>
              </a:rPr>
              <a:t>Reduced risk of data exposure through standardized permission models and external access controls</a:t>
            </a:r>
          </a:p>
          <a:p>
            <a:pPr marL="116895" indent="-116895">
              <a:buFont typeface="Arial" panose="020B0604020202020204" pitchFamily="34" charset="0"/>
              <a:buChar char="•"/>
            </a:pPr>
            <a:r>
              <a:rPr lang="en-US" sz="1400" dirty="0">
                <a:solidFill>
                  <a:prstClr val="black"/>
                </a:solidFill>
              </a:rPr>
              <a:t>Improved collaboration consistency across departments with clear channel, library, and content management guidelines</a:t>
            </a:r>
          </a:p>
          <a:p>
            <a:pPr marL="116895" indent="-116895">
              <a:buFont typeface="Arial" panose="020B0604020202020204" pitchFamily="34" charset="0"/>
              <a:buChar char="•"/>
            </a:pPr>
            <a:r>
              <a:rPr lang="en-US" sz="1400" dirty="0">
                <a:solidFill>
                  <a:prstClr val="black"/>
                </a:solidFill>
              </a:rPr>
              <a:t>Increased adoption of M365 tools through documented guidance, training, and ongoing support.</a:t>
            </a:r>
          </a:p>
        </p:txBody>
      </p:sp>
      <p:sp>
        <p:nvSpPr>
          <p:cNvPr id="3" name="AutoShape 2" descr="Microsoft Viva Engage (formerly Yammer) Reviews 2025: Pricing &amp; Features -  Tekpon">
            <a:extLst>
              <a:ext uri="{FF2B5EF4-FFF2-40B4-BE49-F238E27FC236}">
                <a16:creationId xmlns:a16="http://schemas.microsoft.com/office/drawing/2014/main" id="{1030E14A-1FBE-1297-F66F-1A2ED79F027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descr="Microsoft 365 Copilot logo vector (svg, eps) free download - Brandlogos.net">
            <a:extLst>
              <a:ext uri="{FF2B5EF4-FFF2-40B4-BE49-F238E27FC236}">
                <a16:creationId xmlns:a16="http://schemas.microsoft.com/office/drawing/2014/main" id="{0D6F81FA-DDCC-67DD-4AAB-B531496D2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4776" y="1565244"/>
            <a:ext cx="1711355" cy="171135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ustainability | City of Hillsboro, OR">
            <a:extLst>
              <a:ext uri="{FF2B5EF4-FFF2-40B4-BE49-F238E27FC236}">
                <a16:creationId xmlns:a16="http://schemas.microsoft.com/office/drawing/2014/main" id="{AD591C69-535E-078F-7AA1-0EFFA8F23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0564" y="4139440"/>
            <a:ext cx="3114387" cy="829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6569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ApprovedByClient xmlns="f0ee8362-fa7e-4bc9-ab88-7dcfb17cb19b">false</ApprovedByClient>
    <Notes0 xmlns="f0ee8362-fa7e-4bc9-ab88-7dcfb17cb19b" xsi:nil="true"/>
    <Named_x0020_Account xmlns="f0ee8362-fa7e-4bc9-ab88-7dcfb17cb19b" xsi:nil="true"/>
    <Industries xmlns="f0ee8362-fa7e-4bc9-ab88-7dcfb17cb19b">
      <Value>Government</Value>
    </Industries>
    <PlatTech xmlns="f0ee8362-fa7e-4bc9-ab88-7dcfb17cb19b">
      <Value>SharePoint</Value>
    </PlatTech>
    <ProjectCompletionDate xmlns="f0ee8362-fa7e-4bc9-ab88-7dcfb17cb19b" xsi:nil="true"/>
    <BusinessUnit xmlns="f0ee8362-fa7e-4bc9-ab88-7dcfb17cb19b">
      <Value>Modern Workplace</Value>
    </BusinessUnit>
    <Solutions xmlns="f0ee8362-fa7e-4bc9-ab88-7dcfb17cb19b" xsi:nil="true"/>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5A0617-E08B-4E3E-9E52-21E084D20DF6}">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AC9FFE53-2A2F-4C23-B0D8-ECF8E37CF01A}">
  <ds:schemaRefs>
    <ds:schemaRef ds:uri="http://schemas.microsoft.com/office/2006/metadata/customXsn"/>
  </ds:schemaRefs>
</ds:datastoreItem>
</file>

<file path=customXml/itemProps3.xml><?xml version="1.0" encoding="utf-8"?>
<ds:datastoreItem xmlns:ds="http://schemas.openxmlformats.org/officeDocument/2006/customXml" ds:itemID="{1508CE36-C8C5-462C-B815-ECE05BC15D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F90B193-4FC4-4168-82BB-135E1787C64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City of Hillsboro M365 Governance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2025-12-09T00:54:22Z</dcterms:created>
  <dcterms:modified xsi:type="dcterms:W3CDTF">2025-12-09T00:54:31Z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