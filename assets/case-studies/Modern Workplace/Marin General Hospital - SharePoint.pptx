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4DFE3D-C8AD-4EF9-CF16-7A1EAC23BAE7}" v="122" dt="2024-05-28T18:18:30.896"/>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16"/>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in Peterson" userId="S::copeterson@affirma.com::06b2b3a9-6c5f-4199-8546-9ee8c5a2a571" providerId="AD" clId="Web-{EED12035-74A0-77F4-D2E5-F0A0342A2140}"/>
    <pc:docChg chg="modSld">
      <pc:chgData name="Colin Peterson" userId="S::copeterson@affirma.com::06b2b3a9-6c5f-4199-8546-9ee8c5a2a571" providerId="AD" clId="Web-{EED12035-74A0-77F4-D2E5-F0A0342A2140}" dt="2019-06-27T23:13:18.799" v="1" actId="1076"/>
      <pc:docMkLst>
        <pc:docMk/>
      </pc:docMkLst>
      <pc:sldChg chg="modSp">
        <pc:chgData name="Colin Peterson" userId="S::copeterson@affirma.com::06b2b3a9-6c5f-4199-8546-9ee8c5a2a571" providerId="AD" clId="Web-{EED12035-74A0-77F4-D2E5-F0A0342A2140}" dt="2019-06-27T23:13:18.799" v="1" actId="1076"/>
        <pc:sldMkLst>
          <pc:docMk/>
          <pc:sldMk cId="2582825011" sldId="300"/>
        </pc:sldMkLst>
        <pc:spChg chg="mod">
          <ac:chgData name="Colin Peterson" userId="S::copeterson@affirma.com::06b2b3a9-6c5f-4199-8546-9ee8c5a2a571" providerId="AD" clId="Web-{EED12035-74A0-77F4-D2E5-F0A0342A2140}" dt="2019-06-27T23:13:09.080" v="0" actId="1076"/>
          <ac:spMkLst>
            <pc:docMk/>
            <pc:sldMk cId="2582825011" sldId="300"/>
            <ac:spMk id="31" creationId="{EC9A7433-5BCD-4EA6-924A-53FDBF0CAAA6}"/>
          </ac:spMkLst>
        </pc:spChg>
        <pc:spChg chg="mod">
          <ac:chgData name="Colin Peterson" userId="S::copeterson@affirma.com::06b2b3a9-6c5f-4199-8546-9ee8c5a2a571" providerId="AD" clId="Web-{EED12035-74A0-77F4-D2E5-F0A0342A2140}" dt="2019-06-27T23:13:18.799" v="1" actId="1076"/>
          <ac:spMkLst>
            <pc:docMk/>
            <pc:sldMk cId="2582825011" sldId="300"/>
            <ac:spMk id="33" creationId="{A2CD0AFB-BBEB-434B-985F-3ACF7BE51454}"/>
          </ac:spMkLst>
        </pc:spChg>
      </pc:sldChg>
    </pc:docChg>
  </pc:docChgLst>
  <pc:docChgLst>
    <pc:chgData name="Brendan Murphy" userId="S::bmurphy@affirma.com::e9f923b6-6d89-4d4e-a3b7-d9304b9d44ba" providerId="AD" clId="Web-{B94DFE3D-C8AD-4EF9-CF16-7A1EAC23BAE7}"/>
    <pc:docChg chg="modSld">
      <pc:chgData name="Brendan Murphy" userId="S::bmurphy@affirma.com::e9f923b6-6d89-4d4e-a3b7-d9304b9d44ba" providerId="AD" clId="Web-{B94DFE3D-C8AD-4EF9-CF16-7A1EAC23BAE7}" dt="2024-05-28T18:18:30.896" v="67" actId="1076"/>
      <pc:docMkLst>
        <pc:docMk/>
      </pc:docMkLst>
      <pc:sldChg chg="modSp">
        <pc:chgData name="Brendan Murphy" userId="S::bmurphy@affirma.com::e9f923b6-6d89-4d4e-a3b7-d9304b9d44ba" providerId="AD" clId="Web-{B94DFE3D-C8AD-4EF9-CF16-7A1EAC23BAE7}" dt="2024-05-28T18:18:30.896" v="67" actId="1076"/>
        <pc:sldMkLst>
          <pc:docMk/>
          <pc:sldMk cId="2582825011" sldId="300"/>
        </pc:sldMkLst>
        <pc:spChg chg="mod">
          <ac:chgData name="Brendan Murphy" userId="S::bmurphy@affirma.com::e9f923b6-6d89-4d4e-a3b7-d9304b9d44ba" providerId="AD" clId="Web-{B94DFE3D-C8AD-4EF9-CF16-7A1EAC23BAE7}" dt="2024-05-28T18:17:47.879" v="51" actId="20577"/>
          <ac:spMkLst>
            <pc:docMk/>
            <pc:sldMk cId="2582825011" sldId="300"/>
            <ac:spMk id="31" creationId="{EC9A7433-5BCD-4EA6-924A-53FDBF0CAAA6}"/>
          </ac:spMkLst>
        </pc:spChg>
        <pc:spChg chg="mod">
          <ac:chgData name="Brendan Murphy" userId="S::bmurphy@affirma.com::e9f923b6-6d89-4d4e-a3b7-d9304b9d44ba" providerId="AD" clId="Web-{B94DFE3D-C8AD-4EF9-CF16-7A1EAC23BAE7}" dt="2024-05-28T18:18:30.896" v="67" actId="1076"/>
          <ac:spMkLst>
            <pc:docMk/>
            <pc:sldMk cId="2582825011" sldId="300"/>
            <ac:spMk id="33" creationId="{A2CD0AFB-BBEB-434B-985F-3ACF7BE51454}"/>
          </ac:spMkLst>
        </pc:spChg>
        <pc:spChg chg="mod">
          <ac:chgData name="Brendan Murphy" userId="S::bmurphy@affirma.com::e9f923b6-6d89-4d4e-a3b7-d9304b9d44ba" providerId="AD" clId="Web-{B94DFE3D-C8AD-4EF9-CF16-7A1EAC23BAE7}" dt="2024-05-28T18:18:28.224" v="66" actId="20577"/>
          <ac:spMkLst>
            <pc:docMk/>
            <pc:sldMk cId="2582825011" sldId="300"/>
            <ac:spMk id="35" creationId="{127A5A2A-6A75-46BB-A872-3D435F9C8C26}"/>
          </ac:spMkLst>
        </pc:spChg>
      </pc:sldChg>
    </pc:docChg>
  </pc:docChgLst>
  <pc:docChgLst>
    <pc:chgData name="Teal Reed" userId="bfe111ae-6adf-474b-bc5d-5a3b50ff048c" providerId="ADAL" clId="{A4CAF890-8DD4-44A0-9567-1F7A41DAA464}"/>
    <pc:docChg chg="custSel modSld">
      <pc:chgData name="Teal Reed" userId="bfe111ae-6adf-474b-bc5d-5a3b50ff048c" providerId="ADAL" clId="{A4CAF890-8DD4-44A0-9567-1F7A41DAA464}" dt="2021-03-31T18:25:27.111" v="0" actId="27636"/>
      <pc:docMkLst>
        <pc:docMk/>
      </pc:docMkLst>
      <pc:sldChg chg="modSp mod">
        <pc:chgData name="Teal Reed" userId="bfe111ae-6adf-474b-bc5d-5a3b50ff048c" providerId="ADAL" clId="{A4CAF890-8DD4-44A0-9567-1F7A41DAA464}" dt="2021-03-31T18:25:27.111" v="0" actId="27636"/>
        <pc:sldMkLst>
          <pc:docMk/>
          <pc:sldMk cId="2582825011" sldId="300"/>
        </pc:sldMkLst>
        <pc:spChg chg="mod">
          <ac:chgData name="Teal Reed" userId="bfe111ae-6adf-474b-bc5d-5a3b50ff048c" providerId="ADAL" clId="{A4CAF890-8DD4-44A0-9567-1F7A41DAA464}" dt="2021-03-31T18:25:27.111" v="0" actId="27636"/>
          <ac:spMkLst>
            <pc:docMk/>
            <pc:sldMk cId="2582825011" sldId="300"/>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err="1">
                <a:solidFill>
                  <a:schemeClr val="tx1"/>
                </a:solidFill>
                <a:effectLst/>
                <a:latin typeface="Open Sans"/>
                <a:ea typeface="+mn-ea"/>
                <a:cs typeface="+mn-cs"/>
              </a:rPr>
              <a:t>challengereplace</a:t>
            </a:r>
            <a:endParaRPr lang="en-US" sz="1100" b="0" i="0" kern="120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err="1">
                <a:solidFill>
                  <a:schemeClr val="tx1"/>
                </a:solidFill>
                <a:effectLst/>
                <a:latin typeface="Open Sans"/>
                <a:ea typeface="+mn-ea"/>
                <a:cs typeface="+mn-cs"/>
              </a:rPr>
              <a:t>ourworkreplace</a:t>
            </a:r>
            <a:endParaRPr lang="en-US" sz="1100" b="0" i="0" kern="120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err="1">
                <a:solidFill>
                  <a:schemeClr val="tx1"/>
                </a:solidFill>
                <a:effectLst/>
                <a:latin typeface="Open Sans"/>
                <a:ea typeface="+mn-ea"/>
                <a:cs typeface="+mn-cs"/>
              </a:rPr>
              <a:t>resultsreplace</a:t>
            </a:r>
            <a:endParaRPr lang="en-US" sz="1100" b="0" i="0" kern="120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err="1"/>
              <a:t>screenshotplace</a:t>
            </a:r>
            <a:endParaRPr lang="en-US"/>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err="1">
                <a:solidFill>
                  <a:schemeClr val="tx1"/>
                </a:solidFill>
                <a:effectLst/>
                <a:latin typeface="Open Sans"/>
                <a:ea typeface="+mn-ea"/>
                <a:cs typeface="+mn-cs"/>
              </a:rPr>
              <a:t>challengereplace</a:t>
            </a:r>
            <a:endParaRPr lang="en-US" sz="1100" b="0" i="0" kern="120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err="1">
                <a:solidFill>
                  <a:schemeClr val="tx1"/>
                </a:solidFill>
                <a:effectLst/>
                <a:latin typeface="Open Sans"/>
                <a:ea typeface="+mn-ea"/>
                <a:cs typeface="+mn-cs"/>
              </a:rPr>
              <a:t>ourworkreplace</a:t>
            </a:r>
            <a:endParaRPr lang="en-US" sz="1100" b="0" i="0" kern="120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err="1">
                <a:solidFill>
                  <a:schemeClr val="tx1"/>
                </a:solidFill>
                <a:effectLst/>
                <a:latin typeface="Open Sans"/>
                <a:ea typeface="+mn-ea"/>
                <a:cs typeface="+mn-cs"/>
              </a:rPr>
              <a:t>resultsreplace</a:t>
            </a:r>
            <a:endParaRPr lang="en-US" sz="1100" b="0" i="0" kern="120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err="1"/>
              <a:t>screenshotplace</a:t>
            </a:r>
            <a:endParaRPr lang="en-US"/>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normAutofit fontScale="90000"/>
          </a:bodyPr>
          <a:lstStyle>
            <a:lvl1pPr>
              <a:defRPr b="0">
                <a:solidFill>
                  <a:schemeClr val="bg1"/>
                </a:solidFill>
                <a:latin typeface="Montserrat"/>
              </a:defRPr>
            </a:lvl1pPr>
          </a:lstStyle>
          <a:p>
            <a:r>
              <a:rPr lang="en-US"/>
              <a:t>Marin General Hospital SharePoint</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2934983" y="1473305"/>
            <a:ext cx="5533147" cy="3620094"/>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Marin General Hospital, an award-winning facility in California, needed to increase their on-boarding efficiency. On average, Marin General Hospital adds a significant number of employees, volunteers and contractors each month. This can substantially increase during months in which events are held. However, the high volume of new hire information was being processed through a paper form. The previous method of on-boarding required hospital administrators to enter on-boarding information into a default system without customization or technical logic</a:t>
            </a:r>
            <a:r>
              <a:rPr lang="en-US" sz="1100" dirty="0">
                <a:latin typeface="Open Sans"/>
              </a:rPr>
              <a:t>.</a:t>
            </a:r>
            <a:r>
              <a:rPr lang="en-US" sz="1100" b="0" i="0" kern="1200" dirty="0">
                <a:effectLst/>
                <a:latin typeface="Open Sans"/>
                <a:ea typeface="+mn-ea"/>
                <a:cs typeface="+mn-cs"/>
              </a:rPr>
              <a:t>
To alleviate these issues, Marin General Hospital contracted with </a:t>
            </a:r>
            <a:r>
              <a:rPr lang="en-US" sz="1100" b="0" i="0" kern="1200" dirty="0" err="1">
                <a:effectLst/>
                <a:latin typeface="Open Sans"/>
                <a:ea typeface="+mn-ea"/>
                <a:cs typeface="+mn-cs"/>
              </a:rPr>
              <a:t>Affirma</a:t>
            </a:r>
            <a:r>
              <a:rPr lang="en-US" sz="1100" b="0" i="0" kern="1200" dirty="0">
                <a:effectLst/>
                <a:latin typeface="Open Sans"/>
                <a:ea typeface="+mn-ea"/>
                <a:cs typeface="+mn-cs"/>
              </a:rPr>
              <a:t> Consulting to apply an end-to-end SharePoint 2013 workflow for their on-boarding process. The new workflow would have custom automation with built in logic</a:t>
            </a:r>
            <a:r>
              <a:rPr lang="en-US" sz="1100" dirty="0">
                <a:latin typeface="Open Sans"/>
              </a:rPr>
              <a:t>.</a:t>
            </a:r>
            <a:r>
              <a:rPr lang="en-US" sz="1100" b="0" i="0" kern="1200" dirty="0">
                <a:effectLst/>
                <a:latin typeface="Open Sans"/>
                <a:ea typeface="+mn-ea"/>
                <a:cs typeface="+mn-cs"/>
              </a:rPr>
              <a:t>
</a:t>
            </a: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7239553" y="7433757"/>
            <a:ext cx="5533147" cy="3112262"/>
          </a:xfrm>
          <a:prstGeom prst="rect">
            <a:avLst/>
          </a:prstGeom>
          <a:noFill/>
        </p:spPr>
        <p:txBody>
          <a:bodyPr wrap="square" lIns="91440" tIns="45720" rIns="91440" bIns="45720" rtlCol="0" anchor="t">
            <a:spAutoFit/>
          </a:bodyPr>
          <a:lstStyle/>
          <a:p>
            <a:pPr marL="171450" indent="-171450">
              <a:lnSpc>
                <a:spcPct val="150000"/>
              </a:lnSpc>
              <a:buFont typeface="Arial"/>
              <a:buChar char="•"/>
            </a:pPr>
            <a:r>
              <a:rPr lang="en-US" sz="1100" err="1">
                <a:latin typeface="Open Sans"/>
              </a:rPr>
              <a:t>Affirma</a:t>
            </a:r>
            <a:r>
              <a:rPr lang="en-US" sz="1100" b="0" i="0" kern="1200" dirty="0">
                <a:effectLst/>
                <a:latin typeface="Open Sans"/>
                <a:ea typeface="+mn-ea"/>
                <a:cs typeface="+mn-cs"/>
              </a:rPr>
              <a:t> performed all the necessary planning, scoping, and creation of wireframes necessary for the project, as well as guiding Marin General Hospital on best practices.</a:t>
            </a:r>
            <a:r>
              <a:rPr lang="en-US" sz="1100" dirty="0">
                <a:latin typeface="Open Sans"/>
              </a:rPr>
              <a:t> </a:t>
            </a:r>
            <a:endParaRPr lang="en-US">
              <a:latin typeface="Calibri" panose="020F0502020204030204"/>
              <a:ea typeface="Calibri" panose="020F0502020204030204"/>
              <a:cs typeface="Calibri" panose="020F0502020204030204"/>
            </a:endParaRPr>
          </a:p>
          <a:p>
            <a:pPr marL="171450" indent="-171450">
              <a:lnSpc>
                <a:spcPct val="150000"/>
              </a:lnSpc>
              <a:buFont typeface="Arial"/>
              <a:buChar char="•"/>
            </a:pPr>
            <a:r>
              <a:rPr lang="en-US" sz="1100" b="0" i="0" kern="1200" err="1">
                <a:effectLst/>
                <a:latin typeface="Open Sans"/>
                <a:ea typeface="+mn-ea"/>
                <a:cs typeface="+mn-cs"/>
              </a:rPr>
              <a:t>Affirma</a:t>
            </a:r>
            <a:r>
              <a:rPr lang="en-US" sz="1100" b="0" i="0" kern="1200" dirty="0">
                <a:effectLst/>
                <a:latin typeface="Open Sans"/>
                <a:ea typeface="+mn-ea"/>
                <a:cs typeface="+mn-cs"/>
              </a:rPr>
              <a:t> also completed all the development and design of workflow </a:t>
            </a:r>
            <a:r>
              <a:rPr lang="en-US" sz="1100" b="0" i="0" kern="1200">
                <a:effectLst/>
                <a:latin typeface="Open Sans"/>
                <a:ea typeface="+mn-ea"/>
                <a:cs typeface="+mn-cs"/>
              </a:rPr>
              <a:t>schematics</a:t>
            </a:r>
            <a:r>
              <a:rPr lang="en-US" sz="1100">
                <a:latin typeface="Open Sans"/>
              </a:rPr>
              <a:t>.</a:t>
            </a:r>
            <a:endParaRPr lang="en-US">
              <a:latin typeface="Calibri" panose="020F0502020204030204"/>
              <a:ea typeface="Calibri" panose="020F0502020204030204"/>
              <a:cs typeface="Calibri" panose="020F0502020204030204"/>
            </a:endParaRPr>
          </a:p>
          <a:p>
            <a:pPr marL="171450" indent="-171450">
              <a:lnSpc>
                <a:spcPct val="150000"/>
              </a:lnSpc>
              <a:buFont typeface="Arial"/>
              <a:buChar char="•"/>
            </a:pPr>
            <a:r>
              <a:rPr lang="en-US" sz="1100" b="0" i="0" kern="1200" dirty="0" err="1">
                <a:effectLst/>
                <a:latin typeface="Open Sans"/>
                <a:ea typeface="+mn-ea"/>
                <a:cs typeface="+mn-cs"/>
              </a:rPr>
              <a:t>Affirma</a:t>
            </a:r>
            <a:r>
              <a:rPr lang="en-US" sz="1100" b="0" i="0" kern="1200" dirty="0">
                <a:effectLst/>
                <a:latin typeface="Open Sans"/>
                <a:ea typeface="+mn-ea"/>
                <a:cs typeface="+mn-cs"/>
              </a:rPr>
              <a:t> completed all the implementation of the workflow, including all necessary business logic and workflow UI</a:t>
            </a:r>
            <a:r>
              <a:rPr lang="en-US" sz="1100" dirty="0">
                <a:latin typeface="Open Sans"/>
              </a:rPr>
              <a:t>.</a:t>
            </a:r>
            <a:endParaRPr lang="en-US">
              <a:ea typeface="Calibri" panose="020F0502020204030204"/>
              <a:cs typeface="Calibri" panose="020F0502020204030204"/>
            </a:endParaRPr>
          </a:p>
          <a:p>
            <a:pPr marL="171450" indent="-171450">
              <a:lnSpc>
                <a:spcPct val="150000"/>
              </a:lnSpc>
              <a:buFont typeface="Arial"/>
              <a:buChar char="•"/>
            </a:pPr>
            <a:r>
              <a:rPr lang="en-US" sz="1100" b="0" i="0" kern="1200" dirty="0">
                <a:effectLst/>
                <a:latin typeface="Open Sans"/>
                <a:ea typeface="+mn-ea"/>
                <a:cs typeface="+mn-cs"/>
              </a:rPr>
              <a:t>Created a customized workflow and on-boarding form that determined access for new hires based on the new </a:t>
            </a:r>
            <a:r>
              <a:rPr lang="en-US" sz="1100" b="0" i="0" kern="1200" dirty="0" err="1">
                <a:effectLst/>
                <a:latin typeface="Open Sans"/>
                <a:ea typeface="+mn-ea"/>
                <a:cs typeface="+mn-cs"/>
              </a:rPr>
              <a:t>hire&amp;rsquo;s</a:t>
            </a:r>
            <a:r>
              <a:rPr lang="en-US" sz="1100" b="0" i="0" kern="1200" dirty="0">
                <a:effectLst/>
                <a:latin typeface="Open Sans"/>
                <a:ea typeface="+mn-ea"/>
                <a:cs typeface="+mn-cs"/>
              </a:rPr>
              <a:t> role</a:t>
            </a:r>
            <a:r>
              <a:rPr lang="en-US" sz="1100" dirty="0">
                <a:latin typeface="Open Sans"/>
              </a:rPr>
              <a:t>.</a:t>
            </a:r>
          </a:p>
          <a:p>
            <a:pPr marL="171450" indent="-171450">
              <a:lnSpc>
                <a:spcPct val="150000"/>
              </a:lnSpc>
              <a:buFont typeface="Arial"/>
              <a:buChar char="•"/>
            </a:pPr>
            <a:r>
              <a:rPr lang="en-US" sz="1100" b="0" i="0" kern="1200" dirty="0" err="1">
                <a:effectLst/>
                <a:latin typeface="Open Sans"/>
                <a:ea typeface="+mn-ea"/>
                <a:cs typeface="+mn-cs"/>
              </a:rPr>
              <a:t>Affirma</a:t>
            </a:r>
            <a:r>
              <a:rPr lang="en-US" sz="1100" b="0" i="0" kern="1200" dirty="0">
                <a:effectLst/>
                <a:latin typeface="Open Sans"/>
                <a:ea typeface="+mn-ea"/>
                <a:cs typeface="+mn-cs"/>
              </a:rPr>
              <a:t> completed all testing and met all other quality assurance needs
</a:t>
            </a:r>
            <a:endParaRPr lang="en-US" sz="1100" b="0" i="0" kern="1200">
              <a:effectLst/>
              <a:latin typeface="Open Sans"/>
              <a:ea typeface="Open Sans"/>
              <a:cs typeface="Open San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4889672"/>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Marin General Hospital finished their consultation with a newly finished SharePoint 2013 workflow. Within </a:t>
            </a:r>
            <a:r>
              <a:rPr lang="en-US" sz="1100" b="0" i="0" kern="1200" dirty="0" err="1">
                <a:effectLst/>
                <a:latin typeface="Open Sans"/>
                <a:ea typeface="+mn-ea"/>
                <a:cs typeface="+mn-cs"/>
              </a:rPr>
              <a:t>Infopath</a:t>
            </a:r>
            <a:r>
              <a:rPr lang="en-US" sz="1100" b="0" i="0" kern="1200" dirty="0">
                <a:effectLst/>
                <a:latin typeface="Open Sans"/>
                <a:ea typeface="+mn-ea"/>
                <a:cs typeface="+mn-cs"/>
              </a:rPr>
              <a:t>, the program used to assess new hires, new hires would be granted access depending upon their position classification. The on-boarding form would also dynamically pull in the </a:t>
            </a:r>
            <a:r>
              <a:rPr lang="en-US" sz="1100" b="0" i="0" kern="1200" dirty="0" err="1">
                <a:effectLst/>
                <a:latin typeface="Open Sans"/>
                <a:ea typeface="+mn-ea"/>
                <a:cs typeface="+mn-cs"/>
              </a:rPr>
              <a:t>employee&amp;rsquo;s</a:t>
            </a:r>
            <a:r>
              <a:rPr lang="en-US" sz="1100" b="0" i="0" kern="1200" dirty="0">
                <a:effectLst/>
                <a:latin typeface="Open Sans"/>
                <a:ea typeface="+mn-ea"/>
                <a:cs typeface="+mn-cs"/>
              </a:rPr>
              <a:t> name, phone number, email and manager based off their current user data</a:t>
            </a:r>
            <a:r>
              <a:rPr lang="en-US" sz="1100" dirty="0">
                <a:latin typeface="Open Sans"/>
              </a:rPr>
              <a:t>.</a:t>
            </a:r>
            <a:r>
              <a:rPr lang="en-US" sz="1100" b="0" i="0" kern="1200" dirty="0">
                <a:effectLst/>
                <a:latin typeface="Open Sans"/>
                <a:ea typeface="+mn-ea"/>
                <a:cs typeface="+mn-cs"/>
              </a:rPr>
              <a:t>
</a:t>
            </a:r>
            <a:r>
              <a:rPr lang="en-US" sz="1100" dirty="0">
                <a:latin typeface="Open Sans"/>
              </a:rPr>
              <a:t>The</a:t>
            </a:r>
            <a:r>
              <a:rPr lang="en-US" sz="1100" b="0" i="0" kern="1200" dirty="0">
                <a:effectLst/>
                <a:latin typeface="Open Sans"/>
                <a:ea typeface="+mn-ea"/>
                <a:cs typeface="+mn-cs"/>
              </a:rPr>
              <a:t> custom workflow, built into SharePoint designer, would then route approval of the new </a:t>
            </a:r>
            <a:r>
              <a:rPr lang="en-US" sz="1100" b="0" i="0" kern="1200" dirty="0" err="1">
                <a:effectLst/>
                <a:latin typeface="Open Sans"/>
                <a:ea typeface="+mn-ea"/>
                <a:cs typeface="+mn-cs"/>
              </a:rPr>
              <a:t>hire&amp;rsquo;s</a:t>
            </a:r>
            <a:r>
              <a:rPr lang="en-US" sz="1100" b="0" i="0" kern="1200" dirty="0">
                <a:effectLst/>
                <a:latin typeface="Open Sans"/>
                <a:ea typeface="+mn-ea"/>
                <a:cs typeface="+mn-cs"/>
              </a:rPr>
              <a:t> access to all relevant managers automatically through an email. After managerial approval is granted, the new hire would receive access to their relevant portals. No access would be granted until all requested access points are verified</a:t>
            </a:r>
            <a:r>
              <a:rPr lang="en-US" sz="1100" dirty="0">
                <a:latin typeface="Open Sans"/>
              </a:rPr>
              <a:t>.
</a:t>
            </a:r>
            <a:r>
              <a:rPr lang="en-US" sz="1100" b="0" i="0" kern="1200" dirty="0">
                <a:effectLst/>
                <a:latin typeface="Open Sans"/>
                <a:ea typeface="+mn-ea"/>
                <a:cs typeface="+mn-cs"/>
              </a:rPr>
              <a:t>Their on-boarding operations were significantly improved in terms of efficiency, and in the amount of time and clicks that are spent on each entry. The automated customization, and improved logic of their workflow is also expected to be a permanent solution. No further modifications or implementations will be necessary outside of general maintenance</a:t>
            </a:r>
            <a:r>
              <a:rPr lang="en-US" sz="1100" dirty="0">
                <a:latin typeface="Open Sans"/>
              </a:rPr>
              <a:t>.</a:t>
            </a:r>
            <a:r>
              <a:rPr lang="en-US" sz="1100" b="0" i="0" kern="1200" dirty="0">
                <a:effectLst/>
                <a:latin typeface="Open Sans"/>
                <a:ea typeface="+mn-ea"/>
                <a:cs typeface="+mn-cs"/>
              </a:rPr>
              <a:t>
</a:t>
            </a: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pic>
        <p:nvPicPr>
          <p:cNvPr id="3" name="Picture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7646" y="1565275"/>
            <a:ext cx="1781175" cy="1770063"/>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Value>Healthcare</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customXsn xmlns="http://schemas.microsoft.com/office/2006/metadata/customXsn">
  <xsnLocation/>
  <cached>True</cached>
  <openByDefault>False</openByDefault>
  <xsnScope/>
</customXsn>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EC9473-8942-41B6-8803-B4B4BA236EA3}">
  <ds:schemaRefs>
    <ds:schemaRef ds:uri="54243e05-8da7-404c-85e0-0480aaa26276"/>
    <ds:schemaRef ds:uri="http://schemas.microsoft.com/office/2006/metadata/properties"/>
    <ds:schemaRef ds:uri="http://schemas.microsoft.com/office/infopath/2007/PartnerControls"/>
    <ds:schemaRef ds:uri="f205c2cf-faee-43e7-95df-8aa62e5feae0"/>
  </ds:schemaRefs>
</ds:datastoreItem>
</file>

<file path=customXml/itemProps2.xml><?xml version="1.0" encoding="utf-8"?>
<ds:datastoreItem xmlns:ds="http://schemas.openxmlformats.org/officeDocument/2006/customXml" ds:itemID="{C7F4C110-62A8-4EE8-BF0F-CAF57BDB7A8C}">
  <ds:schemaRefs>
    <ds:schemaRef ds:uri="http://schemas.microsoft.com/sharepoint/v3/contenttype/forms"/>
  </ds:schemaRefs>
</ds:datastoreItem>
</file>

<file path=customXml/itemProps3.xml><?xml version="1.0" encoding="utf-8"?>
<ds:datastoreItem xmlns:ds="http://schemas.openxmlformats.org/officeDocument/2006/customXml" ds:itemID="{C5C464B0-6268-436B-AC7A-60B6A27DA0C5}">
  <ds:schemaRefs>
    <ds:schemaRef ds:uri="http://schemas.microsoft.com/office/2006/metadata/customXsn"/>
  </ds:schemaRefs>
</ds:datastoreItem>
</file>

<file path=customXml/itemProps4.xml><?xml version="1.0" encoding="utf-8"?>
<ds:datastoreItem xmlns:ds="http://schemas.openxmlformats.org/officeDocument/2006/customXml" ds:itemID="{A1548A5F-91A8-49E4-8391-FC2C86A79ECA}"/>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Marin General Hospital SharePoint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revision>30</cp:revision>
  <dcterms:created xsi:type="dcterms:W3CDTF">2017-10-09T12:47:23Z</dcterms:created>
  <dcterms:modified xsi:type="dcterms:W3CDTF">2024-05-28T18:18:34Z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51;#Healthcare|a26bc4ad-14b0-4fca-9fdf-0cbc9e43340d</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20700</vt:r8>
  </property>
  <property fmtid="{D5CDD505-2E9C-101B-9397-08002B2CF9AE}" pid="11" name="xd_Signature">
    <vt:bool>false</vt:bool>
  </property>
  <property fmtid="{D5CDD505-2E9C-101B-9397-08002B2CF9AE}" pid="12" name="SO">
    <vt:lpwstr>37;#;#46;#</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