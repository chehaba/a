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261"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4.xml"/><Relationship Id="rId4" Type="http://schemas.openxmlformats.org/officeDocument/2006/relationships/viewProps" Target="viewProps.xml"/><Relationship Id="rId9"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D70E3-4BF5-47E6-7875-500461FB5A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12BFBB-B1FC-3B86-D71B-E6626C5AC1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821115-AF67-AEC8-1583-0895B01642B9}"/>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4B55CC97-195D-F38E-B138-863FAA5F5F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3EF8C-4E29-EED8-682A-1FE8359E56CF}"/>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224806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38B6-EE07-0E8B-0817-3134C3256D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B3D644-AD19-BDB3-D49D-47D5543E7D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923658-16AA-B45A-F4AE-B3A97A64991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703933C2-C657-FD3F-4DC8-7317DA90E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34D6E-3318-62D6-BEDB-F0BBD10878F8}"/>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9548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E7C4-0270-18CD-05C5-A6FC7B110A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96113A-C1FA-745D-C210-9844F991BD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DB1F6-E9B4-BAEF-CCF5-400250C342F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E5C8A4AE-9CD3-8AC3-75E4-133991E08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F7EE9-F313-41CA-44E6-E8388A474E34}"/>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553282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788D-794C-1124-D711-3B526528D8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ADA7B3-948D-1C9E-AD6A-0A54705C9A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87256E-FF7A-5FEB-8F7D-CB20086850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08AF55-ABE2-15F5-D8FA-F38E728D0744}"/>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6" name="Footer Placeholder 5">
            <a:extLst>
              <a:ext uri="{FF2B5EF4-FFF2-40B4-BE49-F238E27FC236}">
                <a16:creationId xmlns:a16="http://schemas.microsoft.com/office/drawing/2014/main" id="{BDB11F82-B388-1168-B353-6975BC73C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20FEC-057D-16F4-D8C6-C1BBCC709718}"/>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321625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CDC09-7999-FEF3-FAEC-31A2DAE419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A22642-268F-363A-6992-3452CC37A4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BEF5E4-1F05-0A2A-C049-C85331DEB9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64A421-AED1-1841-2728-BCA5DA583F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A9F66E-F9E6-DBA5-C0AE-6680C0CEDF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0B6301-DEB5-DB84-7265-62304954F74D}"/>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8" name="Footer Placeholder 7">
            <a:extLst>
              <a:ext uri="{FF2B5EF4-FFF2-40B4-BE49-F238E27FC236}">
                <a16:creationId xmlns:a16="http://schemas.microsoft.com/office/drawing/2014/main" id="{D93A521B-AA45-B279-C62F-E66D209E39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4466F4-E170-A241-BF3C-1241DAC3FDA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86934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4224-312D-3151-6F0C-C6E18E3E2E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55F4FD-875A-50FC-99A2-FADD91274E04}"/>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4" name="Footer Placeholder 3">
            <a:extLst>
              <a:ext uri="{FF2B5EF4-FFF2-40B4-BE49-F238E27FC236}">
                <a16:creationId xmlns:a16="http://schemas.microsoft.com/office/drawing/2014/main" id="{92A6672A-7537-D2E1-C3A1-578F7C5ADC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897E71-30EA-4B7C-5A3F-3750EBCD50B3}"/>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765250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BA586B-F9BF-E644-4B13-96CB178823B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3" name="Footer Placeholder 2">
            <a:extLst>
              <a:ext uri="{FF2B5EF4-FFF2-40B4-BE49-F238E27FC236}">
                <a16:creationId xmlns:a16="http://schemas.microsoft.com/office/drawing/2014/main" id="{9D5BD12D-998A-6EE4-A43F-1497F0E1D8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C44A9A-BD10-8A95-22B1-8125A2D6711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2736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652EA-8F5B-D920-8154-42B679FE42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7A5815-9FF5-A7F9-FFB6-035E93C73F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8183A2-A382-E3AC-CA3E-4664B16108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C552E6-3F8D-FD7B-2056-367C59FA07E7}"/>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6" name="Footer Placeholder 5">
            <a:extLst>
              <a:ext uri="{FF2B5EF4-FFF2-40B4-BE49-F238E27FC236}">
                <a16:creationId xmlns:a16="http://schemas.microsoft.com/office/drawing/2014/main" id="{63DC7024-86A0-8DC5-01F2-B8C5593BCA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B3515D-5C19-EA54-3157-EEAA6341517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427116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3058-34F7-14C9-72E0-4B0F47205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6F7C53-4FC5-5217-51A8-A041AB9AC6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B952F2-EF64-2117-EC5F-2B5B8EF4E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45703E-BFE3-1042-F0BC-24978EB18298}"/>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6" name="Footer Placeholder 5">
            <a:extLst>
              <a:ext uri="{FF2B5EF4-FFF2-40B4-BE49-F238E27FC236}">
                <a16:creationId xmlns:a16="http://schemas.microsoft.com/office/drawing/2014/main" id="{7FAD2936-7436-6973-FB12-9F012C638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86D2E6-B21A-A4C9-BA54-D3BD987EDF31}"/>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752151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716-03F9-41E0-5996-542041EA10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D4C6BB-07F0-948D-7A8F-757782914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E2EBE-C9E8-DD4C-49E0-A758AAB2D3A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DCCA80A3-2991-FAFA-36F2-68419F3B6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5F2A2-744B-3C00-C7FA-01DD5C5C3C15}"/>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440179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28359F-EBDF-B0C7-1A09-B7F0941DAD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685AF1-9544-DD3F-F555-15E7547192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C21BC-62CA-AA62-05C4-B7898B920BF2}"/>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26C69443-A674-B6BE-548F-3BDAA5A6F4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9BDF4-6622-833C-7E32-F88872F35D60}"/>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3895339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ase Study Single Slide - Data Resul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3674382-8BA2-CD48-84D7-6B1CDE48F684}"/>
              </a:ext>
            </a:extLst>
          </p:cNvPr>
          <p:cNvSpPr>
            <a:spLocks noGrp="1"/>
          </p:cNvSpPr>
          <p:nvPr>
            <p:ph type="pic" sz="quarter" idx="17"/>
          </p:nvPr>
        </p:nvSpPr>
        <p:spPr>
          <a:xfrm>
            <a:off x="6700836" y="0"/>
            <a:ext cx="5491163" cy="6858000"/>
          </a:xfrm>
        </p:spPr>
        <p:txBody>
          <a:bodyPr/>
          <a:lstStyle/>
          <a:p>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530816"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53085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8495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69C76-D74A-66B8-D9BC-20C760C3FF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2AEDC9-4EE9-B3FF-C41A-3235DD9135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1141B-C285-1431-21A6-024F9F2233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299FC5E4-D093-6CDE-2302-2FBD5CABA2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227DD1-CE2F-C629-D805-F98B3BD4C0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28C2AC-C83C-4685-B73F-BF4118140888}" type="slidenum">
              <a:rPr lang="en-US" smtClean="0"/>
              <a:t>‹#›</a:t>
            </a:fld>
            <a:endParaRPr lang="en-US"/>
          </a:p>
        </p:txBody>
      </p:sp>
    </p:spTree>
    <p:extLst>
      <p:ext uri="{BB962C8B-B14F-4D97-AF65-F5344CB8AC3E}">
        <p14:creationId xmlns:p14="http://schemas.microsoft.com/office/powerpoint/2010/main" val="664240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9E09ECDE-9AC0-4199-9881-5BF5267EFBE7}"/>
              </a:ext>
            </a:extLst>
          </p:cNvPr>
          <p:cNvSpPr txBox="1">
            <a:spLocks/>
          </p:cNvSpPr>
          <p:nvPr/>
        </p:nvSpPr>
        <p:spPr>
          <a:xfrm>
            <a:off x="603250" y="1450136"/>
            <a:ext cx="11200562" cy="2245564"/>
          </a:xfrm>
          <a:prstGeom prst="rect">
            <a:avLst/>
          </a:prstGeom>
        </p:spPr>
        <p:txBody>
          <a:bodyPr vert="horz" lIns="91440" tIns="45720" rIns="91440" bIns="45720" rtlCol="0">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1417" b="1">
                <a:solidFill>
                  <a:schemeClr val="tx1"/>
                </a:solidFill>
                <a:latin typeface="Aharoni" panose="02010803020104030203" pitchFamily="2" charset="-79"/>
                <a:ea typeface="+mj-ea"/>
                <a:cs typeface="Aharoni" panose="02010803020104030203" pitchFamily="2" charset="-79"/>
              </a:rPr>
              <a:t>Who They Are?</a:t>
            </a:r>
          </a:p>
          <a:p>
            <a:pPr marL="17991" marR="4233">
              <a:lnSpc>
                <a:spcPct val="100000"/>
              </a:lnSpc>
              <a:spcBef>
                <a:spcPts val="79"/>
              </a:spcBef>
            </a:pPr>
            <a:r>
              <a:rPr lang="en-US" sz="1602">
                <a:solidFill>
                  <a:schemeClr val="tx1"/>
                </a:solidFill>
                <a:latin typeface="Arial Nova Light" panose="020B0304020202020204" pitchFamily="34" charset="0"/>
                <a:cs typeface="Aharoni" panose="02010803020104030203" pitchFamily="2" charset="-79"/>
              </a:rPr>
              <a:t>The County of San Bernardino is home to 2+ million people, encompassing nearly 20,105 square miles; the largest county in the United States by area. The County of San Bernardino Human Services division includes eight Human Services departments and supports other partner corporations outside of the county.</a:t>
            </a:r>
          </a:p>
          <a:p>
            <a:endParaRPr lang="en-US" sz="1600">
              <a:latin typeface="+mj-lt"/>
            </a:endParaRPr>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4294967295"/>
          </p:nvPr>
        </p:nvSpPr>
        <p:spPr>
          <a:xfrm>
            <a:off x="9448800" y="6454776"/>
            <a:ext cx="2743200" cy="155575"/>
          </a:xfrm>
        </p:spPr>
        <p:txBody>
          <a:bodyPr/>
          <a:lstStyle>
            <a:defPPr>
              <a:defRPr lang="en-US"/>
            </a:defPPr>
            <a:lvl1pPr marL="0" algn="l" defTabSz="814005" rtl="0" eaLnBrk="1" latinLnBrk="0" hangingPunct="1">
              <a:defRPr sz="1602" kern="1200">
                <a:solidFill>
                  <a:schemeClr val="tx1"/>
                </a:solidFill>
                <a:latin typeface="+mn-lt"/>
                <a:ea typeface="+mn-ea"/>
                <a:cs typeface="+mn-cs"/>
              </a:defRPr>
            </a:lvl1pPr>
            <a:lvl2pPr marL="407002" algn="l" defTabSz="814005" rtl="0" eaLnBrk="1" latinLnBrk="0" hangingPunct="1">
              <a:defRPr sz="1602" kern="1200">
                <a:solidFill>
                  <a:schemeClr val="tx1"/>
                </a:solidFill>
                <a:latin typeface="+mn-lt"/>
                <a:ea typeface="+mn-ea"/>
                <a:cs typeface="+mn-cs"/>
              </a:defRPr>
            </a:lvl2pPr>
            <a:lvl3pPr marL="814005" algn="l" defTabSz="814005" rtl="0" eaLnBrk="1" latinLnBrk="0" hangingPunct="1">
              <a:defRPr sz="1602" kern="1200">
                <a:solidFill>
                  <a:schemeClr val="tx1"/>
                </a:solidFill>
                <a:latin typeface="+mn-lt"/>
                <a:ea typeface="+mn-ea"/>
                <a:cs typeface="+mn-cs"/>
              </a:defRPr>
            </a:lvl3pPr>
            <a:lvl4pPr marL="1221007" algn="l" defTabSz="814005" rtl="0" eaLnBrk="1" latinLnBrk="0" hangingPunct="1">
              <a:defRPr sz="1602" kern="1200">
                <a:solidFill>
                  <a:schemeClr val="tx1"/>
                </a:solidFill>
                <a:latin typeface="+mn-lt"/>
                <a:ea typeface="+mn-ea"/>
                <a:cs typeface="+mn-cs"/>
              </a:defRPr>
            </a:lvl4pPr>
            <a:lvl5pPr marL="1628010" algn="l" defTabSz="814005" rtl="0" eaLnBrk="1" latinLnBrk="0" hangingPunct="1">
              <a:defRPr sz="1602" kern="1200">
                <a:solidFill>
                  <a:schemeClr val="tx1"/>
                </a:solidFill>
                <a:latin typeface="+mn-lt"/>
                <a:ea typeface="+mn-ea"/>
                <a:cs typeface="+mn-cs"/>
              </a:defRPr>
            </a:lvl5pPr>
            <a:lvl6pPr marL="2035012" algn="l" defTabSz="814005" rtl="0" eaLnBrk="1" latinLnBrk="0" hangingPunct="1">
              <a:defRPr sz="1602" kern="1200">
                <a:solidFill>
                  <a:schemeClr val="tx1"/>
                </a:solidFill>
                <a:latin typeface="+mn-lt"/>
                <a:ea typeface="+mn-ea"/>
                <a:cs typeface="+mn-cs"/>
              </a:defRPr>
            </a:lvl6pPr>
            <a:lvl7pPr marL="2442014" algn="l" defTabSz="814005" rtl="0" eaLnBrk="1" latinLnBrk="0" hangingPunct="1">
              <a:defRPr sz="1602" kern="1200">
                <a:solidFill>
                  <a:schemeClr val="tx1"/>
                </a:solidFill>
                <a:latin typeface="+mn-lt"/>
                <a:ea typeface="+mn-ea"/>
                <a:cs typeface="+mn-cs"/>
              </a:defRPr>
            </a:lvl7pPr>
            <a:lvl8pPr marL="2849017" algn="l" defTabSz="814005" rtl="0" eaLnBrk="1" latinLnBrk="0" hangingPunct="1">
              <a:defRPr sz="1602" kern="1200">
                <a:solidFill>
                  <a:schemeClr val="tx1"/>
                </a:solidFill>
                <a:latin typeface="+mn-lt"/>
                <a:ea typeface="+mn-ea"/>
                <a:cs typeface="+mn-cs"/>
              </a:defRPr>
            </a:lvl8pPr>
            <a:lvl9pPr marL="3256020" algn="l" defTabSz="814005" rtl="0" eaLnBrk="1" latinLnBrk="0" hangingPunct="1">
              <a:defRPr sz="1602" kern="1200">
                <a:solidFill>
                  <a:schemeClr val="tx1"/>
                </a:solidFill>
                <a:latin typeface="+mn-lt"/>
                <a:ea typeface="+mn-ea"/>
                <a:cs typeface="+mn-cs"/>
              </a:defRPr>
            </a:lvl9pPr>
          </a:lstStyle>
          <a:p>
            <a:fld id="{056F86DB-78DF-EB43-A6BE-40415A3A0052}" type="slidenum">
              <a:rPr lang="en-US" smtClean="0"/>
              <a:pPr/>
              <a:t>1</a:t>
            </a:fld>
            <a:endParaRPr lang="en-US"/>
          </a:p>
        </p:txBody>
      </p:sp>
      <p:sp>
        <p:nvSpPr>
          <p:cNvPr id="13" name="Text Placeholder 5">
            <a:extLst>
              <a:ext uri="{FF2B5EF4-FFF2-40B4-BE49-F238E27FC236}">
                <a16:creationId xmlns:a16="http://schemas.microsoft.com/office/drawing/2014/main" id="{3C112BA2-CA65-4426-81B6-B9B1AC437FD9}"/>
              </a:ext>
            </a:extLst>
          </p:cNvPr>
          <p:cNvSpPr txBox="1">
            <a:spLocks/>
          </p:cNvSpPr>
          <p:nvPr/>
        </p:nvSpPr>
        <p:spPr>
          <a:xfrm>
            <a:off x="603248" y="2460069"/>
            <a:ext cx="11039838" cy="1475167"/>
          </a:xfrm>
          <a:prstGeom prst="rect">
            <a:avLst/>
          </a:prstGeom>
        </p:spPr>
        <p:txBody>
          <a:bodyPr vert="horz" lIns="91440" tIns="45720" rIns="91440" bIns="45720" rtlCol="0">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1417" b="1">
                <a:solidFill>
                  <a:schemeClr val="tx1"/>
                </a:solidFill>
                <a:latin typeface="Aharoni" panose="02010803020104030203" pitchFamily="2" charset="-79"/>
                <a:ea typeface="+mj-ea"/>
                <a:cs typeface="Aharoni" panose="02010803020104030203" pitchFamily="2" charset="-79"/>
              </a:rPr>
              <a:t>What We Did</a:t>
            </a:r>
          </a:p>
          <a:p>
            <a:pPr marL="10583" marR="12699">
              <a:lnSpc>
                <a:spcPct val="100000"/>
              </a:lnSpc>
              <a:spcBef>
                <a:spcPts val="679"/>
              </a:spcBef>
            </a:pPr>
            <a:r>
              <a:rPr lang="en-US" sz="1602">
                <a:solidFill>
                  <a:schemeClr val="tx1"/>
                </a:solidFill>
                <a:latin typeface="Arial Nova Light" panose="020B0304020202020204" pitchFamily="34" charset="0"/>
                <a:cs typeface="Aharoni" panose="02010803020104030203" pitchFamily="2" charset="-79"/>
              </a:rPr>
              <a:t>Affirma Sr. SharePoint architects partnered with County of San Bernardino Human Services Department Information, Technology and Support Division (ITSD) to assess their large, complex SharePoint 2010 on-premise environment and design a new, more secure and feature-rich SharePoint 2016 environment and migration plan. Affirma delivered 18 technical specifications and diagrams that detail the design, architecture and migration plans for a secure and high-availability SharePoint platform. Affirma successfully completed the analysis phase and presented The San Bernardino County with an executable plan and clear understanding of the future environment.</a:t>
            </a:r>
          </a:p>
          <a:p>
            <a:pPr marL="10583" marR="12699">
              <a:spcBef>
                <a:spcPts val="679"/>
              </a:spcBef>
            </a:pPr>
            <a:r>
              <a:rPr lang="en-US" sz="1602">
                <a:solidFill>
                  <a:schemeClr val="tx1"/>
                </a:solidFill>
                <a:latin typeface="Arial Nova Light" panose="020B0304020202020204" pitchFamily="34" charset="0"/>
                <a:cs typeface="Aharoni" panose="02010803020104030203" pitchFamily="2" charset="-79"/>
              </a:rPr>
              <a:t>Many parts of the ITSD SharePoint farm manage sensitive information including Personally Identifiable Information (PII) and vital county government records. Affirma provided SharePoint expertise, best practices and technical designs for the transition to SharePoint 2016. Specific deliverables included:</a:t>
            </a:r>
          </a:p>
          <a:p>
            <a:endParaRPr lang="en-US" sz="1600">
              <a:latin typeface="+mj-lt"/>
            </a:endParaRPr>
          </a:p>
        </p:txBody>
      </p:sp>
      <p:sp>
        <p:nvSpPr>
          <p:cNvPr id="15" name="Title 3">
            <a:extLst>
              <a:ext uri="{FF2B5EF4-FFF2-40B4-BE49-F238E27FC236}">
                <a16:creationId xmlns:a16="http://schemas.microsoft.com/office/drawing/2014/main" id="{6370B770-9C2B-4654-8077-223DFDF72BE5}"/>
              </a:ext>
            </a:extLst>
          </p:cNvPr>
          <p:cNvSpPr>
            <a:spLocks noGrp="1"/>
          </p:cNvSpPr>
          <p:nvPr>
            <p:ph type="ctrTitle"/>
          </p:nvPr>
        </p:nvSpPr>
        <p:spPr>
          <a:xfrm>
            <a:off x="603284" y="388389"/>
            <a:ext cx="7131736" cy="764390"/>
          </a:xfrm>
        </p:spPr>
        <p:txBody>
          <a:bodyPr>
            <a:norm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3333" b="1" spc="-183">
                <a:solidFill>
                  <a:srgbClr val="1B3F77"/>
                </a:solidFill>
                <a:latin typeface="Aharoni" panose="02010803020104030203" pitchFamily="2" charset="-79"/>
                <a:ea typeface="+mn-ea"/>
                <a:cs typeface="Aharoni" panose="02010803020104030203" pitchFamily="2" charset="-79"/>
              </a:rPr>
              <a:t>THE COUNTY OF SAN BERNARDINO</a:t>
            </a:r>
          </a:p>
        </p:txBody>
      </p:sp>
      <p:sp>
        <p:nvSpPr>
          <p:cNvPr id="18" name="TextBox 17">
            <a:extLst>
              <a:ext uri="{FF2B5EF4-FFF2-40B4-BE49-F238E27FC236}">
                <a16:creationId xmlns:a16="http://schemas.microsoft.com/office/drawing/2014/main" id="{D56F2DD3-4226-47E8-B549-ECE1FA8180B2}"/>
              </a:ext>
            </a:extLst>
          </p:cNvPr>
          <p:cNvSpPr txBox="1"/>
          <p:nvPr/>
        </p:nvSpPr>
        <p:spPr>
          <a:xfrm>
            <a:off x="603248" y="1014119"/>
            <a:ext cx="3241430" cy="451342"/>
          </a:xfrm>
          <a:prstGeom prst="rect">
            <a:avLst/>
          </a:prstGeom>
          <a:noFill/>
        </p:spPr>
        <p:txBody>
          <a:bodyPr wrap="square">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2333">
                <a:solidFill>
                  <a:srgbClr val="1B3F77"/>
                </a:solidFill>
                <a:latin typeface="Arial Nova Cond Light" panose="020B0306020202020204" pitchFamily="34" charset="0"/>
                <a:cs typeface="Aharoni" panose="02010803020104030203" pitchFamily="2" charset="-79"/>
              </a:rPr>
              <a:t>SharePoint Migration</a:t>
            </a:r>
            <a:endParaRPr lang="en-US" sz="2333"/>
          </a:p>
        </p:txBody>
      </p:sp>
      <p:sp>
        <p:nvSpPr>
          <p:cNvPr id="2" name="object 10">
            <a:extLst>
              <a:ext uri="{FF2B5EF4-FFF2-40B4-BE49-F238E27FC236}">
                <a16:creationId xmlns:a16="http://schemas.microsoft.com/office/drawing/2014/main" id="{A17B831B-B8AB-FA56-634F-CC312ED6A20B}"/>
              </a:ext>
            </a:extLst>
          </p:cNvPr>
          <p:cNvSpPr/>
          <p:nvPr/>
        </p:nvSpPr>
        <p:spPr>
          <a:xfrm>
            <a:off x="8605030" y="388389"/>
            <a:ext cx="2543175" cy="1333698"/>
          </a:xfrm>
          <a:prstGeom prst="rect">
            <a:avLst/>
          </a:prstGeom>
          <a:blipFill>
            <a:blip r:embed="rId2" cstate="print"/>
            <a:stretch>
              <a:fillRect/>
            </a:stretch>
          </a:blipFill>
        </p:spPr>
        <p:txBody>
          <a:bodyPr wrap="square" lIns="0" tIns="0" rIns="0" bIns="0" rtlCol="0"/>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endParaRPr sz="1602"/>
          </a:p>
        </p:txBody>
      </p:sp>
      <p:sp>
        <p:nvSpPr>
          <p:cNvPr id="4" name="Rectangle 3">
            <a:extLst>
              <a:ext uri="{FF2B5EF4-FFF2-40B4-BE49-F238E27FC236}">
                <a16:creationId xmlns:a16="http://schemas.microsoft.com/office/drawing/2014/main" id="{E4F346AA-E7E3-374C-95BE-3C8FFDC9E99C}"/>
              </a:ext>
            </a:extLst>
          </p:cNvPr>
          <p:cNvSpPr/>
          <p:nvPr/>
        </p:nvSpPr>
        <p:spPr>
          <a:xfrm>
            <a:off x="2597860" y="5082176"/>
            <a:ext cx="7278757" cy="1528175"/>
          </a:xfrm>
          <a:prstGeom prst="rect">
            <a:avLst/>
          </a:prstGeom>
        </p:spPr>
        <p:txBody>
          <a:bodyPr wrap="square" numCol="2">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Strategy</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Requirements Analysis</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Security Recommendations and Design</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Governance Plan</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Logical Architecture</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Network Topology (Intranet, Extranet and Public Site)</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Physical Architecture</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Sizing and Capacity Analysis</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High Availability Design</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Disaster Recovery Architecture</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Business Intelligence </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Workflow Development</a:t>
            </a:r>
          </a:p>
          <a:p>
            <a:pPr marL="183992" indent="-183992">
              <a:buFont typeface="Arial" panose="020B0604020202020204" pitchFamily="34" charset="0"/>
              <a:buChar char="•"/>
            </a:pPr>
            <a:r>
              <a:rPr lang="en-US" sz="1333">
                <a:latin typeface="Arial Nova Light" panose="020B0304020202020204" pitchFamily="34" charset="0"/>
                <a:cs typeface="Aharoni" panose="02010803020104030203" pitchFamily="2" charset="-79"/>
              </a:rPr>
              <a:t>Configuration and Administration Guide</a:t>
            </a:r>
          </a:p>
        </p:txBody>
      </p:sp>
    </p:spTree>
    <p:extLst>
      <p:ext uri="{BB962C8B-B14F-4D97-AF65-F5344CB8AC3E}">
        <p14:creationId xmlns:p14="http://schemas.microsoft.com/office/powerpoint/2010/main" val="900630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Migrations</Value>
      <Value>Intranet/ Extranet</Value>
    </Solutions>
    <Industries xmlns="f0ee8362-fa7e-4bc9-ab88-7dcfb17cb19b">
      <Value>Government</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A1D2CDCC-BF36-4394-833E-E0B277C5A623}"/>
</file>

<file path=customXml/itemProps2.xml><?xml version="1.0" encoding="utf-8"?>
<ds:datastoreItem xmlns:ds="http://schemas.openxmlformats.org/officeDocument/2006/customXml" ds:itemID="{F9069F11-4312-46AB-BEE1-4C8FF4A69636}"/>
</file>

<file path=customXml/itemProps3.xml><?xml version="1.0" encoding="utf-8"?>
<ds:datastoreItem xmlns:ds="http://schemas.openxmlformats.org/officeDocument/2006/customXml" ds:itemID="{7E1F3907-456C-48EE-8AC4-34E88F045681}"/>
</file>

<file path=customXml/itemProps4.xml><?xml version="1.0" encoding="utf-8"?>
<ds:datastoreItem xmlns:ds="http://schemas.openxmlformats.org/officeDocument/2006/customXml" ds:itemID="{77E3697A-B0DC-472D-9A94-CF629028987C}"/>
</file>

<file path=docProps/app.xml><?xml version="1.0" encoding="utf-8"?>
<Properties xmlns="http://schemas.openxmlformats.org/officeDocument/2006/extended-properties" xmlns:vt="http://schemas.openxmlformats.org/officeDocument/2006/docPropsVTypes">
  <TotalTime>2</TotalTime>
  <Words>249</Words>
  <Application>Microsoft Office PowerPoint</Application>
  <PresentationFormat>Widescreen</PresentationFormat>
  <Paragraphs>21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Aharoni</vt:lpstr>
      <vt:lpstr>Arial</vt:lpstr>
      <vt:lpstr>Arial Nova Cond Light</vt:lpstr>
      <vt:lpstr>Arial Nova Light</vt:lpstr>
      <vt:lpstr>Calibri</vt:lpstr>
      <vt:lpstr>Calibri Light</vt:lpstr>
      <vt:lpstr>Office Theme</vt:lpstr>
      <vt:lpstr>THE COUNTY OF SAN BERNARDINO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County of San Bernardino SharePoint Migration</dc:title>
  <dc:creator>Brendan Murphy</dc:creator>
  <cp:lastModifiedBy>Brendan Murphy</cp:lastModifiedBy>
  <cp:revision>5</cp:revision>
  <dcterms:created xsi:type="dcterms:W3CDTF">2024-03-22T17:06:52Z</dcterms:created>
  <dcterms:modified xsi:type="dcterms:W3CDTF">2024-03-22T17:09:20Z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