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069"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159" d="100"/>
          <a:sy n="159" d="100"/>
        </p:scale>
        <p:origin x="30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2.xml"/><Relationship Id="rId3" Type="http://schemas.openxmlformats.org/officeDocument/2006/relationships/presProps" Target="presProps.xml"/><Relationship Id="rId7"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10" Type="http://schemas.openxmlformats.org/officeDocument/2006/relationships/customXml" Target="../customXml/item4.xml"/><Relationship Id="rId4" Type="http://schemas.openxmlformats.org/officeDocument/2006/relationships/viewProps" Target="viewProps.xml"/><Relationship Id="rId9"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D70E3-4BF5-47E6-7875-500461FB5A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12BFBB-B1FC-3B86-D71B-E6626C5AC1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821115-AF67-AEC8-1583-0895B01642B9}"/>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5" name="Footer Placeholder 4">
            <a:extLst>
              <a:ext uri="{FF2B5EF4-FFF2-40B4-BE49-F238E27FC236}">
                <a16:creationId xmlns:a16="http://schemas.microsoft.com/office/drawing/2014/main" id="{4B55CC97-195D-F38E-B138-863FAA5F5F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93EF8C-4E29-EED8-682A-1FE8359E56CF}"/>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224806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238B6-EE07-0E8B-0817-3134C3256D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B3D644-AD19-BDB3-D49D-47D5543E7D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923658-16AA-B45A-F4AE-B3A97A64991E}"/>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5" name="Footer Placeholder 4">
            <a:extLst>
              <a:ext uri="{FF2B5EF4-FFF2-40B4-BE49-F238E27FC236}">
                <a16:creationId xmlns:a16="http://schemas.microsoft.com/office/drawing/2014/main" id="{703933C2-C657-FD3F-4DC8-7317DA90E5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E34D6E-3318-62D6-BEDB-F0BBD10878F8}"/>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9548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7E7C4-0270-18CD-05C5-A6FC7B110A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96113A-C1FA-745D-C210-9844F991BD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ADB1F6-E9B4-BAEF-CCF5-400250C342FE}"/>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5" name="Footer Placeholder 4">
            <a:extLst>
              <a:ext uri="{FF2B5EF4-FFF2-40B4-BE49-F238E27FC236}">
                <a16:creationId xmlns:a16="http://schemas.microsoft.com/office/drawing/2014/main" id="{E5C8A4AE-9CD3-8AC3-75E4-133991E08F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8F7EE9-F313-41CA-44E6-E8388A474E34}"/>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1553282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1788D-794C-1124-D711-3B526528D8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ADA7B3-948D-1C9E-AD6A-0A54705C9A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D87256E-FF7A-5FEB-8F7D-CB20086850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08AF55-ABE2-15F5-D8FA-F38E728D0744}"/>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6" name="Footer Placeholder 5">
            <a:extLst>
              <a:ext uri="{FF2B5EF4-FFF2-40B4-BE49-F238E27FC236}">
                <a16:creationId xmlns:a16="http://schemas.microsoft.com/office/drawing/2014/main" id="{BDB11F82-B388-1168-B353-6975BC73C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E20FEC-057D-16F4-D8C6-C1BBCC709718}"/>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321625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CDC09-7999-FEF3-FAEC-31A2DAE419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A22642-268F-363A-6992-3452CC37A4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BEF5E4-1F05-0A2A-C049-C85331DEB9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64A421-AED1-1841-2728-BCA5DA583F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A9F66E-F9E6-DBA5-C0AE-6680C0CEDF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40B6301-DEB5-DB84-7265-62304954F74D}"/>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8" name="Footer Placeholder 7">
            <a:extLst>
              <a:ext uri="{FF2B5EF4-FFF2-40B4-BE49-F238E27FC236}">
                <a16:creationId xmlns:a16="http://schemas.microsoft.com/office/drawing/2014/main" id="{D93A521B-AA45-B279-C62F-E66D209E39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4466F4-E170-A241-BF3C-1241DAC3FDAB}"/>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1869344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D4224-312D-3151-6F0C-C6E18E3E2E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D55F4FD-875A-50FC-99A2-FADD91274E04}"/>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4" name="Footer Placeholder 3">
            <a:extLst>
              <a:ext uri="{FF2B5EF4-FFF2-40B4-BE49-F238E27FC236}">
                <a16:creationId xmlns:a16="http://schemas.microsoft.com/office/drawing/2014/main" id="{92A6672A-7537-D2E1-C3A1-578F7C5ADC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897E71-30EA-4B7C-5A3F-3750EBCD50B3}"/>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765250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BA586B-F9BF-E644-4B13-96CB178823BE}"/>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3" name="Footer Placeholder 2">
            <a:extLst>
              <a:ext uri="{FF2B5EF4-FFF2-40B4-BE49-F238E27FC236}">
                <a16:creationId xmlns:a16="http://schemas.microsoft.com/office/drawing/2014/main" id="{9D5BD12D-998A-6EE4-A43F-1497F0E1D8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C44A9A-BD10-8A95-22B1-8125A2D6711B}"/>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27362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652EA-8F5B-D920-8154-42B679FE42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7A5815-9FF5-A7F9-FFB6-035E93C73F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8183A2-A382-E3AC-CA3E-4664B16108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C552E6-3F8D-FD7B-2056-367C59FA07E7}"/>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6" name="Footer Placeholder 5">
            <a:extLst>
              <a:ext uri="{FF2B5EF4-FFF2-40B4-BE49-F238E27FC236}">
                <a16:creationId xmlns:a16="http://schemas.microsoft.com/office/drawing/2014/main" id="{63DC7024-86A0-8DC5-01F2-B8C5593BCA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B3515D-5C19-EA54-3157-EEAA6341517B}"/>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427116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43058-34F7-14C9-72E0-4B0F47205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6F7C53-4FC5-5217-51A8-A041AB9AC6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B952F2-EF64-2117-EC5F-2B5B8EF4E6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45703E-BFE3-1042-F0BC-24978EB18298}"/>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6" name="Footer Placeholder 5">
            <a:extLst>
              <a:ext uri="{FF2B5EF4-FFF2-40B4-BE49-F238E27FC236}">
                <a16:creationId xmlns:a16="http://schemas.microsoft.com/office/drawing/2014/main" id="{7FAD2936-7436-6973-FB12-9F012C638E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86D2E6-B21A-A4C9-BA54-D3BD987EDF31}"/>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752151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34716-03F9-41E0-5996-542041EA10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D4C6BB-07F0-948D-7A8F-757782914B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6E2EBE-C9E8-DD4C-49E0-A758AAB2D3AE}"/>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5" name="Footer Placeholder 4">
            <a:extLst>
              <a:ext uri="{FF2B5EF4-FFF2-40B4-BE49-F238E27FC236}">
                <a16:creationId xmlns:a16="http://schemas.microsoft.com/office/drawing/2014/main" id="{DCCA80A3-2991-FAFA-36F2-68419F3B6F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75F2A2-744B-3C00-C7FA-01DD5C5C3C15}"/>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1440179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28359F-EBDF-B0C7-1A09-B7F0941DAD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685AF1-9544-DD3F-F555-15E7547192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3C21BC-62CA-AA62-05C4-B7898B920BF2}"/>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5" name="Footer Placeholder 4">
            <a:extLst>
              <a:ext uri="{FF2B5EF4-FFF2-40B4-BE49-F238E27FC236}">
                <a16:creationId xmlns:a16="http://schemas.microsoft.com/office/drawing/2014/main" id="{26C69443-A674-B6BE-548F-3BDAA5A6F4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09BDF4-6622-833C-7E32-F88872F35D60}"/>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3895339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Case Study Single Slide - Data Resul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3674382-8BA2-CD48-84D7-6B1CDE48F684}"/>
              </a:ext>
            </a:extLst>
          </p:cNvPr>
          <p:cNvSpPr>
            <a:spLocks noGrp="1"/>
          </p:cNvSpPr>
          <p:nvPr>
            <p:ph type="pic" sz="quarter" idx="17"/>
          </p:nvPr>
        </p:nvSpPr>
        <p:spPr>
          <a:xfrm>
            <a:off x="6700836" y="0"/>
            <a:ext cx="5491163" cy="6858000"/>
          </a:xfrm>
        </p:spPr>
        <p:txBody>
          <a:bodyPr/>
          <a:lstStyle/>
          <a:p>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530816"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53085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8495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69C76-D74A-66B8-D9BC-20C760C3FF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2AEDC9-4EE9-B3FF-C41A-3235DD9135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31141B-C285-1431-21A6-024F9F2233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14CC92-2CD2-4680-9EA5-B9CF6B2647EC}" type="datetimeFigureOut">
              <a:rPr lang="en-US" smtClean="0"/>
              <a:t>3/22/2024</a:t>
            </a:fld>
            <a:endParaRPr lang="en-US"/>
          </a:p>
        </p:txBody>
      </p:sp>
      <p:sp>
        <p:nvSpPr>
          <p:cNvPr id="5" name="Footer Placeholder 4">
            <a:extLst>
              <a:ext uri="{FF2B5EF4-FFF2-40B4-BE49-F238E27FC236}">
                <a16:creationId xmlns:a16="http://schemas.microsoft.com/office/drawing/2014/main" id="{299FC5E4-D093-6CDE-2302-2FBD5CABA2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D227DD1-CE2F-C629-D805-F98B3BD4C0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28C2AC-C83C-4685-B73F-BF4118140888}" type="slidenum">
              <a:rPr lang="en-US" smtClean="0"/>
              <a:t>‹#›</a:t>
            </a:fld>
            <a:endParaRPr lang="en-US"/>
          </a:p>
        </p:txBody>
      </p:sp>
    </p:spTree>
    <p:extLst>
      <p:ext uri="{BB962C8B-B14F-4D97-AF65-F5344CB8AC3E}">
        <p14:creationId xmlns:p14="http://schemas.microsoft.com/office/powerpoint/2010/main" val="664240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5">
            <a:extLst>
              <a:ext uri="{FF2B5EF4-FFF2-40B4-BE49-F238E27FC236}">
                <a16:creationId xmlns:a16="http://schemas.microsoft.com/office/drawing/2014/main" id="{9E09ECDE-9AC0-4199-9881-5BF5267EFBE7}"/>
              </a:ext>
            </a:extLst>
          </p:cNvPr>
          <p:cNvSpPr txBox="1">
            <a:spLocks/>
          </p:cNvSpPr>
          <p:nvPr/>
        </p:nvSpPr>
        <p:spPr>
          <a:xfrm>
            <a:off x="603250" y="1450136"/>
            <a:ext cx="5568950" cy="2245564"/>
          </a:xfrm>
          <a:prstGeom prst="rect">
            <a:avLst/>
          </a:prstGeom>
        </p:spPr>
        <p:txBody>
          <a:bodyPr vert="horz" lIns="91440" tIns="45720" rIns="91440" bIns="45720" rtlCol="0">
            <a:no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1417" b="1">
                <a:solidFill>
                  <a:schemeClr val="tx1"/>
                </a:solidFill>
                <a:latin typeface="Aharoni" panose="02010803020104030203" pitchFamily="2" charset="-79"/>
                <a:ea typeface="+mj-ea"/>
                <a:cs typeface="Aharoni" panose="02010803020104030203" pitchFamily="2" charset="-79"/>
              </a:rPr>
              <a:t>The Challenge</a:t>
            </a:r>
          </a:p>
          <a:p>
            <a:pPr defTabSz="976767">
              <a:lnSpc>
                <a:spcPct val="120000"/>
              </a:lnSpc>
            </a:pPr>
            <a:r>
              <a:rPr lang="en-US" sz="1602">
                <a:solidFill>
                  <a:schemeClr val="tx1"/>
                </a:solidFill>
                <a:latin typeface="Arial Nova Light" panose="020B0304020202020204" pitchFamily="34" charset="0"/>
                <a:cs typeface="Aharoni" panose="02010803020104030203" pitchFamily="2" charset="-79"/>
              </a:rPr>
              <a:t>Ferguson is the largest wholesaler of plumbing supplies, HVAC products, and building supplies to professional contractors and homeowners in North America.</a:t>
            </a:r>
          </a:p>
          <a:p>
            <a:pPr defTabSz="976767">
              <a:lnSpc>
                <a:spcPct val="120000"/>
              </a:lnSpc>
            </a:pPr>
            <a:r>
              <a:rPr lang="en-US" sz="1602">
                <a:solidFill>
                  <a:schemeClr val="tx1"/>
                </a:solidFill>
                <a:latin typeface="Arial Nova Light" panose="020B0304020202020204" pitchFamily="34" charset="0"/>
                <a:cs typeface="Aharoni" panose="02010803020104030203" pitchFamily="2" charset="-79"/>
              </a:rPr>
              <a:t>Affirma was tasked to move their SharePoint 2010 and 2013 intranet to SharePoint Online. The team worked with stakeholders in Virginia as well as with their co-ops in Canada and the UK to configure Development and Production tenants.</a:t>
            </a:r>
          </a:p>
          <a:p>
            <a:endParaRPr lang="en-US" sz="1600">
              <a:latin typeface="+mj-lt"/>
            </a:endParaRPr>
          </a:p>
        </p:txBody>
      </p:sp>
      <p:sp>
        <p:nvSpPr>
          <p:cNvPr id="3" name="Slide Number Placeholder 2">
            <a:extLst>
              <a:ext uri="{FF2B5EF4-FFF2-40B4-BE49-F238E27FC236}">
                <a16:creationId xmlns:a16="http://schemas.microsoft.com/office/drawing/2014/main" id="{D888A8EE-A41B-104E-87E1-EB98061134BE}"/>
              </a:ext>
            </a:extLst>
          </p:cNvPr>
          <p:cNvSpPr>
            <a:spLocks noGrp="1"/>
          </p:cNvSpPr>
          <p:nvPr>
            <p:ph type="sldNum" sz="quarter" idx="4294967295"/>
          </p:nvPr>
        </p:nvSpPr>
        <p:spPr>
          <a:xfrm>
            <a:off x="9448800" y="6454776"/>
            <a:ext cx="2743200" cy="155575"/>
          </a:xfrm>
        </p:spPr>
        <p:txBody>
          <a:bodyPr/>
          <a:lstStyle>
            <a:defPPr>
              <a:defRPr lang="en-US"/>
            </a:defPPr>
            <a:lvl1pPr marL="0" algn="l" defTabSz="814005" rtl="0" eaLnBrk="1" latinLnBrk="0" hangingPunct="1">
              <a:defRPr sz="1602" kern="1200">
                <a:solidFill>
                  <a:schemeClr val="tx1"/>
                </a:solidFill>
                <a:latin typeface="+mn-lt"/>
                <a:ea typeface="+mn-ea"/>
                <a:cs typeface="+mn-cs"/>
              </a:defRPr>
            </a:lvl1pPr>
            <a:lvl2pPr marL="407002" algn="l" defTabSz="814005" rtl="0" eaLnBrk="1" latinLnBrk="0" hangingPunct="1">
              <a:defRPr sz="1602" kern="1200">
                <a:solidFill>
                  <a:schemeClr val="tx1"/>
                </a:solidFill>
                <a:latin typeface="+mn-lt"/>
                <a:ea typeface="+mn-ea"/>
                <a:cs typeface="+mn-cs"/>
              </a:defRPr>
            </a:lvl2pPr>
            <a:lvl3pPr marL="814005" algn="l" defTabSz="814005" rtl="0" eaLnBrk="1" latinLnBrk="0" hangingPunct="1">
              <a:defRPr sz="1602" kern="1200">
                <a:solidFill>
                  <a:schemeClr val="tx1"/>
                </a:solidFill>
                <a:latin typeface="+mn-lt"/>
                <a:ea typeface="+mn-ea"/>
                <a:cs typeface="+mn-cs"/>
              </a:defRPr>
            </a:lvl3pPr>
            <a:lvl4pPr marL="1221007" algn="l" defTabSz="814005" rtl="0" eaLnBrk="1" latinLnBrk="0" hangingPunct="1">
              <a:defRPr sz="1602" kern="1200">
                <a:solidFill>
                  <a:schemeClr val="tx1"/>
                </a:solidFill>
                <a:latin typeface="+mn-lt"/>
                <a:ea typeface="+mn-ea"/>
                <a:cs typeface="+mn-cs"/>
              </a:defRPr>
            </a:lvl4pPr>
            <a:lvl5pPr marL="1628010" algn="l" defTabSz="814005" rtl="0" eaLnBrk="1" latinLnBrk="0" hangingPunct="1">
              <a:defRPr sz="1602" kern="1200">
                <a:solidFill>
                  <a:schemeClr val="tx1"/>
                </a:solidFill>
                <a:latin typeface="+mn-lt"/>
                <a:ea typeface="+mn-ea"/>
                <a:cs typeface="+mn-cs"/>
              </a:defRPr>
            </a:lvl5pPr>
            <a:lvl6pPr marL="2035012" algn="l" defTabSz="814005" rtl="0" eaLnBrk="1" latinLnBrk="0" hangingPunct="1">
              <a:defRPr sz="1602" kern="1200">
                <a:solidFill>
                  <a:schemeClr val="tx1"/>
                </a:solidFill>
                <a:latin typeface="+mn-lt"/>
                <a:ea typeface="+mn-ea"/>
                <a:cs typeface="+mn-cs"/>
              </a:defRPr>
            </a:lvl6pPr>
            <a:lvl7pPr marL="2442014" algn="l" defTabSz="814005" rtl="0" eaLnBrk="1" latinLnBrk="0" hangingPunct="1">
              <a:defRPr sz="1602" kern="1200">
                <a:solidFill>
                  <a:schemeClr val="tx1"/>
                </a:solidFill>
                <a:latin typeface="+mn-lt"/>
                <a:ea typeface="+mn-ea"/>
                <a:cs typeface="+mn-cs"/>
              </a:defRPr>
            </a:lvl7pPr>
            <a:lvl8pPr marL="2849017" algn="l" defTabSz="814005" rtl="0" eaLnBrk="1" latinLnBrk="0" hangingPunct="1">
              <a:defRPr sz="1602" kern="1200">
                <a:solidFill>
                  <a:schemeClr val="tx1"/>
                </a:solidFill>
                <a:latin typeface="+mn-lt"/>
                <a:ea typeface="+mn-ea"/>
                <a:cs typeface="+mn-cs"/>
              </a:defRPr>
            </a:lvl8pPr>
            <a:lvl9pPr marL="3256020" algn="l" defTabSz="814005" rtl="0" eaLnBrk="1" latinLnBrk="0" hangingPunct="1">
              <a:defRPr sz="1602" kern="1200">
                <a:solidFill>
                  <a:schemeClr val="tx1"/>
                </a:solidFill>
                <a:latin typeface="+mn-lt"/>
                <a:ea typeface="+mn-ea"/>
                <a:cs typeface="+mn-cs"/>
              </a:defRPr>
            </a:lvl9pPr>
          </a:lstStyle>
          <a:p>
            <a:fld id="{056F86DB-78DF-EB43-A6BE-40415A3A0052}" type="slidenum">
              <a:rPr lang="en-US" smtClean="0"/>
              <a:pPr/>
              <a:t>1</a:t>
            </a:fld>
            <a:endParaRPr lang="en-US"/>
          </a:p>
        </p:txBody>
      </p:sp>
      <p:sp>
        <p:nvSpPr>
          <p:cNvPr id="13" name="Text Placeholder 5">
            <a:extLst>
              <a:ext uri="{FF2B5EF4-FFF2-40B4-BE49-F238E27FC236}">
                <a16:creationId xmlns:a16="http://schemas.microsoft.com/office/drawing/2014/main" id="{3C112BA2-CA65-4426-81B6-B9B1AC437FD9}"/>
              </a:ext>
            </a:extLst>
          </p:cNvPr>
          <p:cNvSpPr txBox="1">
            <a:spLocks/>
          </p:cNvSpPr>
          <p:nvPr/>
        </p:nvSpPr>
        <p:spPr>
          <a:xfrm>
            <a:off x="579641" y="3993057"/>
            <a:ext cx="5568954" cy="1475167"/>
          </a:xfrm>
          <a:prstGeom prst="rect">
            <a:avLst/>
          </a:prstGeom>
        </p:spPr>
        <p:txBody>
          <a:bodyPr vert="horz" lIns="91440" tIns="45720" rIns="91440" bIns="45720" rtlCol="0">
            <a:no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1417" b="1">
                <a:solidFill>
                  <a:schemeClr val="tx1"/>
                </a:solidFill>
                <a:latin typeface="Aharoni" panose="02010803020104030203" pitchFamily="2" charset="-79"/>
                <a:ea typeface="+mj-ea"/>
                <a:cs typeface="Aharoni" panose="02010803020104030203" pitchFamily="2" charset="-79"/>
              </a:rPr>
              <a:t>What We Did</a:t>
            </a:r>
          </a:p>
          <a:p>
            <a:pPr defTabSz="976767">
              <a:lnSpc>
                <a:spcPct val="120000"/>
              </a:lnSpc>
            </a:pPr>
            <a:r>
              <a:rPr lang="en-US" sz="1602">
                <a:solidFill>
                  <a:schemeClr val="tx1"/>
                </a:solidFill>
                <a:latin typeface="Arial Nova Light" panose="020B0304020202020204" pitchFamily="34" charset="0"/>
                <a:cs typeface="Aharoni" panose="02010803020104030203" pitchFamily="2" charset="-79"/>
              </a:rPr>
              <a:t>Affirma designed and built “Pipeline,” migrated content from the old intranet, and provided onsite workshops and training. The team also provided guidance on how to best leverage Microsoft Teams and improve their use of Delve and Active Directory (which pulled from their HRIS).</a:t>
            </a:r>
          </a:p>
          <a:p>
            <a:endParaRPr lang="en-US" sz="1600">
              <a:latin typeface="+mj-lt"/>
            </a:endParaRPr>
          </a:p>
        </p:txBody>
      </p:sp>
      <p:sp>
        <p:nvSpPr>
          <p:cNvPr id="14" name="Text Placeholder 5">
            <a:extLst>
              <a:ext uri="{FF2B5EF4-FFF2-40B4-BE49-F238E27FC236}">
                <a16:creationId xmlns:a16="http://schemas.microsoft.com/office/drawing/2014/main" id="{C527C2FD-C404-4458-948E-0F9934FB3DEF}"/>
              </a:ext>
            </a:extLst>
          </p:cNvPr>
          <p:cNvSpPr txBox="1">
            <a:spLocks/>
          </p:cNvSpPr>
          <p:nvPr/>
        </p:nvSpPr>
        <p:spPr>
          <a:xfrm>
            <a:off x="578656" y="5690437"/>
            <a:ext cx="5568954" cy="1065718"/>
          </a:xfrm>
          <a:prstGeom prst="rect">
            <a:avLst/>
          </a:prstGeom>
        </p:spPr>
        <p:txBody>
          <a:bodyPr vert="horz" lIns="91440" tIns="45720" rIns="91440" bIns="45720" rtlCol="0">
            <a:no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pPr defTabSz="976767">
              <a:lnSpc>
                <a:spcPct val="120000"/>
              </a:lnSpc>
            </a:pPr>
            <a:r>
              <a:rPr lang="en-US" sz="1602">
                <a:solidFill>
                  <a:schemeClr val="tx1"/>
                </a:solidFill>
                <a:latin typeface="Arial Nova Light" panose="020B0304020202020204" pitchFamily="34" charset="0"/>
                <a:cs typeface="Aharoni" panose="02010803020104030203" pitchFamily="2" charset="-79"/>
              </a:rPr>
              <a:t>Ferguson now has a responsive intranet with lots of new opportunities for employee-contributed content.</a:t>
            </a:r>
          </a:p>
        </p:txBody>
      </p:sp>
      <p:pic>
        <p:nvPicPr>
          <p:cNvPr id="16" name="Picture 15">
            <a:extLst>
              <a:ext uri="{FF2B5EF4-FFF2-40B4-BE49-F238E27FC236}">
                <a16:creationId xmlns:a16="http://schemas.microsoft.com/office/drawing/2014/main" id="{700B8D0D-BC7C-4C87-BFBF-B49AF6242D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53769" y="2586321"/>
            <a:ext cx="3161184" cy="3391626"/>
          </a:xfrm>
          <a:prstGeom prst="rect">
            <a:avLst/>
          </a:prstGeom>
          <a:ln>
            <a:solidFill>
              <a:schemeClr val="bg1">
                <a:lumMod val="85000"/>
              </a:schemeClr>
            </a:solidFill>
          </a:ln>
        </p:spPr>
      </p:pic>
      <p:pic>
        <p:nvPicPr>
          <p:cNvPr id="17" name="Picture 16">
            <a:extLst>
              <a:ext uri="{FF2B5EF4-FFF2-40B4-BE49-F238E27FC236}">
                <a16:creationId xmlns:a16="http://schemas.microsoft.com/office/drawing/2014/main" id="{A6F0DD67-4162-451E-97FB-3AC67A5424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28441" y="5026397"/>
            <a:ext cx="1583918" cy="1287462"/>
          </a:xfrm>
          <a:prstGeom prst="rect">
            <a:avLst/>
          </a:prstGeom>
          <a:ln>
            <a:solidFill>
              <a:schemeClr val="bg1">
                <a:lumMod val="85000"/>
              </a:schemeClr>
            </a:solidFill>
          </a:ln>
        </p:spPr>
      </p:pic>
      <p:pic>
        <p:nvPicPr>
          <p:cNvPr id="19" name="Picture 18">
            <a:extLst>
              <a:ext uri="{FF2B5EF4-FFF2-40B4-BE49-F238E27FC236}">
                <a16:creationId xmlns:a16="http://schemas.microsoft.com/office/drawing/2014/main" id="{F0E9C3DC-E0D2-42BA-A8A8-6A097FD3DD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61757" y="1187872"/>
            <a:ext cx="3924412" cy="2178828"/>
          </a:xfrm>
          <a:prstGeom prst="rect">
            <a:avLst/>
          </a:prstGeom>
          <a:ln>
            <a:solidFill>
              <a:schemeClr val="bg1">
                <a:lumMod val="85000"/>
              </a:schemeClr>
            </a:solidFill>
          </a:ln>
        </p:spPr>
      </p:pic>
      <p:pic>
        <p:nvPicPr>
          <p:cNvPr id="4098" name="Picture 2">
            <a:extLst>
              <a:ext uri="{FF2B5EF4-FFF2-40B4-BE49-F238E27FC236}">
                <a16:creationId xmlns:a16="http://schemas.microsoft.com/office/drawing/2014/main" id="{ECD28718-81EF-472A-B4CE-AEBC4264959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33077" y="478349"/>
            <a:ext cx="3535872" cy="465388"/>
          </a:xfrm>
          <a:prstGeom prst="rect">
            <a:avLst/>
          </a:prstGeom>
          <a:noFill/>
          <a:extLst>
            <a:ext uri="{909E8E84-426E-40DD-AFC4-6F175D3DCCD1}">
              <a14:hiddenFill xmlns:a14="http://schemas.microsoft.com/office/drawing/2010/main">
                <a:solidFill>
                  <a:srgbClr val="FFFFFF"/>
                </a:solidFill>
              </a14:hiddenFill>
            </a:ext>
          </a:extLst>
        </p:spPr>
      </p:pic>
      <p:sp>
        <p:nvSpPr>
          <p:cNvPr id="15" name="Title 3">
            <a:extLst>
              <a:ext uri="{FF2B5EF4-FFF2-40B4-BE49-F238E27FC236}">
                <a16:creationId xmlns:a16="http://schemas.microsoft.com/office/drawing/2014/main" id="{6370B770-9C2B-4654-8077-223DFDF72BE5}"/>
              </a:ext>
            </a:extLst>
          </p:cNvPr>
          <p:cNvSpPr>
            <a:spLocks noGrp="1"/>
          </p:cNvSpPr>
          <p:nvPr>
            <p:ph type="ctrTitle"/>
          </p:nvPr>
        </p:nvSpPr>
        <p:spPr>
          <a:xfrm>
            <a:off x="603283" y="388389"/>
            <a:ext cx="11088655" cy="764390"/>
          </a:xfrm>
        </p:spPr>
        <p:txBody>
          <a:bodyPr>
            <a:norm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3333" b="1" spc="-183">
                <a:solidFill>
                  <a:srgbClr val="1B3F77"/>
                </a:solidFill>
                <a:latin typeface="Aharoni" panose="02010803020104030203" pitchFamily="2" charset="-79"/>
                <a:ea typeface="+mn-ea"/>
                <a:cs typeface="Aharoni" panose="02010803020104030203" pitchFamily="2" charset="-79"/>
              </a:rPr>
              <a:t>FERGUSON ENTERPRISES</a:t>
            </a:r>
          </a:p>
        </p:txBody>
      </p:sp>
      <p:sp>
        <p:nvSpPr>
          <p:cNvPr id="18" name="TextBox 17">
            <a:extLst>
              <a:ext uri="{FF2B5EF4-FFF2-40B4-BE49-F238E27FC236}">
                <a16:creationId xmlns:a16="http://schemas.microsoft.com/office/drawing/2014/main" id="{D56F2DD3-4226-47E8-B549-ECE1FA8180B2}"/>
              </a:ext>
            </a:extLst>
          </p:cNvPr>
          <p:cNvSpPr txBox="1"/>
          <p:nvPr/>
        </p:nvSpPr>
        <p:spPr>
          <a:xfrm>
            <a:off x="603248" y="1014119"/>
            <a:ext cx="3241430" cy="451342"/>
          </a:xfrm>
          <a:prstGeom prst="rect">
            <a:avLst/>
          </a:prstGeom>
          <a:noFill/>
        </p:spPr>
        <p:txBody>
          <a:bodyPr wrap="square">
            <a:sp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2333">
                <a:solidFill>
                  <a:srgbClr val="1B3F77"/>
                </a:solidFill>
                <a:latin typeface="Arial Nova Cond Light" panose="020B0306020202020204" pitchFamily="34" charset="0"/>
                <a:cs typeface="Aharoni" panose="02010803020104030203" pitchFamily="2" charset="-79"/>
              </a:rPr>
              <a:t>SharePoint Online Migration</a:t>
            </a:r>
            <a:endParaRPr lang="en-US" sz="2333"/>
          </a:p>
        </p:txBody>
      </p:sp>
    </p:spTree>
    <p:extLst>
      <p:ext uri="{BB962C8B-B14F-4D97-AF65-F5344CB8AC3E}">
        <p14:creationId xmlns:p14="http://schemas.microsoft.com/office/powerpoint/2010/main" val="2978787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Migrations</Value>
      <Value>Intranet/ Extranet</Value>
    </Solutions>
    <Industries xmlns="f0ee8362-fa7e-4bc9-ab88-7dcfb17cb19b">
      <Value>Retail</Value>
      <Value>Manufacturing</Value>
    </Industries>
    <Notes0 xmlns="f0ee8362-fa7e-4bc9-ab88-7dcfb17cb19b" xsi:nil="true"/>
    <Named_x0020_Account xmlns="f0ee8362-fa7e-4bc9-ab88-7dcfb17cb19b" xsi:nil="true"/>
    <PlatTech xmlns="f0ee8362-fa7e-4bc9-ab88-7dcfb17cb19b">
      <Value>SharePoint</Value>
    </PlatTech>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0F611E40-31AF-451D-B60F-0D4B8AD0D5FD}"/>
</file>

<file path=customXml/itemProps2.xml><?xml version="1.0" encoding="utf-8"?>
<ds:datastoreItem xmlns:ds="http://schemas.openxmlformats.org/officeDocument/2006/customXml" ds:itemID="{15C23141-BF27-4A6E-B0E3-45821B4F34A0}"/>
</file>

<file path=customXml/itemProps3.xml><?xml version="1.0" encoding="utf-8"?>
<ds:datastoreItem xmlns:ds="http://schemas.openxmlformats.org/officeDocument/2006/customXml" ds:itemID="{0A6AC111-917C-4CDA-9CE6-9E76D41B2851}"/>
</file>

<file path=customXml/itemProps4.xml><?xml version="1.0" encoding="utf-8"?>
<ds:datastoreItem xmlns:ds="http://schemas.openxmlformats.org/officeDocument/2006/customXml" ds:itemID="{30A63BB7-E2D9-4534-BEF3-983BA45C48BC}"/>
</file>

<file path=docProps/app.xml><?xml version="1.0" encoding="utf-8"?>
<Properties xmlns="http://schemas.openxmlformats.org/officeDocument/2006/extended-properties" xmlns:vt="http://schemas.openxmlformats.org/officeDocument/2006/docPropsVTypes">
  <TotalTime>2</TotalTime>
  <Words>139</Words>
  <Application>Microsoft Office PowerPoint</Application>
  <PresentationFormat>Widescreen</PresentationFormat>
  <Paragraphs>9</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Aharoni</vt:lpstr>
      <vt:lpstr>Arial</vt:lpstr>
      <vt:lpstr>Arial Nova Cond Light</vt:lpstr>
      <vt:lpstr>Arial Nova Light</vt:lpstr>
      <vt:lpstr>Calibri</vt:lpstr>
      <vt:lpstr>Calibri Light</vt:lpstr>
      <vt:lpstr>Office Theme</vt:lpstr>
      <vt:lpstr>FERGUSON ENTERPRISES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Ferguson SharePoint Migration</dc:title>
  <dc:creator>Brendan Murphy</dc:creator>
  <cp:lastModifiedBy>Brendan Murphy</cp:lastModifiedBy>
  <cp:revision>4</cp:revision>
  <dcterms:created xsi:type="dcterms:W3CDTF">2024-03-22T17:06:52Z</dcterms:created>
  <dcterms:modified xsi:type="dcterms:W3CDTF">2024-03-22T17:08:59Z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