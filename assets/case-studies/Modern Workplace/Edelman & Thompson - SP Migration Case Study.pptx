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1" r:id="rId2"/>
  </p:sldMasterIdLst>
  <p:notesMasterIdLst>
    <p:notesMasterId r:id="rId4"/>
  </p:notesMasterIdLst>
  <p:sldIdLst>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0A0728-7B86-463F-BEA4-18E96A6F896D}" v="1570" dt="2021-02-01T22:07:41.012"/>
    <p1510:client id="{5E4AE37A-549A-A8AA-993D-3AE53517E4B2}" v="149" dt="2021-02-02T16:18:59.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13" Type="http://schemas.openxmlformats.org/officeDocument/2006/relationships/customXml" Target="../customXml/item4.xml"/><Relationship Id="rId3" Type="http://schemas.openxmlformats.org/officeDocument/2006/relationships/slide" Target="slides/slide1.xml"/><Relationship Id="rId7" Type="http://schemas.openxmlformats.org/officeDocument/2006/relationships/theme" Target="theme/theme1.xml"/><Relationship Id="rId12" Type="http://schemas.openxmlformats.org/officeDocument/2006/relationships/customXml" Target="../customXml/item3.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2.xml"/><Relationship Id="rId5" Type="http://schemas.openxmlformats.org/officeDocument/2006/relationships/presProps" Target="presProps.xml"/><Relationship Id="rId10" Type="http://schemas.openxmlformats.org/officeDocument/2006/relationships/customXml" Target="../customXml/item1.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211D5-CCCE-4EC1-9DAC-FDF60AC7ADB0}" type="datetimeFigureOut">
              <a:rPr lang="en-US"/>
              <a:t>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9412D-591F-4E17-8CEE-88A39684D066}" type="slidenum">
              <a:rPr lang="en-US"/>
              <a:t>‹#›</a:t>
            </a:fld>
            <a:endParaRPr lang="en-US"/>
          </a:p>
        </p:txBody>
      </p:sp>
    </p:spTree>
    <p:extLst>
      <p:ext uri="{BB962C8B-B14F-4D97-AF65-F5344CB8AC3E}">
        <p14:creationId xmlns:p14="http://schemas.microsoft.com/office/powerpoint/2010/main" val="2792829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E3F6CF-073A-4B4F-A2B7-08B9C7DBCB96}" type="slidenum">
              <a:rPr lang="en-US" smtClean="0"/>
              <a:t>1</a:t>
            </a:fld>
            <a:endParaRPr lang="en-US" dirty="0"/>
          </a:p>
        </p:txBody>
      </p:sp>
    </p:spTree>
    <p:extLst>
      <p:ext uri="{BB962C8B-B14F-4D97-AF65-F5344CB8AC3E}">
        <p14:creationId xmlns:p14="http://schemas.microsoft.com/office/powerpoint/2010/main" val="181445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400">
                <a:solidFill>
                  <a:schemeClr val="bg1"/>
                </a:solidFill>
                <a:latin typeface="Segoe UI Semilight" panose="020B0402040204020203" pitchFamily="34" charset="0"/>
                <a:cs typeface="Segoe UI Semilight" panose="020B0402040204020203" pitchFamily="34" charset="0"/>
              </a:defRPr>
            </a:lvl1pPr>
            <a:lvl2pPr marL="448267" indent="0" algn="ctr">
              <a:buNone/>
              <a:defRPr sz="2000"/>
            </a:lvl2pPr>
            <a:lvl3pPr marL="896533" indent="0" algn="ctr">
              <a:buNone/>
              <a:defRPr sz="1800"/>
            </a:lvl3pPr>
            <a:lvl4pPr marL="1344800" indent="0" algn="ctr">
              <a:buNone/>
              <a:defRPr sz="1600"/>
            </a:lvl4pPr>
            <a:lvl5pPr marL="1793067" indent="0" algn="ctr">
              <a:buNone/>
              <a:defRPr sz="1600"/>
            </a:lvl5pPr>
            <a:lvl6pPr marL="2241334" indent="0" algn="ctr">
              <a:buNone/>
              <a:defRPr sz="1600"/>
            </a:lvl6pPr>
            <a:lvl7pPr marL="2689600" indent="0" algn="ctr">
              <a:buNone/>
              <a:defRPr sz="1600"/>
            </a:lvl7pPr>
            <a:lvl8pPr marL="3137867" indent="0" algn="ctr">
              <a:buNone/>
              <a:defRPr sz="1600"/>
            </a:lvl8pPr>
            <a:lvl9pPr marL="358613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73756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400">
                <a:solidFill>
                  <a:schemeClr val="bg1"/>
                </a:solidFill>
                <a:latin typeface="Segoe UI Semilight" panose="020B0402040204020203" pitchFamily="34" charset="0"/>
                <a:cs typeface="Segoe UI Semilight" panose="020B0402040204020203" pitchFamily="34" charset="0"/>
              </a:defRPr>
            </a:lvl1pPr>
            <a:lvl2pPr marL="448267" indent="0" algn="ctr">
              <a:buNone/>
              <a:defRPr sz="2000"/>
            </a:lvl2pPr>
            <a:lvl3pPr marL="896533" indent="0" algn="ctr">
              <a:buNone/>
              <a:defRPr sz="1800"/>
            </a:lvl3pPr>
            <a:lvl4pPr marL="1344800" indent="0" algn="ctr">
              <a:buNone/>
              <a:defRPr sz="1600"/>
            </a:lvl4pPr>
            <a:lvl5pPr marL="1793067" indent="0" algn="ctr">
              <a:buNone/>
              <a:defRPr sz="1600"/>
            </a:lvl5pPr>
            <a:lvl6pPr marL="2241334" indent="0" algn="ctr">
              <a:buNone/>
              <a:defRPr sz="1600"/>
            </a:lvl6pPr>
            <a:lvl7pPr marL="2689600" indent="0" algn="ctr">
              <a:buNone/>
              <a:defRPr sz="1600"/>
            </a:lvl7pPr>
            <a:lvl8pPr marL="3137867" indent="0" algn="ctr">
              <a:buNone/>
              <a:defRPr sz="1600"/>
            </a:lvl8pPr>
            <a:lvl9pPr marL="358613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39491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bg1"/>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300">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14925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739499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bg1"/>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300">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513788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400">
                <a:solidFill>
                  <a:schemeClr val="bg1"/>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300">
                <a:solidFill>
                  <a:schemeClr val="bg1"/>
                </a:solidFill>
                <a:latin typeface="+mj-lt"/>
                <a:cs typeface="Segoe UI Semilight" panose="020B0402040204020203" pitchFamily="34" charset="0"/>
              </a:defRPr>
            </a:lvl1pPr>
          </a:lstStyle>
          <a:p>
            <a:r>
              <a:rPr lang="en-US" dirty="0"/>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887679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tx1">
                    <a:tint val="75000"/>
                  </a:schemeClr>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300">
                <a:solidFill>
                  <a:srgbClr val="004E59"/>
                </a:solidFill>
                <a:latin typeface="+mj-lt"/>
                <a:cs typeface="Segoe UI Semilight" panose="020B0402040204020203" pitchFamily="34" charset="0"/>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908268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tx1">
                    <a:tint val="75000"/>
                  </a:schemeClr>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300">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22273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2/2/2021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203246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2/2/2021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43803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8086722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38800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2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2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802088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45625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2/2/2021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dirty="0"/>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12549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2/2/2021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667610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400" b="1">
                <a:latin typeface="+mj-lt"/>
              </a:defRPr>
            </a:lvl1pPr>
            <a:lvl2pPr marL="448267" indent="0">
              <a:buNone/>
              <a:defRPr sz="2000" b="1"/>
            </a:lvl2pPr>
            <a:lvl3pPr marL="896533" indent="0">
              <a:buNone/>
              <a:defRPr sz="1800" b="1"/>
            </a:lvl3pPr>
            <a:lvl4pPr marL="1344800" indent="0">
              <a:buNone/>
              <a:defRPr sz="1600" b="1"/>
            </a:lvl4pPr>
            <a:lvl5pPr marL="1793067" indent="0">
              <a:buNone/>
              <a:defRPr sz="1600" b="1"/>
            </a:lvl5pPr>
            <a:lvl6pPr marL="2241334" indent="0">
              <a:buNone/>
              <a:defRPr sz="1600" b="1"/>
            </a:lvl6pPr>
            <a:lvl7pPr marL="2689600" indent="0">
              <a:buNone/>
              <a:defRPr sz="1600" b="1"/>
            </a:lvl7pPr>
            <a:lvl8pPr marL="3137867" indent="0">
              <a:buNone/>
              <a:defRPr sz="1600" b="1"/>
            </a:lvl8pPr>
            <a:lvl9pPr marL="3586133" indent="0">
              <a:buNone/>
              <a:defRPr sz="1600"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400" b="1">
                <a:latin typeface="+mj-lt"/>
              </a:defRPr>
            </a:lvl1pPr>
            <a:lvl2pPr marL="448267" indent="0">
              <a:buNone/>
              <a:defRPr sz="2000" b="1"/>
            </a:lvl2pPr>
            <a:lvl3pPr marL="896533" indent="0">
              <a:buNone/>
              <a:defRPr sz="1800" b="1"/>
            </a:lvl3pPr>
            <a:lvl4pPr marL="1344800" indent="0">
              <a:buNone/>
              <a:defRPr sz="1600" b="1"/>
            </a:lvl4pPr>
            <a:lvl5pPr marL="1793067" indent="0">
              <a:buNone/>
              <a:defRPr sz="1600" b="1"/>
            </a:lvl5pPr>
            <a:lvl6pPr marL="2241334" indent="0">
              <a:buNone/>
              <a:defRPr sz="1600" b="1"/>
            </a:lvl6pPr>
            <a:lvl7pPr marL="2689600" indent="0">
              <a:buNone/>
              <a:defRPr sz="1600" b="1"/>
            </a:lvl7pPr>
            <a:lvl8pPr marL="3137867" indent="0">
              <a:buNone/>
              <a:defRPr sz="1600" b="1"/>
            </a:lvl8pPr>
            <a:lvl9pPr marL="3586133" indent="0">
              <a:buNone/>
              <a:defRPr sz="1600"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2/2/2021</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987834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2/2/2021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476593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00">
                <a:solidFill>
                  <a:srgbClr val="E45A1E"/>
                </a:solidFill>
              </a:defRPr>
            </a:lvl1pPr>
          </a:lstStyle>
          <a:p>
            <a:r>
              <a:rPr lang="en-US"/>
              <a:t>Click to edit Master title style</a:t>
            </a:r>
            <a:endParaRPr lang="en-US" dirty="0"/>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800">
                <a:solidFill>
                  <a:srgbClr val="E45A1E"/>
                </a:solidFill>
                <a:latin typeface="Segoe UI Semilight" panose="020B0402040204020203" pitchFamily="34" charset="0"/>
                <a:cs typeface="Segoe UI Semilight" panose="020B0402040204020203" pitchFamily="34" charset="0"/>
              </a:defRPr>
            </a:lvl1pPr>
            <a:lvl2pPr marL="448267" indent="0" algn="ctr">
              <a:buNone/>
              <a:defRPr sz="2000"/>
            </a:lvl2pPr>
            <a:lvl3pPr marL="896533" indent="0" algn="ctr">
              <a:buNone/>
              <a:defRPr sz="1800"/>
            </a:lvl3pPr>
            <a:lvl4pPr marL="1344800" indent="0" algn="ctr">
              <a:buNone/>
              <a:defRPr sz="1600"/>
            </a:lvl4pPr>
            <a:lvl5pPr marL="1793067" indent="0" algn="ctr">
              <a:buNone/>
              <a:defRPr sz="1600"/>
            </a:lvl5pPr>
            <a:lvl6pPr marL="2241334" indent="0" algn="ctr">
              <a:buNone/>
              <a:defRPr sz="1600"/>
            </a:lvl6pPr>
            <a:lvl7pPr marL="2689600" indent="0" algn="ctr">
              <a:buNone/>
              <a:defRPr sz="1600"/>
            </a:lvl7pPr>
            <a:lvl8pPr marL="3137867" indent="0" algn="ctr">
              <a:buNone/>
              <a:defRPr sz="1600"/>
            </a:lvl8pPr>
            <a:lvl9pPr marL="358613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2/2/2021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0345043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2/2/2021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515515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2/2/2021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4235738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2/2/2021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07465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00"/>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00">
                <a:latin typeface="Segoe UI" panose="020B0502040204020203" pitchFamily="34" charset="0"/>
              </a:defRPr>
            </a:lvl1pPr>
            <a:lvl2pPr marL="448267" indent="0">
              <a:buNone/>
              <a:defRPr sz="2700"/>
            </a:lvl2pPr>
            <a:lvl3pPr marL="896533" indent="0">
              <a:buNone/>
              <a:defRPr sz="2400"/>
            </a:lvl3pPr>
            <a:lvl4pPr marL="1344800" indent="0">
              <a:buNone/>
              <a:defRPr sz="2000"/>
            </a:lvl4pPr>
            <a:lvl5pPr marL="1793067" indent="0">
              <a:buNone/>
              <a:defRPr sz="2000"/>
            </a:lvl5pPr>
            <a:lvl6pPr marL="2241334" indent="0">
              <a:buNone/>
              <a:defRPr sz="2000"/>
            </a:lvl6pPr>
            <a:lvl7pPr marL="2689600" indent="0">
              <a:buNone/>
              <a:defRPr sz="2000"/>
            </a:lvl7pPr>
            <a:lvl8pPr marL="3137867" indent="0">
              <a:buNone/>
              <a:defRPr sz="2000"/>
            </a:lvl8pPr>
            <a:lvl9pPr marL="3586133" indent="0">
              <a:buNone/>
              <a:defRPr sz="2000"/>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600">
                <a:latin typeface="Segoe UI" panose="020B0502040204020203" pitchFamily="34" charset="0"/>
              </a:defRPr>
            </a:lvl1pPr>
            <a:lvl2pPr marL="448267" indent="0">
              <a:buNone/>
              <a:defRPr sz="1400"/>
            </a:lvl2pPr>
            <a:lvl3pPr marL="896533" indent="0">
              <a:buNone/>
              <a:defRPr sz="1200"/>
            </a:lvl3pPr>
            <a:lvl4pPr marL="1344800" indent="0">
              <a:buNone/>
              <a:defRPr sz="1000"/>
            </a:lvl4pPr>
            <a:lvl5pPr marL="1793067" indent="0">
              <a:buNone/>
              <a:defRPr sz="1000"/>
            </a:lvl5pPr>
            <a:lvl6pPr marL="2241334" indent="0">
              <a:buNone/>
              <a:defRPr sz="1000"/>
            </a:lvl6pPr>
            <a:lvl7pPr marL="2689600" indent="0">
              <a:buNone/>
              <a:defRPr sz="1000"/>
            </a:lvl7pPr>
            <a:lvl8pPr marL="3137867" indent="0">
              <a:buNone/>
              <a:defRPr sz="1000"/>
            </a:lvl8pPr>
            <a:lvl9pPr marL="3586133"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2/2/2021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1620290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00" spc="-14" baseline="0">
                <a:solidFill>
                  <a:schemeClr val="accent2"/>
                </a:solidFill>
                <a:latin typeface="Segoe UI" panose="020B0502040204020203" pitchFamily="34" charset="0"/>
              </a:defRPr>
            </a:lvl1pPr>
          </a:lstStyle>
          <a:p>
            <a:pPr lvl="0"/>
            <a:r>
              <a:rPr lang="en-US" dirty="0"/>
              <a:t>Click to edit Master text styles</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700">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403218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200">
                <a:solidFill>
                  <a:schemeClr val="tx1">
                    <a:tint val="75000"/>
                  </a:schemeClr>
                </a:solidFill>
                <a:latin typeface="Segoe UI" panose="020B0502040204020203" pitchFamily="34" charset="0"/>
              </a:defRPr>
            </a:lvl1pPr>
          </a:lstStyle>
          <a:p>
            <a:fld id="{6C1EC331-590E-4679-816A-DCB458BBD7AB}" type="datetime1">
              <a:rPr lang="en-US" smtClean="0"/>
              <a:t>2/2/2021</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200">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845489276"/>
      </p:ext>
    </p:extLst>
  </p:cSld>
  <p:clrMap bg1="lt1" tx1="dk1" bg2="lt2" tx2="dk2" accent1="accent1" accent2="accent2" accent3="accent3" accent4="accent4" accent5="accent5" accent6="accent6" hlink="hlink" folHlink="folHlink"/>
  <p:sldLayoutIdLst>
    <p:sldLayoutId id="2147483712" r:id="rId1"/>
    <p:sldLayoutId id="2147483733" r:id="rId2"/>
    <p:sldLayoutId id="2147483731" r:id="rId3"/>
    <p:sldLayoutId id="2147483732" r:id="rId4"/>
    <p:sldLayoutId id="2147483734" r:id="rId5"/>
    <p:sldLayoutId id="2147483730" r:id="rId6"/>
    <p:sldLayoutId id="2147483714" r:id="rId7"/>
    <p:sldLayoutId id="2147483715" r:id="rId8"/>
    <p:sldLayoutId id="2147483716" r:id="rId9"/>
    <p:sldLayoutId id="2147483738" r:id="rId10"/>
    <p:sldLayoutId id="2147483718" r:id="rId11"/>
    <p:sldLayoutId id="2147483735" r:id="rId12"/>
    <p:sldLayoutId id="2147483736" r:id="rId13"/>
    <p:sldLayoutId id="2147483737" r:id="rId14"/>
    <p:sldLayoutId id="2147483717" r:id="rId15"/>
    <p:sldLayoutId id="2147483719" r:id="rId16"/>
    <p:sldLayoutId id="2147483720" r:id="rId17"/>
    <p:sldLayoutId id="2147483721" r:id="rId18"/>
    <p:sldLayoutId id="2147483713" r:id="rId19"/>
    <p:sldLayoutId id="2147483722" r:id="rId20"/>
    <p:sldLayoutId id="2147483723" r:id="rId21"/>
    <p:sldLayoutId id="2147483724" r:id="rId22"/>
    <p:sldLayoutId id="2147483726" r:id="rId23"/>
    <p:sldLayoutId id="2147483729" r:id="rId24"/>
  </p:sldLayoutIdLst>
  <p:hf sldNum="0" hdr="0" ftr="0" dt="0"/>
  <p:txStyles>
    <p:titleStyle>
      <a:lvl1pPr algn="l" defTabSz="89653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2000"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600"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400"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400"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896533" rtl="0" eaLnBrk="1" latinLnBrk="0" hangingPunct="1">
        <a:defRPr sz="1800" kern="1200">
          <a:solidFill>
            <a:schemeClr val="tx1"/>
          </a:solidFill>
          <a:latin typeface="+mn-lt"/>
          <a:ea typeface="+mn-ea"/>
          <a:cs typeface="+mn-cs"/>
        </a:defRPr>
      </a:lvl1pPr>
      <a:lvl2pPr marL="448267" algn="l" defTabSz="896533" rtl="0" eaLnBrk="1" latinLnBrk="0" hangingPunct="1">
        <a:defRPr sz="1800" kern="1200">
          <a:solidFill>
            <a:schemeClr val="tx1"/>
          </a:solidFill>
          <a:latin typeface="+mn-lt"/>
          <a:ea typeface="+mn-ea"/>
          <a:cs typeface="+mn-cs"/>
        </a:defRPr>
      </a:lvl2pPr>
      <a:lvl3pPr marL="896533" algn="l" defTabSz="896533" rtl="0" eaLnBrk="1" latinLnBrk="0" hangingPunct="1">
        <a:defRPr sz="1800" kern="1200">
          <a:solidFill>
            <a:schemeClr val="tx1"/>
          </a:solidFill>
          <a:latin typeface="+mn-lt"/>
          <a:ea typeface="+mn-ea"/>
          <a:cs typeface="+mn-cs"/>
        </a:defRPr>
      </a:lvl3pPr>
      <a:lvl4pPr marL="1344800" algn="l" defTabSz="896533" rtl="0" eaLnBrk="1" latinLnBrk="0" hangingPunct="1">
        <a:defRPr sz="1800" kern="1200">
          <a:solidFill>
            <a:schemeClr val="tx1"/>
          </a:solidFill>
          <a:latin typeface="+mn-lt"/>
          <a:ea typeface="+mn-ea"/>
          <a:cs typeface="+mn-cs"/>
        </a:defRPr>
      </a:lvl4pPr>
      <a:lvl5pPr marL="1793067" algn="l" defTabSz="896533" rtl="0" eaLnBrk="1" latinLnBrk="0" hangingPunct="1">
        <a:defRPr sz="1800" kern="1200">
          <a:solidFill>
            <a:schemeClr val="tx1"/>
          </a:solidFill>
          <a:latin typeface="+mn-lt"/>
          <a:ea typeface="+mn-ea"/>
          <a:cs typeface="+mn-cs"/>
        </a:defRPr>
      </a:lvl5pPr>
      <a:lvl6pPr marL="2241334" algn="l" defTabSz="896533" rtl="0" eaLnBrk="1" latinLnBrk="0" hangingPunct="1">
        <a:defRPr sz="1800" kern="1200">
          <a:solidFill>
            <a:schemeClr val="tx1"/>
          </a:solidFill>
          <a:latin typeface="+mn-lt"/>
          <a:ea typeface="+mn-ea"/>
          <a:cs typeface="+mn-cs"/>
        </a:defRPr>
      </a:lvl6pPr>
      <a:lvl7pPr marL="2689600" algn="l" defTabSz="896533" rtl="0" eaLnBrk="1" latinLnBrk="0" hangingPunct="1">
        <a:defRPr sz="1800" kern="1200">
          <a:solidFill>
            <a:schemeClr val="tx1"/>
          </a:solidFill>
          <a:latin typeface="+mn-lt"/>
          <a:ea typeface="+mn-ea"/>
          <a:cs typeface="+mn-cs"/>
        </a:defRPr>
      </a:lvl7pPr>
      <a:lvl8pPr marL="3137867" algn="l" defTabSz="896533" rtl="0" eaLnBrk="1" latinLnBrk="0" hangingPunct="1">
        <a:defRPr sz="1800" kern="1200">
          <a:solidFill>
            <a:schemeClr val="tx1"/>
          </a:solidFill>
          <a:latin typeface="+mn-lt"/>
          <a:ea typeface="+mn-ea"/>
          <a:cs typeface="+mn-cs"/>
        </a:defRPr>
      </a:lvl8pPr>
      <a:lvl9pPr marL="3586133" algn="l" defTabSz="8965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Edelman &amp; Thompson – SP Migration</a:t>
            </a:r>
          </a:p>
        </p:txBody>
      </p:sp>
      <p:sp>
        <p:nvSpPr>
          <p:cNvPr id="8" name="Rectangle 7">
            <a:extLst>
              <a:ext uri="{FF2B5EF4-FFF2-40B4-BE49-F238E27FC236}">
                <a16:creationId xmlns:a16="http://schemas.microsoft.com/office/drawing/2014/main" id="{FBE508DA-8460-4788-8000-47A2BE6DA870}"/>
              </a:ext>
            </a:extLst>
          </p:cNvPr>
          <p:cNvSpPr/>
          <p:nvPr/>
        </p:nvSpPr>
        <p:spPr>
          <a:xfrm>
            <a:off x="381000" y="2670407"/>
            <a:ext cx="7568408" cy="4401205"/>
          </a:xfrm>
          <a:prstGeom prst="rect">
            <a:avLst/>
          </a:prstGeom>
        </p:spPr>
        <p:txBody>
          <a:bodyPr wrap="square" lIns="91440" tIns="45720" rIns="91440" bIns="45720" anchor="t">
            <a:spAutoFit/>
          </a:bodyPr>
          <a:lstStyle/>
          <a:p>
            <a:pPr lvl="0">
              <a:lnSpc>
                <a:spcPct val="100000"/>
              </a:lnSpc>
            </a:pPr>
            <a:r>
              <a:rPr lang="en-US" sz="2400" b="1" dirty="0">
                <a:solidFill>
                  <a:srgbClr val="0096A9"/>
                </a:solidFill>
                <a:latin typeface="Segoe UI"/>
                <a:cs typeface="Segoe UI"/>
              </a:rPr>
              <a:t>What We Did</a:t>
            </a:r>
          </a:p>
          <a:p>
            <a:r>
              <a:rPr lang="en-US" sz="1400" dirty="0">
                <a:latin typeface="Segoe UI"/>
                <a:cs typeface="Segoe UI"/>
              </a:rPr>
              <a:t>Edelman had roughly 2TB of client data stored on local file servers in addition to another 2TB of attorney files stored on Dropbox. In addition to being a large amount of data, the "wild west" architecture had grown painful to manage over time. Edelman had a desire to migrate this content to the cloud using Microsoft 365 and SharePoint Online.</a:t>
            </a:r>
            <a:endParaRPr lang="en-US" sz="1400" dirty="0">
              <a:latin typeface="Segoe UI" panose="020B0502040204020203" pitchFamily="34" charset="0"/>
              <a:cs typeface="Segoe UI" panose="020B0502040204020203" pitchFamily="34" charset="0"/>
            </a:endParaRPr>
          </a:p>
          <a:p>
            <a:endParaRPr lang="en-US" sz="1400" dirty="0">
              <a:latin typeface="Segoe UI" panose="020B0502040204020203" pitchFamily="34" charset="0"/>
              <a:cs typeface="Segoe UI" panose="020B0502040204020203" pitchFamily="34" charset="0"/>
            </a:endParaRPr>
          </a:p>
          <a:p>
            <a:r>
              <a:rPr lang="en-US" sz="1400" dirty="0">
                <a:latin typeface="Segoe UI"/>
                <a:cs typeface="Segoe UI"/>
              </a:rPr>
              <a:t>Affirma began the project with a comprehensive planning phase. Working directly with key stakeholders, we helped identify content that should be migrated to the new environment. We developed a highly catered architecture for organizing tens of thousands of files to ensure ease of use and scalability.</a:t>
            </a:r>
          </a:p>
          <a:p>
            <a:endParaRPr lang="en-US" sz="1400" dirty="0">
              <a:latin typeface="Segoe UI" panose="020B0502040204020203" pitchFamily="34" charset="0"/>
              <a:cs typeface="Segoe UI" panose="020B0502040204020203" pitchFamily="34" charset="0"/>
            </a:endParaRPr>
          </a:p>
          <a:p>
            <a:r>
              <a:rPr lang="en-US" sz="1400" dirty="0">
                <a:latin typeface="Segoe UI"/>
                <a:cs typeface="Segoe UI"/>
              </a:rPr>
              <a:t>Our development team then built a new SharePoint Online environment using the Modern framework and migrated multiple terabytes of data into the newly developed environment, working creatively to navigate throttling in Microsoft 365 with such a large amount of content.</a:t>
            </a:r>
            <a:endParaRPr lang="en-US" sz="1400" dirty="0">
              <a:latin typeface="Segoe UI" panose="020B0502040204020203" pitchFamily="34" charset="0"/>
              <a:cs typeface="Segoe UI" panose="020B0502040204020203" pitchFamily="34" charset="0"/>
            </a:endParaRPr>
          </a:p>
          <a:p>
            <a:endParaRPr lang="en-US" sz="1400" dirty="0">
              <a:latin typeface="Segoe UI" panose="020B0502040204020203" pitchFamily="34" charset="0"/>
              <a:cs typeface="Segoe UI" panose="020B0502040204020203" pitchFamily="34" charset="0"/>
            </a:endParaRPr>
          </a:p>
          <a:p>
            <a:r>
              <a:rPr lang="en-US" sz="1400" dirty="0">
                <a:latin typeface="Segoe UI"/>
                <a:cs typeface="Segoe UI"/>
              </a:rPr>
              <a:t>The project was a big success with the users at Edelman, and </a:t>
            </a:r>
            <a:r>
              <a:rPr lang="en-US" sz="1400" dirty="0" err="1">
                <a:latin typeface="Segoe UI"/>
                <a:cs typeface="Segoe UI"/>
              </a:rPr>
              <a:t>Affirma</a:t>
            </a:r>
            <a:r>
              <a:rPr lang="en-US" sz="1400" dirty="0">
                <a:latin typeface="Segoe UI"/>
                <a:cs typeface="Segoe UI"/>
              </a:rPr>
              <a:t> is in the process of supporting Edelman on a process automation initiative using the Microsoft PowerPlatform</a:t>
            </a:r>
          </a:p>
          <a:p>
            <a:endParaRPr lang="en-US" sz="1400" dirty="0">
              <a:latin typeface="Segoe UI" panose="020B0502040204020203" pitchFamily="34" charset="0"/>
              <a:cs typeface="Segoe UI" panose="020B0502040204020203" pitchFamily="34" charset="0"/>
            </a:endParaRPr>
          </a:p>
          <a:p>
            <a:endParaRPr lang="en-US" dirty="0">
              <a:cs typeface="Segoe UI"/>
            </a:endParaRPr>
          </a:p>
        </p:txBody>
      </p:sp>
      <p:sp>
        <p:nvSpPr>
          <p:cNvPr id="11" name="Rectangle 10">
            <a:extLst>
              <a:ext uri="{FF2B5EF4-FFF2-40B4-BE49-F238E27FC236}">
                <a16:creationId xmlns:a16="http://schemas.microsoft.com/office/drawing/2014/main" id="{71FE7EEF-A562-49F9-9BB4-452D8222403E}"/>
              </a:ext>
            </a:extLst>
          </p:cNvPr>
          <p:cNvSpPr/>
          <p:nvPr/>
        </p:nvSpPr>
        <p:spPr>
          <a:xfrm>
            <a:off x="381000" y="1065047"/>
            <a:ext cx="6274660" cy="461665"/>
          </a:xfrm>
          <a:prstGeom prst="rect">
            <a:avLst/>
          </a:prstGeom>
        </p:spPr>
        <p:txBody>
          <a:bodyPr wrap="square" lIns="91440" tIns="45720" rIns="91440" bIns="45720" anchor="t">
            <a:spAutoFit/>
          </a:bodyPr>
          <a:lstStyle/>
          <a:p>
            <a:pPr lvl="0">
              <a:lnSpc>
                <a:spcPct val="100000"/>
              </a:lnSpc>
            </a:pPr>
            <a:r>
              <a:rPr lang="en-US" sz="2400" b="1" dirty="0">
                <a:solidFill>
                  <a:srgbClr val="0096A9"/>
                </a:solidFill>
                <a:latin typeface="Segoe UI"/>
                <a:ea typeface="Calibri" panose="020F0502020204030204" pitchFamily="34" charset="0"/>
                <a:cs typeface="Segoe UI"/>
              </a:rPr>
              <a:t>Who They Are?</a:t>
            </a:r>
            <a:endParaRPr lang="en-US" sz="2400">
              <a:latin typeface="Segoe UI"/>
              <a:cs typeface="Segoe UI"/>
            </a:endParaRPr>
          </a:p>
        </p:txBody>
      </p:sp>
      <p:sp>
        <p:nvSpPr>
          <p:cNvPr id="3" name="Rectangle 2">
            <a:extLst>
              <a:ext uri="{FF2B5EF4-FFF2-40B4-BE49-F238E27FC236}">
                <a16:creationId xmlns:a16="http://schemas.microsoft.com/office/drawing/2014/main" id="{D51EF1DC-9AE1-4189-BD13-95E2FADE1B46}"/>
              </a:ext>
            </a:extLst>
          </p:cNvPr>
          <p:cNvSpPr/>
          <p:nvPr/>
        </p:nvSpPr>
        <p:spPr>
          <a:xfrm>
            <a:off x="381001" y="1499631"/>
            <a:ext cx="7572375" cy="1169551"/>
          </a:xfrm>
          <a:prstGeom prst="rect">
            <a:avLst/>
          </a:prstGeom>
        </p:spPr>
        <p:txBody>
          <a:bodyPr wrap="square" lIns="91440" tIns="45720" rIns="91440" bIns="45720" anchor="t">
            <a:spAutoFit/>
          </a:bodyPr>
          <a:lstStyle/>
          <a:p>
            <a:r>
              <a:rPr lang="en-US" sz="1400" dirty="0">
                <a:latin typeface="Segoe UI"/>
                <a:cs typeface="Segoe UI"/>
              </a:rPr>
              <a:t>Edelman &amp; Thompson is a large Kansas City based law firm founded in 1994, specializing in matters of Injury (Personal, Workers Compensation, Medical Malpractice, etc). Edelman has won over 75 Workers Comp case awards since 2014, making them far and away the leader in </a:t>
            </a:r>
            <a:r>
              <a:rPr lang="en-US" sz="1400">
                <a:latin typeface="Segoe UI"/>
                <a:cs typeface="Segoe UI"/>
              </a:rPr>
              <a:t>their area. Since inception, attorneys at Edelman have won over $500 Million in settlements and verdicts</a:t>
            </a:r>
            <a:r>
              <a:rPr lang="en-US" sz="1400" dirty="0">
                <a:latin typeface="Segoe UI"/>
                <a:cs typeface="Segoe UI"/>
              </a:rPr>
              <a:t> for their clients.</a:t>
            </a:r>
            <a:endParaRPr lang="en-US" sz="1400" dirty="0">
              <a:latin typeface="Segoe UI" panose="020B0502040204020203" pitchFamily="34" charset="0"/>
              <a:cs typeface="Segoe UI" panose="020B0502040204020203" pitchFamily="34" charset="0"/>
            </a:endParaRPr>
          </a:p>
        </p:txBody>
      </p:sp>
      <p:pic>
        <p:nvPicPr>
          <p:cNvPr id="5" name="Picture 5" descr="A close up of a sign&#10;&#10;Description automatically generated">
            <a:extLst>
              <a:ext uri="{FF2B5EF4-FFF2-40B4-BE49-F238E27FC236}">
                <a16:creationId xmlns:a16="http://schemas.microsoft.com/office/drawing/2014/main" id="{08BFD5F2-1161-4C63-AD0D-7ADE770E7701}"/>
              </a:ext>
            </a:extLst>
          </p:cNvPr>
          <p:cNvPicPr>
            <a:picLocks noChangeAspect="1"/>
          </p:cNvPicPr>
          <p:nvPr/>
        </p:nvPicPr>
        <p:blipFill>
          <a:blip r:embed="rId3"/>
          <a:stretch>
            <a:fillRect/>
          </a:stretch>
        </p:blipFill>
        <p:spPr>
          <a:xfrm>
            <a:off x="8213869" y="1318779"/>
            <a:ext cx="3846079" cy="1264804"/>
          </a:xfrm>
          <a:prstGeom prst="rect">
            <a:avLst/>
          </a:prstGeom>
        </p:spPr>
      </p:pic>
      <p:sp>
        <p:nvSpPr>
          <p:cNvPr id="6" name="TextBox 5">
            <a:extLst>
              <a:ext uri="{FF2B5EF4-FFF2-40B4-BE49-F238E27FC236}">
                <a16:creationId xmlns:a16="http://schemas.microsoft.com/office/drawing/2014/main" id="{4A0F9829-3D01-4A09-90D9-4586777F34AD}"/>
              </a:ext>
            </a:extLst>
          </p:cNvPr>
          <p:cNvSpPr txBox="1"/>
          <p:nvPr/>
        </p:nvSpPr>
        <p:spPr>
          <a:xfrm>
            <a:off x="8211128" y="3362036"/>
            <a:ext cx="3851562"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96A9"/>
                </a:solidFill>
              </a:rPr>
              <a:t>Testimonial</a:t>
            </a:r>
            <a:endParaRPr lang="en-US"/>
          </a:p>
          <a:p>
            <a:r>
              <a:rPr lang="en-US" sz="1200" i="1"/>
              <a:t>"We are a law firm that wanted to move our files that were stored on our local servers to the cloud. Security of our files is very important to us. Affirma helped us migrate our files from our local server to Microsoft Sharepoint. </a:t>
            </a:r>
            <a:endParaRPr lang="en-US" sz="1200"/>
          </a:p>
          <a:p>
            <a:endParaRPr lang="en-US" sz="1200" i="1" dirty="0"/>
          </a:p>
          <a:p>
            <a:r>
              <a:rPr lang="en-US" sz="1200" i="1"/>
              <a:t>The migration of files went very smoothly, and the adoption of Sharepoint by our staff was quick because of the very user-friendly platform of Sharepoint. Affirma helped us through every step of the project and kept our team updated on the timeline and budget. We are very pleased with how the project turned out!"</a:t>
            </a:r>
            <a:endParaRPr lang="en-US" sz="1200">
              <a:ea typeface="+mn-lt"/>
              <a:cs typeface="+mn-lt"/>
            </a:endParaRPr>
          </a:p>
          <a:p>
            <a:pPr algn="l"/>
            <a:endParaRPr lang="en-US" sz="1400" dirty="0">
              <a:cs typeface="Segoe UI"/>
            </a:endParaRPr>
          </a:p>
        </p:txBody>
      </p:sp>
    </p:spTree>
    <p:extLst>
      <p:ext uri="{BB962C8B-B14F-4D97-AF65-F5344CB8AC3E}">
        <p14:creationId xmlns:p14="http://schemas.microsoft.com/office/powerpoint/2010/main" val="3479320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Value>Migrations</Value>
    </Solutions>
    <Industries xmlns="f0ee8362-fa7e-4bc9-ab88-7dcfb17cb19b">
      <Value>Legal</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F11BC064-21B5-4C0F-8E96-A6796C539B4A}"/>
</file>

<file path=customXml/itemProps2.xml><?xml version="1.0" encoding="utf-8"?>
<ds:datastoreItem xmlns:ds="http://schemas.openxmlformats.org/officeDocument/2006/customXml" ds:itemID="{889BB2FD-762B-40A5-9044-E0F9796C1DBB}"/>
</file>

<file path=customXml/itemProps3.xml><?xml version="1.0" encoding="utf-8"?>
<ds:datastoreItem xmlns:ds="http://schemas.openxmlformats.org/officeDocument/2006/customXml" ds:itemID="{1C122EC3-1CEA-4FF4-B697-E5318DBB803B}"/>
</file>

<file path=customXml/itemProps4.xml><?xml version="1.0" encoding="utf-8"?>
<ds:datastoreItem xmlns:ds="http://schemas.openxmlformats.org/officeDocument/2006/customXml" ds:itemID="{3D0BE061-0833-4F5C-97DE-F1C1F20830D9}"/>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Edelman &amp; Thompson – SP Migration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117</cp:revision>
  <dcterms:created xsi:type="dcterms:W3CDTF">2021-02-01T16:56:09Z</dcterms:created>
  <dcterms:modified xsi:type="dcterms:W3CDTF">2021-02-02T16:19:21Z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Category">
    <vt:lpwstr>6;#Case Study|8faa0ad1-25f0-4f56-8e38-f60e20c455d6</vt:lpwstr>
  </property>
  <property fmtid="{D5CDD505-2E9C-101B-9397-08002B2CF9AE}" pid="5" name="Industry">
    <vt:lpwstr>66;#Legal|abc46c67-ce9e-4c9d-8b09-974358c08316</vt:lpwstr>
  </property>
  <property fmtid="{D5CDD505-2E9C-101B-9397-08002B2CF9AE}" pid="6" name="Service_x0020_Offering">
    <vt:lpwstr/>
  </property>
  <property fmtid="{D5CDD505-2E9C-101B-9397-08002B2CF9AE}" pid="7" name="_ExtendedDescription">
    <vt:lpwstr/>
  </property>
  <property fmtid="{D5CDD505-2E9C-101B-9397-08002B2CF9AE}" pid="8" name="Service Offering">
    <vt:lpwstr/>
  </property>
  <property fmtid="{D5CDD505-2E9C-101B-9397-08002B2CF9AE}" pid="9" name="Business_x0020_Unit">
    <vt:lpwstr/>
  </property>
  <property fmtid="{D5CDD505-2E9C-101B-9397-08002B2CF9AE}" pid="10" name="Order">
    <vt:r8>45900</vt:r8>
  </property>
  <property fmtid="{D5CDD505-2E9C-101B-9397-08002B2CF9AE}" pid="11" name="xd_Signature">
    <vt:bool>false</vt:bool>
  </property>
  <property fmtid="{D5CDD505-2E9C-101B-9397-08002B2CF9AE}" pid="12" name="SO">
    <vt:lpwstr>25;#;#38;#;#39;#</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