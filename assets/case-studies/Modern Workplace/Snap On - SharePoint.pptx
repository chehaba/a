
<file path=[Content_Types].xml><?xml version="1.0" encoding="utf-8"?>
<Types xmlns="http://schemas.openxmlformats.org/package/2006/content-types">
  <Default Extension="bin"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30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D8AD9F-E01E-B000-DB38-98F86D731FFF}" v="10" dt="2021-02-22T21:08:01.779"/>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4.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n Babcock" userId="S::ebabcock@affirma.com::4c171d38-3003-4d72-a69c-39ea43eee297" providerId="AD" clId="Web-{94D8AD9F-E01E-B000-DB38-98F86D731FFF}"/>
    <pc:docChg chg="modSld">
      <pc:chgData name="Erin Babcock" userId="S::ebabcock@affirma.com::4c171d38-3003-4d72-a69c-39ea43eee297" providerId="AD" clId="Web-{94D8AD9F-E01E-B000-DB38-98F86D731FFF}" dt="2021-02-22T21:08:01.779" v="6" actId="1076"/>
      <pc:docMkLst>
        <pc:docMk/>
      </pc:docMkLst>
      <pc:sldChg chg="modSp">
        <pc:chgData name="Erin Babcock" userId="S::ebabcock@affirma.com::4c171d38-3003-4d72-a69c-39ea43eee297" providerId="AD" clId="Web-{94D8AD9F-E01E-B000-DB38-98F86D731FFF}" dt="2021-02-22T21:08:01.779" v="6" actId="1076"/>
        <pc:sldMkLst>
          <pc:docMk/>
          <pc:sldMk cId="2582825011" sldId="300"/>
        </pc:sldMkLst>
        <pc:spChg chg="mod">
          <ac:chgData name="Erin Babcock" userId="S::ebabcock@affirma.com::4c171d38-3003-4d72-a69c-39ea43eee297" providerId="AD" clId="Web-{94D8AD9F-E01E-B000-DB38-98F86D731FFF}" dt="2021-02-22T21:08:01.779" v="6" actId="1076"/>
          <ac:spMkLst>
            <pc:docMk/>
            <pc:sldMk cId="2582825011" sldId="300"/>
            <ac:spMk id="31" creationId="{EC9A7433-5BCD-4EA6-924A-53FDBF0CAAA6}"/>
          </ac:spMkLst>
        </pc:spChg>
        <pc:spChg chg="mod">
          <ac:chgData name="Erin Babcock" userId="S::ebabcock@affirma.com::4c171d38-3003-4d72-a69c-39ea43eee297" providerId="AD" clId="Web-{94D8AD9F-E01E-B000-DB38-98F86D731FFF}" dt="2021-02-22T21:07:57.420" v="4" actId="1076"/>
          <ac:spMkLst>
            <pc:docMk/>
            <pc:sldMk cId="2582825011" sldId="300"/>
            <ac:spMk id="33" creationId="{A2CD0AFB-BBEB-434B-985F-3ACF7BE51454}"/>
          </ac:spMkLst>
        </pc:spChg>
        <pc:spChg chg="mod">
          <ac:chgData name="Erin Babcock" userId="S::ebabcock@affirma.com::4c171d38-3003-4d72-a69c-39ea43eee297" providerId="AD" clId="Web-{94D8AD9F-E01E-B000-DB38-98F86D731FFF}" dt="2021-02-22T21:07:57.435" v="5" actId="1076"/>
          <ac:spMkLst>
            <pc:docMk/>
            <pc:sldMk cId="2582825011" sldId="300"/>
            <ac:spMk id="34" creationId="{EC17F625-2EC2-4F28-895B-03B104D7945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2/22/2021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2/22/2021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Snap-On Managed Services</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69014" y="1779564"/>
            <a:ext cx="5533147" cy="2346027"/>
          </a:xfrm>
          <a:prstGeom prst="rect">
            <a:avLst/>
          </a:prstGeom>
          <a:noFill/>
        </p:spPr>
        <p:txBody>
          <a:bodyPr wrap="square" lIns="91440" tIns="45720" rIns="91440" bIns="45720" rtlCol="0" anchor="t">
            <a:spAutoFit/>
          </a:bodyPr>
          <a:lstStyle/>
          <a:p>
            <a:pPr>
              <a:lnSpc>
                <a:spcPct val="150000"/>
              </a:lnSpc>
            </a:pPr>
            <a:r>
              <a:rPr lang="en-US" sz="1100" b="0" i="0" kern="1200" dirty="0">
                <a:effectLst/>
                <a:latin typeface="Open Sans"/>
                <a:ea typeface="+mn-ea"/>
                <a:cs typeface="+mn-cs"/>
              </a:rPr>
              <a:t>&lt;p&gt;Snap-on is a leading global developer, manufacturer and marketer of tool and equipment solutions for professional tool users. Snap-on has more than 22,000 products, operates in more than 130 countries and employs approximately 11,000 people worldwide. Snap-on also has a franchise network of more than 4,200 franchises. After working unsuccessfully with a separate vendor on their collaboration</a:t>
            </a:r>
            <a:r>
              <a:rPr lang="en-US" sz="1100" dirty="0">
                <a:latin typeface="Open Sans"/>
              </a:rPr>
              <a:t> </a:t>
            </a:r>
            <a:r>
              <a:rPr lang="en-US" sz="1100" b="0" i="0" kern="1200" dirty="0">
                <a:effectLst/>
                <a:latin typeface="Open Sans"/>
                <a:ea typeface="+mn-ea"/>
                <a:cs typeface="+mn-cs"/>
              </a:rPr>
              <a:t>platform, Snap-on engaged with </a:t>
            </a:r>
            <a:r>
              <a:rPr lang="en-US" sz="1100" b="0" i="0" kern="1200" dirty="0" err="1">
                <a:effectLst/>
                <a:latin typeface="Open Sans"/>
                <a:ea typeface="+mn-ea"/>
                <a:cs typeface="+mn-cs"/>
              </a:rPr>
              <a:t>Affirma</a:t>
            </a:r>
            <a:r>
              <a:rPr lang="en-US" sz="1100" b="0" i="0" kern="1200" dirty="0">
                <a:effectLst/>
                <a:latin typeface="Open Sans"/>
                <a:ea typeface="+mn-ea"/>
                <a:cs typeface="+mn-cs"/>
              </a:rPr>
              <a:t>. It became apparent, they were not receiving a consultative approach to the platform as well as ongoing oversight and support for their infrastructure services.&lt;/p&gt;
</a:t>
            </a:r>
            <a:endParaRPr lang="en-US"/>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36357" y="4243939"/>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&lt;p&gt;Affirma evaluated their existing SharePoint Environment and delivered findings and recommendations. We proposed an ongoing support engagement model that better met their long term goals and strategy around collaboration.&lt;/p&gt;
</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36358" y="3816899"/>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&lt;p&gt;We delivered a managed collaboration platform meeting core business requirements. Overseeing their environment ongoing allows them to focus on their business while ensuring their business critical collaboration platform is running and meeting the business needs.&lt;/p&gt;
</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616" y="3578094"/>
            <a:ext cx="4254500" cy="2755900"/>
          </a:xfrm>
          <a:prstGeom prst="rect">
            <a:avLst/>
          </a:prstGeom>
        </p:spPr>
      </p:pic>
      <p:pic>
        <p:nvPicPr>
          <p:cNvPr id="3" name="Picture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97646" y="1565275"/>
            <a:ext cx="1781175" cy="1770063"/>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Intranet / Extranet</Value>
    </Solutions>
    <Industries xmlns="f0ee8362-fa7e-4bc9-ab88-7dcfb17cb19b">
      <Value>Energy</Value>
      <Value>Retail</Value>
    </Industries>
    <Notes0 xmlns="f0ee8362-fa7e-4bc9-ab88-7dcfb17cb19b" xsi:nil="true"/>
    <Named_x0020_Account xmlns="f0ee8362-fa7e-4bc9-ab88-7dcfb17cb19b" xsi:nil="true"/>
    <PlatTech xmlns="f0ee8362-fa7e-4bc9-ab88-7dcfb17cb19b">
      <Value>SharePoint</Value>
    </PlatTech>
    <ApprovedByClient xmlns="f0ee8362-fa7e-4bc9-ab88-7dcfb17cb19b">false</ApprovedByClient>
    <ProjectCompletionDate xmlns="f0ee8362-fa7e-4bc9-ab88-7dcfb17cb1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F69DCF0E-CEF7-4B49-9221-C80665B9D538}">
  <ds:schemaRefs>
    <ds:schemaRef ds:uri="http://schemas.microsoft.com/office/2006/metadata/properties"/>
    <ds:schemaRef ds:uri="http://schemas.microsoft.com/office/infopath/2007/PartnerControls"/>
    <ds:schemaRef ds:uri="54243e05-8da7-404c-85e0-0480aaa26276"/>
  </ds:schemaRefs>
</ds:datastoreItem>
</file>

<file path=customXml/itemProps2.xml><?xml version="1.0" encoding="utf-8"?>
<ds:datastoreItem xmlns:ds="http://schemas.openxmlformats.org/officeDocument/2006/customXml" ds:itemID="{F341F8CA-1842-4416-A07A-9AB5EBE57E8D}">
  <ds:schemaRefs>
    <ds:schemaRef ds:uri="http://schemas.microsoft.com/sharepoint/v3/contenttype/forms"/>
  </ds:schemaRefs>
</ds:datastoreItem>
</file>

<file path=customXml/itemProps3.xml><?xml version="1.0" encoding="utf-8"?>
<ds:datastoreItem xmlns:ds="http://schemas.openxmlformats.org/officeDocument/2006/customXml" ds:itemID="{4F78A959-3918-4A89-8738-5FF2BC653BF5}"/>
</file>

<file path=customXml/itemProps4.xml><?xml version="1.0" encoding="utf-8"?>
<ds:datastoreItem xmlns:ds="http://schemas.openxmlformats.org/officeDocument/2006/customXml" ds:itemID="{60CFF694-15FB-4B79-9432-71C19B748116}"/>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Snap-On Managed Services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575</cp:revision>
  <dcterms:created xsi:type="dcterms:W3CDTF">2017-10-09T12:47:23Z</dcterms:created>
  <dcterms:modified xsi:type="dcterms:W3CDTF">2021-02-22T21:08:02Z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42;#Construction|279f3517-6f37-463b-9b64-046a0822a515;#55;#Manufacturing|99fc8efc-4fec-46af-b730-04691660d970</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24800</vt:r8>
  </property>
  <property fmtid="{D5CDD505-2E9C-101B-9397-08002B2CF9AE}" pid="11" name="xd_Signature">
    <vt:bool>false</vt:bool>
  </property>
  <property fmtid="{D5CDD505-2E9C-101B-9397-08002B2CF9AE}" pid="12" name="SO">
    <vt:lpwstr>37;#;#38;#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