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customXml/itemProps4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409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D3E36E-96EB-6EF6-BCB4-B59A70602DBA}" v="2" dt="2024-03-22T17:15:12.6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59" d="100"/>
          <a:sy n="159" d="100"/>
        </p:scale>
        <p:origin x="30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4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endan Murphy" userId="S::bmurphy@affirma.com::e9f923b6-6d89-4d4e-a3b7-d9304b9d44ba" providerId="AD" clId="Web-{34D3E36E-96EB-6EF6-BCB4-B59A70602DBA}"/>
    <pc:docChg chg="addSld delSld">
      <pc:chgData name="Brendan Murphy" userId="S::bmurphy@affirma.com::e9f923b6-6d89-4d4e-a3b7-d9304b9d44ba" providerId="AD" clId="Web-{34D3E36E-96EB-6EF6-BCB4-B59A70602DBA}" dt="2024-03-22T17:15:12.683" v="1"/>
      <pc:docMkLst>
        <pc:docMk/>
      </pc:docMkLst>
      <pc:sldChg chg="add">
        <pc:chgData name="Brendan Murphy" userId="S::bmurphy@affirma.com::e9f923b6-6d89-4d4e-a3b7-d9304b9d44ba" providerId="AD" clId="Web-{34D3E36E-96EB-6EF6-BCB4-B59A70602DBA}" dt="2024-03-22T17:15:11.214" v="0"/>
        <pc:sldMkLst>
          <pc:docMk/>
          <pc:sldMk cId="4279314061" sldId="4093"/>
        </pc:sldMkLst>
      </pc:sldChg>
      <pc:sldChg chg="del">
        <pc:chgData name="Brendan Murphy" userId="S::bmurphy@affirma.com::e9f923b6-6d89-4d4e-a3b7-d9304b9d44ba" providerId="AD" clId="Web-{34D3E36E-96EB-6EF6-BCB4-B59A70602DBA}" dt="2024-03-22T17:15:12.683" v="1"/>
        <pc:sldMkLst>
          <pc:docMk/>
          <pc:sldMk cId="900630470" sldId="426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847E2-E6E7-4BAB-B766-74C4DF58794E}" type="datetimeFigureOut">
              <a:t>3/22/2024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8D8B3-43DC-4B07-955B-C5F01EF01A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838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EE3F6CF-073A-4B4F-A2B7-08B9C7DBCB9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1862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70E3-4BF5-47E6-7875-500461FB5A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12BFBB-B1FC-3B86-D71B-E6626C5AC1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821115-AF67-AEC8-1583-0895B0164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5CC97-195D-F38E-B138-863FAA5F5F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3EF8C-4E29-EED8-682A-1FE8359E5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48061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238B6-EE07-0E8B-0817-3134C3256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3D644-AD19-BDB3-D49D-47D5543E7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923658-16AA-B45A-F4AE-B3A97A649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3933C2-C657-FD3F-4DC8-7317DA90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E34D6E-3318-62D6-BEDB-F0BBD10878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48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7E7C4-0270-18CD-05C5-A6FC7B110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96113A-C1FA-745D-C210-9844F991B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ADB1F6-E9B4-BAEF-CCF5-400250C34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8A4AE-9CD3-8AC3-75E4-133991E08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8F7EE9-F313-41CA-44E6-E8388A474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282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1788D-794C-1124-D711-3B526528D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DA7B3-948D-1C9E-AD6A-0A54705C9A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87256E-FF7A-5FEB-8F7D-CB2008685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08AF55-ABE2-15F5-D8FA-F38E728D0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B11F82-B388-1168-B353-6975BC73C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20FEC-057D-16F4-D8C6-C1BBCC709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25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5CDC09-7999-FEF3-FAEC-31A2DAE41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22642-268F-363A-6992-3452CC37A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BEF5E4-1F05-0A2A-C049-C85331DEB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64A421-AED1-1841-2728-BCA5DA583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A9F66E-F9E6-DBA5-C0AE-6680C0CEDF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40B6301-DEB5-DB84-7265-62304954F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3A521B-AA45-B279-C62F-E66D209E3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4466F4-E170-A241-BF3C-1241DAC3F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344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D4224-312D-3151-6F0C-C6E18E3E2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D55F4FD-875A-50FC-99A2-FADD91274E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A6672A-7537-D2E1-C3A1-578F7C5AD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897E71-30EA-4B7C-5A3F-3750EBCD50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250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ABA586B-F9BF-E644-4B13-96CB178823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BD12D-998A-6EE4-A43F-1497F0E1D8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C44A9A-BD10-8A95-22B1-8125A2D67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620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652EA-8F5B-D920-8154-42B679FE4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7A5815-9FF5-A7F9-FFB6-035E93C73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8183A2-A382-E3AC-CA3E-4664B1610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552E6-3F8D-FD7B-2056-367C59FA07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C7024-86A0-8DC5-01F2-B8C5593B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B3515D-5C19-EA54-3157-EEAA63415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116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43058-34F7-14C9-72E0-4B0F47205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6F7C53-4FC5-5217-51A8-A041AB9AC6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952F2-EF64-2117-EC5F-2B5B8EF4E6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5703E-BFE3-1042-F0BC-24978EB182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AD2936-7436-6973-FB12-9F012C638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6D2E6-B21A-A4C9-BA54-D3BD987ED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151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716-03F9-41E0-5996-542041EA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D4C6BB-07F0-948D-7A8F-757782914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6E2EBE-C9E8-DD4C-49E0-A758AAB2D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A80A3-2991-FAFA-36F2-68419F3B6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75F2A2-744B-3C00-C7FA-01DD5C5C3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1799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8359F-EBDF-B0C7-1A09-B7F0941DAD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685AF1-9544-DD3F-F555-15E7547192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C21BC-62CA-AA62-05C4-B7898B920B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69443-A674-B6BE-548F-3BDAA5A6F4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9BDF4-6622-833C-7E32-F88872F35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53397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ase Study Single Slide - Data 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674382-8BA2-CD48-84D7-6B1CDE48F68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700836" y="0"/>
            <a:ext cx="549116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E93CEEC-4F06-5349-BB63-F02B2B211B2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3284" y="388389"/>
            <a:ext cx="5530816" cy="764390"/>
          </a:xfrm>
        </p:spPr>
        <p:txBody>
          <a:bodyPr anchor="b">
            <a:normAutofit/>
          </a:bodyPr>
          <a:lstStyle>
            <a:lvl1pPr algn="l">
              <a:defRPr sz="4000" b="0" i="0">
                <a:solidFill>
                  <a:srgbClr val="008AD9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Company Name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CD2D898-C1E4-1C4E-B41C-23A7E59AE640}"/>
              </a:ext>
            </a:extLst>
          </p:cNvPr>
          <p:cNvSpPr/>
          <p:nvPr userDrawn="1"/>
        </p:nvSpPr>
        <p:spPr>
          <a:xfrm flipV="1">
            <a:off x="0" y="365239"/>
            <a:ext cx="243068" cy="764390"/>
          </a:xfrm>
          <a:prstGeom prst="rect">
            <a:avLst/>
          </a:prstGeom>
          <a:solidFill>
            <a:srgbClr val="FF8E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438C21C-6688-CD47-9B39-2BD825F592A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03284" y="6440198"/>
            <a:ext cx="767123" cy="2642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DB3430-93CA-9540-9380-D85F161C958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03250" y="1450136"/>
            <a:ext cx="5530850" cy="4795100"/>
          </a:xfr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88495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A69C76-D74A-66B8-D9BC-20C760C3F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2AEDC9-4EE9-B3FF-C41A-3235DD9135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1141B-C285-1431-21A6-024F9F2233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14CC92-2CD2-4680-9EA5-B9CF6B2647EC}" type="datetimeFigureOut">
              <a:rPr lang="en-US" smtClean="0"/>
              <a:t>3/22/2024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FC5E4-D093-6CDE-2302-2FBD5CABA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227DD1-CE2F-C629-D805-F98B3BD4C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8C2AC-C83C-4685-B73F-BF41181408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240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Kaiser Permanente Downey Adds 72 Beds, Becoming One of the Largest  Hospitals in Southeast Los Angeles | Downey">
            <a:extLst>
              <a:ext uri="{FF2B5EF4-FFF2-40B4-BE49-F238E27FC236}">
                <a16:creationId xmlns:a16="http://schemas.microsoft.com/office/drawing/2014/main" id="{71E3C055-DBBA-4A66-844D-EA16B38508F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02" r="32617"/>
          <a:stretch/>
        </p:blipFill>
        <p:spPr bwMode="auto">
          <a:xfrm>
            <a:off x="6700836" y="0"/>
            <a:ext cx="549116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888A8EE-A41B-104E-87E1-EB98061134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54776"/>
            <a:ext cx="2743200" cy="155575"/>
          </a:xfrm>
        </p:spPr>
        <p:txBody>
          <a:bodyPr/>
          <a:lstStyle>
            <a:defPPr>
              <a:defRPr lang="en-US"/>
            </a:defPPr>
            <a:lvl1pPr marL="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7002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4005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21007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62801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35012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42014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849017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256020" algn="l" defTabSz="814005" rtl="0" eaLnBrk="1" latinLnBrk="0" hangingPunct="1">
              <a:defRPr sz="1602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56F86DB-78DF-EB43-A6BE-40415A3A0052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3F44D85-1020-4D12-B0DD-DA6A8F22795F}"/>
              </a:ext>
            </a:extLst>
          </p:cNvPr>
          <p:cNvSpPr txBox="1">
            <a:spLocks/>
          </p:cNvSpPr>
          <p:nvPr/>
        </p:nvSpPr>
        <p:spPr>
          <a:xfrm>
            <a:off x="603250" y="1450136"/>
            <a:ext cx="5568950" cy="1507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17" b="1">
                <a:solidFill>
                  <a:schemeClr val="tx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Business Need</a:t>
            </a:r>
          </a:p>
          <a:p>
            <a:pPr lvl="0">
              <a:lnSpc>
                <a:spcPct val="100000"/>
              </a:lnSpc>
            </a:pPr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Kaiser Permanente’s Strategic Customer Engagement group leverages SharePoint as the primary tool to support its Onsite Services operations.  They needed to upgrade and improve this tool.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7E273137-66A6-4289-A57B-9693D25704E6}"/>
              </a:ext>
            </a:extLst>
          </p:cNvPr>
          <p:cNvSpPr txBox="1">
            <a:spLocks/>
          </p:cNvSpPr>
          <p:nvPr/>
        </p:nvSpPr>
        <p:spPr>
          <a:xfrm>
            <a:off x="603249" y="2674003"/>
            <a:ext cx="5568950" cy="183362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17" b="1">
                <a:solidFill>
                  <a:schemeClr val="tx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What We Did</a:t>
            </a:r>
          </a:p>
          <a:p>
            <a:pPr marL="238115" indent="-238115">
              <a:lnSpc>
                <a:spcPct val="100000"/>
              </a:lnSpc>
              <a:buClr>
                <a:srgbClr val="FF990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Created multiple workflows for various business processes including event requests, quoting, processing and issue resolution</a:t>
            </a:r>
          </a:p>
          <a:p>
            <a:pPr marL="238115" indent="-238115">
              <a:lnSpc>
                <a:spcPct val="100000"/>
              </a:lnSpc>
              <a:buClr>
                <a:srgbClr val="FF990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Created multiple views in SharePoint to view, track and manage the status of processes being carried out with approval workflows</a:t>
            </a:r>
          </a:p>
          <a:p>
            <a:pPr marL="238115" indent="-238115">
              <a:lnSpc>
                <a:spcPct val="100000"/>
              </a:lnSpc>
              <a:buClr>
                <a:srgbClr val="FF9900"/>
              </a:buClr>
              <a:buSzPct val="150000"/>
              <a:buFont typeface="Arial" panose="020B0604020202020204" pitchFamily="34" charset="0"/>
              <a:buChar char="•"/>
            </a:pPr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Performed a complex content migration 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0E8B8EE2-7503-44AE-ABF9-118F69D3F71A}"/>
              </a:ext>
            </a:extLst>
          </p:cNvPr>
          <p:cNvSpPr txBox="1">
            <a:spLocks/>
          </p:cNvSpPr>
          <p:nvPr/>
        </p:nvSpPr>
        <p:spPr>
          <a:xfrm>
            <a:off x="603248" y="4800870"/>
            <a:ext cx="5568950" cy="150737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17" b="1">
                <a:solidFill>
                  <a:schemeClr val="tx1"/>
                </a:solidFill>
                <a:latin typeface="Aharoni" panose="02010803020104030203" pitchFamily="2" charset="-79"/>
                <a:ea typeface="+mj-ea"/>
                <a:cs typeface="Aharoni" panose="02010803020104030203" pitchFamily="2" charset="-79"/>
              </a:rPr>
              <a:t>The Result</a:t>
            </a:r>
          </a:p>
          <a:p>
            <a:pPr>
              <a:lnSpc>
                <a:spcPct val="100000"/>
              </a:lnSpc>
            </a:pPr>
            <a:r>
              <a:rPr lang="en-US" sz="1602">
                <a:solidFill>
                  <a:schemeClr val="tx1"/>
                </a:solidFill>
                <a:latin typeface="Arial Nova Light" panose="020B0304020202020204" pitchFamily="34" charset="0"/>
                <a:cs typeface="Aharoni" panose="02010803020104030203" pitchFamily="2" charset="-79"/>
              </a:rPr>
              <a:t>Affirma helped enhance internal collaboration, increase sales efficiency, improve reporting and strategic decision making, and reduce administrative burden within the SharePoint tool. </a:t>
            </a:r>
          </a:p>
        </p:txBody>
      </p:sp>
      <p:pic>
        <p:nvPicPr>
          <p:cNvPr id="12" name="Picture 4" descr="Image result for Kaiser logo">
            <a:extLst>
              <a:ext uri="{FF2B5EF4-FFF2-40B4-BE49-F238E27FC236}">
                <a16:creationId xmlns:a16="http://schemas.microsoft.com/office/drawing/2014/main" id="{1DF05A44-806B-4183-8138-2F06B40C88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1480" y="550368"/>
            <a:ext cx="2753301" cy="827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itle 3">
            <a:extLst>
              <a:ext uri="{FF2B5EF4-FFF2-40B4-BE49-F238E27FC236}">
                <a16:creationId xmlns:a16="http://schemas.microsoft.com/office/drawing/2014/main" id="{706634D3-30D5-4B48-ABFC-6ADEA97A7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284" y="388389"/>
            <a:ext cx="5933874" cy="764390"/>
          </a:xfrm>
        </p:spPr>
        <p:txBody>
          <a:bodyPr>
            <a:norm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333" b="1" spc="-183">
                <a:solidFill>
                  <a:srgbClr val="1B3F77"/>
                </a:solidFill>
                <a:latin typeface="Aharoni" panose="02010803020104030203" pitchFamily="2" charset="-79"/>
                <a:ea typeface="+mn-ea"/>
                <a:cs typeface="Aharoni" panose="02010803020104030203" pitchFamily="2" charset="-79"/>
              </a:rPr>
              <a:t>KAISER PERMANENTE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E1EB565-03ED-4AC0-BC70-C5264AFAEDBC}"/>
              </a:ext>
            </a:extLst>
          </p:cNvPr>
          <p:cNvSpPr txBox="1"/>
          <p:nvPr/>
        </p:nvSpPr>
        <p:spPr>
          <a:xfrm>
            <a:off x="603248" y="1014119"/>
            <a:ext cx="6097555" cy="45134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8842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76845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46526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95369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442112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30534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18957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07380" algn="l" defTabSz="976845" rtl="0" eaLnBrk="1" latinLnBrk="0" hangingPunct="1">
              <a:defRPr sz="192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33">
                <a:solidFill>
                  <a:srgbClr val="1B3F77"/>
                </a:solidFill>
                <a:latin typeface="Arial Nova Cond Light" panose="020B0306020202020204" pitchFamily="34" charset="0"/>
                <a:cs typeface="Aharoni" panose="02010803020104030203" pitchFamily="2" charset="-79"/>
              </a:rPr>
              <a:t>SharePoint Services</a:t>
            </a:r>
            <a:endParaRPr lang="en-US" sz="2333"/>
          </a:p>
        </p:txBody>
      </p:sp>
    </p:spTree>
    <p:extLst>
      <p:ext uri="{BB962C8B-B14F-4D97-AF65-F5344CB8AC3E}">
        <p14:creationId xmlns:p14="http://schemas.microsoft.com/office/powerpoint/2010/main" val="42793140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usinessUnit xmlns="f0ee8362-fa7e-4bc9-ab88-7dcfb17cb19b">
      <Value>Modern Workplace</Value>
    </BusinessUnit>
    <Solutions xmlns="f0ee8362-fa7e-4bc9-ab88-7dcfb17cb19b">
      <Value>Migrations</Value>
      <Value>Intranet/ Extranet</Value>
    </Solutions>
    <Industries xmlns="f0ee8362-fa7e-4bc9-ab88-7dcfb17cb19b">
      <Value>Healthcare</Value>
    </Industries>
    <Notes0 xmlns="f0ee8362-fa7e-4bc9-ab88-7dcfb17cb19b" xsi:nil="true"/>
    <Named_x0020_Account xmlns="f0ee8362-fa7e-4bc9-ab88-7dcfb17cb19b" xsi:nil="true"/>
    <PlatTech xmlns="f0ee8362-fa7e-4bc9-ab88-7dcfb17cb19b">
      <Value>SharePoint</Value>
    </PlatTech>
    <ProjectCompletionDate xmlns="f0ee8362-fa7e-4bc9-ab88-7dcfb17cb19b" xsi:nil="true"/>
    <ApprovedByClient xmlns="f0ee8362-fa7e-4bc9-ab88-7dcfb17cb19b">false</ApprovedByClient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23BCBB7020E34DAE994A365BA94206" ma:contentTypeVersion="12" ma:contentTypeDescription="Create a new document." ma:contentTypeScope="" ma:versionID="b1c940a28d9f7ed7841dd66e388476ed">
  <xsd:schema xmlns:xsd="http://www.w3.org/2001/XMLSchema" xmlns:xs="http://www.w3.org/2001/XMLSchema" xmlns:p="http://schemas.microsoft.com/office/2006/metadata/properties" xmlns:ns2="f0ee8362-fa7e-4bc9-ab88-7dcfb17cb19b" targetNamespace="http://schemas.microsoft.com/office/2006/metadata/properties" ma:root="true" ma:fieldsID="8c9fb4aa225d81f58c6fca2e551d2526" ns2:_="">
    <xsd:import namespace="f0ee8362-fa7e-4bc9-ab88-7dcfb17cb19b"/>
    <xsd:element name="properties">
      <xsd:complexType>
        <xsd:sequence>
          <xsd:element name="documentManagement">
            <xsd:complexType>
              <xsd:all>
                <xsd:element ref="ns2:BusinessUnit" minOccurs="0"/>
                <xsd:element ref="ns2:Industries" minOccurs="0"/>
                <xsd:element ref="ns2:Solutions" minOccurs="0"/>
                <xsd:element ref="ns2:PlatTech" minOccurs="0"/>
                <xsd:element ref="ns2:Notes0" minOccurs="0"/>
                <xsd:element ref="ns2:Named_x0020_Account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ProjectCompletionDate" minOccurs="0"/>
                <xsd:element ref="ns2:ApprovedByCli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ee8362-fa7e-4bc9-ab88-7dcfb17cb19b" elementFormDefault="qualified">
    <xsd:import namespace="http://schemas.microsoft.com/office/2006/documentManagement/types"/>
    <xsd:import namespace="http://schemas.microsoft.com/office/infopath/2007/PartnerControls"/>
    <xsd:element name="BusinessUnit" ma:index="8" nillable="true" ma:displayName="Business Unit" ma:internalName="BusinessUnit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Business Process Outsourcing"/>
                    <xsd:enumeration value="Content and Change Management"/>
                    <xsd:enumeration value="Creative"/>
                    <xsd:enumeration value="Custom Development"/>
                    <xsd:enumeration value="Customer Relationship Management"/>
                    <xsd:enumeration value="Data and Analytics"/>
                    <xsd:enumeration value="Engagement Marketing"/>
                    <xsd:enumeration value="Infrastructure"/>
                    <xsd:enumeration value="Marketing Services"/>
                    <xsd:enumeration value="Modern Workplace"/>
                    <xsd:enumeration value="NetSuite"/>
                  </xsd:restriction>
                </xsd:simpleType>
              </xsd:element>
            </xsd:sequence>
          </xsd:extension>
        </xsd:complexContent>
      </xsd:complexType>
    </xsd:element>
    <xsd:element name="Industries" ma:index="9" nillable="true" ma:displayName="Industries" ma:format="Dropdown" ma:internalName="Industri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erospace"/>
                    <xsd:enumeration value="Agriculture"/>
                    <xsd:enumeration value="Agriculture Food"/>
                    <xsd:enumeration value="AI / AI Models"/>
                    <xsd:enumeration value="B2B"/>
                    <xsd:enumeration value="B2C"/>
                    <xsd:enumeration value="Chemical"/>
                    <xsd:enumeration value="Construction"/>
                    <xsd:enumeration value="Defence"/>
                    <xsd:enumeration value="Education"/>
                    <xsd:enumeration value="Energy"/>
                    <xsd:enumeration value="Engineering"/>
                    <xsd:enumeration value="Entertainment"/>
                    <xsd:enumeration value="Financial Services"/>
                    <xsd:enumeration value="Food"/>
                    <xsd:enumeration value="Government"/>
                    <xsd:enumeration value="Healthcare"/>
                    <xsd:enumeration value="Hospitality"/>
                    <xsd:enumeration value="Legal"/>
                    <xsd:enumeration value="Life Sciences"/>
                    <xsd:enumeration value="Manufacturing"/>
                    <xsd:enumeration value="Media"/>
                    <xsd:enumeration value="Non-Profit"/>
                    <xsd:enumeration value="Real Estate"/>
                    <xsd:enumeration value="Retail"/>
                    <xsd:enumeration value="Services"/>
                    <xsd:enumeration value="Technology"/>
                    <xsd:enumeration value="Telecommunications"/>
                    <xsd:enumeration value="Transportation"/>
                    <xsd:enumeration value="Water"/>
                    <xsd:enumeration value="Wellness"/>
                    <xsd:enumeration value="BPO"/>
                  </xsd:restriction>
                </xsd:simpleType>
              </xsd:element>
            </xsd:sequence>
          </xsd:extension>
        </xsd:complexContent>
      </xsd:complexType>
    </xsd:element>
    <xsd:element name="Solutions" ma:index="10" nillable="true" ma:displayName="Solutions" ma:format="Dropdown" ma:internalName="Solution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BM Marketing"/>
                    <xsd:enumeration value="AI"/>
                    <xsd:enumeration value="Audit"/>
                    <xsd:enumeration value="Change Management"/>
                    <xsd:enumeration value="Cloud"/>
                    <xsd:enumeration value="Configurations"/>
                    <xsd:enumeration value="Content"/>
                    <xsd:enumeration value="Customer &amp; Partner Support BPO"/>
                    <xsd:enumeration value="Customer / Partner Portal"/>
                    <xsd:enumeration value="Custom Search"/>
                    <xsd:enumeration value="Cybersecurity"/>
                    <xsd:enumeration value="Data Analytics"/>
                    <xsd:enumeration value="Design"/>
                    <xsd:enumeration value="Email Campaigns"/>
                    <xsd:enumeration value="Event support"/>
                    <xsd:enumeration value="HelpDesk Outsourcing BPO"/>
                    <xsd:enumeration value="Integrations"/>
                    <xsd:enumeration value="Intranet / Extranet"/>
                    <xsd:enumeration value="IoT"/>
                    <xsd:enumeration value="Link Building"/>
                    <xsd:enumeration value="Marketing Automation"/>
                    <xsd:enumeration value="Marketing Strategy"/>
                    <xsd:enumeration value="Marketing Technology"/>
                    <xsd:enumeration value="Migrations"/>
                    <xsd:enumeration value="Mobile Application"/>
                    <xsd:enumeration value="Organic Social Media"/>
                    <xsd:enumeration value="PPC"/>
                    <xsd:enumeration value="Personas &amp; Journey Mapping"/>
                    <xsd:enumeration value="Process Automation"/>
                    <xsd:enumeration value="Product Development"/>
                    <xsd:enumeration value="Research"/>
                    <xsd:enumeration value="SEO/ AEO"/>
                    <xsd:enumeration value="SPFx"/>
                    <xsd:enumeration value="Training"/>
                    <xsd:enumeration value="UX/ UI Design"/>
                    <xsd:enumeration value="Video Production"/>
                    <xsd:enumeration value="Webinars"/>
                    <xsd:enumeration value="Websites"/>
                    <xsd:enumeration value="DevOps"/>
                  </xsd:restriction>
                </xsd:simpleType>
              </xsd:element>
            </xsd:sequence>
          </xsd:extension>
        </xsd:complexContent>
      </xsd:complexType>
    </xsd:element>
    <xsd:element name="PlatTech" ma:index="11" nillable="true" ma:displayName="Platform / Technology" ma:format="Dropdown" ma:internalName="PlatTech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.NET"/>
                    <xsd:enumeration value="Android App"/>
                    <xsd:enumeration value="AWS"/>
                    <xsd:enumeration value="Angular"/>
                    <xsd:enumeration value="Azure"/>
                    <xsd:enumeration value="Azure DevOps"/>
                    <xsd:enumeration value="Boomi"/>
                    <xsd:enumeration value="Drupal"/>
                    <xsd:enumeration value="Dynamics"/>
                    <xsd:enumeration value="Flutter"/>
                    <xsd:enumeration value="GCP"/>
                    <xsd:enumeration value="Google"/>
                    <xsd:enumeration value="Great Plains"/>
                    <xsd:enumeration value="Hootsuite"/>
                    <xsd:enumeration value="HubSpot"/>
                    <xsd:enumeration value="iOS App"/>
                    <xsd:enumeration value="Java"/>
                    <xsd:enumeration value="Kentico"/>
                    <xsd:enumeration value="Looker Studio"/>
                    <xsd:enumeration value="Mobile App"/>
                    <xsd:enumeration value="Marketo / Adobe"/>
                    <xsd:enumeration value="NetSuite"/>
                    <xsd:enumeration value="O365"/>
                    <xsd:enumeration value="OneDrive"/>
                    <xsd:enumeration value="PowerSuite"/>
                    <xsd:enumeration value="Power BI"/>
                    <xsd:enumeration value="QuickBooks"/>
                    <xsd:enumeration value="React"/>
                    <xsd:enumeration value="React Native"/>
                    <xsd:enumeration value="Sage"/>
                    <xsd:enumeration value="Salesforce"/>
                    <xsd:enumeration value="Salesforce Experience Cloud"/>
                    <xsd:enumeration value="Salesforce Marketing Cloud"/>
                    <xsd:enumeration value="Salesforce CPQ"/>
                    <xsd:enumeration value="Salesforce Pardot"/>
                    <xsd:enumeration value="SharePoint"/>
                    <xsd:enumeration value="Shopify"/>
                    <xsd:enumeration value="Sitecore"/>
                    <xsd:enumeration value="Sitefinity"/>
                    <xsd:enumeration value="Snowflake"/>
                    <xsd:enumeration value="Sprinklr"/>
                    <xsd:enumeration value="SproutSocial"/>
                    <xsd:enumeration value="Tableau"/>
                    <xsd:enumeration value="WP Engine"/>
                    <xsd:enumeration value="Webflow"/>
                    <xsd:enumeration value="WooCommerce"/>
                    <xsd:enumeration value="WordPress"/>
                    <xsd:enumeration value="Zoho"/>
                    <xsd:enumeration value="Power Apps"/>
                    <xsd:enumeration value="Teams"/>
                    <xsd:enumeration value="Azure Data Factory"/>
                    <xsd:enumeration value="Zendesk"/>
                    <xsd:enumeration value="Business Central"/>
                    <xsd:enumeration value="Viva"/>
                  </xsd:restriction>
                </xsd:simpleType>
              </xsd:element>
            </xsd:sequence>
          </xsd:extension>
        </xsd:complexContent>
      </xsd:complexType>
    </xsd:element>
    <xsd:element name="Notes0" ma:index="12" nillable="true" ma:displayName="Notes" ma:internalName="Notes0">
      <xsd:simpleType>
        <xsd:restriction base="dms:Text">
          <xsd:maxLength value="255"/>
        </xsd:restriction>
      </xsd:simpleType>
    </xsd:element>
    <xsd:element name="Named_x0020_Account" ma:index="13" nillable="true" ma:displayName="Named Account" ma:format="Dropdown" ma:internalName="Named_x0020_Account">
      <xsd:simpleType>
        <xsd:restriction base="dms:Choice">
          <xsd:enumeration value="Microsoft"/>
          <xsd:enumeration value="Meta"/>
          <xsd:enumeration value="Amazon"/>
        </xsd:restriction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ProjectCompletionDate" ma:index="18" nillable="true" ma:displayName="Project Completion Date" ma:format="DateOnly" ma:internalName="ProjectCompletionDate">
      <xsd:simpleType>
        <xsd:restriction base="dms:DateTime"/>
      </xsd:simpleType>
    </xsd:element>
    <xsd:element name="ApprovedByClient" ma:index="19" nillable="true" ma:displayName="Approved By Client" ma:default="0" ma:format="Dropdown" ma:internalName="ApprovedByClient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customXsn xmlns="http://schemas.microsoft.com/office/2006/metadata/customXsn">
  <xsnLocation/>
  <cached>True</cached>
  <openByDefault>False</openByDefault>
  <xsnScope/>
</customXsn>
</file>

<file path=customXml/itemProps1.xml><?xml version="1.0" encoding="utf-8"?>
<ds:datastoreItem xmlns:ds="http://schemas.openxmlformats.org/officeDocument/2006/customXml" ds:itemID="{7818FC9A-15E4-4FF1-BC4A-81716426FADD}">
  <ds:schemaRefs>
    <ds:schemaRef ds:uri="http://schemas.microsoft.com/office/2006/metadata/properties"/>
    <ds:schemaRef ds:uri="http://schemas.microsoft.com/office/infopath/2007/PartnerControls"/>
    <ds:schemaRef ds:uri="f205c2cf-faee-43e7-95df-8aa62e5feae0"/>
  </ds:schemaRefs>
</ds:datastoreItem>
</file>

<file path=customXml/itemProps2.xml><?xml version="1.0" encoding="utf-8"?>
<ds:datastoreItem xmlns:ds="http://schemas.openxmlformats.org/officeDocument/2006/customXml" ds:itemID="{E90B4A16-A1DE-4BFD-8EDF-37CD3960178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DB656D-9671-4C70-A293-B1BA07D8F197}"/>
</file>

<file path=customXml/itemProps4.xml><?xml version="1.0" encoding="utf-8"?>
<ds:datastoreItem xmlns:ds="http://schemas.openxmlformats.org/officeDocument/2006/customXml" ds:itemID="{37FEA5A1-9FD1-4696-89C4-C7969BD3C443}"/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249</Words>
  <Application>Microsoft Office PowerPoint</Application>
  <PresentationFormat>Widescreen</PresentationFormat>
  <Paragraphs>21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KAISER PERMANENTE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Kaiser Permanente SharePoint</dc:title>
  <dc:creator>Brendan Murphy</dc:creator>
  <cp:lastModifiedBy>Brendan Murphy</cp:lastModifiedBy>
  <cp:revision>7</cp:revision>
  <dcterms:created xsi:type="dcterms:W3CDTF">2024-03-22T17:06:52Z</dcterms:created>
  <dcterms:modified xsi:type="dcterms:W3CDTF">2024-03-22T17:15:19Z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0x0101000D23BCBB7020E34DAE994A365BA94206</vt:lpwstr>
  </property>
</Properties>
</file>