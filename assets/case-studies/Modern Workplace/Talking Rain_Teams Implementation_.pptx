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75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D12B-9847-45F1-9F38-0D9773EE6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171FD-6899-476D-B3CD-643B3A67B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12FDB-092A-472D-B84E-1016A1A7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67627-B2F7-4C64-A2BF-CADBF9FD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EDC07-5D48-473D-995A-054EB07F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45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242C-AD10-4026-8A52-261A72E44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AE529-E9B4-46C1-976B-D09F22CF7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88CA3-14BD-4D84-A4B1-B1A77E73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9C6CD-C021-4A44-A4B3-F614EF266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E1FA0-08D9-4B48-BD7C-72E6A9C6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A4C7-00B7-4ED5-B9DD-CA44BB205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804E4-6AF9-40EB-88E3-B52ABC59D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84239-109D-4CFA-84F0-75C41352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E57C1-0BFC-433F-8C82-58869D05B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F507-713F-4E7C-81AD-1CED20AF8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AFAF-AB2D-4616-B835-D44AAA06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4EDAC-40FB-4697-A931-C91AF1933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BFD08-F963-4DE3-9963-AF77489EA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ECD37-7359-43C6-A9D2-57693F34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87AF8-C007-4C71-80C7-4FA4B78BF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647BF-B130-4949-B249-070B503D3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4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81FD-D055-4053-AA0C-0AB8569A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5C5E5-A1A2-4BDB-8081-1CAFD7292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EEBD5-99F5-418D-A586-646871ABB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62017-5676-477B-A5DD-1046BF390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21F75-1692-40CD-8724-B83478533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E724D-EE62-4F59-BF38-124BD93C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06F26-B0C8-499E-A62C-F924D609E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120CE4-1A43-42E5-B7A5-8F79521DB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5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491D-F605-4006-A06A-E8DC8F1B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3DA85-E44F-4512-AB8F-5BED82D5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E0B66-5719-4FD2-95E4-A590D66B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74480-90A7-4912-949A-CD7AB475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6879A9-EBCF-40ED-9150-D49265AF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196E6-79E3-40E1-816C-0469E620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FD108-DBCC-4C90-AD11-B6C65398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1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89D9-CC4B-47C0-842F-0B8268C18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76CEB-F7A5-4667-87AE-59F3B699A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41944-9ED2-4AE9-A3AE-0497573AF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C96E0-9CC2-471C-9FA4-AD2D65F9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78AF2-1CD2-4F22-9022-FB6A9FB2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100B7-8CAA-45F0-B3FC-F349E8C6D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5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2C4FA-1271-4C45-8F13-8D2BE4FC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95582-C784-4FD4-8D0F-0DEEA09722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2A233-7980-4EE3-AF30-7EC3009C5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20B13-565A-4D82-A83A-75055E64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3DFC1-615A-4392-B04F-AEDDABB9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EE1D6-80BC-4F56-B327-C2AB5A00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7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8E247-A720-41C6-84FA-5F0073F2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5286C-0E12-4149-B2FE-4EF6371DA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C0E37-8BA0-456B-8E01-58D4AB072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60FF2-BC4E-4372-8573-935FB7D2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85D7C-627B-4D9E-A16C-121682D3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9C471-01E3-4A7B-9E16-1CF861D9B2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97B23-A59C-46F2-BF4A-16ED63B8F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F96EE-686A-424B-AD3C-593FFBD55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2911A-E763-412A-82DF-8215E6201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A1306-3D05-4C8E-9ACC-21FD2BD3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81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700836" y="0"/>
            <a:ext cx="549116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530816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53085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124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C8CC5-8E89-4AD9-9A8B-9647277B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E2162-AC1D-4E7A-981D-E43F09D86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E0F78-09ED-4C0D-8152-70D10B505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E9FEF-9D42-42EA-977C-152D236E9E60}" type="datetimeFigureOut">
              <a:rPr lang="en-US" smtClean="0"/>
              <a:t>5/7/2021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62D84-1715-47DA-B40F-9C374E3A3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1C7E0-FDC1-4036-A07E-F2D0CEADC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7D007-F132-42E0-9F5A-238177F2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E09ECDE-9AC0-4199-9881-5BF5267EFBE7}"/>
              </a:ext>
            </a:extLst>
          </p:cNvPr>
          <p:cNvSpPr txBox="1">
            <a:spLocks/>
          </p:cNvSpPr>
          <p:nvPr/>
        </p:nvSpPr>
        <p:spPr>
          <a:xfrm>
            <a:off x="603249" y="1450135"/>
            <a:ext cx="6569075" cy="44220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008AD9"/>
                </a:solidFill>
                <a:latin typeface="+mj-lt"/>
                <a:ea typeface="Calibri" panose="020F0502020204030204" pitchFamily="34" charset="0"/>
                <a:cs typeface="Segoe UI"/>
              </a:rPr>
              <a:t>What We Did</a:t>
            </a:r>
            <a:endParaRPr lang="en-US" sz="1400" dirty="0">
              <a:solidFill>
                <a:srgbClr val="008AD9"/>
              </a:solidFill>
              <a:latin typeface="+mj-lt"/>
              <a:cs typeface="Segoe UI"/>
            </a:endParaRPr>
          </a:p>
          <a:p>
            <a:pPr defTabSz="976806">
              <a:lnSpc>
                <a:spcPct val="150000"/>
              </a:lnSpc>
            </a:pPr>
            <a:r>
              <a:rPr lang="en-US" sz="1200" dirty="0">
                <a:latin typeface="+mj-lt"/>
              </a:rPr>
              <a:t>Affirma worked with Talking Rain to implement and deploy Microsoft Teams across their entire organization. The Talking Rain team leverages their SharePoint to </a:t>
            </a:r>
            <a:r>
              <a:rPr lang="en-US" sz="1200" b="1" dirty="0">
                <a:solidFill>
                  <a:prstClr val="black"/>
                </a:solidFill>
                <a:latin typeface="+mj-lt"/>
                <a:cs typeface="Segoe UI" panose="020B0502040204020203" pitchFamily="34" charset="0"/>
              </a:rPr>
              <a:t>automate internal processes, distribute recent news, announcements, content, and collaborate on projects. </a:t>
            </a:r>
            <a:endParaRPr lang="en-US" sz="1200" dirty="0">
              <a:solidFill>
                <a:prstClr val="black"/>
              </a:solidFill>
              <a:latin typeface="+mj-lt"/>
              <a:cs typeface="Segoe UI" panose="020B0502040204020203" pitchFamily="34" charset="0"/>
            </a:endParaRPr>
          </a:p>
          <a:p>
            <a:pPr defTabSz="976806">
              <a:lnSpc>
                <a:spcPct val="150000"/>
              </a:lnSpc>
            </a:pPr>
            <a:r>
              <a:rPr lang="en-US" sz="1200" dirty="0">
                <a:solidFill>
                  <a:prstClr val="black"/>
                </a:solidFill>
                <a:latin typeface="+mj-lt"/>
                <a:cs typeface="Segoe UI" panose="020B0502040204020203" pitchFamily="34" charset="0"/>
              </a:rPr>
              <a:t>Affirma went </a:t>
            </a:r>
            <a:r>
              <a:rPr lang="en-US" sz="1200" b="1" dirty="0">
                <a:solidFill>
                  <a:prstClr val="black"/>
                </a:solidFill>
                <a:latin typeface="+mj-lt"/>
                <a:cs typeface="Segoe UI" panose="020B0502040204020203" pitchFamily="34" charset="0"/>
              </a:rPr>
              <a:t>on-site to conduct MS Teams training</a:t>
            </a:r>
            <a:r>
              <a:rPr lang="en-US" sz="1200" dirty="0">
                <a:solidFill>
                  <a:prstClr val="black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en-US" sz="1200" dirty="0">
                <a:latin typeface="+mj-lt"/>
              </a:rPr>
              <a:t>workshops with their BTI Product Innovation group.  In just a few sessions, the BTI team had a baseline architecture to start confidently using Teams which also serves as an example for other business units at Talking Rain.  </a:t>
            </a:r>
            <a:endParaRPr lang="en-US" sz="1200" dirty="0">
              <a:solidFill>
                <a:prstClr val="black"/>
              </a:solidFill>
              <a:latin typeface="+mj-lt"/>
              <a:cs typeface="Segoe UI" panose="020B0502040204020203" pitchFamily="34" charset="0"/>
            </a:endParaRPr>
          </a:p>
          <a:p>
            <a:pPr defTabSz="976806">
              <a:lnSpc>
                <a:spcPct val="150000"/>
              </a:lnSpc>
            </a:pPr>
            <a:r>
              <a:rPr lang="en-US" sz="1200" dirty="0">
                <a:latin typeface="+mj-lt"/>
              </a:rPr>
              <a:t>Affirma created a request process leveraging PowerApps and </a:t>
            </a:r>
            <a:r>
              <a:rPr lang="en-US" sz="1200" dirty="0" err="1">
                <a:latin typeface="+mj-lt"/>
              </a:rPr>
              <a:t>PowerAutomate</a:t>
            </a:r>
            <a:r>
              <a:rPr lang="en-US" sz="1200" dirty="0">
                <a:latin typeface="+mj-lt"/>
              </a:rPr>
              <a:t> to give users the ability to request Teams through a flexible process, while also giving IT the piece of mind that they were leveraging their Governance policies behind the scenes to keep things within their defined policies.</a:t>
            </a:r>
            <a:endParaRPr lang="en-US" sz="1200" dirty="0">
              <a:solidFill>
                <a:prstClr val="black"/>
              </a:solidFill>
              <a:latin typeface="+mj-lt"/>
              <a:cs typeface="Segoe UI" panose="020B0502040204020203" pitchFamily="34" charset="0"/>
            </a:endParaRPr>
          </a:p>
          <a:p>
            <a:pPr defTabSz="976806">
              <a:lnSpc>
                <a:spcPct val="150000"/>
              </a:lnSpc>
            </a:pPr>
            <a:r>
              <a:rPr lang="en-US" sz="1200" dirty="0">
                <a:solidFill>
                  <a:prstClr val="black"/>
                </a:solidFill>
                <a:latin typeface="+mj-lt"/>
                <a:cs typeface="Segoe UI" panose="020B0502040204020203" pitchFamily="34" charset="0"/>
              </a:rPr>
              <a:t>By leveraging Microsoft Teams, Talking Rain will be able to </a:t>
            </a:r>
            <a:r>
              <a:rPr lang="en-US" sz="1200" b="1" dirty="0">
                <a:solidFill>
                  <a:prstClr val="black"/>
                </a:solidFill>
                <a:latin typeface="+mj-lt"/>
                <a:cs typeface="Segoe UI" panose="020B0502040204020203" pitchFamily="34" charset="0"/>
              </a:rPr>
              <a:t>collaborate cross-departmentally </a:t>
            </a:r>
            <a:r>
              <a:rPr lang="en-US" sz="1200" dirty="0">
                <a:latin typeface="+mj-lt"/>
              </a:rPr>
              <a:t>along the entire product </a:t>
            </a:r>
            <a:r>
              <a:rPr lang="en-US" sz="1200" dirty="0" err="1">
                <a:latin typeface="+mj-lt"/>
              </a:rPr>
              <a:t>lifecyle</a:t>
            </a:r>
            <a:r>
              <a:rPr lang="en-US" sz="1200" dirty="0">
                <a:latin typeface="+mj-lt"/>
              </a:rPr>
              <a:t>, from ideation through production and distribution. </a:t>
            </a:r>
          </a:p>
          <a:p>
            <a:pPr marL="0" indent="0">
              <a:buNone/>
            </a:pPr>
            <a:r>
              <a:rPr lang="en-US" sz="1200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Talking Rain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8A8EE-A41B-104E-87E1-EB98061134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828476" y="6469927"/>
            <a:ext cx="2363523" cy="140423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6D88691C-7E4F-4C10-9201-E5716610E8BA}"/>
              </a:ext>
            </a:extLst>
          </p:cNvPr>
          <p:cNvSpPr txBox="1">
            <a:spLocks/>
          </p:cNvSpPr>
          <p:nvPr/>
        </p:nvSpPr>
        <p:spPr>
          <a:xfrm>
            <a:off x="8048624" y="331239"/>
            <a:ext cx="3857625" cy="4593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rgbClr val="008AD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/>
            <a:r>
              <a:rPr lang="en-US" sz="1400" dirty="0">
                <a:solidFill>
                  <a:srgbClr val="063A79"/>
                </a:solidFill>
              </a:rPr>
              <a:t>Microsoft Teams</a:t>
            </a:r>
          </a:p>
        </p:txBody>
      </p:sp>
      <p:pic>
        <p:nvPicPr>
          <p:cNvPr id="10" name="Picture 22" descr="A screenshot of a computer&#10;&#10;Description generated with very high confidence">
            <a:extLst>
              <a:ext uri="{FF2B5EF4-FFF2-40B4-BE49-F238E27FC236}">
                <a16:creationId xmlns:a16="http://schemas.microsoft.com/office/drawing/2014/main" id="{0A7AFE4E-F321-4828-A915-2111F9CE3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621" y="2939576"/>
            <a:ext cx="4064075" cy="3312085"/>
          </a:xfrm>
          <a:prstGeom prst="rect">
            <a:avLst/>
          </a:prstGeom>
        </p:spPr>
      </p:pic>
      <p:pic>
        <p:nvPicPr>
          <p:cNvPr id="11" name="Picture 10" descr="A screen shot of a computer&#10;&#10;Description generated with very high confidence">
            <a:extLst>
              <a:ext uri="{FF2B5EF4-FFF2-40B4-BE49-F238E27FC236}">
                <a16:creationId xmlns:a16="http://schemas.microsoft.com/office/drawing/2014/main" id="{42A6D076-B54D-4E3C-87CC-1819C1C5FC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46" t="6481" r="6910" b="10000"/>
          <a:stretch/>
        </p:blipFill>
        <p:spPr>
          <a:xfrm>
            <a:off x="7654635" y="3078644"/>
            <a:ext cx="3735555" cy="2281334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CFB27CBC-0344-4025-9728-705203CC7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6606" y="3187523"/>
            <a:ext cx="491832" cy="210392"/>
          </a:xfrm>
          <a:prstGeom prst="rect">
            <a:avLst/>
          </a:prstGeom>
        </p:spPr>
      </p:pic>
      <p:pic>
        <p:nvPicPr>
          <p:cNvPr id="16" name="Picture 19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ECDF943F-765E-4E2A-A3CD-7C65B058F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5601" y="3360937"/>
            <a:ext cx="597329" cy="136125"/>
          </a:xfrm>
          <a:prstGeom prst="rect">
            <a:avLst/>
          </a:prstGeom>
        </p:spPr>
      </p:pic>
      <p:pic>
        <p:nvPicPr>
          <p:cNvPr id="18" name="Picture 2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7F7F93D-25D7-4F5C-A512-DA1D3FDDC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3174" y="3078644"/>
            <a:ext cx="795256" cy="75455"/>
          </a:xfrm>
          <a:prstGeom prst="rect">
            <a:avLst/>
          </a:prstGeom>
        </p:spPr>
      </p:pic>
      <p:pic>
        <p:nvPicPr>
          <p:cNvPr id="19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99C89200-2A3D-4BDF-B9A4-4D27084C48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7847" y="4572002"/>
            <a:ext cx="1004531" cy="1809239"/>
          </a:xfrm>
          <a:prstGeom prst="rect">
            <a:avLst/>
          </a:prstGeom>
        </p:spPr>
      </p:pic>
      <p:pic>
        <p:nvPicPr>
          <p:cNvPr id="20" name="Picture 2" descr="Image result for talking rain logo">
            <a:extLst>
              <a:ext uri="{FF2B5EF4-FFF2-40B4-BE49-F238E27FC236}">
                <a16:creationId xmlns:a16="http://schemas.microsoft.com/office/drawing/2014/main" id="{833F9749-0FD8-40BF-8C35-F83FB37E1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8674" y="1900015"/>
            <a:ext cx="2604256" cy="611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6963FD-B05B-427E-B41A-0A56B8526CB5}"/>
              </a:ext>
            </a:extLst>
          </p:cNvPr>
          <p:cNvSpPr/>
          <p:nvPr/>
        </p:nvSpPr>
        <p:spPr>
          <a:xfrm>
            <a:off x="8699988" y="3179518"/>
            <a:ext cx="703385" cy="113201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6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Intranet / Extranet</Value>
    </Solutions>
    <Industries xmlns="f0ee8362-fa7e-4bc9-ab88-7dcfb17cb19b">
      <Value>Food</Value>
    </Industries>
    <Notes0 xmlns="f0ee8362-fa7e-4bc9-ab88-7dcfb17cb19b" xsi:nil="true"/>
    <Named_x0020_Account xmlns="f0ee8362-fa7e-4bc9-ab88-7dcfb17cb19b" xsi:nil="true"/>
    <PlatTech xmlns="f0ee8362-fa7e-4bc9-ab88-7dcfb17cb19b">
      <Value>O365</Value>
      <Value>SharePoint</Value>
      <Value>Power Apps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C6B584ED-AAA6-4548-9EEE-453F0D855BA3}"/>
</file>

<file path=customXml/itemProps2.xml><?xml version="1.0" encoding="utf-8"?>
<ds:datastoreItem xmlns:ds="http://schemas.openxmlformats.org/officeDocument/2006/customXml" ds:itemID="{60F3A630-608C-4BC1-8BB2-44AD7A54F298}"/>
</file>

<file path=customXml/itemProps3.xml><?xml version="1.0" encoding="utf-8"?>
<ds:datastoreItem xmlns:ds="http://schemas.openxmlformats.org/officeDocument/2006/customXml" ds:itemID="{72D47681-46D1-4EFF-BAB0-497E237BDBF9}"/>
</file>

<file path=customXml/itemProps4.xml><?xml version="1.0" encoding="utf-8"?>
<ds:datastoreItem xmlns:ds="http://schemas.openxmlformats.org/officeDocument/2006/customXml" ds:itemID="{3FC6FEC2-25B6-4D52-9EAD-1D6D1B9BE8D9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Talking Rain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Talking Rain</dc:title>
  <dc:creator>Alex Bonner</dc:creator>
  <cp:lastModifiedBy>Alex Bonner</cp:lastModifiedBy>
  <cp:revision>1</cp:revision>
  <dcterms:created xsi:type="dcterms:W3CDTF">2021-05-07T19:00:32Z</dcterms:created>
  <dcterms:modified xsi:type="dcterms:W3CDTF">2021-05-07T19:02:07Z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/>
  </property>
  <property fmtid="{D5CDD505-2E9C-101B-9397-08002B2CF9AE}" pid="4" name="Category">
    <vt:lpwstr>6;#Case Study|8faa0ad1-25f0-4f56-8e38-f60e20c455d6</vt:lpwstr>
  </property>
  <property fmtid="{D5CDD505-2E9C-101B-9397-08002B2CF9AE}" pid="5" name="Industry">
    <vt:lpwstr>63;#Consumer Goods|4d538a30-6b9b-4d7a-9ad2-87117c1edff2</vt:lpwstr>
  </property>
  <property fmtid="{D5CDD505-2E9C-101B-9397-08002B2CF9AE}" pid="6" name="Service_x0020_Offering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Business_x0020_Unit">
    <vt:lpwstr/>
  </property>
  <property fmtid="{D5CDD505-2E9C-101B-9397-08002B2CF9AE}" pid="10" name="Order">
    <vt:r8>69800</vt:r8>
  </property>
  <property fmtid="{D5CDD505-2E9C-101B-9397-08002B2CF9AE}" pid="11" name="xd_Signature">
    <vt:bool>false</vt:bool>
  </property>
  <property fmtid="{D5CDD505-2E9C-101B-9397-08002B2CF9AE}" pid="12" name="SO">
    <vt:lpwstr>42;#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