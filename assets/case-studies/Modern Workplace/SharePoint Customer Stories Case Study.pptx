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commentAuthors.xml" ContentType="application/vnd.openxmlformats-officedocument.presentationml.commentAuthor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authors.xml" ContentType="application/vnd.ms-powerpoint.author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customXml/itemProps3.xml" ContentType="application/vnd.openxmlformats-officedocument.customXml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182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704E31-CDBF-7314-37E7-7F90523CFD59}" name="Wardah Ajaz" initials="WA" userId="S::wajaz@affirma.com::a653774b-62e7-4fd4-84eb-453e7c2eb25c" providerId="AD"/>
  <p188:author id="{D6A8A4A3-AD89-5BB3-DB06-2440C7469331}" name="Matt Minelli" initials="MM" userId="S::mminelli@affirma.com::8aabbc37-ad6b-4f0e-b68e-6b3b4d01d997" providerId="AD"/>
  <p188:author id="{2A3E64F0-CACB-789F-EDAB-FC1194EFB6B5}" name="Penelope Kipps" initials="PK" userId="S::pkipps@affirma.com::f3747d80-db63-4101-8e1d-f054405572b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amela Cook" initials="PC" lastIdx="6" clrIdx="0">
    <p:extLst>
      <p:ext uri="{19B8F6BF-5375-455C-9EA6-DF929625EA0E}">
        <p15:presenceInfo xmlns:p15="http://schemas.microsoft.com/office/powerpoint/2012/main" userId="S::pcook@affirma.com::8106f2c5-df70-49fd-b5d7-bbbe241af32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3A79"/>
    <a:srgbClr val="3774BC"/>
    <a:srgbClr val="E98D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3B938D-2F8D-366E-5CDC-D448CE82AA58}" v="57" dt="2025-10-22T22:13:51.7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customXml" Target="../customXml/item4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 Minelli" userId="S::mminelli@affirma.com::8aabbc37-ad6b-4f0e-b68e-6b3b4d01d997" providerId="AD" clId="Web-{433B938D-2F8D-366E-5CDC-D448CE82AA58}"/>
    <pc:docChg chg="modSld">
      <pc:chgData name="Matt Minelli" userId="S::mminelli@affirma.com::8aabbc37-ad6b-4f0e-b68e-6b3b4d01d997" providerId="AD" clId="Web-{433B938D-2F8D-366E-5CDC-D448CE82AA58}" dt="2025-10-22T22:13:51.727" v="55" actId="20577"/>
      <pc:docMkLst>
        <pc:docMk/>
      </pc:docMkLst>
      <pc:sldChg chg="modSp">
        <pc:chgData name="Matt Minelli" userId="S::mminelli@affirma.com::8aabbc37-ad6b-4f0e-b68e-6b3b4d01d997" providerId="AD" clId="Web-{433B938D-2F8D-366E-5CDC-D448CE82AA58}" dt="2025-10-22T22:13:51.727" v="55" actId="20577"/>
        <pc:sldMkLst>
          <pc:docMk/>
          <pc:sldMk cId="1485491446" sldId="1827"/>
        </pc:sldMkLst>
        <pc:spChg chg="mod">
          <ac:chgData name="Matt Minelli" userId="S::mminelli@affirma.com::8aabbc37-ad6b-4f0e-b68e-6b3b4d01d997" providerId="AD" clId="Web-{433B938D-2F8D-366E-5CDC-D448CE82AA58}" dt="2025-10-22T22:10:36.887" v="47" actId="1076"/>
          <ac:spMkLst>
            <pc:docMk/>
            <pc:sldMk cId="1485491446" sldId="1827"/>
            <ac:spMk id="4" creationId="{BDC4B9FF-8695-D444-A5CC-2CB3135EEEAD}"/>
          </ac:spMkLst>
        </pc:spChg>
        <pc:spChg chg="mod">
          <ac:chgData name="Matt Minelli" userId="S::mminelli@affirma.com::8aabbc37-ad6b-4f0e-b68e-6b3b4d01d997" providerId="AD" clId="Web-{433B938D-2F8D-366E-5CDC-D448CE82AA58}" dt="2025-10-22T22:10:36.918" v="48" actId="1076"/>
          <ac:spMkLst>
            <pc:docMk/>
            <pc:sldMk cId="1485491446" sldId="1827"/>
            <ac:spMk id="6" creationId="{DC3185AF-4529-9642-92AB-B131CAEBC7A9}"/>
          </ac:spMkLst>
        </pc:spChg>
        <pc:spChg chg="mod">
          <ac:chgData name="Matt Minelli" userId="S::mminelli@affirma.com::8aabbc37-ad6b-4f0e-b68e-6b3b4d01d997" providerId="AD" clId="Web-{433B938D-2F8D-366E-5CDC-D448CE82AA58}" dt="2025-10-22T22:13:51.727" v="55" actId="20577"/>
          <ac:spMkLst>
            <pc:docMk/>
            <pc:sldMk cId="1485491446" sldId="1827"/>
            <ac:spMk id="12" creationId="{E778A92C-1382-1A12-8A05-918932FFC4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0A8312-0222-40F5-BDEB-4F92AEA49343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2A0CD-526E-4BDB-8351-4C4F909F58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446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D2A0CD-526E-4BDB-8351-4C4F909F58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555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E15E7-052A-4307-9B29-D94C120AEF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948D8-569C-4F33-A588-CD66945765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F281A2-D60F-4888-AE2B-90C0CF874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8A0EB7-B10B-42C2-82C9-5225B2C68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F5954-2944-4607-93C6-42F4895FF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237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AD27F-2229-4DC3-B368-5546AAA9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C598AD-9BD4-494B-81C9-E3D54A0397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1111F-21B9-4D4D-B19B-AA4895D6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477AB-A577-43A4-9665-378A0898A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94B8D-3ADB-4ACE-A07B-3E5396AA5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40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0072E-319B-435E-B13B-8D697D6D9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04F99-1042-4B32-A848-3678122E0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05C7B7-CBFA-4F5E-A09A-17CE96A94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68ADDD-08E7-446B-8FAC-7EDCA8BE6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D90F7-C7A2-4747-93DA-358DD2618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625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6218-E355-4987-9F74-50AA6F497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41890-8D3C-4A1B-8564-A2C712D8E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AE8437-8408-40E0-AA99-697E74A7A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665E1A-40D2-4889-BBA1-07A2A16E5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83FD0-DE43-4F11-AE83-48FC3070F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32682E-F29D-4B88-BBB8-973C5745B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11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57AB1-E62F-4492-81EF-91C5FDE8F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9A55C-272E-47E5-B065-685D9815E0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7F5B06-3E0D-4CE2-8ACF-7D6484505A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273769-0210-448C-BBC1-5EFF1AF63D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69F34-C025-44FE-A2A6-85A115CC50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5D54AD-7E17-4774-96A5-D1AC7E740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C25054-379F-445D-AD4C-AE18D7A17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0BC507-9A75-4657-9EE9-8D5A43362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558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A439-4B84-4857-84EB-B54AD2704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77F5BF-154C-4036-8C98-690E93B70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9E2E3-C6D0-4B99-B0B4-E48E07F4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315F9B-FE71-46BC-A3A3-2135A6491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145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A0E579-783C-4D17-A7DC-C411FBEE4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065766-0F37-42F0-8639-460FE109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466DEA-0A45-462E-8442-6387082D6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123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AE5B7-896F-48A5-BB9D-B77BF288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6666F-5B5B-4B4E-B138-9A8A8C135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8AC3DC-C555-4A54-95AB-3B32ADF4EE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93A1B-7501-4697-931A-25F39DD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A95F1-D8DA-4206-9AFF-00D59481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D3FE04-5D15-40EF-AD83-D13A5D19A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114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F919-A990-4F12-9028-71B315A85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786613-7A59-4C61-B3F6-7012A1BD36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13933E-50A4-4710-BB2D-A06BD457B6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126195-96A9-4742-995F-058B9ED56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D91C13-BB64-412D-BE0D-B72162B04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CCC33-0A96-4574-9FCE-C963B4DDD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74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00D31-2E04-4930-B433-FE01F69D9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A1223-8702-4A56-A992-564F31129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9329D-DD17-4CA2-9F96-B0E0E54F9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9100C-C12F-42D8-ADA6-B8095B59C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4E089-A93D-48A7-80CF-282B66BD6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5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893E5D-328A-4752-9A3D-14435EAEC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5F347-1374-41B7-B805-081C8BBE5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D7BE4-0B41-4311-8A52-22D200FC1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D12F91-8B92-459E-910B-650D14758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AED4-D7AD-494F-98D9-610DE1E38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203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5998" y="0"/>
            <a:ext cx="6096002" cy="5093207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CBE22CA-CCD0-734A-932E-AF573C2B98B7}"/>
              </a:ext>
            </a:extLst>
          </p:cNvPr>
          <p:cNvSpPr/>
          <p:nvPr userDrawn="1"/>
        </p:nvSpPr>
        <p:spPr>
          <a:xfrm>
            <a:off x="6095998" y="5093207"/>
            <a:ext cx="6096002" cy="1764793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bg1"/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065999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50E4BD5B-FA1C-CA42-B01F-D6A4F333E0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479966" y="556945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06603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9650A9-D1FE-7F4E-A1C9-FF16CE20B16F}"/>
              </a:ext>
            </a:extLst>
          </p:cNvPr>
          <p:cNvSpPr txBox="1"/>
          <p:nvPr userDrawn="1"/>
        </p:nvSpPr>
        <p:spPr>
          <a:xfrm>
            <a:off x="6479967" y="5292458"/>
            <a:ext cx="15234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b="1" i="0" spc="3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DE51963F-09DC-8E4A-88D2-C536162B970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9965" y="596823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C8C32DBD-DA02-E348-877F-086CEC75A19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78598" y="5560830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6EB1CA55-D925-444F-8DA0-8CEF05F20D8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8597" y="5959610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  <p:sp>
        <p:nvSpPr>
          <p:cNvPr id="30" name="Text Placeholder 5">
            <a:extLst>
              <a:ext uri="{FF2B5EF4-FFF2-40B4-BE49-F238E27FC236}">
                <a16:creationId xmlns:a16="http://schemas.microsoft.com/office/drawing/2014/main" id="{9555A56F-2156-0C47-9C24-6E95A084A9D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077230" y="5553097"/>
            <a:ext cx="1523417" cy="3832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0AC86934-578D-4547-91D4-0207518575B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077229" y="5951877"/>
            <a:ext cx="1507897" cy="471961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2pPr>
            <a:lvl3pPr marL="9144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3pPr>
            <a:lvl4pPr marL="13716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4pPr>
            <a:lvl5pPr marL="1828800" indent="0">
              <a:buNone/>
              <a:defRPr sz="1400" b="0" i="0"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/>
              <a:t>Lorem Ipsum Dolor</a:t>
            </a:r>
          </a:p>
        </p:txBody>
      </p:sp>
    </p:spTree>
    <p:extLst>
      <p:ext uri="{BB962C8B-B14F-4D97-AF65-F5344CB8AC3E}">
        <p14:creationId xmlns:p14="http://schemas.microsoft.com/office/powerpoint/2010/main" val="7657082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E6F126-03DC-4D7B-B379-3C62C269AC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AEFBD2-0F96-403C-A7DF-F428121C1A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80A0-A885-4476-AA4A-C36F45F3B4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D3573E-0058-463A-B7EA-1DAD0737FD0C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EB687-F61F-4D35-B03F-2CFB2F729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62791-AB6D-414E-8F2A-F80201D92D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8B8F2-FE92-4537-960E-75FA3EF0C5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396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www.dropbox.com/scl/fi/j0f8leyix445yldxl4jvt/Schneider-Customer-Story-Final.mp4?rlkey=acd4pqlb90xanhkz8uyp98b7p&amp;st=ksh2fppy&amp;dl=0" TargetMode="External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affirma-1.wistia.com/medias/mb9czl425e" TargetMode="External"/><Relationship Id="rId5" Type="http://schemas.openxmlformats.org/officeDocument/2006/relationships/hyperlink" Target="https://www.dropbox.com/scl/fi/l82f034v29pa2vdbjoaxf/Corning-Sizzle-Final.mp4?rlkey=bao3f9qdo92hjokap5s6girga&amp;st=9p6jdap1&amp;dl=0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www.dropbox.com/scl/fi/blttp7wksh6vec5k4pout/Kyndryl_MW-Sizzle_FINAL.mp4?rlkey=slzm9rv1h4gnqa25wsy5y8b0l&amp;st=k7v8xrhz&amp;dl=0" TargetMode="Externa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39918B97-2236-432B-9D84-A860394888A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380140" y="4408414"/>
            <a:ext cx="6811860" cy="24495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DC4B9FF-8695-D444-A5CC-2CB3135EEE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435" y="94011"/>
            <a:ext cx="7926832" cy="850299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63A79"/>
                </a:solidFill>
                <a:latin typeface="Poppins"/>
                <a:cs typeface="Poppins"/>
              </a:rPr>
              <a:t>Customer Stories for Event Success</a:t>
            </a:r>
            <a:endParaRPr lang="en-US" sz="3600" b="1">
              <a:solidFill>
                <a:srgbClr val="063A79"/>
              </a:solidFill>
              <a:latin typeface="Poppins"/>
              <a:cs typeface="Poppin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C3185AF-4529-9642-92AB-B131CAEBC7A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01808" y="944829"/>
            <a:ext cx="7367927" cy="1067907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300" dirty="0">
                <a:latin typeface="Poppins"/>
                <a:ea typeface="+mn-lt"/>
                <a:cs typeface="Poppins"/>
              </a:rPr>
              <a:t>Microsoft approached </a:t>
            </a:r>
            <a:r>
              <a:rPr lang="en-US" sz="1300" err="1">
                <a:latin typeface="Poppins"/>
                <a:ea typeface="+mn-lt"/>
                <a:cs typeface="Poppins"/>
              </a:rPr>
              <a:t>Affirma</a:t>
            </a:r>
            <a:r>
              <a:rPr lang="en-US" sz="1300" dirty="0">
                <a:latin typeface="Poppins"/>
                <a:ea typeface="+mn-lt"/>
                <a:cs typeface="Poppins"/>
              </a:rPr>
              <a:t> to produce compelling customer stories in preparation for an upcoming event. They needed high-quality video production to meet their brand standards, a quick turnaround to ensure readiness, and a focus on three pre-identified customers whose stories aligned with their event goals.</a:t>
            </a:r>
            <a:endParaRPr lang="en-US" sz="1300" dirty="0">
              <a:latin typeface="Poppins"/>
              <a:ea typeface="Calibri"/>
              <a:cs typeface="Poppins"/>
            </a:endParaRPr>
          </a:p>
          <a:p>
            <a:pPr>
              <a:lnSpc>
                <a:spcPct val="100000"/>
              </a:lnSpc>
            </a:pPr>
            <a:endParaRPr lang="en-US" sz="1400">
              <a:latin typeface="Poppins"/>
              <a:ea typeface="+mn-lt"/>
              <a:cs typeface="Poppins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778A92C-1382-1A12-8A05-918932FFC49A}"/>
              </a:ext>
            </a:extLst>
          </p:cNvPr>
          <p:cNvSpPr txBox="1">
            <a:spLocks/>
          </p:cNvSpPr>
          <p:nvPr/>
        </p:nvSpPr>
        <p:spPr>
          <a:xfrm>
            <a:off x="189820" y="1915549"/>
            <a:ext cx="7794996" cy="429933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>
              <a:lnSpc>
                <a:spcPct val="120000"/>
              </a:lnSpc>
              <a:spcBef>
                <a:spcPts val="500"/>
              </a:spcBef>
            </a:pPr>
            <a:r>
              <a:rPr lang="en-US" sz="1300" b="1" u="sng" dirty="0">
                <a:solidFill>
                  <a:srgbClr val="0070C0"/>
                </a:solidFill>
                <a:latin typeface="Poppins"/>
                <a:cs typeface="Poppins"/>
              </a:rPr>
              <a:t>Our Work</a:t>
            </a: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chemeClr val="tx1"/>
                </a:solidFill>
                <a:latin typeface="Poppins"/>
                <a:ea typeface="+mn-lt"/>
                <a:cs typeface="Poppins"/>
              </a:rPr>
              <a:t>Refined interview questions to draw out the most compelling customer insights</a:t>
            </a:r>
            <a:endParaRPr lang="en-US" sz="1200" b="1" u="sng" dirty="0">
              <a:solidFill>
                <a:schemeClr val="tx1"/>
              </a:solidFill>
              <a:latin typeface="Poppins"/>
              <a:ea typeface="+mn-lt"/>
              <a:cs typeface="Poppins"/>
            </a:endParaRP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chemeClr val="tx1"/>
                </a:solidFill>
                <a:latin typeface="Poppins"/>
                <a:ea typeface="+mn-lt"/>
                <a:cs typeface="Poppins"/>
              </a:rPr>
              <a:t>Managed scheduling, conducted and recorded virtual interviews with the identified customers</a:t>
            </a:r>
            <a:endParaRPr lang="en-US" sz="1400" dirty="0">
              <a:solidFill>
                <a:schemeClr val="tx1"/>
              </a:solidFill>
              <a:latin typeface="Poppins"/>
              <a:cs typeface="Poppins"/>
            </a:endParaRP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chemeClr val="tx1"/>
                </a:solidFill>
                <a:latin typeface="Poppins"/>
                <a:ea typeface="+mn-lt"/>
                <a:cs typeface="Poppins"/>
              </a:rPr>
              <a:t>Gathered relevant assets, including Figma screens and B-roll footage, to enrich the stories</a:t>
            </a:r>
            <a:endParaRPr lang="en-US" sz="1400" dirty="0">
              <a:solidFill>
                <a:schemeClr val="tx1"/>
              </a:solidFill>
              <a:latin typeface="Poppins"/>
              <a:cs typeface="Poppins"/>
            </a:endParaRP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chemeClr val="tx1"/>
                </a:solidFill>
                <a:latin typeface="Poppins"/>
                <a:ea typeface="+mn-lt"/>
                <a:cs typeface="Poppins"/>
              </a:rPr>
              <a:t>Produced three </a:t>
            </a:r>
            <a:r>
              <a:rPr lang="en-US" sz="1200" dirty="0">
                <a:solidFill>
                  <a:schemeClr val="tx1"/>
                </a:solidFill>
                <a:latin typeface="Poppins"/>
                <a:ea typeface="+mn-lt"/>
                <a:cs typeface="Poppi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customer story videos</a:t>
            </a:r>
            <a:r>
              <a:rPr lang="en-US" sz="1200" dirty="0">
                <a:solidFill>
                  <a:schemeClr val="tx1"/>
                </a:solidFill>
                <a:latin typeface="Poppins"/>
                <a:ea typeface="+mn-lt"/>
                <a:cs typeface="Poppins"/>
              </a:rPr>
              <a:t>, each tailored to showcase SharePoint’s benefits</a:t>
            </a:r>
            <a:endParaRPr lang="en-US" sz="1400" dirty="0">
              <a:solidFill>
                <a:schemeClr val="tx1"/>
              </a:solidFill>
              <a:latin typeface="Poppins"/>
              <a:cs typeface="Poppins"/>
            </a:endParaRP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solidFill>
                  <a:schemeClr val="tx1"/>
                </a:solidFill>
                <a:latin typeface="Poppins"/>
                <a:ea typeface="+mn-lt"/>
                <a:cs typeface="Poppins"/>
              </a:rPr>
              <a:t>Created </a:t>
            </a:r>
            <a:r>
              <a:rPr lang="en-US" sz="1200" dirty="0">
                <a:solidFill>
                  <a:schemeClr val="tx1"/>
                </a:solidFill>
                <a:latin typeface="Poppins"/>
                <a:ea typeface="+mn-lt"/>
                <a:cs typeface="Poppi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shorter sizzle videos</a:t>
            </a:r>
            <a:r>
              <a:rPr lang="en-US" sz="1200" dirty="0">
                <a:solidFill>
                  <a:schemeClr val="tx1"/>
                </a:solidFill>
                <a:latin typeface="Poppins"/>
                <a:ea typeface="+mn-lt"/>
                <a:cs typeface="Poppins"/>
              </a:rPr>
              <a:t> for each story to generate buzz and engagement during the event</a:t>
            </a:r>
            <a:endParaRPr lang="en-US" sz="1400" dirty="0">
              <a:solidFill>
                <a:schemeClr val="tx1"/>
              </a:solidFill>
              <a:latin typeface="Poppins"/>
              <a:ea typeface="Calibri" panose="020F0502020204030204"/>
              <a:cs typeface="Poppins"/>
            </a:endParaRPr>
          </a:p>
          <a:p>
            <a:pPr marL="228600">
              <a:lnSpc>
                <a:spcPct val="120000"/>
              </a:lnSpc>
              <a:spcBef>
                <a:spcPts val="500"/>
              </a:spcBef>
            </a:pPr>
            <a:endParaRPr lang="en-US" sz="600" dirty="0">
              <a:solidFill>
                <a:schemeClr val="tx1"/>
              </a:solidFill>
              <a:latin typeface="Poppins"/>
              <a:ea typeface="Calibri" panose="020F0502020204030204"/>
              <a:cs typeface="Poppins"/>
            </a:endParaRPr>
          </a:p>
          <a:p>
            <a:pPr marL="228600">
              <a:lnSpc>
                <a:spcPct val="120000"/>
              </a:lnSpc>
              <a:spcBef>
                <a:spcPts val="500"/>
              </a:spcBef>
            </a:pPr>
            <a:r>
              <a:rPr lang="en-US" sz="1300" b="1" u="sng" dirty="0">
                <a:solidFill>
                  <a:srgbClr val="0070C0"/>
                </a:solidFill>
                <a:latin typeface="Poppins"/>
                <a:ea typeface="Calibri" panose="020F0502020204030204"/>
                <a:cs typeface="Poppins"/>
              </a:rPr>
              <a:t>The Result</a:t>
            </a:r>
            <a:endParaRPr lang="en-US" sz="1300">
              <a:solidFill>
                <a:srgbClr val="0070C0"/>
              </a:solidFill>
              <a:latin typeface="Poppins"/>
              <a:ea typeface="Calibri" panose="020F0502020204030204"/>
              <a:cs typeface="Poppins"/>
            </a:endParaRP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latin typeface="Poppins"/>
                <a:ea typeface="+mn-lt"/>
                <a:cs typeface="Poppins"/>
              </a:rPr>
              <a:t>Successfully showcased three high-quality customer stories aligned with event goals</a:t>
            </a:r>
            <a:endParaRPr lang="en-US" sz="1400" dirty="0">
              <a:latin typeface="Poppins"/>
              <a:ea typeface="+mn-lt"/>
              <a:cs typeface="Poppins"/>
            </a:endParaRP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latin typeface="Poppins"/>
                <a:ea typeface="+mn-lt"/>
                <a:cs typeface="Poppins"/>
              </a:rPr>
              <a:t>Generated excitement and engagement at the event through </a:t>
            </a:r>
            <a:r>
              <a:rPr lang="en-US" sz="1200" dirty="0">
                <a:latin typeface="Poppins"/>
                <a:ea typeface="+mn-lt"/>
                <a:cs typeface="Poppins"/>
                <a:hlinkClick r:id="rId5"/>
              </a:rPr>
              <a:t>sizzle videos</a:t>
            </a:r>
            <a:r>
              <a:rPr lang="en-US" sz="1200" dirty="0">
                <a:latin typeface="Poppins"/>
                <a:ea typeface="+mn-lt"/>
                <a:cs typeface="Poppins"/>
              </a:rPr>
              <a:t>, driving audience interest in the full stories</a:t>
            </a:r>
            <a:endParaRPr lang="en-US" sz="1400" dirty="0">
              <a:latin typeface="Poppins"/>
              <a:cs typeface="Poppins"/>
            </a:endParaRP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r>
              <a:rPr lang="en-US" sz="1200" dirty="0">
                <a:latin typeface="Poppins"/>
                <a:ea typeface="+mn-lt"/>
                <a:cs typeface="Poppins"/>
              </a:rPr>
              <a:t>Effectively highlighted SharePoint’s features and their impact on customer success, reinforcing the client’s value proposition</a:t>
            </a:r>
            <a:endParaRPr lang="en-US" sz="1400" dirty="0">
              <a:latin typeface="Poppins"/>
              <a:ea typeface="+mn-lt"/>
              <a:cs typeface="Poppins"/>
            </a:endParaRPr>
          </a:p>
          <a:p>
            <a:pPr marL="228600">
              <a:lnSpc>
                <a:spcPct val="120000"/>
              </a:lnSpc>
              <a:spcBef>
                <a:spcPts val="500"/>
              </a:spcBef>
            </a:pPr>
            <a:endParaRPr lang="en-US" sz="600" dirty="0">
              <a:latin typeface="Poppins"/>
              <a:ea typeface="+mn-lt"/>
              <a:cs typeface="Poppins"/>
            </a:endParaRPr>
          </a:p>
          <a:p>
            <a:pPr marL="228600">
              <a:lnSpc>
                <a:spcPct val="120000"/>
              </a:lnSpc>
              <a:spcBef>
                <a:spcPts val="500"/>
              </a:spcBef>
            </a:pPr>
            <a:r>
              <a:rPr lang="en-US" sz="1200" dirty="0">
                <a:latin typeface="Poppins"/>
                <a:ea typeface="+mn-lt"/>
                <a:cs typeface="Poppins"/>
                <a:hlinkClick r:id="rId6"/>
              </a:rPr>
              <a:t>Here’s what the client</a:t>
            </a:r>
            <a:r>
              <a:rPr lang="en-US" sz="1200" dirty="0">
                <a:latin typeface="Poppins"/>
                <a:ea typeface="+mn-lt"/>
                <a:cs typeface="Poppins"/>
              </a:rPr>
              <a:t> had to say about working with us</a:t>
            </a:r>
            <a:endParaRPr lang="en-US" sz="1200" dirty="0">
              <a:latin typeface="Poppins"/>
              <a:ea typeface="Calibri" panose="020F0502020204030204"/>
              <a:cs typeface="Poppins"/>
            </a:endParaRPr>
          </a:p>
          <a:p>
            <a:pPr marL="514350" indent="-285750">
              <a:lnSpc>
                <a:spcPct val="120000"/>
              </a:lnSpc>
              <a:spcBef>
                <a:spcPts val="500"/>
              </a:spcBef>
              <a:buFont typeface="Wingdings" panose="020B0604020202020204" pitchFamily="34" charset="0"/>
              <a:buChar char="§"/>
            </a:pPr>
            <a:endParaRPr lang="en-US" sz="1400">
              <a:latin typeface="Poppins"/>
              <a:ea typeface="Calibri" panose="020F0502020204030204"/>
              <a:cs typeface="Poppins"/>
            </a:endParaRPr>
          </a:p>
        </p:txBody>
      </p:sp>
      <p:pic>
        <p:nvPicPr>
          <p:cNvPr id="9" name="Picture 8" descr="A person typing on a keyboard&#10;&#10;Description automatically generated">
            <a:extLst>
              <a:ext uri="{FF2B5EF4-FFF2-40B4-BE49-F238E27FC236}">
                <a16:creationId xmlns:a16="http://schemas.microsoft.com/office/drawing/2014/main" id="{66F1470D-4D54-FBD2-165D-CA91905D144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5943" y="1831471"/>
            <a:ext cx="2507227" cy="1397325"/>
          </a:xfrm>
          <a:prstGeom prst="rect">
            <a:avLst/>
          </a:prstGeom>
        </p:spPr>
      </p:pic>
      <p:pic>
        <p:nvPicPr>
          <p:cNvPr id="11" name="Picture 10" descr="A close-up of a white background&#10;&#10;Description automatically generated">
            <a:extLst>
              <a:ext uri="{FF2B5EF4-FFF2-40B4-BE49-F238E27FC236}">
                <a16:creationId xmlns:a16="http://schemas.microsoft.com/office/drawing/2014/main" id="{F500EA9D-2D6D-7A05-06A3-857A8B2C0E2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70022" y="4897906"/>
            <a:ext cx="2839067" cy="1589108"/>
          </a:xfrm>
          <a:prstGeom prst="rect">
            <a:avLst/>
          </a:prstGeom>
        </p:spPr>
      </p:pic>
      <p:pic>
        <p:nvPicPr>
          <p:cNvPr id="17" name="Picture 16" descr="A person with dreadlocks and a map behind him&#10;&#10;Description automatically generated">
            <a:extLst>
              <a:ext uri="{FF2B5EF4-FFF2-40B4-BE49-F238E27FC236}">
                <a16:creationId xmlns:a16="http://schemas.microsoft.com/office/drawing/2014/main" id="{E90DAB2D-F4B1-ECC7-268F-24F66DDD4CB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3329" y="319761"/>
            <a:ext cx="2513371" cy="1411771"/>
          </a:xfrm>
          <a:prstGeom prst="rect">
            <a:avLst/>
          </a:prstGeom>
        </p:spPr>
      </p:pic>
      <p:pic>
        <p:nvPicPr>
          <p:cNvPr id="18" name="Picture 17" descr="A person sitting in front of a computer&#10;&#10;Description automatically generated">
            <a:extLst>
              <a:ext uri="{FF2B5EF4-FFF2-40B4-BE49-F238E27FC236}">
                <a16:creationId xmlns:a16="http://schemas.microsoft.com/office/drawing/2014/main" id="{898BEFD4-4882-6B00-7922-AA9F2B23E39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4053" y="3339660"/>
            <a:ext cx="2605550" cy="1457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491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>Partner Customer Stories</Notes0>
    <Named_x0020_Account xmlns="f0ee8362-fa7e-4bc9-ab88-7dcfb17cb19b">Microsoft</Named_x0020_Account>
    <Industries xmlns="f0ee8362-fa7e-4bc9-ab88-7dcfb17cb19b">
      <Value>B2B</Value>
    </Industries>
    <ApprovedByClient xmlns="f0ee8362-fa7e-4bc9-ab88-7dcfb17cb19b">false</ApprovedByClient>
    <PlatTech xmlns="f0ee8362-fa7e-4bc9-ab88-7dcfb17cb19b">
      <Value>SharePoint</Value>
      <Value>OneDrive</Value>
    </PlatTech>
    <ProjectCompletionDate xmlns="f0ee8362-fa7e-4bc9-ab88-7dcfb17cb19b">2025-02-01T08:00:00+00:00</ProjectCompletionDate>
    <BusinessUnit xmlns="f0ee8362-fa7e-4bc9-ab88-7dcfb17cb19b">
      <Value>Marketing Services</Value>
    </BusinessUnit>
    <Solutions xmlns="f0ee8362-fa7e-4bc9-ab88-7dcfb17cb19b">
      <Value>Video Production</Value>
    </Solutions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77ECDF0C-9559-4EBB-A79E-6EF16B2CBC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13D13C-00AD-4436-A498-B935C7AE222C}"/>
</file>

<file path=customXml/itemProps3.xml><?xml version="1.0" encoding="utf-8"?>
<ds:datastoreItem xmlns:ds="http://schemas.openxmlformats.org/officeDocument/2006/customXml" ds:itemID="{BCE9A8C3-D206-4A84-877A-E0C5CA85C111}">
  <ds:schemaRefs>
    <ds:schemaRef ds:uri="4a674d8d-5ae4-473c-b67e-b0301c6146a3"/>
    <ds:schemaRef ds:uri="730c8cfc-f4d5-4aa5-a17c-77b240e5b207"/>
    <ds:schemaRef ds:uri="79eba559-d33b-47f5-9450-110931409036"/>
    <ds:schemaRef ds:uri="8e8b519a-9c33-4eb5-8032-b8e2911b08d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0CBECDDB-CFFA-4BBB-97E9-3375EBB49AEA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Customer Stories for Event Success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–  Video Production Projects</dc:title>
  <dc:creator>Julia Trupp (AFFIRMA)</dc:creator>
  <cp:revision>24</cp:revision>
  <dcterms:created xsi:type="dcterms:W3CDTF">2021-01-15T21:45:02Z</dcterms:created>
  <dcterms:modified xsi:type="dcterms:W3CDTF">2025-10-22T22:14:04Z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  <property fmtid="{D5CDD505-2E9C-101B-9397-08002B2CF9AE}" pid="3" name="MediaServiceImageTags">
    <vt:lpwstr/>
  </property>
  <property fmtid="{D5CDD505-2E9C-101B-9397-08002B2CF9AE}" pid="4" name="MSIP_Label_f42aa342-8706-4288-bd11-ebb85995028c_Enabled">
    <vt:lpwstr>true</vt:lpwstr>
  </property>
  <property fmtid="{D5CDD505-2E9C-101B-9397-08002B2CF9AE}" pid="5" name="MSIP_Label_f42aa342-8706-4288-bd11-ebb85995028c_SetDate">
    <vt:lpwstr>2024-02-23T23:11:47Z</vt:lpwstr>
  </property>
  <property fmtid="{D5CDD505-2E9C-101B-9397-08002B2CF9AE}" pid="6" name="MSIP_Label_f42aa342-8706-4288-bd11-ebb85995028c_Method">
    <vt:lpwstr>Standard</vt:lpwstr>
  </property>
  <property fmtid="{D5CDD505-2E9C-101B-9397-08002B2CF9AE}" pid="7" name="MSIP_Label_f42aa342-8706-4288-bd11-ebb85995028c_Name">
    <vt:lpwstr>Internal</vt:lpwstr>
  </property>
  <property fmtid="{D5CDD505-2E9C-101B-9397-08002B2CF9AE}" pid="8" name="MSIP_Label_f42aa342-8706-4288-bd11-ebb85995028c_SiteId">
    <vt:lpwstr>65265dd0-4b20-44a4-aca4-b7ecbb143664</vt:lpwstr>
  </property>
  <property fmtid="{D5CDD505-2E9C-101B-9397-08002B2CF9AE}" pid="9" name="MSIP_Label_f42aa342-8706-4288-bd11-ebb85995028c_ActionId">
    <vt:lpwstr>a7192c71-12cc-4895-a527-adb89be4cef4</vt:lpwstr>
  </property>
  <property fmtid="{D5CDD505-2E9C-101B-9397-08002B2CF9AE}" pid="10" name="MSIP_Label_f42aa342-8706-4288-bd11-ebb85995028c_ContentBits">
    <vt:lpwstr>0</vt:lpwstr>
  </property>
</Properties>
</file>