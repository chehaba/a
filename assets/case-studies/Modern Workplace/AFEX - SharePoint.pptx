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F3D719-EC3A-418E-DFFA-00A4C92686D4}" v="408" dt="2021-07-21T23:34:36.282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08"/>
  </p:normalViewPr>
  <p:slideViewPr>
    <p:cSldViewPr snapToGrid="0" snapToObjects="1">
      <p:cViewPr varScale="1">
        <p:scale>
          <a:sx n="56" d="100"/>
          <a:sy n="56" d="100"/>
        </p:scale>
        <p:origin x="918" y="7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ena Grossman" userId="S::sgrossman@affirma.com::144d1629-2861-484c-a05f-61af16bd8f8c" providerId="AD" clId="Web-{DCF3D719-EC3A-418E-DFFA-00A4C92686D4}"/>
    <pc:docChg chg="modSld">
      <pc:chgData name="Shaena Grossman" userId="S::sgrossman@affirma.com::144d1629-2861-484c-a05f-61af16bd8f8c" providerId="AD" clId="Web-{DCF3D719-EC3A-418E-DFFA-00A4C92686D4}" dt="2021-07-21T23:34:36.282" v="261" actId="14100"/>
      <pc:docMkLst>
        <pc:docMk/>
      </pc:docMkLst>
      <pc:sldChg chg="addSp delSp modSp">
        <pc:chgData name="Shaena Grossman" userId="S::sgrossman@affirma.com::144d1629-2861-484c-a05f-61af16bd8f8c" providerId="AD" clId="Web-{DCF3D719-EC3A-418E-DFFA-00A4C92686D4}" dt="2021-07-21T23:34:36.282" v="261" actId="14100"/>
        <pc:sldMkLst>
          <pc:docMk/>
          <pc:sldMk cId="2582825011" sldId="300"/>
        </pc:sldMkLst>
        <pc:spChg chg="add del mod">
          <ac:chgData name="Shaena Grossman" userId="S::sgrossman@affirma.com::144d1629-2861-484c-a05f-61af16bd8f8c" providerId="AD" clId="Web-{DCF3D719-EC3A-418E-DFFA-00A4C92686D4}" dt="2021-07-21T23:15:50.504" v="69"/>
          <ac:spMkLst>
            <pc:docMk/>
            <pc:sldMk cId="2582825011" sldId="300"/>
            <ac:spMk id="5" creationId="{6E5BB3E6-B65A-420F-9100-DE47A475B25A}"/>
          </ac:spMkLst>
        </pc:spChg>
        <pc:spChg chg="add del">
          <ac:chgData name="Shaena Grossman" userId="S::sgrossman@affirma.com::144d1629-2861-484c-a05f-61af16bd8f8c" providerId="AD" clId="Web-{DCF3D719-EC3A-418E-DFFA-00A4C92686D4}" dt="2021-07-21T23:15:43.019" v="65"/>
          <ac:spMkLst>
            <pc:docMk/>
            <pc:sldMk cId="2582825011" sldId="300"/>
            <ac:spMk id="6" creationId="{A9ABBC5D-CEF8-4B48-882B-72E13370882F}"/>
          </ac:spMkLst>
        </pc:spChg>
        <pc:spChg chg="add del">
          <ac:chgData name="Shaena Grossman" userId="S::sgrossman@affirma.com::144d1629-2861-484c-a05f-61af16bd8f8c" providerId="AD" clId="Web-{DCF3D719-EC3A-418E-DFFA-00A4C92686D4}" dt="2021-07-21T23:23:06.425" v="219"/>
          <ac:spMkLst>
            <pc:docMk/>
            <pc:sldMk cId="2582825011" sldId="300"/>
            <ac:spMk id="8" creationId="{BA77F82F-ADC0-4C1F-8F56-A18013F2F5EF}"/>
          </ac:spMkLst>
        </pc:spChg>
        <pc:spChg chg="add del mod">
          <ac:chgData name="Shaena Grossman" userId="S::sgrossman@affirma.com::144d1629-2861-484c-a05f-61af16bd8f8c" providerId="AD" clId="Web-{DCF3D719-EC3A-418E-DFFA-00A4C92686D4}" dt="2021-07-21T23:24:44.800" v="239" actId="14100"/>
          <ac:spMkLst>
            <pc:docMk/>
            <pc:sldMk cId="2582825011" sldId="300"/>
            <ac:spMk id="30" creationId="{9665E9BF-B954-4AC7-821E-2E0CD116D915}"/>
          </ac:spMkLst>
        </pc:spChg>
        <pc:spChg chg="mod">
          <ac:chgData name="Shaena Grossman" userId="S::sgrossman@affirma.com::144d1629-2861-484c-a05f-61af16bd8f8c" providerId="AD" clId="Web-{DCF3D719-EC3A-418E-DFFA-00A4C92686D4}" dt="2021-07-21T23:34:36.282" v="261" actId="14100"/>
          <ac:spMkLst>
            <pc:docMk/>
            <pc:sldMk cId="2582825011" sldId="300"/>
            <ac:spMk id="31" creationId="{EC9A7433-5BCD-4EA6-924A-53FDBF0CAAA6}"/>
          </ac:spMkLst>
        </pc:spChg>
        <pc:spChg chg="mod">
          <ac:chgData name="Shaena Grossman" userId="S::sgrossman@affirma.com::144d1629-2861-484c-a05f-61af16bd8f8c" providerId="AD" clId="Web-{DCF3D719-EC3A-418E-DFFA-00A4C92686D4}" dt="2021-07-21T23:23:35.222" v="223" actId="1076"/>
          <ac:spMkLst>
            <pc:docMk/>
            <pc:sldMk cId="2582825011" sldId="300"/>
            <ac:spMk id="32" creationId="{E1C0119A-9047-4290-917B-405E19FFDA31}"/>
          </ac:spMkLst>
        </pc:spChg>
        <pc:spChg chg="mod">
          <ac:chgData name="Shaena Grossman" userId="S::sgrossman@affirma.com::144d1629-2861-484c-a05f-61af16bd8f8c" providerId="AD" clId="Web-{DCF3D719-EC3A-418E-DFFA-00A4C92686D4}" dt="2021-07-21T23:34:30.798" v="260" actId="1076"/>
          <ac:spMkLst>
            <pc:docMk/>
            <pc:sldMk cId="2582825011" sldId="300"/>
            <ac:spMk id="33" creationId="{A2CD0AFB-BBEB-434B-985F-3ACF7BE51454}"/>
          </ac:spMkLst>
        </pc:spChg>
        <pc:spChg chg="mod">
          <ac:chgData name="Shaena Grossman" userId="S::sgrossman@affirma.com::144d1629-2861-484c-a05f-61af16bd8f8c" providerId="AD" clId="Web-{DCF3D719-EC3A-418E-DFFA-00A4C92686D4}" dt="2021-07-21T23:24:57.815" v="243" actId="1076"/>
          <ac:spMkLst>
            <pc:docMk/>
            <pc:sldMk cId="2582825011" sldId="300"/>
            <ac:spMk id="34" creationId="{EC17F625-2EC2-4F28-895B-03B104D7945A}"/>
          </ac:spMkLst>
        </pc:spChg>
        <pc:spChg chg="mod">
          <ac:chgData name="Shaena Grossman" userId="S::sgrossman@affirma.com::144d1629-2861-484c-a05f-61af16bd8f8c" providerId="AD" clId="Web-{DCF3D719-EC3A-418E-DFFA-00A4C92686D4}" dt="2021-07-21T23:25:44.190" v="254" actId="1076"/>
          <ac:spMkLst>
            <pc:docMk/>
            <pc:sldMk cId="2582825011" sldId="300"/>
            <ac:spMk id="35" creationId="{127A5A2A-6A75-46BB-A872-3D435F9C8C26}"/>
          </ac:spMkLst>
        </pc:spChg>
        <pc:spChg chg="mod">
          <ac:chgData name="Shaena Grossman" userId="S::sgrossman@affirma.com::144d1629-2861-484c-a05f-61af16bd8f8c" providerId="AD" clId="Web-{DCF3D719-EC3A-418E-DFFA-00A4C92686D4}" dt="2021-07-21T23:25:49.128" v="255" actId="1076"/>
          <ac:spMkLst>
            <pc:docMk/>
            <pc:sldMk cId="2582825011" sldId="300"/>
            <ac:spMk id="36" creationId="{4651924A-7907-4360-9ED8-B533D803C21B}"/>
          </ac:spMkLst>
        </pc:spChg>
        <pc:picChg chg="mod">
          <ac:chgData name="Shaena Grossman" userId="S::sgrossman@affirma.com::144d1629-2861-484c-a05f-61af16bd8f8c" providerId="AD" clId="Web-{DCF3D719-EC3A-418E-DFFA-00A4C92686D4}" dt="2021-07-21T23:34:16.657" v="258" actId="14100"/>
          <ac:picMkLst>
            <pc:docMk/>
            <pc:sldMk cId="2582825011" sldId="300"/>
            <ac:picMk id="3" creationId="{00000000-0000-0000-0000-000000000000}"/>
          </ac:picMkLst>
        </pc:picChg>
        <pc:picChg chg="mod">
          <ac:chgData name="Shaena Grossman" userId="S::sgrossman@affirma.com::144d1629-2861-484c-a05f-61af16bd8f8c" providerId="AD" clId="Web-{DCF3D719-EC3A-418E-DFFA-00A4C92686D4}" dt="2021-07-21T23:34:20.985" v="259" actId="1076"/>
          <ac:picMkLst>
            <pc:docMk/>
            <pc:sldMk cId="2582825011" sldId="300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t>7/21/2021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t>7/21/2021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AFEX SharePoint Intranet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8228465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144" y="1348523"/>
            <a:ext cx="8228578" cy="23505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AFEX, a global payment and risk management specialist, needed to create a new consolidated intranet. AFEX wanted to bring together workflows and reports</a:t>
            </a:r>
            <a:r>
              <a:rPr lang="en-US" sz="1100" dirty="0">
                <a:latin typeface="Open Sans"/>
              </a:rPr>
              <a:t> that were 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previously scattered across multiple SharePoint farms with different versions and user interfaces. They also wanted to streamline communication and collaboration across the organization</a:t>
            </a:r>
            <a:r>
              <a:rPr lang="en-US" sz="1100" dirty="0">
                <a:latin typeface="Open Sans"/>
              </a:rPr>
              <a:t>. 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AFEX selected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to build a single unified intranet on SharePoint 2016 with an inviting, friendly user interface that conveys the message that AFEX is a single company. The new intranet would also express the company culture and make it easier for users to find people and contact them</a:t>
            </a:r>
            <a:r>
              <a:rPr lang="en-US" sz="1100" dirty="0">
                <a:latin typeface="Open Sans"/>
              </a:rPr>
              <a:t>. 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The top goals and objectives for the project were to improve communication and employee engagement, foster and promote company culture, build community, automate business processes and provide general company information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144" y="1046587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144" y="3730197"/>
            <a:ext cx="8137594" cy="33661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latin typeface="Open San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first completed all scoping and initial </a:t>
            </a:r>
            <a:r>
              <a:rPr lang="en-US" sz="1100" dirty="0">
                <a:latin typeface="Open Sans"/>
              </a:rPr>
              <a:t>assessments through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discovery sessions jointly held between </a:t>
            </a:r>
            <a:r>
              <a:rPr lang="en-US" sz="1100" dirty="0" err="1">
                <a:latin typeface="Open Sans"/>
              </a:rPr>
              <a:t>Affirma's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SharePoint and Creative teams</a:t>
            </a:r>
            <a:r>
              <a:rPr lang="en-US" sz="1100" dirty="0">
                <a:latin typeface="Open Sans"/>
              </a:rPr>
              <a:t>. 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technical approach document, along with wireframes and full visual compositions</a:t>
            </a:r>
            <a:r>
              <a:rPr lang="en-US" sz="1100" dirty="0">
                <a:latin typeface="Open Sans"/>
              </a:rPr>
              <a:t>,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</a:t>
            </a:r>
            <a:r>
              <a:rPr lang="en-US" sz="1100" dirty="0">
                <a:latin typeface="Open Sans"/>
              </a:rPr>
              <a:t>was also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created</a:t>
            </a:r>
            <a:r>
              <a:rPr lang="en-US" sz="1100" dirty="0">
                <a:latin typeface="Open Sans"/>
              </a:rPr>
              <a:t>. 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dirty="0">
                <a:latin typeface="Open Sans"/>
              </a:rPr>
              <a:t> then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implemented an all-new SharePoint 2016 intranet focused on providing superior user experience, improving communications, and promoting a unified AFEX company culture</a:t>
            </a:r>
            <a:r>
              <a:rPr lang="en-US" sz="1100" dirty="0">
                <a:latin typeface="Open Sans"/>
              </a:rPr>
              <a:t>. 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series of master pages provided elements common to each page within the intranet. These elements were logo, global navigation, search and a footer</a:t>
            </a:r>
            <a:r>
              <a:rPr lang="en-US" sz="1100" dirty="0">
                <a:latin typeface="Open Sans"/>
              </a:rPr>
              <a:t>. Functional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elements were built into the home page to foster a unified AFEX culture. These included a carousel of four featured stories, quick links, and news and announcements. Department sites were also built off the same template for unified culture</a:t>
            </a:r>
            <a:r>
              <a:rPr lang="en-US" sz="1100" dirty="0">
                <a:latin typeface="Open Sans"/>
              </a:rPr>
              <a:t>. 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fully inclusive staff directory was created</a:t>
            </a:r>
            <a:r>
              <a:rPr lang="en-US" sz="1100" dirty="0">
                <a:latin typeface="Open Sans"/>
              </a:rPr>
              <a:t> allowing users to 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search for members of the organization by name, location or department. Users could also search by related terms such as title or team</a:t>
            </a:r>
            <a:r>
              <a:rPr lang="en-US" sz="1100" dirty="0">
                <a:latin typeface="Open Sans"/>
              </a:rPr>
              <a:t>. Several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different workflows were built for </a:t>
            </a:r>
            <a:r>
              <a:rPr lang="en-US" sz="1100" dirty="0">
                <a:latin typeface="Open Sans"/>
              </a:rPr>
              <a:t>AFEX's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SharePoint 2016 intranet. These workflows such as bank recon, or marketing request, were created to simplify and optimize </a:t>
            </a:r>
            <a:r>
              <a:rPr lang="en-US" sz="1100" dirty="0">
                <a:latin typeface="Open Sans"/>
              </a:rPr>
              <a:t>AFEX's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businesses processes</a:t>
            </a:r>
            <a:r>
              <a:rPr lang="en-US" sz="1100" dirty="0">
                <a:latin typeface="Open Sans"/>
              </a:rPr>
              <a:t>. 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Content, reports, workflows were then migrated from multiple old SharePoint farms to the new SharePoint 2016 intranet and integrated into the new design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143" y="3428263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334380" y="1326490"/>
            <a:ext cx="3697970" cy="23505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AFEX completed their consultative project with a newly designed, fully functional SharePoint 2016 intranet. The new intranet has contributed to a greater collaboration, communication and company culture among </a:t>
            </a:r>
            <a:r>
              <a:rPr lang="en-US" sz="1100" dirty="0">
                <a:latin typeface="Open Sans"/>
              </a:rPr>
              <a:t>AFEX's team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. Along with a stronger sense of company community, </a:t>
            </a:r>
            <a:r>
              <a:rPr lang="en-US" sz="1100" dirty="0">
                <a:latin typeface="Open Sans"/>
              </a:rPr>
              <a:t>AFEX's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new intranet also increased their efficiency with automated workflows and other business processes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334379" y="99043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4" name="Picture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497" y="3509854"/>
            <a:ext cx="3788201" cy="2437453"/>
          </a:xfrm>
          <a:prstGeom prst="rect">
            <a:avLst/>
          </a:prstGeom>
        </p:spPr>
      </p:pic>
      <p:pic>
        <p:nvPicPr>
          <p:cNvPr id="3" name="Picture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528" y="6171395"/>
            <a:ext cx="3111831" cy="58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Migrations</Value>
    </Solutions>
    <Industries xmlns="f0ee8362-fa7e-4bc9-ab88-7dcfb17cb19b" xsi:nil="true"/>
    <Notes0 xmlns="f0ee8362-fa7e-4bc9-ab88-7dcfb17cb19b" xsi:nil="true"/>
    <Named_x0020_Account xmlns="f0ee8362-fa7e-4bc9-ab88-7dcfb17cb19b" xsi:nil="true"/>
    <PlatTech xmlns="f0ee8362-fa7e-4bc9-ab88-7dcfb17cb19b">
      <Value>O365</Value>
      <Value>SharePoint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E7B748D4-2A90-43B9-8D32-34D257557965}">
  <ds:schemaRefs>
    <ds:schemaRef ds:uri="http://schemas.microsoft.com/office/2006/metadata/properties"/>
    <ds:schemaRef ds:uri="http://schemas.microsoft.com/office/infopath/2007/PartnerControls"/>
    <ds:schemaRef ds:uri="54243e05-8da7-404c-85e0-0480aaa26276"/>
    <ds:schemaRef ds:uri="94f955fe-dfdf-46af-8eb4-7120d5d18e03"/>
  </ds:schemaRefs>
</ds:datastoreItem>
</file>

<file path=customXml/itemProps2.xml><?xml version="1.0" encoding="utf-8"?>
<ds:datastoreItem xmlns:ds="http://schemas.openxmlformats.org/officeDocument/2006/customXml" ds:itemID="{DC203923-9FB7-4B87-A911-23BDEE8B7D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267718-6831-4760-8273-5F637D2557A8}"/>
</file>

<file path=customXml/itemProps4.xml><?xml version="1.0" encoding="utf-8"?>
<ds:datastoreItem xmlns:ds="http://schemas.openxmlformats.org/officeDocument/2006/customXml" ds:itemID="{476D499D-34E8-40A1-9007-6B4895D57CF1}"/>
</file>

<file path=docProps/app.xml><?xml version="1.0" encoding="utf-8"?>
<Properties xmlns="http://schemas.openxmlformats.org/officeDocument/2006/extended-properties" xmlns:vt="http://schemas.openxmlformats.org/officeDocument/2006/docPropsVTypes">
  <TotalTime>4898</TotalTime>
  <Words>68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AFEX SharePoint Intranet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Don Hyun</cp:lastModifiedBy>
  <cp:revision>648</cp:revision>
  <dcterms:created xsi:type="dcterms:W3CDTF">2017-10-09T12:47:23Z</dcterms:created>
  <dcterms:modified xsi:type="dcterms:W3CDTF">2021-07-21T23:34:38Z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Industry">
    <vt:lpwstr>50;#Financial Services|380dfaa8-d53c-462e-bba8-940c98746c25</vt:lpwstr>
  </property>
  <property fmtid="{D5CDD505-2E9C-101B-9397-08002B2CF9AE}" pid="5" name="Service_x0020_Offering">
    <vt:lpwstr/>
  </property>
  <property fmtid="{D5CDD505-2E9C-101B-9397-08002B2CF9AE}" pid="6" name="Business_x0020_Unit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Category">
    <vt:lpwstr>6;#Case Study|8faa0ad1-25f0-4f56-8e38-f60e20c455d6</vt:lpwstr>
  </property>
  <property fmtid="{D5CDD505-2E9C-101B-9397-08002B2CF9AE}" pid="10" name="Order">
    <vt:r8>16200</vt:r8>
  </property>
  <property fmtid="{D5CDD505-2E9C-101B-9397-08002B2CF9AE}" pid="11" name="xd_Signature">
    <vt:bool>false</vt:bool>
  </property>
  <property fmtid="{D5CDD505-2E9C-101B-9397-08002B2CF9AE}" pid="12" name="SO">
    <vt:lpwstr>37;#;#38;#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